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x="18288000" cy="10287000"/>
  <p:notesSz cx="6858000" cy="9144000"/>
  <p:embeddedFontLst>
    <p:embeddedFont>
      <p:font typeface="Poppins Bold" charset="1" panose="00000800000000000000"/>
      <p:regular r:id="rId65"/>
    </p:embeddedFont>
    <p:embeddedFont>
      <p:font typeface="Canva Sans Bold" charset="1" panose="020B0803030501040103"/>
      <p:regular r:id="rId66"/>
    </p:embeddedFont>
    <p:embeddedFont>
      <p:font typeface="Canva Sans" charset="1" panose="020B0503030501040103"/>
      <p:regular r:id="rId67"/>
    </p:embeddedFont>
    <p:embeddedFont>
      <p:font typeface="Poppins" charset="1" panose="00000500000000000000"/>
      <p:regular r:id="rId68"/>
    </p:embeddedFont>
    <p:embeddedFont>
      <p:font typeface="Poppins Medium" charset="1" panose="00000600000000000000"/>
      <p:regular r:id="rId69"/>
    </p:embeddedFont>
    <p:embeddedFont>
      <p:font typeface="Raleway Bold" charset="1" panose="00000000000000000000"/>
      <p:regular r:id="rId70"/>
    </p:embeddedFont>
    <p:embeddedFont>
      <p:font typeface="Open Sans" charset="1" panose="020B0606030504020204"/>
      <p:regular r:id="rId71"/>
    </p:embeddedFont>
    <p:embeddedFont>
      <p:font typeface="Open Sans Bold" charset="1" panose="020B0806030504020204"/>
      <p:regular r:id="rId72"/>
    </p:embeddedFont>
    <p:embeddedFont>
      <p:font typeface="Raleway" charset="1" panose="00000000000000000000"/>
      <p:regular r:id="rId7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70" Target="fonts/font70.fntdata" Type="http://schemas.openxmlformats.org/officeDocument/2006/relationships/font"/><Relationship Id="rId71" Target="fonts/font71.fntdata" Type="http://schemas.openxmlformats.org/officeDocument/2006/relationships/font"/><Relationship Id="rId72" Target="fonts/font72.fntdata" Type="http://schemas.openxmlformats.org/officeDocument/2006/relationships/font"/><Relationship Id="rId73" Target="fonts/font73.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11" Target="../media/image29.svg" Type="http://schemas.openxmlformats.org/officeDocument/2006/relationships/image"/><Relationship Id="rId12" Target="../media/image30.png" Type="http://schemas.openxmlformats.org/officeDocument/2006/relationships/image"/><Relationship Id="rId13" Target="../media/image31.svg" Type="http://schemas.openxmlformats.org/officeDocument/2006/relationships/image"/><Relationship Id="rId14" Target="../media/image32.png" Type="http://schemas.openxmlformats.org/officeDocument/2006/relationships/image"/><Relationship Id="rId15" Target="../media/image33.svg" Type="http://schemas.openxmlformats.org/officeDocument/2006/relationships/image"/><Relationship Id="rId16" Target="../media/image34.png" Type="http://schemas.openxmlformats.org/officeDocument/2006/relationships/image"/><Relationship Id="rId17" Target="../media/image35.svg" Type="http://schemas.openxmlformats.org/officeDocument/2006/relationships/image"/><Relationship Id="rId2" Target="../media/image1.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4.pn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4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4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6.png" Type="http://schemas.openxmlformats.org/officeDocument/2006/relationships/image"/><Relationship Id="rId4" Target="../media/image47.svg" Type="http://schemas.openxmlformats.org/officeDocument/2006/relationships/image"/><Relationship Id="rId5" Target="../media/image48.png" Type="http://schemas.openxmlformats.org/officeDocument/2006/relationships/image"/><Relationship Id="rId6" Target="../media/image49.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4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6.png" Type="http://schemas.openxmlformats.org/officeDocument/2006/relationships/image"/><Relationship Id="rId5" Target="../media/image57.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6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61.png" Type="http://schemas.openxmlformats.org/officeDocument/2006/relationships/image"/><Relationship Id="rId5" Target="../media/image62.png" Type="http://schemas.openxmlformats.org/officeDocument/2006/relationships/image"/><Relationship Id="rId6" Target="../media/image63.png" Type="http://schemas.openxmlformats.org/officeDocument/2006/relationships/image"/><Relationship Id="rId7" Target="../media/image64.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65.png" Type="http://schemas.openxmlformats.org/officeDocument/2006/relationships/image"/><Relationship Id="rId5" Target="../media/image6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67.png" Type="http://schemas.openxmlformats.org/officeDocument/2006/relationships/image"/><Relationship Id="rId5" Target="../media/image68.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9.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70.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1.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2.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 Id="rId3" Target="../media/image74.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5.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7.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8.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9.png" Type="http://schemas.openxmlformats.org/officeDocument/2006/relationships/image"/><Relationship Id="rId3" Target="../media/image80.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1.png" Type="http://schemas.openxmlformats.org/officeDocument/2006/relationships/image"/><Relationship Id="rId3" Target="../media/image82.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3.png" Type="http://schemas.openxmlformats.org/officeDocument/2006/relationships/image"/><Relationship Id="rId3" Target="../media/image84.png" Type="http://schemas.openxmlformats.org/officeDocument/2006/relationships/image"/><Relationship Id="rId4" Target="../media/image85.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6.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7.png" Type="http://schemas.openxmlformats.org/officeDocument/2006/relationships/image"/><Relationship Id="rId3" Target="../media/image88.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9.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0.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1.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2.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3.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4.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5.png" Type="http://schemas.openxmlformats.org/officeDocument/2006/relationships/image"/><Relationship Id="rId3" Target="../media/image96.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7.png" Type="http://schemas.openxmlformats.org/officeDocument/2006/relationships/image"/><Relationship Id="rId3" Target="../media/image98.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9.png" Type="http://schemas.openxmlformats.org/officeDocument/2006/relationships/image"/><Relationship Id="rId3" Target="../media/image100.svg" Type="http://schemas.openxmlformats.org/officeDocument/2006/relationships/image"/><Relationship Id="rId4"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05755" y="2886719"/>
            <a:ext cx="18939059" cy="1916555"/>
            <a:chOff x="0" y="0"/>
            <a:chExt cx="4988065" cy="504772"/>
          </a:xfrm>
        </p:grpSpPr>
        <p:sp>
          <p:nvSpPr>
            <p:cNvPr name="Freeform 4" id="4"/>
            <p:cNvSpPr/>
            <p:nvPr/>
          </p:nvSpPr>
          <p:spPr>
            <a:xfrm flipH="false" flipV="false" rot="0">
              <a:off x="0" y="0"/>
              <a:ext cx="4988065" cy="504772"/>
            </a:xfrm>
            <a:custGeom>
              <a:avLst/>
              <a:gdLst/>
              <a:ahLst/>
              <a:cxnLst/>
              <a:rect r="r" b="b" t="t" l="l"/>
              <a:pathLst>
                <a:path h="504772" w="4988065">
                  <a:moveTo>
                    <a:pt x="0" y="0"/>
                  </a:moveTo>
                  <a:lnTo>
                    <a:pt x="4988065" y="0"/>
                  </a:lnTo>
                  <a:lnTo>
                    <a:pt x="4988065" y="504772"/>
                  </a:lnTo>
                  <a:lnTo>
                    <a:pt x="0" y="504772"/>
                  </a:lnTo>
                  <a:close/>
                </a:path>
              </a:pathLst>
            </a:custGeom>
            <a:solidFill>
              <a:srgbClr val="2B59C3">
                <a:alpha val="71765"/>
              </a:srgbClr>
            </a:solidFill>
          </p:spPr>
        </p:sp>
        <p:sp>
          <p:nvSpPr>
            <p:cNvPr name="TextBox 5" id="5"/>
            <p:cNvSpPr txBox="true"/>
            <p:nvPr/>
          </p:nvSpPr>
          <p:spPr>
            <a:xfrm>
              <a:off x="0" y="28575"/>
              <a:ext cx="4988065" cy="476197"/>
            </a:xfrm>
            <a:prstGeom prst="rect">
              <a:avLst/>
            </a:prstGeom>
          </p:spPr>
          <p:txBody>
            <a:bodyPr anchor="ctr" rtlCol="false" tIns="50800" lIns="50800" bIns="50800" rIns="50800"/>
            <a:lstStyle/>
            <a:p>
              <a:pPr algn="ctr">
                <a:lnSpc>
                  <a:spcPts val="2661"/>
                </a:lnSpc>
              </a:pPr>
            </a:p>
          </p:txBody>
        </p:sp>
      </p:grpSp>
      <p:sp>
        <p:nvSpPr>
          <p:cNvPr name="Freeform 6" id="6"/>
          <p:cNvSpPr/>
          <p:nvPr/>
        </p:nvSpPr>
        <p:spPr>
          <a:xfrm flipH="false" flipV="false" rot="0">
            <a:off x="13010810" y="-155024"/>
            <a:ext cx="6775868" cy="4114800"/>
          </a:xfrm>
          <a:custGeom>
            <a:avLst/>
            <a:gdLst/>
            <a:ahLst/>
            <a:cxnLst/>
            <a:rect r="r" b="b" t="t" l="l"/>
            <a:pathLst>
              <a:path h="4114800" w="6775868">
                <a:moveTo>
                  <a:pt x="0" y="0"/>
                </a:moveTo>
                <a:lnTo>
                  <a:pt x="6775868" y="0"/>
                </a:lnTo>
                <a:lnTo>
                  <a:pt x="677586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true" rot="0">
            <a:off x="12417225" y="6172200"/>
            <a:ext cx="6775868" cy="4114800"/>
          </a:xfrm>
          <a:custGeom>
            <a:avLst/>
            <a:gdLst/>
            <a:ahLst/>
            <a:cxnLst/>
            <a:rect r="r" b="b" t="t" l="l"/>
            <a:pathLst>
              <a:path h="4114800" w="6775868">
                <a:moveTo>
                  <a:pt x="6775869" y="4114800"/>
                </a:moveTo>
                <a:lnTo>
                  <a:pt x="0" y="4114800"/>
                </a:lnTo>
                <a:lnTo>
                  <a:pt x="0" y="0"/>
                </a:lnTo>
                <a:lnTo>
                  <a:pt x="6775869" y="0"/>
                </a:lnTo>
                <a:lnTo>
                  <a:pt x="6775869"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9263774" y="-842039"/>
            <a:ext cx="6775868" cy="4114800"/>
          </a:xfrm>
          <a:custGeom>
            <a:avLst/>
            <a:gdLst/>
            <a:ahLst/>
            <a:cxnLst/>
            <a:rect r="r" b="b" t="t" l="l"/>
            <a:pathLst>
              <a:path h="4114800" w="6775868">
                <a:moveTo>
                  <a:pt x="0" y="0"/>
                </a:moveTo>
                <a:lnTo>
                  <a:pt x="6775868" y="0"/>
                </a:lnTo>
                <a:lnTo>
                  <a:pt x="677586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4856933" y="3174284"/>
            <a:ext cx="3083622" cy="3126612"/>
          </a:xfrm>
          <a:custGeom>
            <a:avLst/>
            <a:gdLst/>
            <a:ahLst/>
            <a:cxnLst/>
            <a:rect r="r" b="b" t="t" l="l"/>
            <a:pathLst>
              <a:path h="3126612" w="3083622">
                <a:moveTo>
                  <a:pt x="0" y="0"/>
                </a:moveTo>
                <a:lnTo>
                  <a:pt x="3083622" y="0"/>
                </a:lnTo>
                <a:lnTo>
                  <a:pt x="3083622" y="3126613"/>
                </a:lnTo>
                <a:lnTo>
                  <a:pt x="0" y="3126613"/>
                </a:lnTo>
                <a:lnTo>
                  <a:pt x="0" y="0"/>
                </a:lnTo>
                <a:close/>
              </a:path>
            </a:pathLst>
          </a:custGeom>
          <a:blipFill>
            <a:blip r:embed="rId5">
              <a:alphaModFix amt="71000"/>
            </a:blip>
            <a:stretch>
              <a:fillRect l="0" t="0" r="0" b="0"/>
            </a:stretch>
          </a:blipFill>
        </p:spPr>
      </p:sp>
      <p:sp>
        <p:nvSpPr>
          <p:cNvPr name="Freeform 10" id="10"/>
          <p:cNvSpPr/>
          <p:nvPr/>
        </p:nvSpPr>
        <p:spPr>
          <a:xfrm flipH="false" flipV="false" rot="0">
            <a:off x="-246058" y="451642"/>
            <a:ext cx="2549517" cy="2585062"/>
          </a:xfrm>
          <a:custGeom>
            <a:avLst/>
            <a:gdLst/>
            <a:ahLst/>
            <a:cxnLst/>
            <a:rect r="r" b="b" t="t" l="l"/>
            <a:pathLst>
              <a:path h="2585062" w="2549517">
                <a:moveTo>
                  <a:pt x="0" y="0"/>
                </a:moveTo>
                <a:lnTo>
                  <a:pt x="2549516" y="0"/>
                </a:lnTo>
                <a:lnTo>
                  <a:pt x="2549516" y="2585062"/>
                </a:lnTo>
                <a:lnTo>
                  <a:pt x="0" y="2585062"/>
                </a:lnTo>
                <a:lnTo>
                  <a:pt x="0" y="0"/>
                </a:lnTo>
                <a:close/>
              </a:path>
            </a:pathLst>
          </a:custGeom>
          <a:blipFill>
            <a:blip r:embed="rId5">
              <a:alphaModFix amt="71000"/>
            </a:blip>
            <a:stretch>
              <a:fillRect l="0" t="0" r="0" b="0"/>
            </a:stretch>
          </a:blipFill>
        </p:spPr>
      </p:sp>
      <p:grpSp>
        <p:nvGrpSpPr>
          <p:cNvPr name="Group 11" id="11"/>
          <p:cNvGrpSpPr/>
          <p:nvPr/>
        </p:nvGrpSpPr>
        <p:grpSpPr>
          <a:xfrm rot="0">
            <a:off x="10169322" y="1465538"/>
            <a:ext cx="7771233" cy="777123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BF5FE"/>
            </a:solidFill>
          </p:spPr>
        </p:sp>
        <p:sp>
          <p:nvSpPr>
            <p:cNvPr name="TextBox 13" id="13"/>
            <p:cNvSpPr txBox="true"/>
            <p:nvPr/>
          </p:nvSpPr>
          <p:spPr>
            <a:xfrm>
              <a:off x="76200" y="95250"/>
              <a:ext cx="660400" cy="641350"/>
            </a:xfrm>
            <a:prstGeom prst="rect">
              <a:avLst/>
            </a:prstGeom>
          </p:spPr>
          <p:txBody>
            <a:bodyPr anchor="ctr" rtlCol="false" tIns="50800" lIns="50800" bIns="50800" rIns="50800"/>
            <a:lstStyle/>
            <a:p>
              <a:pPr algn="ctr">
                <a:lnSpc>
                  <a:spcPts val="2139"/>
                </a:lnSpc>
              </a:pPr>
            </a:p>
          </p:txBody>
        </p:sp>
      </p:grpSp>
      <p:sp>
        <p:nvSpPr>
          <p:cNvPr name="Freeform 14" id="14"/>
          <p:cNvSpPr/>
          <p:nvPr/>
        </p:nvSpPr>
        <p:spPr>
          <a:xfrm flipH="false" flipV="false" rot="0">
            <a:off x="10669578" y="2886719"/>
            <a:ext cx="6855668" cy="4599372"/>
          </a:xfrm>
          <a:custGeom>
            <a:avLst/>
            <a:gdLst/>
            <a:ahLst/>
            <a:cxnLst/>
            <a:rect r="r" b="b" t="t" l="l"/>
            <a:pathLst>
              <a:path h="4599372" w="6855668">
                <a:moveTo>
                  <a:pt x="0" y="0"/>
                </a:moveTo>
                <a:lnTo>
                  <a:pt x="6855668" y="0"/>
                </a:lnTo>
                <a:lnTo>
                  <a:pt x="6855668" y="4599373"/>
                </a:lnTo>
                <a:lnTo>
                  <a:pt x="0" y="4599373"/>
                </a:lnTo>
                <a:lnTo>
                  <a:pt x="0" y="0"/>
                </a:lnTo>
                <a:close/>
              </a:path>
            </a:pathLst>
          </a:custGeom>
          <a:blipFill>
            <a:blip r:embed="rId6"/>
            <a:stretch>
              <a:fillRect l="0" t="0" r="0" b="0"/>
            </a:stretch>
          </a:blipFill>
        </p:spPr>
      </p:sp>
      <p:sp>
        <p:nvSpPr>
          <p:cNvPr name="TextBox 15" id="15"/>
          <p:cNvSpPr txBox="true"/>
          <p:nvPr/>
        </p:nvSpPr>
        <p:spPr>
          <a:xfrm rot="0">
            <a:off x="1028700" y="3103379"/>
            <a:ext cx="7715364" cy="1549911"/>
          </a:xfrm>
          <a:prstGeom prst="rect">
            <a:avLst/>
          </a:prstGeom>
        </p:spPr>
        <p:txBody>
          <a:bodyPr anchor="t" rtlCol="false" tIns="0" lIns="0" bIns="0" rIns="0">
            <a:spAutoFit/>
          </a:bodyPr>
          <a:lstStyle/>
          <a:p>
            <a:pPr algn="l">
              <a:lnSpc>
                <a:spcPts val="11076"/>
              </a:lnSpc>
              <a:spcBef>
                <a:spcPct val="0"/>
              </a:spcBef>
            </a:pPr>
            <a:r>
              <a:rPr lang="en-US" b="true" sz="10650">
                <a:solidFill>
                  <a:srgbClr val="F4F4F4"/>
                </a:solidFill>
                <a:latin typeface="Poppins Bold"/>
                <a:ea typeface="Poppins Bold"/>
                <a:cs typeface="Poppins Bold"/>
                <a:sym typeface="Poppins Bold"/>
              </a:rPr>
              <a:t>Cassandra</a:t>
            </a:r>
          </a:p>
        </p:txBody>
      </p:sp>
      <p:sp>
        <p:nvSpPr>
          <p:cNvPr name="TextBox 16" id="16"/>
          <p:cNvSpPr txBox="true"/>
          <p:nvPr/>
        </p:nvSpPr>
        <p:spPr>
          <a:xfrm rot="0">
            <a:off x="1028700" y="4594715"/>
            <a:ext cx="10365526" cy="1858645"/>
          </a:xfrm>
          <a:prstGeom prst="rect">
            <a:avLst/>
          </a:prstGeom>
        </p:spPr>
        <p:txBody>
          <a:bodyPr anchor="t" rtlCol="false" tIns="0" lIns="0" bIns="0" rIns="0">
            <a:spAutoFit/>
          </a:bodyPr>
          <a:lstStyle/>
          <a:p>
            <a:pPr algn="l">
              <a:lnSpc>
                <a:spcPts val="7279"/>
              </a:lnSpc>
            </a:pPr>
            <a:r>
              <a:rPr lang="en-US" sz="5199" b="true">
                <a:solidFill>
                  <a:srgbClr val="063050"/>
                </a:solidFill>
                <a:latin typeface="Poppins Bold"/>
                <a:ea typeface="Poppins Bold"/>
                <a:cs typeface="Poppins Bold"/>
                <a:sym typeface="Poppins Bold"/>
              </a:rPr>
              <a:t>an open source NoSQL distributed database</a:t>
            </a:r>
          </a:p>
        </p:txBody>
      </p:sp>
      <p:sp>
        <p:nvSpPr>
          <p:cNvPr name="TextBox 17" id="17"/>
          <p:cNvSpPr txBox="true"/>
          <p:nvPr/>
        </p:nvSpPr>
        <p:spPr>
          <a:xfrm rot="0">
            <a:off x="1028700" y="6491460"/>
            <a:ext cx="5528444" cy="2937505"/>
          </a:xfrm>
          <a:prstGeom prst="rect">
            <a:avLst/>
          </a:prstGeom>
        </p:spPr>
        <p:txBody>
          <a:bodyPr anchor="t" rtlCol="false" tIns="0" lIns="0" bIns="0" rIns="0">
            <a:spAutoFit/>
          </a:bodyPr>
          <a:lstStyle/>
          <a:p>
            <a:pPr algn="l">
              <a:lnSpc>
                <a:spcPts val="3957"/>
              </a:lnSpc>
            </a:pPr>
            <a:r>
              <a:rPr lang="en-US" sz="2826" b="true">
                <a:solidFill>
                  <a:srgbClr val="063050"/>
                </a:solidFill>
                <a:latin typeface="Canva Sans Bold"/>
                <a:ea typeface="Canva Sans Bold"/>
                <a:cs typeface="Canva Sans Bold"/>
                <a:sym typeface="Canva Sans Bold"/>
              </a:rPr>
              <a:t>Team members:</a:t>
            </a:r>
          </a:p>
          <a:p>
            <a:pPr algn="l">
              <a:lnSpc>
                <a:spcPts val="3957"/>
              </a:lnSpc>
            </a:pPr>
            <a:r>
              <a:rPr lang="en-US" sz="2826">
                <a:solidFill>
                  <a:srgbClr val="063050"/>
                </a:solidFill>
                <a:latin typeface="Canva Sans"/>
                <a:ea typeface="Canva Sans"/>
                <a:cs typeface="Canva Sans"/>
                <a:sym typeface="Canva Sans"/>
              </a:rPr>
              <a:t>Sofia 狄苏菲</a:t>
            </a:r>
          </a:p>
          <a:p>
            <a:pPr algn="l">
              <a:lnSpc>
                <a:spcPts val="3957"/>
              </a:lnSpc>
            </a:pPr>
            <a:r>
              <a:rPr lang="en-US" sz="2826">
                <a:solidFill>
                  <a:srgbClr val="063050"/>
                </a:solidFill>
                <a:latin typeface="Canva Sans"/>
                <a:ea typeface="Canva Sans"/>
                <a:cs typeface="Canva Sans"/>
                <a:sym typeface="Canva Sans"/>
              </a:rPr>
              <a:t>Kristina 伯汀娜</a:t>
            </a:r>
          </a:p>
          <a:p>
            <a:pPr algn="l">
              <a:lnSpc>
                <a:spcPts val="3957"/>
              </a:lnSpc>
            </a:pPr>
            <a:r>
              <a:rPr lang="en-US" sz="2826">
                <a:solidFill>
                  <a:srgbClr val="063050"/>
                </a:solidFill>
                <a:latin typeface="Canva Sans"/>
                <a:ea typeface="Canva Sans"/>
                <a:cs typeface="Canva Sans"/>
                <a:sym typeface="Canva Sans"/>
              </a:rPr>
              <a:t>Viacheslav 维亚</a:t>
            </a:r>
          </a:p>
          <a:p>
            <a:pPr algn="l">
              <a:lnSpc>
                <a:spcPts val="3957"/>
              </a:lnSpc>
            </a:pPr>
            <a:r>
              <a:rPr lang="en-US" sz="2826">
                <a:solidFill>
                  <a:srgbClr val="063050"/>
                </a:solidFill>
                <a:latin typeface="Canva Sans"/>
                <a:ea typeface="Canva Sans"/>
                <a:cs typeface="Canva Sans"/>
                <a:sym typeface="Canva Sans"/>
              </a:rPr>
              <a:t>Assyl 丝 儿</a:t>
            </a:r>
          </a:p>
          <a:p>
            <a:pPr algn="l">
              <a:lnSpc>
                <a:spcPts val="3957"/>
              </a:lnSpc>
            </a:pPr>
            <a:r>
              <a:rPr lang="en-US" sz="2826">
                <a:solidFill>
                  <a:srgbClr val="063050"/>
                </a:solidFill>
                <a:latin typeface="Canva Sans"/>
                <a:ea typeface="Canva Sans"/>
                <a:cs typeface="Canva Sans"/>
                <a:sym typeface="Canva Sans"/>
              </a:rPr>
              <a:t>Aleksey 流沙</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1991022" y="1332965"/>
            <a:ext cx="2232436" cy="2263560"/>
          </a:xfrm>
          <a:custGeom>
            <a:avLst/>
            <a:gdLst/>
            <a:ahLst/>
            <a:cxnLst/>
            <a:rect r="r" b="b" t="t" l="l"/>
            <a:pathLst>
              <a:path h="2263560" w="2232436">
                <a:moveTo>
                  <a:pt x="0" y="0"/>
                </a:moveTo>
                <a:lnTo>
                  <a:pt x="2232436" y="0"/>
                </a:lnTo>
                <a:lnTo>
                  <a:pt x="2232436" y="2263559"/>
                </a:lnTo>
                <a:lnTo>
                  <a:pt x="0" y="2263559"/>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1786494" y="1028700"/>
            <a:ext cx="12573706" cy="1531706"/>
          </a:xfrm>
          <a:custGeom>
            <a:avLst/>
            <a:gdLst/>
            <a:ahLst/>
            <a:cxnLst/>
            <a:rect r="r" b="b" t="t" l="l"/>
            <a:pathLst>
              <a:path h="1531706" w="12573706">
                <a:moveTo>
                  <a:pt x="0" y="0"/>
                </a:moveTo>
                <a:lnTo>
                  <a:pt x="12573706" y="0"/>
                </a:lnTo>
                <a:lnTo>
                  <a:pt x="12573706" y="1531706"/>
                </a:lnTo>
                <a:lnTo>
                  <a:pt x="0" y="15317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715120" y="1215724"/>
            <a:ext cx="5358227" cy="1205283"/>
          </a:xfrm>
          <a:prstGeom prst="rect">
            <a:avLst/>
          </a:prstGeom>
        </p:spPr>
        <p:txBody>
          <a:bodyPr anchor="t" rtlCol="false" tIns="0" lIns="0" bIns="0" rIns="0">
            <a:spAutoFit/>
          </a:bodyPr>
          <a:lstStyle/>
          <a:p>
            <a:pPr algn="l">
              <a:lnSpc>
                <a:spcPts val="8550"/>
              </a:lnSpc>
              <a:spcBef>
                <a:spcPct val="0"/>
              </a:spcBef>
            </a:pPr>
            <a:r>
              <a:rPr lang="en-US" b="true" sz="8221">
                <a:solidFill>
                  <a:srgbClr val="063050"/>
                </a:solidFill>
                <a:latin typeface="Poppins Bold"/>
                <a:ea typeface="Poppins Bold"/>
                <a:cs typeface="Poppins Bold"/>
                <a:sym typeface="Poppins Bold"/>
              </a:rPr>
              <a:t>OUTLINE</a:t>
            </a:r>
          </a:p>
        </p:txBody>
      </p:sp>
      <p:sp>
        <p:nvSpPr>
          <p:cNvPr name="TextBox 6" id="6"/>
          <p:cNvSpPr txBox="true"/>
          <p:nvPr/>
        </p:nvSpPr>
        <p:spPr>
          <a:xfrm rot="0">
            <a:off x="1556903" y="3025679"/>
            <a:ext cx="8373570" cy="7000412"/>
          </a:xfrm>
          <a:prstGeom prst="rect">
            <a:avLst/>
          </a:prstGeom>
        </p:spPr>
        <p:txBody>
          <a:bodyPr anchor="t" rtlCol="false" tIns="0" lIns="0" bIns="0" rIns="0">
            <a:spAutoFit/>
          </a:bodyPr>
          <a:lstStyle/>
          <a:p>
            <a:pPr algn="l">
              <a:lnSpc>
                <a:spcPts val="5074"/>
              </a:lnSpc>
            </a:pPr>
            <a:r>
              <a:rPr lang="en-US" sz="2851" b="true">
                <a:solidFill>
                  <a:srgbClr val="063050"/>
                </a:solidFill>
                <a:latin typeface="Poppins Bold"/>
                <a:ea typeface="Poppins Bold"/>
                <a:cs typeface="Poppins Bold"/>
                <a:sym typeface="Poppins Bold"/>
              </a:rPr>
              <a:t>Part 1: </a:t>
            </a:r>
          </a:p>
          <a:p>
            <a:pPr algn="l" marL="615556" indent="-307778" lvl="1">
              <a:lnSpc>
                <a:spcPts val="5074"/>
              </a:lnSpc>
              <a:buFont typeface="Arial"/>
              <a:buChar char="•"/>
            </a:pPr>
            <a:r>
              <a:rPr lang="en-US" sz="2851">
                <a:solidFill>
                  <a:srgbClr val="063050"/>
                </a:solidFill>
                <a:latin typeface="Poppins"/>
                <a:ea typeface="Poppins"/>
                <a:cs typeface="Poppins"/>
                <a:sym typeface="Poppins"/>
              </a:rPr>
              <a:t>What is Column DB?</a:t>
            </a:r>
          </a:p>
          <a:p>
            <a:pPr algn="l" marL="615556" indent="-307778" lvl="1">
              <a:lnSpc>
                <a:spcPts val="5074"/>
              </a:lnSpc>
              <a:buFont typeface="Arial"/>
              <a:buChar char="•"/>
            </a:pPr>
            <a:r>
              <a:rPr lang="en-US" sz="2851">
                <a:solidFill>
                  <a:srgbClr val="063050"/>
                </a:solidFill>
                <a:latin typeface="Poppins"/>
                <a:ea typeface="Poppins"/>
                <a:cs typeface="Poppins"/>
                <a:sym typeface="Poppins"/>
              </a:rPr>
              <a:t>Advantages and Disadvantages of Column DB</a:t>
            </a:r>
          </a:p>
          <a:p>
            <a:pPr algn="l" marL="615556" indent="-307778" lvl="1">
              <a:lnSpc>
                <a:spcPts val="5074"/>
              </a:lnSpc>
              <a:buFont typeface="Arial"/>
              <a:buChar char="•"/>
            </a:pPr>
            <a:r>
              <a:rPr lang="en-US" sz="2851">
                <a:solidFill>
                  <a:srgbClr val="063050"/>
                </a:solidFill>
                <a:latin typeface="Poppins"/>
                <a:ea typeface="Poppins"/>
                <a:cs typeface="Poppins"/>
                <a:sym typeface="Poppins"/>
              </a:rPr>
              <a:t>Introduction to Apache Cassandra</a:t>
            </a:r>
          </a:p>
          <a:p>
            <a:pPr algn="l" marL="615556" indent="-307778" lvl="1">
              <a:lnSpc>
                <a:spcPts val="5074"/>
              </a:lnSpc>
              <a:buFont typeface="Arial"/>
              <a:buChar char="•"/>
            </a:pPr>
            <a:r>
              <a:rPr lang="en-US" sz="2851">
                <a:solidFill>
                  <a:srgbClr val="063050"/>
                </a:solidFill>
                <a:latin typeface="Poppins"/>
                <a:ea typeface="Poppins"/>
                <a:cs typeface="Poppins"/>
                <a:sym typeface="Poppins"/>
              </a:rPr>
              <a:t>Features of Cassandra</a:t>
            </a:r>
          </a:p>
          <a:p>
            <a:pPr algn="l" marL="615556" indent="-307778" lvl="1">
              <a:lnSpc>
                <a:spcPts val="5074"/>
              </a:lnSpc>
              <a:buFont typeface="Arial"/>
              <a:buChar char="•"/>
            </a:pPr>
            <a:r>
              <a:rPr lang="en-US" sz="2851">
                <a:solidFill>
                  <a:srgbClr val="063050"/>
                </a:solidFill>
                <a:latin typeface="Poppins"/>
                <a:ea typeface="Poppins"/>
                <a:cs typeface="Poppins"/>
                <a:sym typeface="Poppins"/>
              </a:rPr>
              <a:t>Advantages and Disadvantages of Cassandra</a:t>
            </a:r>
          </a:p>
          <a:p>
            <a:pPr algn="l" marL="615556" indent="-307778" lvl="1">
              <a:lnSpc>
                <a:spcPts val="5074"/>
              </a:lnSpc>
              <a:buFont typeface="Arial"/>
              <a:buChar char="•"/>
            </a:pPr>
            <a:r>
              <a:rPr lang="en-US" sz="2851">
                <a:solidFill>
                  <a:srgbClr val="063050"/>
                </a:solidFill>
                <a:latin typeface="Poppins"/>
                <a:ea typeface="Poppins"/>
                <a:cs typeface="Poppins"/>
                <a:sym typeface="Poppins"/>
              </a:rPr>
              <a:t>Use Cases</a:t>
            </a:r>
          </a:p>
          <a:p>
            <a:pPr algn="l" marL="615556" indent="-307778" lvl="1">
              <a:lnSpc>
                <a:spcPts val="5074"/>
              </a:lnSpc>
              <a:buFont typeface="Arial"/>
              <a:buChar char="•"/>
            </a:pPr>
            <a:r>
              <a:rPr lang="en-US" sz="2851">
                <a:solidFill>
                  <a:srgbClr val="063050"/>
                </a:solidFill>
                <a:latin typeface="Poppins"/>
                <a:ea typeface="Poppins"/>
                <a:cs typeface="Poppins"/>
                <a:sym typeface="Poppins"/>
              </a:rPr>
              <a:t>Mind Map</a:t>
            </a:r>
          </a:p>
          <a:p>
            <a:pPr algn="l">
              <a:lnSpc>
                <a:spcPts val="5074"/>
              </a:lnSpc>
            </a:pPr>
          </a:p>
        </p:txBody>
      </p:sp>
      <p:sp>
        <p:nvSpPr>
          <p:cNvPr name="Freeform 7" id="7"/>
          <p:cNvSpPr/>
          <p:nvPr/>
        </p:nvSpPr>
        <p:spPr>
          <a:xfrm flipH="false" flipV="false" rot="0">
            <a:off x="-2526789" y="7966557"/>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15906066" y="6478896"/>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sp>
        <p:nvSpPr>
          <p:cNvPr name="TextBox 9" id="9"/>
          <p:cNvSpPr txBox="true"/>
          <p:nvPr/>
        </p:nvSpPr>
        <p:spPr>
          <a:xfrm rot="0">
            <a:off x="10471144" y="2997104"/>
            <a:ext cx="6788156" cy="5992033"/>
          </a:xfrm>
          <a:prstGeom prst="rect">
            <a:avLst/>
          </a:prstGeom>
        </p:spPr>
        <p:txBody>
          <a:bodyPr anchor="t" rtlCol="false" tIns="0" lIns="0" bIns="0" rIns="0">
            <a:spAutoFit/>
          </a:bodyPr>
          <a:lstStyle/>
          <a:p>
            <a:pPr algn="l">
              <a:lnSpc>
                <a:spcPts val="5964"/>
              </a:lnSpc>
            </a:pPr>
            <a:r>
              <a:rPr lang="en-US" sz="3351" b="true">
                <a:solidFill>
                  <a:srgbClr val="063050"/>
                </a:solidFill>
                <a:latin typeface="Poppins Bold"/>
                <a:ea typeface="Poppins Bold"/>
                <a:cs typeface="Poppins Bold"/>
                <a:sym typeface="Poppins Bold"/>
              </a:rPr>
              <a:t>P</a:t>
            </a:r>
            <a:r>
              <a:rPr lang="en-US" sz="3351" b="true">
                <a:solidFill>
                  <a:srgbClr val="063050"/>
                </a:solidFill>
                <a:latin typeface="Poppins Bold"/>
                <a:ea typeface="Poppins Bold"/>
                <a:cs typeface="Poppins Bold"/>
                <a:sym typeface="Poppins Bold"/>
              </a:rPr>
              <a:t>art 2: </a:t>
            </a:r>
          </a:p>
          <a:p>
            <a:pPr algn="l" marL="723504" indent="-361752" lvl="1">
              <a:lnSpc>
                <a:spcPts val="5964"/>
              </a:lnSpc>
              <a:buFont typeface="Arial"/>
              <a:buChar char="•"/>
            </a:pPr>
            <a:r>
              <a:rPr lang="en-US" sz="3351">
                <a:solidFill>
                  <a:srgbClr val="063050"/>
                </a:solidFill>
                <a:latin typeface="Poppins"/>
                <a:ea typeface="Poppins"/>
                <a:cs typeface="Poppins"/>
                <a:sym typeface="Poppins"/>
              </a:rPr>
              <a:t>Hands-On: Installing Cassandra via Docker Desktop</a:t>
            </a:r>
          </a:p>
          <a:p>
            <a:pPr algn="l" marL="723504" indent="-361752" lvl="1">
              <a:lnSpc>
                <a:spcPts val="5964"/>
              </a:lnSpc>
              <a:buFont typeface="Arial"/>
              <a:buChar char="•"/>
            </a:pPr>
            <a:r>
              <a:rPr lang="en-US" sz="3351">
                <a:solidFill>
                  <a:srgbClr val="063050"/>
                </a:solidFill>
                <a:latin typeface="Poppins"/>
                <a:ea typeface="Poppins"/>
                <a:cs typeface="Poppins"/>
                <a:sym typeface="Poppins"/>
              </a:rPr>
              <a:t>Hands-On: Using Cassandra (Functions &amp; Queries)</a:t>
            </a:r>
          </a:p>
          <a:p>
            <a:pPr algn="l" marL="723504" indent="-361752" lvl="1">
              <a:lnSpc>
                <a:spcPts val="5964"/>
              </a:lnSpc>
              <a:buFont typeface="Arial"/>
              <a:buChar char="•"/>
            </a:pPr>
            <a:r>
              <a:rPr lang="en-US" sz="3351">
                <a:solidFill>
                  <a:srgbClr val="063050"/>
                </a:solidFill>
                <a:latin typeface="Poppins"/>
                <a:ea typeface="Poppins"/>
                <a:cs typeface="Poppins"/>
                <a:sym typeface="Poppins"/>
              </a:rPr>
              <a:t>Experiment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6872140" y="1464854"/>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390204" y="8950469"/>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3">
              <a:alphaModFix amt="71000"/>
            </a:blip>
            <a:stretch>
              <a:fillRect l="0" t="0" r="0" b="0"/>
            </a:stretch>
          </a:blipFill>
        </p:spPr>
      </p:sp>
      <p:sp>
        <p:nvSpPr>
          <p:cNvPr name="TextBox 5" id="5"/>
          <p:cNvSpPr txBox="true"/>
          <p:nvPr/>
        </p:nvSpPr>
        <p:spPr>
          <a:xfrm rot="0">
            <a:off x="6922097" y="2957362"/>
            <a:ext cx="4443806" cy="3281044"/>
          </a:xfrm>
          <a:prstGeom prst="rect">
            <a:avLst/>
          </a:prstGeom>
        </p:spPr>
        <p:txBody>
          <a:bodyPr anchor="t" rtlCol="false" tIns="0" lIns="0" bIns="0" rIns="0">
            <a:spAutoFit/>
          </a:bodyPr>
          <a:lstStyle/>
          <a:p>
            <a:pPr algn="ctr">
              <a:lnSpc>
                <a:spcPts val="12880"/>
              </a:lnSpc>
            </a:pPr>
            <a:r>
              <a:rPr lang="en-US" sz="9200" b="true">
                <a:solidFill>
                  <a:srgbClr val="063050"/>
                </a:solidFill>
                <a:latin typeface="Poppins Bold"/>
                <a:ea typeface="Poppins Bold"/>
                <a:cs typeface="Poppins Bold"/>
                <a:sym typeface="Poppins Bold"/>
              </a:rPr>
              <a:t>PART 1 </a:t>
            </a:r>
          </a:p>
          <a:p>
            <a:pPr algn="ctr">
              <a:lnSpc>
                <a:spcPts val="12880"/>
              </a:lnSpc>
            </a:pPr>
            <a:r>
              <a:rPr lang="en-US" sz="9200" b="true">
                <a:solidFill>
                  <a:srgbClr val="063050"/>
                </a:solidFill>
                <a:latin typeface="Poppins Bold"/>
                <a:ea typeface="Poppins Bold"/>
                <a:cs typeface="Poppins Bold"/>
                <a:sym typeface="Poppins Bold"/>
              </a:rPr>
              <a:t>Theory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697500" y="2434908"/>
            <a:ext cx="21311029" cy="1464829"/>
            <a:chOff x="0" y="0"/>
            <a:chExt cx="5612781" cy="385799"/>
          </a:xfrm>
        </p:grpSpPr>
        <p:sp>
          <p:nvSpPr>
            <p:cNvPr name="Freeform 4" id="4"/>
            <p:cNvSpPr/>
            <p:nvPr/>
          </p:nvSpPr>
          <p:spPr>
            <a:xfrm flipH="false" flipV="false" rot="0">
              <a:off x="0" y="0"/>
              <a:ext cx="5612781" cy="385799"/>
            </a:xfrm>
            <a:custGeom>
              <a:avLst/>
              <a:gdLst/>
              <a:ahLst/>
              <a:cxnLst/>
              <a:rect r="r" b="b" t="t" l="l"/>
              <a:pathLst>
                <a:path h="385799" w="5612781">
                  <a:moveTo>
                    <a:pt x="0" y="0"/>
                  </a:moveTo>
                  <a:lnTo>
                    <a:pt x="5612781" y="0"/>
                  </a:lnTo>
                  <a:lnTo>
                    <a:pt x="5612781" y="385799"/>
                  </a:lnTo>
                  <a:lnTo>
                    <a:pt x="0" y="385799"/>
                  </a:lnTo>
                  <a:close/>
                </a:path>
              </a:pathLst>
            </a:custGeom>
            <a:solidFill>
              <a:srgbClr val="2B59C3">
                <a:alpha val="71765"/>
              </a:srgbClr>
            </a:solidFill>
          </p:spPr>
        </p:sp>
        <p:sp>
          <p:nvSpPr>
            <p:cNvPr name="TextBox 5" id="5"/>
            <p:cNvSpPr txBox="true"/>
            <p:nvPr/>
          </p:nvSpPr>
          <p:spPr>
            <a:xfrm>
              <a:off x="0" y="28575"/>
              <a:ext cx="5612781" cy="357224"/>
            </a:xfrm>
            <a:prstGeom prst="rect">
              <a:avLst/>
            </a:prstGeom>
          </p:spPr>
          <p:txBody>
            <a:bodyPr anchor="ctr" rtlCol="false" tIns="50800" lIns="50800" bIns="50800" rIns="50800"/>
            <a:lstStyle/>
            <a:p>
              <a:pPr algn="ctr">
                <a:lnSpc>
                  <a:spcPts val="2661"/>
                </a:lnSpc>
              </a:pPr>
            </a:p>
          </p:txBody>
        </p:sp>
      </p:grpSp>
      <p:sp>
        <p:nvSpPr>
          <p:cNvPr name="Freeform 6" id="6"/>
          <p:cNvSpPr/>
          <p:nvPr/>
        </p:nvSpPr>
        <p:spPr>
          <a:xfrm flipH="false" flipV="false" rot="0">
            <a:off x="16872140" y="1464854"/>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3">
              <a:alphaModFix amt="71000"/>
            </a:blip>
            <a:stretch>
              <a:fillRect l="0" t="0" r="0" b="0"/>
            </a:stretch>
          </a:blipFill>
        </p:spPr>
      </p:sp>
      <p:sp>
        <p:nvSpPr>
          <p:cNvPr name="Freeform 7" id="7"/>
          <p:cNvSpPr/>
          <p:nvPr/>
        </p:nvSpPr>
        <p:spPr>
          <a:xfrm flipH="false" flipV="false" rot="0">
            <a:off x="-390204" y="8950469"/>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3">
              <a:alphaModFix amt="71000"/>
            </a:blip>
            <a:stretch>
              <a:fillRect l="0" t="0" r="0" b="0"/>
            </a:stretch>
          </a:blipFill>
        </p:spPr>
      </p:sp>
      <p:grpSp>
        <p:nvGrpSpPr>
          <p:cNvPr name="Group 8" id="8"/>
          <p:cNvGrpSpPr/>
          <p:nvPr/>
        </p:nvGrpSpPr>
        <p:grpSpPr>
          <a:xfrm rot="0">
            <a:off x="2159313" y="4684673"/>
            <a:ext cx="357065" cy="357065"/>
            <a:chOff x="0" y="0"/>
            <a:chExt cx="94042" cy="94042"/>
          </a:xfrm>
        </p:grpSpPr>
        <p:sp>
          <p:nvSpPr>
            <p:cNvPr name="Freeform 9" id="9"/>
            <p:cNvSpPr/>
            <p:nvPr/>
          </p:nvSpPr>
          <p:spPr>
            <a:xfrm flipH="false" flipV="false" rot="0">
              <a:off x="0" y="0"/>
              <a:ext cx="94042" cy="94042"/>
            </a:xfrm>
            <a:custGeom>
              <a:avLst/>
              <a:gdLst/>
              <a:ahLst/>
              <a:cxnLst/>
              <a:rect r="r" b="b" t="t" l="l"/>
              <a:pathLst>
                <a:path h="94042" w="94042">
                  <a:moveTo>
                    <a:pt x="0" y="0"/>
                  </a:moveTo>
                  <a:lnTo>
                    <a:pt x="94042" y="0"/>
                  </a:lnTo>
                  <a:lnTo>
                    <a:pt x="94042" y="94042"/>
                  </a:lnTo>
                  <a:lnTo>
                    <a:pt x="0" y="94042"/>
                  </a:lnTo>
                  <a:close/>
                </a:path>
              </a:pathLst>
            </a:custGeom>
            <a:solidFill>
              <a:srgbClr val="4F9FF5"/>
            </a:solidFill>
          </p:spPr>
        </p:sp>
        <p:sp>
          <p:nvSpPr>
            <p:cNvPr name="TextBox 10" id="10"/>
            <p:cNvSpPr txBox="true"/>
            <p:nvPr/>
          </p:nvSpPr>
          <p:spPr>
            <a:xfrm>
              <a:off x="0" y="28575"/>
              <a:ext cx="94042" cy="65467"/>
            </a:xfrm>
            <a:prstGeom prst="rect">
              <a:avLst/>
            </a:prstGeom>
          </p:spPr>
          <p:txBody>
            <a:bodyPr anchor="ctr" rtlCol="false" tIns="50800" lIns="50800" bIns="50800" rIns="50800"/>
            <a:lstStyle/>
            <a:p>
              <a:pPr algn="ctr">
                <a:lnSpc>
                  <a:spcPts val="2661"/>
                </a:lnSpc>
              </a:pPr>
            </a:p>
          </p:txBody>
        </p:sp>
      </p:grpSp>
      <p:grpSp>
        <p:nvGrpSpPr>
          <p:cNvPr name="Group 11" id="11"/>
          <p:cNvGrpSpPr/>
          <p:nvPr/>
        </p:nvGrpSpPr>
        <p:grpSpPr>
          <a:xfrm rot="0">
            <a:off x="8256293" y="4684673"/>
            <a:ext cx="357065" cy="357065"/>
            <a:chOff x="0" y="0"/>
            <a:chExt cx="94042" cy="94042"/>
          </a:xfrm>
        </p:grpSpPr>
        <p:sp>
          <p:nvSpPr>
            <p:cNvPr name="Freeform 12" id="12"/>
            <p:cNvSpPr/>
            <p:nvPr/>
          </p:nvSpPr>
          <p:spPr>
            <a:xfrm flipH="false" flipV="false" rot="0">
              <a:off x="0" y="0"/>
              <a:ext cx="94042" cy="94042"/>
            </a:xfrm>
            <a:custGeom>
              <a:avLst/>
              <a:gdLst/>
              <a:ahLst/>
              <a:cxnLst/>
              <a:rect r="r" b="b" t="t" l="l"/>
              <a:pathLst>
                <a:path h="94042" w="94042">
                  <a:moveTo>
                    <a:pt x="0" y="0"/>
                  </a:moveTo>
                  <a:lnTo>
                    <a:pt x="94042" y="0"/>
                  </a:lnTo>
                  <a:lnTo>
                    <a:pt x="94042" y="94042"/>
                  </a:lnTo>
                  <a:lnTo>
                    <a:pt x="0" y="94042"/>
                  </a:lnTo>
                  <a:close/>
                </a:path>
              </a:pathLst>
            </a:custGeom>
            <a:solidFill>
              <a:srgbClr val="4F9FF5"/>
            </a:solidFill>
          </p:spPr>
        </p:sp>
        <p:sp>
          <p:nvSpPr>
            <p:cNvPr name="TextBox 13" id="13"/>
            <p:cNvSpPr txBox="true"/>
            <p:nvPr/>
          </p:nvSpPr>
          <p:spPr>
            <a:xfrm>
              <a:off x="0" y="28575"/>
              <a:ext cx="94042" cy="65467"/>
            </a:xfrm>
            <a:prstGeom prst="rect">
              <a:avLst/>
            </a:prstGeom>
          </p:spPr>
          <p:txBody>
            <a:bodyPr anchor="ctr" rtlCol="false" tIns="50800" lIns="50800" bIns="50800" rIns="50800"/>
            <a:lstStyle/>
            <a:p>
              <a:pPr algn="ctr">
                <a:lnSpc>
                  <a:spcPts val="2661"/>
                </a:lnSpc>
              </a:pPr>
            </a:p>
          </p:txBody>
        </p:sp>
      </p:grpSp>
      <p:sp>
        <p:nvSpPr>
          <p:cNvPr name="Freeform 14" id="14"/>
          <p:cNvSpPr/>
          <p:nvPr/>
        </p:nvSpPr>
        <p:spPr>
          <a:xfrm flipH="false" flipV="false" rot="0">
            <a:off x="1358424" y="5477378"/>
            <a:ext cx="1895450" cy="1895450"/>
          </a:xfrm>
          <a:custGeom>
            <a:avLst/>
            <a:gdLst/>
            <a:ahLst/>
            <a:cxnLst/>
            <a:rect r="r" b="b" t="t" l="l"/>
            <a:pathLst>
              <a:path h="1895450" w="1895450">
                <a:moveTo>
                  <a:pt x="0" y="0"/>
                </a:moveTo>
                <a:lnTo>
                  <a:pt x="1895450" y="0"/>
                </a:lnTo>
                <a:lnTo>
                  <a:pt x="1895450" y="1895450"/>
                </a:lnTo>
                <a:lnTo>
                  <a:pt x="0" y="1895450"/>
                </a:lnTo>
                <a:lnTo>
                  <a:pt x="0" y="0"/>
                </a:lnTo>
                <a:close/>
              </a:path>
            </a:pathLst>
          </a:custGeom>
          <a:blipFill>
            <a:blip r:embed="rId4"/>
            <a:stretch>
              <a:fillRect l="-28028" t="0" r="-28955" b="0"/>
            </a:stretch>
          </a:blipFill>
        </p:spPr>
      </p:sp>
      <p:sp>
        <p:nvSpPr>
          <p:cNvPr name="Freeform 15" id="15"/>
          <p:cNvSpPr/>
          <p:nvPr/>
        </p:nvSpPr>
        <p:spPr>
          <a:xfrm flipH="false" flipV="false" rot="0">
            <a:off x="4484716" y="5143500"/>
            <a:ext cx="1924315" cy="1895450"/>
          </a:xfrm>
          <a:custGeom>
            <a:avLst/>
            <a:gdLst/>
            <a:ahLst/>
            <a:cxnLst/>
            <a:rect r="r" b="b" t="t" l="l"/>
            <a:pathLst>
              <a:path h="1895450" w="1924315">
                <a:moveTo>
                  <a:pt x="0" y="0"/>
                </a:moveTo>
                <a:lnTo>
                  <a:pt x="1924314" y="0"/>
                </a:lnTo>
                <a:lnTo>
                  <a:pt x="1924314" y="1895450"/>
                </a:lnTo>
                <a:lnTo>
                  <a:pt x="0" y="1895450"/>
                </a:lnTo>
                <a:lnTo>
                  <a:pt x="0" y="0"/>
                </a:lnTo>
                <a:close/>
              </a:path>
            </a:pathLst>
          </a:custGeom>
          <a:blipFill>
            <a:blip r:embed="rId5"/>
            <a:stretch>
              <a:fillRect l="0" t="0" r="0" b="0"/>
            </a:stretch>
          </a:blipFill>
        </p:spPr>
      </p:sp>
      <p:sp>
        <p:nvSpPr>
          <p:cNvPr name="Freeform 16" id="16"/>
          <p:cNvSpPr/>
          <p:nvPr/>
        </p:nvSpPr>
        <p:spPr>
          <a:xfrm flipH="false" flipV="false" rot="0">
            <a:off x="2516378" y="7848888"/>
            <a:ext cx="2288750" cy="1670874"/>
          </a:xfrm>
          <a:custGeom>
            <a:avLst/>
            <a:gdLst/>
            <a:ahLst/>
            <a:cxnLst/>
            <a:rect r="r" b="b" t="t" l="l"/>
            <a:pathLst>
              <a:path h="1670874" w="2288750">
                <a:moveTo>
                  <a:pt x="0" y="0"/>
                </a:moveTo>
                <a:lnTo>
                  <a:pt x="2288750" y="0"/>
                </a:lnTo>
                <a:lnTo>
                  <a:pt x="2288750" y="1670874"/>
                </a:lnTo>
                <a:lnTo>
                  <a:pt x="0" y="1670874"/>
                </a:lnTo>
                <a:lnTo>
                  <a:pt x="0" y="0"/>
                </a:lnTo>
                <a:close/>
              </a:path>
            </a:pathLst>
          </a:custGeom>
          <a:blipFill>
            <a:blip r:embed="rId6"/>
            <a:stretch>
              <a:fillRect l="0" t="0" r="0" b="0"/>
            </a:stretch>
          </a:blipFill>
        </p:spPr>
      </p:sp>
      <p:sp>
        <p:nvSpPr>
          <p:cNvPr name="Freeform 17" id="17"/>
          <p:cNvSpPr/>
          <p:nvPr/>
        </p:nvSpPr>
        <p:spPr>
          <a:xfrm flipH="false" flipV="false" rot="0">
            <a:off x="5850570" y="7698806"/>
            <a:ext cx="1895450" cy="1820956"/>
          </a:xfrm>
          <a:custGeom>
            <a:avLst/>
            <a:gdLst/>
            <a:ahLst/>
            <a:cxnLst/>
            <a:rect r="r" b="b" t="t" l="l"/>
            <a:pathLst>
              <a:path h="1820956" w="1895450">
                <a:moveTo>
                  <a:pt x="0" y="0"/>
                </a:moveTo>
                <a:lnTo>
                  <a:pt x="1895450" y="0"/>
                </a:lnTo>
                <a:lnTo>
                  <a:pt x="1895450" y="1820956"/>
                </a:lnTo>
                <a:lnTo>
                  <a:pt x="0" y="1820956"/>
                </a:lnTo>
                <a:lnTo>
                  <a:pt x="0" y="0"/>
                </a:lnTo>
                <a:close/>
              </a:path>
            </a:pathLst>
          </a:custGeom>
          <a:blipFill>
            <a:blip r:embed="rId7"/>
            <a:stretch>
              <a:fillRect l="0" t="0" r="0" b="0"/>
            </a:stretch>
          </a:blipFill>
        </p:spPr>
      </p:sp>
      <p:sp>
        <p:nvSpPr>
          <p:cNvPr name="TextBox 18" id="18"/>
          <p:cNvSpPr txBox="true"/>
          <p:nvPr/>
        </p:nvSpPr>
        <p:spPr>
          <a:xfrm rot="0">
            <a:off x="8791462" y="5395728"/>
            <a:ext cx="8467838" cy="2765295"/>
          </a:xfrm>
          <a:prstGeom prst="rect">
            <a:avLst/>
          </a:prstGeom>
        </p:spPr>
        <p:txBody>
          <a:bodyPr anchor="t" rtlCol="false" tIns="0" lIns="0" bIns="0" rIns="0">
            <a:spAutoFit/>
          </a:bodyPr>
          <a:lstStyle/>
          <a:p>
            <a:pPr algn="l">
              <a:lnSpc>
                <a:spcPts val="3112"/>
              </a:lnSpc>
            </a:pPr>
            <a:r>
              <a:rPr lang="en-US" sz="2551" b="true">
                <a:solidFill>
                  <a:srgbClr val="063050"/>
                </a:solidFill>
                <a:latin typeface="Poppins Medium"/>
                <a:ea typeface="Poppins Medium"/>
                <a:cs typeface="Poppins Medium"/>
                <a:sym typeface="Poppins Medium"/>
              </a:rPr>
              <a:t>Column databases store data in </a:t>
            </a:r>
            <a:r>
              <a:rPr lang="en-US" sz="2551" b="true">
                <a:solidFill>
                  <a:srgbClr val="063050"/>
                </a:solidFill>
                <a:latin typeface="Poppins Bold"/>
                <a:ea typeface="Poppins Bold"/>
                <a:cs typeface="Poppins Bold"/>
                <a:sym typeface="Poppins Bold"/>
              </a:rPr>
              <a:t>columns</a:t>
            </a:r>
            <a:r>
              <a:rPr lang="en-US" sz="2551" b="true">
                <a:solidFill>
                  <a:srgbClr val="063050"/>
                </a:solidFill>
                <a:latin typeface="Poppins Medium"/>
                <a:ea typeface="Poppins Medium"/>
                <a:cs typeface="Poppins Medium"/>
                <a:sym typeface="Poppins Medium"/>
              </a:rPr>
              <a:t>, which differs from traditional relational databases with row-based storage. It allows for efficient processing of queries involving specific columns rather than rows. This facilitates effective use of data compression methods and speeds up data retrieval. Column DB were influenced by </a:t>
            </a:r>
            <a:r>
              <a:rPr lang="en-US" sz="2551" b="true">
                <a:solidFill>
                  <a:srgbClr val="063050"/>
                </a:solidFill>
                <a:latin typeface="Poppins Bold"/>
                <a:ea typeface="Poppins Bold"/>
                <a:cs typeface="Poppins Bold"/>
                <a:sym typeface="Poppins Bold"/>
              </a:rPr>
              <a:t>Bigtable</a:t>
            </a:r>
            <a:r>
              <a:rPr lang="en-US" sz="2551" b="true">
                <a:solidFill>
                  <a:srgbClr val="063050"/>
                </a:solidFill>
                <a:latin typeface="Poppins Medium"/>
                <a:ea typeface="Poppins Medium"/>
                <a:cs typeface="Poppins Medium"/>
                <a:sym typeface="Poppins Medium"/>
              </a:rPr>
              <a:t>.</a:t>
            </a:r>
          </a:p>
        </p:txBody>
      </p:sp>
      <p:sp>
        <p:nvSpPr>
          <p:cNvPr name="TextBox 19" id="19"/>
          <p:cNvSpPr txBox="true"/>
          <p:nvPr/>
        </p:nvSpPr>
        <p:spPr>
          <a:xfrm rot="0">
            <a:off x="2660616" y="2795485"/>
            <a:ext cx="7853757" cy="907471"/>
          </a:xfrm>
          <a:prstGeom prst="rect">
            <a:avLst/>
          </a:prstGeom>
        </p:spPr>
        <p:txBody>
          <a:bodyPr anchor="t" rtlCol="false" tIns="0" lIns="0" bIns="0" rIns="0">
            <a:spAutoFit/>
          </a:bodyPr>
          <a:lstStyle/>
          <a:p>
            <a:pPr algn="l">
              <a:lnSpc>
                <a:spcPts val="6470"/>
              </a:lnSpc>
              <a:spcBef>
                <a:spcPct val="0"/>
              </a:spcBef>
            </a:pPr>
            <a:r>
              <a:rPr lang="en-US" b="true" sz="6221">
                <a:solidFill>
                  <a:srgbClr val="F0F7FE"/>
                </a:solidFill>
                <a:latin typeface="Poppins Bold"/>
                <a:ea typeface="Poppins Bold"/>
                <a:cs typeface="Poppins Bold"/>
                <a:sym typeface="Poppins Bold"/>
              </a:rPr>
              <a:t>Column DB</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15906066" y="6478896"/>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grpSp>
        <p:nvGrpSpPr>
          <p:cNvPr name="Group 5" id="5"/>
          <p:cNvGrpSpPr/>
          <p:nvPr/>
        </p:nvGrpSpPr>
        <p:grpSpPr>
          <a:xfrm rot="0">
            <a:off x="0" y="1332965"/>
            <a:ext cx="18288000" cy="1623674"/>
            <a:chOff x="0" y="0"/>
            <a:chExt cx="4816593" cy="427634"/>
          </a:xfrm>
        </p:grpSpPr>
        <p:sp>
          <p:nvSpPr>
            <p:cNvPr name="Freeform 6" id="6"/>
            <p:cNvSpPr/>
            <p:nvPr/>
          </p:nvSpPr>
          <p:spPr>
            <a:xfrm flipH="false" flipV="false" rot="0">
              <a:off x="0" y="0"/>
              <a:ext cx="4816592" cy="427634"/>
            </a:xfrm>
            <a:custGeom>
              <a:avLst/>
              <a:gdLst/>
              <a:ahLst/>
              <a:cxnLst/>
              <a:rect r="r" b="b" t="t" l="l"/>
              <a:pathLst>
                <a:path h="427634" w="4816592">
                  <a:moveTo>
                    <a:pt x="0" y="0"/>
                  </a:moveTo>
                  <a:lnTo>
                    <a:pt x="4816592" y="0"/>
                  </a:lnTo>
                  <a:lnTo>
                    <a:pt x="4816592" y="427634"/>
                  </a:lnTo>
                  <a:lnTo>
                    <a:pt x="0" y="427634"/>
                  </a:lnTo>
                  <a:close/>
                </a:path>
              </a:pathLst>
            </a:custGeom>
            <a:solidFill>
              <a:srgbClr val="2B59C3">
                <a:alpha val="71765"/>
              </a:srgbClr>
            </a:solidFill>
          </p:spPr>
        </p:sp>
        <p:sp>
          <p:nvSpPr>
            <p:cNvPr name="TextBox 7" id="7"/>
            <p:cNvSpPr txBox="true"/>
            <p:nvPr/>
          </p:nvSpPr>
          <p:spPr>
            <a:xfrm>
              <a:off x="0" y="38100"/>
              <a:ext cx="4816593" cy="389534"/>
            </a:xfrm>
            <a:prstGeom prst="rect">
              <a:avLst/>
            </a:prstGeom>
          </p:spPr>
          <p:txBody>
            <a:bodyPr anchor="ctr" rtlCol="false" tIns="50800" lIns="50800" bIns="50800" rIns="50800"/>
            <a:lstStyle/>
            <a:p>
              <a:pPr algn="ctr">
                <a:lnSpc>
                  <a:spcPts val="6468"/>
                </a:lnSpc>
              </a:pPr>
              <a:r>
                <a:rPr lang="en-US" sz="6219">
                  <a:solidFill>
                    <a:srgbClr val="FEFEFE">
                      <a:alpha val="71765"/>
                    </a:srgbClr>
                  </a:solidFill>
                  <a:latin typeface="Poppins"/>
                  <a:ea typeface="Poppins"/>
                  <a:cs typeface="Poppins"/>
                  <a:sym typeface="Poppins"/>
                </a:rPr>
                <a:t>How it works</a:t>
              </a:r>
            </a:p>
          </p:txBody>
        </p:sp>
      </p:grpSp>
      <p:sp>
        <p:nvSpPr>
          <p:cNvPr name="TextBox 8" id="8"/>
          <p:cNvSpPr txBox="true"/>
          <p:nvPr/>
        </p:nvSpPr>
        <p:spPr>
          <a:xfrm rot="0">
            <a:off x="1730333" y="3777101"/>
            <a:ext cx="14827335" cy="4430400"/>
          </a:xfrm>
          <a:prstGeom prst="rect">
            <a:avLst/>
          </a:prstGeom>
        </p:spPr>
        <p:txBody>
          <a:bodyPr anchor="t" rtlCol="false" tIns="0" lIns="0" bIns="0" rIns="0">
            <a:spAutoFit/>
          </a:bodyPr>
          <a:lstStyle/>
          <a:p>
            <a:pPr algn="l" marL="721964" indent="-360982" lvl="1">
              <a:lnSpc>
                <a:spcPts val="3477"/>
              </a:lnSpc>
              <a:buFont typeface="Arial"/>
              <a:buChar char="•"/>
            </a:pPr>
            <a:r>
              <a:rPr lang="en-US" b="true" sz="3343">
                <a:solidFill>
                  <a:srgbClr val="000000"/>
                </a:solidFill>
                <a:latin typeface="Poppins Bold"/>
                <a:ea typeface="Poppins Bold"/>
                <a:cs typeface="Poppins Bold"/>
                <a:sym typeface="Poppins Bold"/>
              </a:rPr>
              <a:t>Column Family</a:t>
            </a:r>
            <a:r>
              <a:rPr lang="en-US" sz="3343">
                <a:solidFill>
                  <a:srgbClr val="000000"/>
                </a:solidFill>
                <a:latin typeface="Poppins"/>
                <a:ea typeface="Poppins"/>
                <a:cs typeface="Poppins"/>
                <a:sym typeface="Poppins"/>
              </a:rPr>
              <a:t> — This is a group of related columns, such as all the user’s information: name, age, settings, etc.</a:t>
            </a:r>
          </a:p>
          <a:p>
            <a:pPr algn="l" marL="721964" indent="-360982" lvl="1">
              <a:lnSpc>
                <a:spcPts val="3477"/>
              </a:lnSpc>
              <a:buFont typeface="Arial"/>
              <a:buChar char="•"/>
            </a:pPr>
            <a:r>
              <a:rPr lang="en-US" b="true" sz="3343">
                <a:solidFill>
                  <a:srgbClr val="000000"/>
                </a:solidFill>
                <a:latin typeface="Poppins Bold"/>
                <a:ea typeface="Poppins Bold"/>
                <a:cs typeface="Poppins Bold"/>
                <a:sym typeface="Poppins Bold"/>
              </a:rPr>
              <a:t>Column</a:t>
            </a:r>
            <a:r>
              <a:rPr lang="en-US" sz="3343">
                <a:solidFill>
                  <a:srgbClr val="000000"/>
                </a:solidFill>
                <a:latin typeface="Poppins"/>
                <a:ea typeface="Poppins"/>
                <a:cs typeface="Poppins"/>
                <a:sym typeface="Poppins"/>
              </a:rPr>
              <a:t> — Each column stores a piece of data, like Name: John or Age: 30. Different rows can have different columns.</a:t>
            </a:r>
          </a:p>
          <a:p>
            <a:pPr algn="l" marL="721964" indent="-360982" lvl="1">
              <a:lnSpc>
                <a:spcPts val="3477"/>
              </a:lnSpc>
              <a:buFont typeface="Arial"/>
              <a:buChar char="•"/>
            </a:pPr>
            <a:r>
              <a:rPr lang="en-US" b="true" sz="3343">
                <a:solidFill>
                  <a:srgbClr val="000000"/>
                </a:solidFill>
                <a:latin typeface="Poppins Bold"/>
                <a:ea typeface="Poppins Bold"/>
                <a:cs typeface="Poppins Bold"/>
                <a:sym typeface="Poppins Bold"/>
              </a:rPr>
              <a:t>Timestamp</a:t>
            </a:r>
            <a:r>
              <a:rPr lang="en-US" sz="3343">
                <a:solidFill>
                  <a:srgbClr val="000000"/>
                </a:solidFill>
                <a:latin typeface="Poppins"/>
                <a:ea typeface="Poppins"/>
                <a:cs typeface="Poppins"/>
                <a:sym typeface="Poppins"/>
              </a:rPr>
              <a:t> — Every piece of data has a timestamp that shows when it was last updated. It helps the system know which version of the data</a:t>
            </a:r>
            <a:r>
              <a:rPr lang="en-US" sz="3343">
                <a:solidFill>
                  <a:srgbClr val="000000"/>
                </a:solidFill>
                <a:latin typeface="Poppins"/>
                <a:ea typeface="Poppins"/>
                <a:cs typeface="Poppins"/>
                <a:sym typeface="Poppins"/>
              </a:rPr>
              <a:t> is the most recent.</a:t>
            </a:r>
          </a:p>
          <a:p>
            <a:pPr algn="just" marL="721964" indent="-360982" lvl="1">
              <a:lnSpc>
                <a:spcPts val="3477"/>
              </a:lnSpc>
              <a:buFont typeface="Arial"/>
              <a:buChar char="•"/>
            </a:pPr>
            <a:r>
              <a:rPr lang="en-US" b="true" sz="3343">
                <a:solidFill>
                  <a:srgbClr val="000000"/>
                </a:solidFill>
                <a:latin typeface="Poppins Bold"/>
                <a:ea typeface="Poppins Bold"/>
                <a:cs typeface="Poppins Bold"/>
                <a:sym typeface="Poppins Bold"/>
              </a:rPr>
              <a:t>Row Key </a:t>
            </a:r>
            <a:r>
              <a:rPr lang="en-US" sz="3343">
                <a:solidFill>
                  <a:srgbClr val="000000"/>
                </a:solidFill>
                <a:latin typeface="Poppins"/>
                <a:ea typeface="Poppins"/>
                <a:cs typeface="Poppins"/>
                <a:sym typeface="Poppins"/>
              </a:rPr>
              <a:t>— This is like a name for a set of data about one object . For example, a row of data for a user could have the key user123.</a:t>
            </a:r>
          </a:p>
          <a:p>
            <a:pPr algn="ctr">
              <a:lnSpc>
                <a:spcPts val="3477"/>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15906066" y="6478896"/>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grpSp>
        <p:nvGrpSpPr>
          <p:cNvPr name="Group 5" id="5"/>
          <p:cNvGrpSpPr/>
          <p:nvPr/>
        </p:nvGrpSpPr>
        <p:grpSpPr>
          <a:xfrm rot="0">
            <a:off x="0" y="1332965"/>
            <a:ext cx="18288000" cy="1623674"/>
            <a:chOff x="0" y="0"/>
            <a:chExt cx="4816593" cy="427634"/>
          </a:xfrm>
        </p:grpSpPr>
        <p:sp>
          <p:nvSpPr>
            <p:cNvPr name="Freeform 6" id="6"/>
            <p:cNvSpPr/>
            <p:nvPr/>
          </p:nvSpPr>
          <p:spPr>
            <a:xfrm flipH="false" flipV="false" rot="0">
              <a:off x="0" y="0"/>
              <a:ext cx="4816592" cy="427634"/>
            </a:xfrm>
            <a:custGeom>
              <a:avLst/>
              <a:gdLst/>
              <a:ahLst/>
              <a:cxnLst/>
              <a:rect r="r" b="b" t="t" l="l"/>
              <a:pathLst>
                <a:path h="427634" w="4816592">
                  <a:moveTo>
                    <a:pt x="0" y="0"/>
                  </a:moveTo>
                  <a:lnTo>
                    <a:pt x="4816592" y="0"/>
                  </a:lnTo>
                  <a:lnTo>
                    <a:pt x="4816592" y="427634"/>
                  </a:lnTo>
                  <a:lnTo>
                    <a:pt x="0" y="427634"/>
                  </a:lnTo>
                  <a:close/>
                </a:path>
              </a:pathLst>
            </a:custGeom>
            <a:solidFill>
              <a:srgbClr val="2B59C3">
                <a:alpha val="71765"/>
              </a:srgbClr>
            </a:solidFill>
          </p:spPr>
        </p:sp>
        <p:sp>
          <p:nvSpPr>
            <p:cNvPr name="TextBox 7" id="7"/>
            <p:cNvSpPr txBox="true"/>
            <p:nvPr/>
          </p:nvSpPr>
          <p:spPr>
            <a:xfrm>
              <a:off x="0" y="38100"/>
              <a:ext cx="4816593" cy="389534"/>
            </a:xfrm>
            <a:prstGeom prst="rect">
              <a:avLst/>
            </a:prstGeom>
          </p:spPr>
          <p:txBody>
            <a:bodyPr anchor="ctr" rtlCol="false" tIns="50800" lIns="50800" bIns="50800" rIns="50800"/>
            <a:lstStyle/>
            <a:p>
              <a:pPr algn="ctr">
                <a:lnSpc>
                  <a:spcPts val="6468"/>
                </a:lnSpc>
              </a:pPr>
            </a:p>
          </p:txBody>
        </p:sp>
      </p:grpSp>
      <p:sp>
        <p:nvSpPr>
          <p:cNvPr name="TextBox 8" id="8"/>
          <p:cNvSpPr txBox="true"/>
          <p:nvPr/>
        </p:nvSpPr>
        <p:spPr>
          <a:xfrm rot="0">
            <a:off x="1619600" y="3512981"/>
            <a:ext cx="14827335" cy="6183000"/>
          </a:xfrm>
          <a:prstGeom prst="rect">
            <a:avLst/>
          </a:prstGeom>
        </p:spPr>
        <p:txBody>
          <a:bodyPr anchor="t" rtlCol="false" tIns="0" lIns="0" bIns="0" rIns="0">
            <a:spAutoFit/>
          </a:bodyPr>
          <a:lstStyle/>
          <a:p>
            <a:pPr algn="l">
              <a:lnSpc>
                <a:spcPts val="3477"/>
              </a:lnSpc>
            </a:pPr>
            <a:r>
              <a:rPr lang="en-US" sz="3343">
                <a:solidFill>
                  <a:srgbClr val="000000"/>
                </a:solidFill>
                <a:latin typeface="Poppins"/>
                <a:ea typeface="Poppins"/>
                <a:cs typeface="Poppins"/>
                <a:sym typeface="Poppins"/>
              </a:rPr>
              <a:t>Imagine a table of students with columns for names, ages, and grades:</a:t>
            </a:r>
          </a:p>
          <a:p>
            <a:pPr algn="l" marL="721964" indent="-360982" lvl="1">
              <a:lnSpc>
                <a:spcPts val="3477"/>
              </a:lnSpc>
              <a:buFont typeface="Arial"/>
              <a:buChar char="•"/>
            </a:pPr>
            <a:r>
              <a:rPr lang="en-US" sz="3343">
                <a:solidFill>
                  <a:srgbClr val="000000"/>
                </a:solidFill>
                <a:latin typeface="Poppins"/>
                <a:ea typeface="Poppins"/>
                <a:cs typeface="Poppins"/>
                <a:sym typeface="Poppins"/>
              </a:rPr>
              <a:t>In a row-oriented database, each student’s information is stored in one row.</a:t>
            </a:r>
          </a:p>
          <a:p>
            <a:pPr algn="l" marL="721964" indent="-360982" lvl="1">
              <a:lnSpc>
                <a:spcPts val="3477"/>
              </a:lnSpc>
              <a:buFont typeface="Arial"/>
              <a:buChar char="•"/>
            </a:pPr>
            <a:r>
              <a:rPr lang="en-US" b="true" sz="3343">
                <a:solidFill>
                  <a:srgbClr val="000000"/>
                </a:solidFill>
                <a:latin typeface="Poppins Bold"/>
                <a:ea typeface="Poppins Bold"/>
                <a:cs typeface="Poppins Bold"/>
                <a:sym typeface="Poppins Bold"/>
              </a:rPr>
              <a:t>In a columnar database</a:t>
            </a:r>
            <a:r>
              <a:rPr lang="en-US" sz="3343">
                <a:solidFill>
                  <a:srgbClr val="000000"/>
                </a:solidFill>
                <a:latin typeface="Poppins"/>
                <a:ea typeface="Poppins"/>
                <a:cs typeface="Poppins"/>
                <a:sym typeface="Poppins"/>
              </a:rPr>
              <a:t>, all names are stored in one place, all ages in another, and all grades in yet another.</a:t>
            </a:r>
          </a:p>
          <a:p>
            <a:pPr algn="l">
              <a:lnSpc>
                <a:spcPts val="3477"/>
              </a:lnSpc>
            </a:pPr>
          </a:p>
          <a:p>
            <a:pPr algn="ctr">
              <a:lnSpc>
                <a:spcPts val="3477"/>
              </a:lnSpc>
            </a:pPr>
            <a:r>
              <a:rPr lang="en-US" b="true" sz="3343">
                <a:solidFill>
                  <a:srgbClr val="000000"/>
                </a:solidFill>
                <a:latin typeface="Poppins Bold"/>
                <a:ea typeface="Poppins Bold"/>
                <a:cs typeface="Poppins Bold"/>
                <a:sym typeface="Poppins Bold"/>
              </a:rPr>
              <a:t>How it works:</a:t>
            </a:r>
          </a:p>
          <a:p>
            <a:pPr algn="l" marL="721964" indent="-360982" lvl="1">
              <a:lnSpc>
                <a:spcPts val="3477"/>
              </a:lnSpc>
              <a:buFont typeface="Arial"/>
              <a:buChar char="•"/>
            </a:pPr>
            <a:r>
              <a:rPr lang="en-US" sz="3343">
                <a:solidFill>
                  <a:srgbClr val="000000"/>
                </a:solidFill>
                <a:latin typeface="Poppins"/>
                <a:ea typeface="Poppins"/>
                <a:cs typeface="Poppins"/>
                <a:sym typeface="Poppins"/>
              </a:rPr>
              <a:t>Writing: Data is saved under the row key into the appropriate column family.</a:t>
            </a:r>
          </a:p>
          <a:p>
            <a:pPr algn="l" marL="721964" indent="-360982" lvl="1">
              <a:lnSpc>
                <a:spcPts val="3477"/>
              </a:lnSpc>
              <a:buFont typeface="Arial"/>
              <a:buChar char="•"/>
            </a:pPr>
            <a:r>
              <a:rPr lang="en-US" sz="3343">
                <a:solidFill>
                  <a:srgbClr val="000000"/>
                </a:solidFill>
                <a:latin typeface="Poppins"/>
                <a:ea typeface="Poppins"/>
                <a:cs typeface="Poppins"/>
                <a:sym typeface="Poppins"/>
              </a:rPr>
              <a:t>Reading: Data is retrieved using the row key and the latest versions (based on the timestamp) of each column are returned.</a:t>
            </a:r>
          </a:p>
          <a:p>
            <a:pPr algn="l">
              <a:lnSpc>
                <a:spcPts val="3477"/>
              </a:lnSpc>
              <a:spcBef>
                <a:spcPct val="0"/>
              </a:spcBef>
            </a:pPr>
          </a:p>
          <a:p>
            <a:pPr algn="ctr">
              <a:lnSpc>
                <a:spcPts val="3477"/>
              </a:lnSpc>
              <a:spcBef>
                <a:spcPct val="0"/>
              </a:spcBef>
            </a:pPr>
          </a:p>
        </p:txBody>
      </p:sp>
      <p:sp>
        <p:nvSpPr>
          <p:cNvPr name="TextBox 9" id="9"/>
          <p:cNvSpPr txBox="true"/>
          <p:nvPr/>
        </p:nvSpPr>
        <p:spPr>
          <a:xfrm rot="0">
            <a:off x="-851" y="1718948"/>
            <a:ext cx="18288000" cy="937434"/>
          </a:xfrm>
          <a:prstGeom prst="rect">
            <a:avLst/>
          </a:prstGeom>
        </p:spPr>
        <p:txBody>
          <a:bodyPr anchor="t" rtlCol="false" tIns="0" lIns="0" bIns="0" rIns="0">
            <a:spAutoFit/>
          </a:bodyPr>
          <a:lstStyle/>
          <a:p>
            <a:pPr algn="ctr">
              <a:lnSpc>
                <a:spcPts val="7028"/>
              </a:lnSpc>
              <a:spcBef>
                <a:spcPct val="0"/>
              </a:spcBef>
            </a:pPr>
            <a:r>
              <a:rPr lang="en-US" b="true" sz="6758">
                <a:solidFill>
                  <a:srgbClr val="000000"/>
                </a:solidFill>
                <a:latin typeface="Raleway Bold"/>
                <a:ea typeface="Raleway Bold"/>
                <a:cs typeface="Raleway Bold"/>
                <a:sym typeface="Raleway Bold"/>
              </a:rPr>
              <a:t>Example: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1991022" y="1332965"/>
            <a:ext cx="2232436" cy="2263560"/>
          </a:xfrm>
          <a:custGeom>
            <a:avLst/>
            <a:gdLst/>
            <a:ahLst/>
            <a:cxnLst/>
            <a:rect r="r" b="b" t="t" l="l"/>
            <a:pathLst>
              <a:path h="2263560" w="2232436">
                <a:moveTo>
                  <a:pt x="0" y="0"/>
                </a:moveTo>
                <a:lnTo>
                  <a:pt x="2232436" y="0"/>
                </a:lnTo>
                <a:lnTo>
                  <a:pt x="2232436" y="2263559"/>
                </a:lnTo>
                <a:lnTo>
                  <a:pt x="0" y="2263559"/>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5" id="5"/>
          <p:cNvSpPr/>
          <p:nvPr/>
        </p:nvSpPr>
        <p:spPr>
          <a:xfrm flipH="false" flipV="false" rot="0">
            <a:off x="15906066" y="6478896"/>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grpSp>
        <p:nvGrpSpPr>
          <p:cNvPr name="Group 6" id="6"/>
          <p:cNvGrpSpPr/>
          <p:nvPr/>
        </p:nvGrpSpPr>
        <p:grpSpPr>
          <a:xfrm rot="0">
            <a:off x="0" y="1332965"/>
            <a:ext cx="18288000" cy="1623674"/>
            <a:chOff x="0" y="0"/>
            <a:chExt cx="4816593" cy="427634"/>
          </a:xfrm>
        </p:grpSpPr>
        <p:sp>
          <p:nvSpPr>
            <p:cNvPr name="Freeform 7" id="7"/>
            <p:cNvSpPr/>
            <p:nvPr/>
          </p:nvSpPr>
          <p:spPr>
            <a:xfrm flipH="false" flipV="false" rot="0">
              <a:off x="0" y="0"/>
              <a:ext cx="4816592" cy="427634"/>
            </a:xfrm>
            <a:custGeom>
              <a:avLst/>
              <a:gdLst/>
              <a:ahLst/>
              <a:cxnLst/>
              <a:rect r="r" b="b" t="t" l="l"/>
              <a:pathLst>
                <a:path h="427634" w="4816592">
                  <a:moveTo>
                    <a:pt x="0" y="0"/>
                  </a:moveTo>
                  <a:lnTo>
                    <a:pt x="4816592" y="0"/>
                  </a:lnTo>
                  <a:lnTo>
                    <a:pt x="4816592" y="427634"/>
                  </a:lnTo>
                  <a:lnTo>
                    <a:pt x="0" y="427634"/>
                  </a:lnTo>
                  <a:close/>
                </a:path>
              </a:pathLst>
            </a:custGeom>
            <a:solidFill>
              <a:srgbClr val="2B59C3">
                <a:alpha val="71765"/>
              </a:srgbClr>
            </a:solidFill>
          </p:spPr>
        </p:sp>
        <p:sp>
          <p:nvSpPr>
            <p:cNvPr name="TextBox 8" id="8"/>
            <p:cNvSpPr txBox="true"/>
            <p:nvPr/>
          </p:nvSpPr>
          <p:spPr>
            <a:xfrm>
              <a:off x="0" y="38100"/>
              <a:ext cx="4816593" cy="389534"/>
            </a:xfrm>
            <a:prstGeom prst="rect">
              <a:avLst/>
            </a:prstGeom>
          </p:spPr>
          <p:txBody>
            <a:bodyPr anchor="ctr" rtlCol="false" tIns="50800" lIns="50800" bIns="50800" rIns="50800"/>
            <a:lstStyle/>
            <a:p>
              <a:pPr algn="ctr">
                <a:lnSpc>
                  <a:spcPts val="6468"/>
                </a:lnSpc>
              </a:pPr>
              <a:r>
                <a:rPr lang="en-US" sz="6219">
                  <a:solidFill>
                    <a:srgbClr val="FEFEFE">
                      <a:alpha val="71765"/>
                    </a:srgbClr>
                  </a:solidFill>
                  <a:latin typeface="Poppins"/>
                  <a:ea typeface="Poppins"/>
                  <a:cs typeface="Poppins"/>
                  <a:sym typeface="Poppins"/>
                </a:rPr>
                <a:t>How it works</a:t>
              </a:r>
            </a:p>
          </p:txBody>
        </p:sp>
      </p:grpSp>
      <p:graphicFrame>
        <p:nvGraphicFramePr>
          <p:cNvPr name="Table 9" id="9"/>
          <p:cNvGraphicFramePr>
            <a:graphicFrameLocks noGrp="true"/>
          </p:cNvGraphicFramePr>
          <p:nvPr/>
        </p:nvGraphicFramePr>
        <p:xfrm>
          <a:off x="2858488" y="3596524"/>
          <a:ext cx="13047577" cy="6168144"/>
        </p:xfrm>
        <a:graphic>
          <a:graphicData uri="http://schemas.openxmlformats.org/drawingml/2006/table">
            <a:tbl>
              <a:tblPr/>
              <a:tblGrid>
                <a:gridCol w="3458680"/>
                <a:gridCol w="3458680"/>
                <a:gridCol w="3458680"/>
                <a:gridCol w="1335768"/>
                <a:gridCol w="1335768"/>
              </a:tblGrid>
              <a:tr h="1483702">
                <a:tc gridSpan="5">
                  <a:txBody>
                    <a:bodyPr anchor="t" rtlCol="false"/>
                    <a:lstStyle/>
                    <a:p>
                      <a:pPr algn="ctr">
                        <a:lnSpc>
                          <a:spcPts val="3919"/>
                        </a:lnSpc>
                        <a:defRPr/>
                      </a:pPr>
                      <a:r>
                        <a:rPr lang="en-US" sz="2799" b="true">
                          <a:solidFill>
                            <a:srgbClr val="000000"/>
                          </a:solidFill>
                          <a:latin typeface="Poppins Bold"/>
                          <a:ea typeface="Poppins Bold"/>
                          <a:cs typeface="Poppins Bold"/>
                          <a:sym typeface="Poppins Bold"/>
                        </a:rPr>
                        <a:t>Colomn Family0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3919"/>
                        </a:lnSpc>
                        <a:defRPr/>
                      </a:pPr>
                      <a:r>
                        <a:rPr lang="en-US" sz="2799" b="true">
                          <a:solidFill>
                            <a:srgbClr val="000000"/>
                          </a:solidFill>
                          <a:latin typeface="Poppins Bold"/>
                          <a:ea typeface="Poppins Bold"/>
                          <a:cs typeface="Poppins Bold"/>
                          <a:sym typeface="Poppins Bold"/>
                        </a:rPr>
                        <a:t>Colomn Family0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3919"/>
                        </a:lnSpc>
                        <a:defRPr/>
                      </a:pPr>
                      <a:r>
                        <a:rPr lang="en-US" sz="2799" b="true">
                          <a:solidFill>
                            <a:srgbClr val="000000"/>
                          </a:solidFill>
                          <a:latin typeface="Poppins Bold"/>
                          <a:ea typeface="Poppins Bold"/>
                          <a:cs typeface="Poppins Bold"/>
                          <a:sym typeface="Poppins Bold"/>
                        </a:rPr>
                        <a:t>Colomn Family0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3919"/>
                        </a:lnSpc>
                        <a:defRPr/>
                      </a:pPr>
                      <a:r>
                        <a:rPr lang="en-US" sz="2799" b="true">
                          <a:solidFill>
                            <a:srgbClr val="000000"/>
                          </a:solidFill>
                          <a:latin typeface="Poppins Bold"/>
                          <a:ea typeface="Poppins Bold"/>
                          <a:cs typeface="Poppins Bold"/>
                          <a:sym typeface="Poppins Bold"/>
                        </a:rPr>
                        <a:t>Colomn Family0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3919"/>
                        </a:lnSpc>
                        <a:defRPr/>
                      </a:pPr>
                      <a:r>
                        <a:rPr lang="en-US" sz="2799" b="true">
                          <a:solidFill>
                            <a:srgbClr val="000000"/>
                          </a:solidFill>
                          <a:latin typeface="Poppins Bold"/>
                          <a:ea typeface="Poppins Bold"/>
                          <a:cs typeface="Poppins Bold"/>
                          <a:sym typeface="Poppins Bold"/>
                        </a:rPr>
                        <a:t>Colomn Family0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21351">
                <a:tc gridSpan="3">
                  <a:txBody>
                    <a:bodyPr anchor="t" rtlCol="false"/>
                    <a:lstStyle/>
                    <a:p>
                      <a:pPr algn="ctr">
                        <a:lnSpc>
                          <a:spcPts val="3919"/>
                        </a:lnSpc>
                        <a:defRPr/>
                      </a:pPr>
                      <a:r>
                        <a:rPr lang="en-US" sz="2799">
                          <a:solidFill>
                            <a:srgbClr val="000000"/>
                          </a:solidFill>
                          <a:latin typeface="Poppins"/>
                          <a:ea typeface="Poppins"/>
                          <a:cs typeface="Poppins"/>
                          <a:sym typeface="Poppins"/>
                        </a:rPr>
                        <a:t>Colomn 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3919"/>
                        </a:lnSpc>
                        <a:defRPr/>
                      </a:pPr>
                      <a:r>
                        <a:rPr lang="en-US" sz="2799">
                          <a:solidFill>
                            <a:srgbClr val="000000"/>
                          </a:solidFill>
                          <a:latin typeface="Poppins"/>
                          <a:ea typeface="Poppins"/>
                          <a:cs typeface="Poppins"/>
                          <a:sym typeface="Poppins"/>
                        </a:rPr>
                        <a:t>Colomn 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3919"/>
                        </a:lnSpc>
                        <a:defRPr/>
                      </a:pPr>
                      <a:r>
                        <a:rPr lang="en-US" sz="2799">
                          <a:solidFill>
                            <a:srgbClr val="000000"/>
                          </a:solidFill>
                          <a:latin typeface="Poppins"/>
                          <a:ea typeface="Poppins"/>
                          <a:cs typeface="Poppins"/>
                          <a:sym typeface="Poppins"/>
                        </a:rPr>
                        <a:t>Colomn 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Poppins"/>
                          <a:ea typeface="Poppins"/>
                          <a:cs typeface="Poppins"/>
                          <a:sym typeface="Poppins"/>
                        </a:rPr>
                        <a:t>C1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Poppins"/>
                          <a:ea typeface="Poppins"/>
                          <a:cs typeface="Poppins"/>
                          <a:sym typeface="Poppins"/>
                        </a:rPr>
                        <a:t>C2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21351">
                <a:tc>
                  <a:txBody>
                    <a:bodyPr anchor="t" rtlCol="false"/>
                    <a:lstStyle/>
                    <a:p>
                      <a:pPr algn="ctr">
                        <a:lnSpc>
                          <a:spcPts val="3919"/>
                        </a:lnSpc>
                        <a:defRPr/>
                      </a:pPr>
                      <a:r>
                        <a:rPr lang="en-US" sz="2799">
                          <a:solidFill>
                            <a:srgbClr val="000000"/>
                          </a:solidFill>
                          <a:latin typeface="Poppins"/>
                          <a:ea typeface="Poppins"/>
                          <a:cs typeface="Poppins"/>
                          <a:sym typeface="Poppins"/>
                        </a:rPr>
                        <a:t>Row ID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Poppins"/>
                          <a:ea typeface="Poppins"/>
                          <a:cs typeface="Poppins"/>
                          <a:sym typeface="Poppins"/>
                        </a:rPr>
                        <a:t>Value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r>
                        <a:rPr lang="en-US" sz="2799">
                          <a:solidFill>
                            <a:srgbClr val="000000"/>
                          </a:solidFill>
                          <a:latin typeface="Poppins"/>
                          <a:ea typeface="Poppins"/>
                          <a:cs typeface="Poppins"/>
                          <a:sym typeface="Poppins"/>
                        </a:rPr>
                        <a:t>TimeStamp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441740">
                <a:tc>
                  <a:txBody>
                    <a:bodyPr anchor="t" rtlCol="false"/>
                    <a:lstStyle/>
                    <a:p>
                      <a:pPr algn="ctr">
                        <a:lnSpc>
                          <a:spcPts val="391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919"/>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1351383">
            <a:off x="13179521" y="1113834"/>
            <a:ext cx="3015788" cy="3057833"/>
          </a:xfrm>
          <a:custGeom>
            <a:avLst/>
            <a:gdLst/>
            <a:ahLst/>
            <a:cxnLst/>
            <a:rect r="r" b="b" t="t" l="l"/>
            <a:pathLst>
              <a:path h="3057833" w="3015788">
                <a:moveTo>
                  <a:pt x="0" y="0"/>
                </a:moveTo>
                <a:lnTo>
                  <a:pt x="3015788" y="0"/>
                </a:lnTo>
                <a:lnTo>
                  <a:pt x="3015788" y="3057833"/>
                </a:lnTo>
                <a:lnTo>
                  <a:pt x="0" y="3057833"/>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823176" y="259238"/>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5" id="5"/>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6" id="6"/>
          <p:cNvSpPr/>
          <p:nvPr/>
        </p:nvSpPr>
        <p:spPr>
          <a:xfrm flipH="false" flipV="false" rot="0">
            <a:off x="13974717" y="5143500"/>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sp>
        <p:nvSpPr>
          <p:cNvPr name="Freeform 7" id="7"/>
          <p:cNvSpPr/>
          <p:nvPr/>
        </p:nvSpPr>
        <p:spPr>
          <a:xfrm flipH="true" flipV="true" rot="0">
            <a:off x="14900066" y="6906806"/>
            <a:ext cx="6775868" cy="4114800"/>
          </a:xfrm>
          <a:custGeom>
            <a:avLst/>
            <a:gdLst/>
            <a:ahLst/>
            <a:cxnLst/>
            <a:rect r="r" b="b" t="t" l="l"/>
            <a:pathLst>
              <a:path h="4114800" w="6775868">
                <a:moveTo>
                  <a:pt x="6775868" y="4114800"/>
                </a:moveTo>
                <a:lnTo>
                  <a:pt x="0" y="4114800"/>
                </a:lnTo>
                <a:lnTo>
                  <a:pt x="0" y="0"/>
                </a:lnTo>
                <a:lnTo>
                  <a:pt x="6775868" y="0"/>
                </a:lnTo>
                <a:lnTo>
                  <a:pt x="6775868"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851" y="1028700"/>
            <a:ext cx="18288851" cy="1627187"/>
            <a:chOff x="0" y="0"/>
            <a:chExt cx="4816817" cy="428560"/>
          </a:xfrm>
        </p:grpSpPr>
        <p:sp>
          <p:nvSpPr>
            <p:cNvPr name="Freeform 9" id="9"/>
            <p:cNvSpPr/>
            <p:nvPr/>
          </p:nvSpPr>
          <p:spPr>
            <a:xfrm flipH="false" flipV="false" rot="0">
              <a:off x="0" y="0"/>
              <a:ext cx="4816817" cy="428560"/>
            </a:xfrm>
            <a:custGeom>
              <a:avLst/>
              <a:gdLst/>
              <a:ahLst/>
              <a:cxnLst/>
              <a:rect r="r" b="b" t="t" l="l"/>
              <a:pathLst>
                <a:path h="428560" w="4816817">
                  <a:moveTo>
                    <a:pt x="0" y="0"/>
                  </a:moveTo>
                  <a:lnTo>
                    <a:pt x="4816817" y="0"/>
                  </a:lnTo>
                  <a:lnTo>
                    <a:pt x="4816817" y="428560"/>
                  </a:lnTo>
                  <a:lnTo>
                    <a:pt x="0" y="428560"/>
                  </a:lnTo>
                  <a:close/>
                </a:path>
              </a:pathLst>
            </a:custGeom>
            <a:solidFill>
              <a:srgbClr val="2B59C3">
                <a:alpha val="71765"/>
              </a:srgbClr>
            </a:solidFill>
          </p:spPr>
        </p:sp>
        <p:sp>
          <p:nvSpPr>
            <p:cNvPr name="TextBox 10" id="10"/>
            <p:cNvSpPr txBox="true"/>
            <p:nvPr/>
          </p:nvSpPr>
          <p:spPr>
            <a:xfrm>
              <a:off x="0" y="38100"/>
              <a:ext cx="4816817" cy="390460"/>
            </a:xfrm>
            <a:prstGeom prst="rect">
              <a:avLst/>
            </a:prstGeom>
          </p:spPr>
          <p:txBody>
            <a:bodyPr anchor="ctr" rtlCol="false" tIns="50800" lIns="50800" bIns="50800" rIns="50800"/>
            <a:lstStyle/>
            <a:p>
              <a:pPr algn="ctr">
                <a:lnSpc>
                  <a:spcPts val="6499"/>
                </a:lnSpc>
              </a:pPr>
              <a:r>
                <a:rPr lang="en-US" sz="6249">
                  <a:solidFill>
                    <a:srgbClr val="FEFEFE">
                      <a:alpha val="71765"/>
                    </a:srgbClr>
                  </a:solidFill>
                  <a:latin typeface="Poppins"/>
                  <a:ea typeface="Poppins"/>
                  <a:cs typeface="Poppins"/>
                  <a:sym typeface="Poppins"/>
                </a:rPr>
                <a:t>Advantages of Column DB </a:t>
              </a:r>
            </a:p>
          </p:txBody>
        </p:sp>
      </p:grpSp>
      <p:sp>
        <p:nvSpPr>
          <p:cNvPr name="Freeform 11" id="11"/>
          <p:cNvSpPr/>
          <p:nvPr/>
        </p:nvSpPr>
        <p:spPr>
          <a:xfrm flipH="false" flipV="false" rot="0">
            <a:off x="12708875" y="3401807"/>
            <a:ext cx="5254021" cy="4652197"/>
          </a:xfrm>
          <a:custGeom>
            <a:avLst/>
            <a:gdLst/>
            <a:ahLst/>
            <a:cxnLst/>
            <a:rect r="r" b="b" t="t" l="l"/>
            <a:pathLst>
              <a:path h="4652197" w="5254021">
                <a:moveTo>
                  <a:pt x="0" y="0"/>
                </a:moveTo>
                <a:lnTo>
                  <a:pt x="5254021" y="0"/>
                </a:lnTo>
                <a:lnTo>
                  <a:pt x="5254021" y="4652197"/>
                </a:lnTo>
                <a:lnTo>
                  <a:pt x="0" y="46521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103867" y="3411332"/>
            <a:ext cx="11605008" cy="6197365"/>
          </a:xfrm>
          <a:prstGeom prst="rect">
            <a:avLst/>
          </a:prstGeom>
        </p:spPr>
        <p:txBody>
          <a:bodyPr anchor="t" rtlCol="false" tIns="0" lIns="0" bIns="0" rIns="0">
            <a:spAutoFit/>
          </a:bodyPr>
          <a:lstStyle/>
          <a:p>
            <a:pPr algn="l">
              <a:lnSpc>
                <a:spcPts val="3237"/>
              </a:lnSpc>
            </a:pPr>
            <a:r>
              <a:rPr lang="en-US" sz="3113" b="true">
                <a:solidFill>
                  <a:srgbClr val="000000"/>
                </a:solidFill>
                <a:latin typeface="Poppins Bold"/>
                <a:ea typeface="Poppins Bold"/>
                <a:cs typeface="Poppins Bold"/>
                <a:sym typeface="Poppins Bold"/>
              </a:rPr>
              <a:t>Faster Query Performance for Analytical Workloads:</a:t>
            </a:r>
            <a:r>
              <a:rPr lang="en-US" sz="3113" b="true">
                <a:solidFill>
                  <a:srgbClr val="000000"/>
                </a:solidFill>
                <a:latin typeface="Poppins Bold"/>
                <a:ea typeface="Poppins Bold"/>
                <a:cs typeface="Poppins Bold"/>
                <a:sym typeface="Poppins Bold"/>
              </a:rPr>
              <a:t> </a:t>
            </a:r>
          </a:p>
          <a:p>
            <a:pPr algn="l">
              <a:lnSpc>
                <a:spcPts val="3237"/>
              </a:lnSpc>
            </a:pPr>
          </a:p>
          <a:p>
            <a:pPr algn="l">
              <a:lnSpc>
                <a:spcPts val="3237"/>
              </a:lnSpc>
            </a:pPr>
            <a:r>
              <a:rPr lang="en-US" sz="3113">
                <a:solidFill>
                  <a:srgbClr val="000000"/>
                </a:solidFill>
                <a:latin typeface="Poppins"/>
                <a:ea typeface="Poppins"/>
                <a:cs typeface="Poppins"/>
                <a:sym typeface="Poppins"/>
              </a:rPr>
              <a:t>Optimized for handling queries that require data retrieval from multiple columns, which speeds up aggregation and selection.</a:t>
            </a:r>
          </a:p>
          <a:p>
            <a:pPr algn="l">
              <a:lnSpc>
                <a:spcPts val="3237"/>
              </a:lnSpc>
            </a:pPr>
          </a:p>
          <a:p>
            <a:pPr algn="l">
              <a:lnSpc>
                <a:spcPts val="3237"/>
              </a:lnSpc>
            </a:pPr>
            <a:r>
              <a:rPr lang="en-US" sz="3113">
                <a:solidFill>
                  <a:srgbClr val="000000"/>
                </a:solidFill>
                <a:latin typeface="Poppins"/>
                <a:ea typeface="Poppins"/>
                <a:cs typeface="Poppins"/>
                <a:sym typeface="Poppins"/>
              </a:rPr>
              <a:t>In columnar databases, only the relevant columns needed for a query are read from disk, while traditional row-based databases (like MySQL or PostgreSQL) must read entire rows, including irrelevant data. This minimizes disk I/O and significantly improves query performance, especially in analytical workloads where queries often aggregate data (e.g., SUM, AVG, etc.) across many rows but only involve a few columns.</a:t>
            </a:r>
          </a:p>
          <a:p>
            <a:pPr algn="ctr">
              <a:lnSpc>
                <a:spcPts val="3237"/>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1351383">
            <a:off x="13179521" y="1113834"/>
            <a:ext cx="3015788" cy="3057833"/>
          </a:xfrm>
          <a:custGeom>
            <a:avLst/>
            <a:gdLst/>
            <a:ahLst/>
            <a:cxnLst/>
            <a:rect r="r" b="b" t="t" l="l"/>
            <a:pathLst>
              <a:path h="3057833" w="3015788">
                <a:moveTo>
                  <a:pt x="0" y="0"/>
                </a:moveTo>
                <a:lnTo>
                  <a:pt x="3015788" y="0"/>
                </a:lnTo>
                <a:lnTo>
                  <a:pt x="3015788" y="3057833"/>
                </a:lnTo>
                <a:lnTo>
                  <a:pt x="0" y="3057833"/>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823176" y="259238"/>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5" id="5"/>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6" id="6"/>
          <p:cNvSpPr/>
          <p:nvPr/>
        </p:nvSpPr>
        <p:spPr>
          <a:xfrm flipH="false" flipV="false" rot="0">
            <a:off x="13974717" y="5143500"/>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sp>
        <p:nvSpPr>
          <p:cNvPr name="Freeform 7" id="7"/>
          <p:cNvSpPr/>
          <p:nvPr/>
        </p:nvSpPr>
        <p:spPr>
          <a:xfrm flipH="true" flipV="true" rot="0">
            <a:off x="14900066" y="6906806"/>
            <a:ext cx="6775868" cy="4114800"/>
          </a:xfrm>
          <a:custGeom>
            <a:avLst/>
            <a:gdLst/>
            <a:ahLst/>
            <a:cxnLst/>
            <a:rect r="r" b="b" t="t" l="l"/>
            <a:pathLst>
              <a:path h="4114800" w="6775868">
                <a:moveTo>
                  <a:pt x="6775868" y="4114800"/>
                </a:moveTo>
                <a:lnTo>
                  <a:pt x="0" y="4114800"/>
                </a:lnTo>
                <a:lnTo>
                  <a:pt x="0" y="0"/>
                </a:lnTo>
                <a:lnTo>
                  <a:pt x="6775868" y="0"/>
                </a:lnTo>
                <a:lnTo>
                  <a:pt x="6775868"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851" y="1028700"/>
            <a:ext cx="18288851" cy="1627187"/>
            <a:chOff x="0" y="0"/>
            <a:chExt cx="4816817" cy="428560"/>
          </a:xfrm>
        </p:grpSpPr>
        <p:sp>
          <p:nvSpPr>
            <p:cNvPr name="Freeform 9" id="9"/>
            <p:cNvSpPr/>
            <p:nvPr/>
          </p:nvSpPr>
          <p:spPr>
            <a:xfrm flipH="false" flipV="false" rot="0">
              <a:off x="0" y="0"/>
              <a:ext cx="4816817" cy="428560"/>
            </a:xfrm>
            <a:custGeom>
              <a:avLst/>
              <a:gdLst/>
              <a:ahLst/>
              <a:cxnLst/>
              <a:rect r="r" b="b" t="t" l="l"/>
              <a:pathLst>
                <a:path h="428560" w="4816817">
                  <a:moveTo>
                    <a:pt x="0" y="0"/>
                  </a:moveTo>
                  <a:lnTo>
                    <a:pt x="4816817" y="0"/>
                  </a:lnTo>
                  <a:lnTo>
                    <a:pt x="4816817" y="428560"/>
                  </a:lnTo>
                  <a:lnTo>
                    <a:pt x="0" y="428560"/>
                  </a:lnTo>
                  <a:close/>
                </a:path>
              </a:pathLst>
            </a:custGeom>
            <a:solidFill>
              <a:srgbClr val="2B59C3">
                <a:alpha val="71765"/>
              </a:srgbClr>
            </a:solidFill>
          </p:spPr>
        </p:sp>
        <p:sp>
          <p:nvSpPr>
            <p:cNvPr name="TextBox 10" id="10"/>
            <p:cNvSpPr txBox="true"/>
            <p:nvPr/>
          </p:nvSpPr>
          <p:spPr>
            <a:xfrm>
              <a:off x="0" y="38100"/>
              <a:ext cx="4816817" cy="390460"/>
            </a:xfrm>
            <a:prstGeom prst="rect">
              <a:avLst/>
            </a:prstGeom>
          </p:spPr>
          <p:txBody>
            <a:bodyPr anchor="ctr" rtlCol="false" tIns="50800" lIns="50800" bIns="50800" rIns="50800"/>
            <a:lstStyle/>
            <a:p>
              <a:pPr algn="ctr">
                <a:lnSpc>
                  <a:spcPts val="6499"/>
                </a:lnSpc>
              </a:pPr>
              <a:r>
                <a:rPr lang="en-US" sz="6249">
                  <a:solidFill>
                    <a:srgbClr val="FEFEFE">
                      <a:alpha val="71765"/>
                    </a:srgbClr>
                  </a:solidFill>
                  <a:latin typeface="Poppins"/>
                  <a:ea typeface="Poppins"/>
                  <a:cs typeface="Poppins"/>
                  <a:sym typeface="Poppins"/>
                </a:rPr>
                <a:t>Advantages of Column DB </a:t>
              </a:r>
            </a:p>
          </p:txBody>
        </p:sp>
      </p:grpSp>
      <p:sp>
        <p:nvSpPr>
          <p:cNvPr name="Freeform 11" id="11"/>
          <p:cNvSpPr/>
          <p:nvPr/>
        </p:nvSpPr>
        <p:spPr>
          <a:xfrm flipH="false" flipV="false" rot="0">
            <a:off x="1415580" y="4066363"/>
            <a:ext cx="15456840" cy="4151266"/>
          </a:xfrm>
          <a:custGeom>
            <a:avLst/>
            <a:gdLst/>
            <a:ahLst/>
            <a:cxnLst/>
            <a:rect r="r" b="b" t="t" l="l"/>
            <a:pathLst>
              <a:path h="4151266" w="15456840">
                <a:moveTo>
                  <a:pt x="0" y="0"/>
                </a:moveTo>
                <a:lnTo>
                  <a:pt x="15456840" y="0"/>
                </a:lnTo>
                <a:lnTo>
                  <a:pt x="15456840" y="4151266"/>
                </a:lnTo>
                <a:lnTo>
                  <a:pt x="0" y="4151266"/>
                </a:lnTo>
                <a:lnTo>
                  <a:pt x="0" y="0"/>
                </a:lnTo>
                <a:close/>
              </a:path>
            </a:pathLst>
          </a:custGeom>
          <a:blipFill>
            <a:blip r:embed="rId6"/>
            <a:stretch>
              <a:fillRect l="0" t="0" r="0" b="0"/>
            </a:stretch>
          </a:blipFill>
        </p:spPr>
      </p:sp>
      <p:sp>
        <p:nvSpPr>
          <p:cNvPr name="AutoShape 12" id="12"/>
          <p:cNvSpPr/>
          <p:nvPr/>
        </p:nvSpPr>
        <p:spPr>
          <a:xfrm>
            <a:off x="1890340" y="6122946"/>
            <a:ext cx="6054201" cy="19050"/>
          </a:xfrm>
          <a:prstGeom prst="line">
            <a:avLst/>
          </a:prstGeom>
          <a:ln cap="flat" w="104775">
            <a:solidFill>
              <a:srgbClr val="FF3131"/>
            </a:solidFill>
            <a:prstDash val="solid"/>
            <a:headEnd type="none" len="sm" w="sm"/>
            <a:tailEnd type="arrow" len="sm" w="med"/>
          </a:ln>
        </p:spPr>
      </p:sp>
      <p:sp>
        <p:nvSpPr>
          <p:cNvPr name="AutoShape 13" id="13"/>
          <p:cNvSpPr/>
          <p:nvPr/>
        </p:nvSpPr>
        <p:spPr>
          <a:xfrm>
            <a:off x="1890175" y="6706060"/>
            <a:ext cx="6054201" cy="19050"/>
          </a:xfrm>
          <a:prstGeom prst="line">
            <a:avLst/>
          </a:prstGeom>
          <a:ln cap="flat" w="104775">
            <a:solidFill>
              <a:srgbClr val="FF3131"/>
            </a:solidFill>
            <a:prstDash val="solid"/>
            <a:headEnd type="none" len="sm" w="sm"/>
            <a:tailEnd type="arrow" len="sm" w="med"/>
          </a:ln>
        </p:spPr>
      </p:sp>
      <p:sp>
        <p:nvSpPr>
          <p:cNvPr name="AutoShape 14" id="14"/>
          <p:cNvSpPr/>
          <p:nvPr/>
        </p:nvSpPr>
        <p:spPr>
          <a:xfrm>
            <a:off x="11250932" y="5646649"/>
            <a:ext cx="0" cy="1683560"/>
          </a:xfrm>
          <a:prstGeom prst="line">
            <a:avLst/>
          </a:prstGeom>
          <a:ln cap="flat" w="104775">
            <a:solidFill>
              <a:srgbClr val="FF3131"/>
            </a:solidFill>
            <a:prstDash val="solid"/>
            <a:headEnd type="none" len="sm" w="sm"/>
            <a:tailEnd type="arrow" len="sm" w="med"/>
          </a:ln>
        </p:spPr>
      </p:sp>
      <p:sp>
        <p:nvSpPr>
          <p:cNvPr name="AutoShape 15" id="15"/>
          <p:cNvSpPr/>
          <p:nvPr/>
        </p:nvSpPr>
        <p:spPr>
          <a:xfrm>
            <a:off x="13922329" y="5646649"/>
            <a:ext cx="0" cy="1683560"/>
          </a:xfrm>
          <a:prstGeom prst="line">
            <a:avLst/>
          </a:prstGeom>
          <a:ln cap="flat" w="104775">
            <a:solidFill>
              <a:srgbClr val="FF3131"/>
            </a:solidFill>
            <a:prstDash val="solid"/>
            <a:headEnd type="none" len="sm" w="sm"/>
            <a:tailEnd type="arrow" len="sm" w="med"/>
          </a:ln>
        </p:spPr>
      </p:sp>
      <p:sp>
        <p:nvSpPr>
          <p:cNvPr name="Freeform 16" id="16"/>
          <p:cNvSpPr/>
          <p:nvPr/>
        </p:nvSpPr>
        <p:spPr>
          <a:xfrm flipH="false" flipV="false" rot="0">
            <a:off x="9144000" y="6086023"/>
            <a:ext cx="1641566" cy="1641566"/>
          </a:xfrm>
          <a:custGeom>
            <a:avLst/>
            <a:gdLst/>
            <a:ahLst/>
            <a:cxnLst/>
            <a:rect r="r" b="b" t="t" l="l"/>
            <a:pathLst>
              <a:path h="1641566" w="1641566">
                <a:moveTo>
                  <a:pt x="0" y="0"/>
                </a:moveTo>
                <a:lnTo>
                  <a:pt x="1641566" y="0"/>
                </a:lnTo>
                <a:lnTo>
                  <a:pt x="1641566" y="1641566"/>
                </a:lnTo>
                <a:lnTo>
                  <a:pt x="0" y="16415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1028700" y="2975601"/>
            <a:ext cx="11605008" cy="1282465"/>
          </a:xfrm>
          <a:prstGeom prst="rect">
            <a:avLst/>
          </a:prstGeom>
        </p:spPr>
        <p:txBody>
          <a:bodyPr anchor="t" rtlCol="false" tIns="0" lIns="0" bIns="0" rIns="0">
            <a:spAutoFit/>
          </a:bodyPr>
          <a:lstStyle/>
          <a:p>
            <a:pPr algn="l">
              <a:lnSpc>
                <a:spcPts val="3237"/>
              </a:lnSpc>
            </a:pPr>
            <a:r>
              <a:rPr lang="en-US" sz="3113" b="true">
                <a:solidFill>
                  <a:srgbClr val="000000"/>
                </a:solidFill>
                <a:latin typeface="Poppins Bold"/>
                <a:ea typeface="Poppins Bold"/>
                <a:cs typeface="Poppins Bold"/>
                <a:sym typeface="Poppins Bold"/>
              </a:rPr>
              <a:t>Faster Query Performance for Analytical Workloads:</a:t>
            </a:r>
            <a:r>
              <a:rPr lang="en-US" sz="3113" b="true">
                <a:solidFill>
                  <a:srgbClr val="000000"/>
                </a:solidFill>
                <a:latin typeface="Poppins Bold"/>
                <a:ea typeface="Poppins Bold"/>
                <a:cs typeface="Poppins Bold"/>
                <a:sym typeface="Poppins Bold"/>
              </a:rPr>
              <a:t> </a:t>
            </a:r>
          </a:p>
          <a:p>
            <a:pPr algn="l">
              <a:lnSpc>
                <a:spcPts val="3237"/>
              </a:lnSpc>
            </a:pPr>
          </a:p>
          <a:p>
            <a:pPr algn="ctr">
              <a:lnSpc>
                <a:spcPts val="3237"/>
              </a:lnSpc>
              <a:spcBef>
                <a:spcPct val="0"/>
              </a:spcBef>
            </a:pPr>
          </a:p>
        </p:txBody>
      </p:sp>
      <p:sp>
        <p:nvSpPr>
          <p:cNvPr name="Freeform 18" id="18"/>
          <p:cNvSpPr/>
          <p:nvPr/>
        </p:nvSpPr>
        <p:spPr>
          <a:xfrm flipH="false" flipV="false" rot="0">
            <a:off x="1728491" y="6141996"/>
            <a:ext cx="594186" cy="594186"/>
          </a:xfrm>
          <a:custGeom>
            <a:avLst/>
            <a:gdLst/>
            <a:ahLst/>
            <a:cxnLst/>
            <a:rect r="r" b="b" t="t" l="l"/>
            <a:pathLst>
              <a:path h="594186" w="594186">
                <a:moveTo>
                  <a:pt x="0" y="0"/>
                </a:moveTo>
                <a:lnTo>
                  <a:pt x="594185" y="0"/>
                </a:lnTo>
                <a:lnTo>
                  <a:pt x="594185" y="594186"/>
                </a:lnTo>
                <a:lnTo>
                  <a:pt x="0" y="5941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9" id="19"/>
          <p:cNvSpPr/>
          <p:nvPr/>
        </p:nvSpPr>
        <p:spPr>
          <a:xfrm flipH="false" flipV="false" rot="0">
            <a:off x="1728491" y="6706060"/>
            <a:ext cx="594186" cy="594186"/>
          </a:xfrm>
          <a:custGeom>
            <a:avLst/>
            <a:gdLst/>
            <a:ahLst/>
            <a:cxnLst/>
            <a:rect r="r" b="b" t="t" l="l"/>
            <a:pathLst>
              <a:path h="594186" w="594186">
                <a:moveTo>
                  <a:pt x="0" y="0"/>
                </a:moveTo>
                <a:lnTo>
                  <a:pt x="594185" y="0"/>
                </a:lnTo>
                <a:lnTo>
                  <a:pt x="594185" y="594185"/>
                </a:lnTo>
                <a:lnTo>
                  <a:pt x="0" y="5941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0">
            <a:off x="1728491" y="7300245"/>
            <a:ext cx="594186" cy="594186"/>
          </a:xfrm>
          <a:custGeom>
            <a:avLst/>
            <a:gdLst/>
            <a:ahLst/>
            <a:cxnLst/>
            <a:rect r="r" b="b" t="t" l="l"/>
            <a:pathLst>
              <a:path h="594186" w="594186">
                <a:moveTo>
                  <a:pt x="0" y="0"/>
                </a:moveTo>
                <a:lnTo>
                  <a:pt x="594185" y="0"/>
                </a:lnTo>
                <a:lnTo>
                  <a:pt x="594185" y="594186"/>
                </a:lnTo>
                <a:lnTo>
                  <a:pt x="0" y="5941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1359918" y="8897531"/>
            <a:ext cx="6006405" cy="58039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Check every row and get data </a:t>
            </a:r>
          </a:p>
        </p:txBody>
      </p:sp>
      <p:sp>
        <p:nvSpPr>
          <p:cNvPr name="TextBox 22" id="22"/>
          <p:cNvSpPr txBox="true"/>
          <p:nvPr/>
        </p:nvSpPr>
        <p:spPr>
          <a:xfrm rot="0">
            <a:off x="10228435" y="8897531"/>
            <a:ext cx="6643985" cy="58039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Take one column data as a whole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1351383">
            <a:off x="13179521" y="1113834"/>
            <a:ext cx="3015788" cy="3057833"/>
          </a:xfrm>
          <a:custGeom>
            <a:avLst/>
            <a:gdLst/>
            <a:ahLst/>
            <a:cxnLst/>
            <a:rect r="r" b="b" t="t" l="l"/>
            <a:pathLst>
              <a:path h="3057833" w="3015788">
                <a:moveTo>
                  <a:pt x="0" y="0"/>
                </a:moveTo>
                <a:lnTo>
                  <a:pt x="3015788" y="0"/>
                </a:lnTo>
                <a:lnTo>
                  <a:pt x="3015788" y="3057833"/>
                </a:lnTo>
                <a:lnTo>
                  <a:pt x="0" y="3057833"/>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823176" y="259238"/>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5" id="5"/>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6" id="6"/>
          <p:cNvSpPr/>
          <p:nvPr/>
        </p:nvSpPr>
        <p:spPr>
          <a:xfrm flipH="false" flipV="false" rot="0">
            <a:off x="13974717" y="5143500"/>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sp>
        <p:nvSpPr>
          <p:cNvPr name="Freeform 7" id="7"/>
          <p:cNvSpPr/>
          <p:nvPr/>
        </p:nvSpPr>
        <p:spPr>
          <a:xfrm flipH="true" flipV="true" rot="0">
            <a:off x="14900066" y="6906806"/>
            <a:ext cx="6775868" cy="4114800"/>
          </a:xfrm>
          <a:custGeom>
            <a:avLst/>
            <a:gdLst/>
            <a:ahLst/>
            <a:cxnLst/>
            <a:rect r="r" b="b" t="t" l="l"/>
            <a:pathLst>
              <a:path h="4114800" w="6775868">
                <a:moveTo>
                  <a:pt x="6775868" y="4114800"/>
                </a:moveTo>
                <a:lnTo>
                  <a:pt x="0" y="4114800"/>
                </a:lnTo>
                <a:lnTo>
                  <a:pt x="0" y="0"/>
                </a:lnTo>
                <a:lnTo>
                  <a:pt x="6775868" y="0"/>
                </a:lnTo>
                <a:lnTo>
                  <a:pt x="6775868"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851" y="1028700"/>
            <a:ext cx="18288851" cy="1627187"/>
            <a:chOff x="0" y="0"/>
            <a:chExt cx="4816817" cy="428560"/>
          </a:xfrm>
        </p:grpSpPr>
        <p:sp>
          <p:nvSpPr>
            <p:cNvPr name="Freeform 9" id="9"/>
            <p:cNvSpPr/>
            <p:nvPr/>
          </p:nvSpPr>
          <p:spPr>
            <a:xfrm flipH="false" flipV="false" rot="0">
              <a:off x="0" y="0"/>
              <a:ext cx="4816817" cy="428560"/>
            </a:xfrm>
            <a:custGeom>
              <a:avLst/>
              <a:gdLst/>
              <a:ahLst/>
              <a:cxnLst/>
              <a:rect r="r" b="b" t="t" l="l"/>
              <a:pathLst>
                <a:path h="428560" w="4816817">
                  <a:moveTo>
                    <a:pt x="0" y="0"/>
                  </a:moveTo>
                  <a:lnTo>
                    <a:pt x="4816817" y="0"/>
                  </a:lnTo>
                  <a:lnTo>
                    <a:pt x="4816817" y="428560"/>
                  </a:lnTo>
                  <a:lnTo>
                    <a:pt x="0" y="428560"/>
                  </a:lnTo>
                  <a:close/>
                </a:path>
              </a:pathLst>
            </a:custGeom>
            <a:solidFill>
              <a:srgbClr val="2B59C3">
                <a:alpha val="71765"/>
              </a:srgbClr>
            </a:solidFill>
          </p:spPr>
        </p:sp>
        <p:sp>
          <p:nvSpPr>
            <p:cNvPr name="TextBox 10" id="10"/>
            <p:cNvSpPr txBox="true"/>
            <p:nvPr/>
          </p:nvSpPr>
          <p:spPr>
            <a:xfrm>
              <a:off x="0" y="38100"/>
              <a:ext cx="4816817" cy="390460"/>
            </a:xfrm>
            <a:prstGeom prst="rect">
              <a:avLst/>
            </a:prstGeom>
          </p:spPr>
          <p:txBody>
            <a:bodyPr anchor="ctr" rtlCol="false" tIns="50800" lIns="50800" bIns="50800" rIns="50800"/>
            <a:lstStyle/>
            <a:p>
              <a:pPr algn="ctr">
                <a:lnSpc>
                  <a:spcPts val="6499"/>
                </a:lnSpc>
              </a:pPr>
              <a:r>
                <a:rPr lang="en-US" sz="6249">
                  <a:solidFill>
                    <a:srgbClr val="FEFEFE">
                      <a:alpha val="71765"/>
                    </a:srgbClr>
                  </a:solidFill>
                  <a:latin typeface="Poppins"/>
                  <a:ea typeface="Poppins"/>
                  <a:cs typeface="Poppins"/>
                  <a:sym typeface="Poppins"/>
                </a:rPr>
                <a:t>Advantages of Column DB </a:t>
              </a:r>
            </a:p>
          </p:txBody>
        </p:sp>
      </p:grpSp>
      <p:sp>
        <p:nvSpPr>
          <p:cNvPr name="TextBox 11" id="11"/>
          <p:cNvSpPr txBox="true"/>
          <p:nvPr/>
        </p:nvSpPr>
        <p:spPr>
          <a:xfrm rot="0">
            <a:off x="1028700" y="3449871"/>
            <a:ext cx="8627202" cy="6197365"/>
          </a:xfrm>
          <a:prstGeom prst="rect">
            <a:avLst/>
          </a:prstGeom>
        </p:spPr>
        <p:txBody>
          <a:bodyPr anchor="t" rtlCol="false" tIns="0" lIns="0" bIns="0" rIns="0">
            <a:spAutoFit/>
          </a:bodyPr>
          <a:lstStyle/>
          <a:p>
            <a:pPr algn="l">
              <a:lnSpc>
                <a:spcPts val="3237"/>
              </a:lnSpc>
            </a:pPr>
            <a:r>
              <a:rPr lang="en-US" sz="3113" b="true">
                <a:solidFill>
                  <a:srgbClr val="000000"/>
                </a:solidFill>
                <a:latin typeface="Poppins Bold"/>
                <a:ea typeface="Poppins Bold"/>
                <a:cs typeface="Poppins Bold"/>
                <a:sym typeface="Poppins Bold"/>
              </a:rPr>
              <a:t>Effective Data Compression</a:t>
            </a:r>
            <a:r>
              <a:rPr lang="en-US" sz="3113">
                <a:solidFill>
                  <a:srgbClr val="000000"/>
                </a:solidFill>
                <a:latin typeface="Poppins"/>
                <a:ea typeface="Poppins"/>
                <a:cs typeface="Poppins"/>
                <a:sym typeface="Poppins"/>
              </a:rPr>
              <a:t>: </a:t>
            </a:r>
          </a:p>
          <a:p>
            <a:pPr algn="l">
              <a:lnSpc>
                <a:spcPts val="3237"/>
              </a:lnSpc>
            </a:pPr>
          </a:p>
          <a:p>
            <a:pPr algn="l">
              <a:lnSpc>
                <a:spcPts val="3237"/>
              </a:lnSpc>
            </a:pPr>
            <a:r>
              <a:rPr lang="en-US" sz="3113">
                <a:solidFill>
                  <a:srgbClr val="000000"/>
                </a:solidFill>
                <a:latin typeface="Poppins"/>
                <a:ea typeface="Poppins"/>
                <a:cs typeface="Poppins"/>
                <a:sym typeface="Poppins"/>
              </a:rPr>
              <a:t>Data in a single column has a similar structure, which allows for the application of efficient compression methods.</a:t>
            </a:r>
          </a:p>
          <a:p>
            <a:pPr algn="l">
              <a:lnSpc>
                <a:spcPts val="3237"/>
              </a:lnSpc>
            </a:pPr>
          </a:p>
          <a:p>
            <a:pPr algn="l">
              <a:lnSpc>
                <a:spcPts val="3237"/>
              </a:lnSpc>
            </a:pPr>
            <a:r>
              <a:rPr lang="en-US" sz="3113">
                <a:solidFill>
                  <a:srgbClr val="000000"/>
                </a:solidFill>
                <a:latin typeface="Poppins"/>
                <a:ea typeface="Poppins"/>
                <a:cs typeface="Poppins"/>
                <a:sym typeface="Poppins"/>
              </a:rPr>
              <a:t>Data within a single column tends to be more homogeneous (e.g., storing only integers or dates), allowing for more effective compression algorithms. This reduces the overall storage space required.</a:t>
            </a:r>
          </a:p>
          <a:p>
            <a:pPr algn="l">
              <a:lnSpc>
                <a:spcPts val="3237"/>
              </a:lnSpc>
            </a:pPr>
          </a:p>
          <a:p>
            <a:pPr algn="l">
              <a:lnSpc>
                <a:spcPts val="3237"/>
              </a:lnSpc>
            </a:pPr>
          </a:p>
          <a:p>
            <a:pPr algn="l">
              <a:lnSpc>
                <a:spcPts val="3237"/>
              </a:lnSpc>
            </a:pPr>
          </a:p>
        </p:txBody>
      </p:sp>
      <p:sp>
        <p:nvSpPr>
          <p:cNvPr name="Freeform 12" id="12"/>
          <p:cNvSpPr/>
          <p:nvPr/>
        </p:nvSpPr>
        <p:spPr>
          <a:xfrm flipH="false" flipV="false" rot="0">
            <a:off x="10001974" y="3982725"/>
            <a:ext cx="7945485" cy="4152829"/>
          </a:xfrm>
          <a:custGeom>
            <a:avLst/>
            <a:gdLst/>
            <a:ahLst/>
            <a:cxnLst/>
            <a:rect r="r" b="b" t="t" l="l"/>
            <a:pathLst>
              <a:path h="4152829" w="7945485">
                <a:moveTo>
                  <a:pt x="0" y="0"/>
                </a:moveTo>
                <a:lnTo>
                  <a:pt x="7945485" y="0"/>
                </a:lnTo>
                <a:lnTo>
                  <a:pt x="7945485" y="4152828"/>
                </a:lnTo>
                <a:lnTo>
                  <a:pt x="0" y="4152828"/>
                </a:lnTo>
                <a:lnTo>
                  <a:pt x="0" y="0"/>
                </a:lnTo>
                <a:close/>
              </a:path>
            </a:pathLst>
          </a:custGeom>
          <a:blipFill>
            <a:blip r:embed="rId6"/>
            <a:stretch>
              <a:fillRect l="-117065" t="0" r="-3938" b="-13562"/>
            </a:stretch>
          </a:blipFill>
        </p:spPr>
      </p:sp>
      <p:sp>
        <p:nvSpPr>
          <p:cNvPr name="TextBox 13" id="13"/>
          <p:cNvSpPr txBox="true"/>
          <p:nvPr/>
        </p:nvSpPr>
        <p:spPr>
          <a:xfrm rot="0">
            <a:off x="10438281" y="8226793"/>
            <a:ext cx="1541859"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Open Sans Bold"/>
                <a:ea typeface="Open Sans Bold"/>
                <a:cs typeface="Open Sans Bold"/>
                <a:sym typeface="Open Sans Bold"/>
              </a:rPr>
              <a:t>integer</a:t>
            </a:r>
          </a:p>
        </p:txBody>
      </p:sp>
      <p:sp>
        <p:nvSpPr>
          <p:cNvPr name="TextBox 14" id="14"/>
          <p:cNvSpPr txBox="true"/>
          <p:nvPr/>
        </p:nvSpPr>
        <p:spPr>
          <a:xfrm rot="0">
            <a:off x="12825391" y="8226793"/>
            <a:ext cx="2298650"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Open Sans Bold"/>
                <a:ea typeface="Open Sans Bold"/>
                <a:cs typeface="Open Sans Bold"/>
                <a:sym typeface="Open Sans Bold"/>
              </a:rPr>
              <a:t>string/text</a:t>
            </a:r>
          </a:p>
        </p:txBody>
      </p:sp>
      <p:sp>
        <p:nvSpPr>
          <p:cNvPr name="TextBox 15" id="15"/>
          <p:cNvSpPr txBox="true"/>
          <p:nvPr/>
        </p:nvSpPr>
        <p:spPr>
          <a:xfrm rot="0">
            <a:off x="15648809" y="8226793"/>
            <a:ext cx="2298650" cy="580390"/>
          </a:xfrm>
          <a:prstGeom prst="rect">
            <a:avLst/>
          </a:prstGeom>
        </p:spPr>
        <p:txBody>
          <a:bodyPr anchor="t" rtlCol="false" tIns="0" lIns="0" bIns="0" rIns="0">
            <a:spAutoFit/>
          </a:bodyPr>
          <a:lstStyle/>
          <a:p>
            <a:pPr algn="ctr">
              <a:lnSpc>
                <a:spcPts val="4759"/>
              </a:lnSpc>
            </a:pPr>
            <a:r>
              <a:rPr lang="en-US" sz="3399" b="true">
                <a:solidFill>
                  <a:srgbClr val="000000"/>
                </a:solidFill>
                <a:latin typeface="Open Sans Bold"/>
                <a:ea typeface="Open Sans Bold"/>
                <a:cs typeface="Open Sans Bold"/>
                <a:sym typeface="Open Sans Bold"/>
              </a:rPr>
              <a:t>string/text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1351383">
            <a:off x="13179521" y="1113834"/>
            <a:ext cx="3015788" cy="3057833"/>
          </a:xfrm>
          <a:custGeom>
            <a:avLst/>
            <a:gdLst/>
            <a:ahLst/>
            <a:cxnLst/>
            <a:rect r="r" b="b" t="t" l="l"/>
            <a:pathLst>
              <a:path h="3057833" w="3015788">
                <a:moveTo>
                  <a:pt x="0" y="0"/>
                </a:moveTo>
                <a:lnTo>
                  <a:pt x="3015788" y="0"/>
                </a:lnTo>
                <a:lnTo>
                  <a:pt x="3015788" y="3057833"/>
                </a:lnTo>
                <a:lnTo>
                  <a:pt x="0" y="3057833"/>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823176" y="259238"/>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5" id="5"/>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6" id="6"/>
          <p:cNvSpPr/>
          <p:nvPr/>
        </p:nvSpPr>
        <p:spPr>
          <a:xfrm flipH="false" flipV="false" rot="0">
            <a:off x="13974717" y="5143500"/>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sp>
        <p:nvSpPr>
          <p:cNvPr name="Freeform 7" id="7"/>
          <p:cNvSpPr/>
          <p:nvPr/>
        </p:nvSpPr>
        <p:spPr>
          <a:xfrm flipH="true" flipV="true" rot="0">
            <a:off x="14900066" y="6906806"/>
            <a:ext cx="6775868" cy="4114800"/>
          </a:xfrm>
          <a:custGeom>
            <a:avLst/>
            <a:gdLst/>
            <a:ahLst/>
            <a:cxnLst/>
            <a:rect r="r" b="b" t="t" l="l"/>
            <a:pathLst>
              <a:path h="4114800" w="6775868">
                <a:moveTo>
                  <a:pt x="6775868" y="4114800"/>
                </a:moveTo>
                <a:lnTo>
                  <a:pt x="0" y="4114800"/>
                </a:lnTo>
                <a:lnTo>
                  <a:pt x="0" y="0"/>
                </a:lnTo>
                <a:lnTo>
                  <a:pt x="6775868" y="0"/>
                </a:lnTo>
                <a:lnTo>
                  <a:pt x="6775868"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851" y="1028700"/>
            <a:ext cx="18288851" cy="1627187"/>
            <a:chOff x="0" y="0"/>
            <a:chExt cx="4816817" cy="428560"/>
          </a:xfrm>
        </p:grpSpPr>
        <p:sp>
          <p:nvSpPr>
            <p:cNvPr name="Freeform 9" id="9"/>
            <p:cNvSpPr/>
            <p:nvPr/>
          </p:nvSpPr>
          <p:spPr>
            <a:xfrm flipH="false" flipV="false" rot="0">
              <a:off x="0" y="0"/>
              <a:ext cx="4816817" cy="428560"/>
            </a:xfrm>
            <a:custGeom>
              <a:avLst/>
              <a:gdLst/>
              <a:ahLst/>
              <a:cxnLst/>
              <a:rect r="r" b="b" t="t" l="l"/>
              <a:pathLst>
                <a:path h="428560" w="4816817">
                  <a:moveTo>
                    <a:pt x="0" y="0"/>
                  </a:moveTo>
                  <a:lnTo>
                    <a:pt x="4816817" y="0"/>
                  </a:lnTo>
                  <a:lnTo>
                    <a:pt x="4816817" y="428560"/>
                  </a:lnTo>
                  <a:lnTo>
                    <a:pt x="0" y="428560"/>
                  </a:lnTo>
                  <a:close/>
                </a:path>
              </a:pathLst>
            </a:custGeom>
            <a:solidFill>
              <a:srgbClr val="2B59C3">
                <a:alpha val="71765"/>
              </a:srgbClr>
            </a:solidFill>
          </p:spPr>
        </p:sp>
        <p:sp>
          <p:nvSpPr>
            <p:cNvPr name="TextBox 10" id="10"/>
            <p:cNvSpPr txBox="true"/>
            <p:nvPr/>
          </p:nvSpPr>
          <p:spPr>
            <a:xfrm>
              <a:off x="0" y="38100"/>
              <a:ext cx="4816817" cy="390460"/>
            </a:xfrm>
            <a:prstGeom prst="rect">
              <a:avLst/>
            </a:prstGeom>
          </p:spPr>
          <p:txBody>
            <a:bodyPr anchor="ctr" rtlCol="false" tIns="50800" lIns="50800" bIns="50800" rIns="50800"/>
            <a:lstStyle/>
            <a:p>
              <a:pPr algn="ctr">
                <a:lnSpc>
                  <a:spcPts val="6499"/>
                </a:lnSpc>
              </a:pPr>
              <a:r>
                <a:rPr lang="en-US" sz="6249">
                  <a:solidFill>
                    <a:srgbClr val="FEFEFE">
                      <a:alpha val="71765"/>
                    </a:srgbClr>
                  </a:solidFill>
                  <a:latin typeface="Poppins"/>
                  <a:ea typeface="Poppins"/>
                  <a:cs typeface="Poppins"/>
                  <a:sym typeface="Poppins"/>
                </a:rPr>
                <a:t>Disadvantages of Column DB </a:t>
              </a:r>
            </a:p>
          </p:txBody>
        </p:sp>
      </p:grpSp>
      <p:sp>
        <p:nvSpPr>
          <p:cNvPr name="Freeform 11" id="11"/>
          <p:cNvSpPr/>
          <p:nvPr/>
        </p:nvSpPr>
        <p:spPr>
          <a:xfrm flipH="false" flipV="false" rot="0">
            <a:off x="3155827" y="6461121"/>
            <a:ext cx="4780196" cy="2503085"/>
          </a:xfrm>
          <a:custGeom>
            <a:avLst/>
            <a:gdLst/>
            <a:ahLst/>
            <a:cxnLst/>
            <a:rect r="r" b="b" t="t" l="l"/>
            <a:pathLst>
              <a:path h="2503085" w="4780196">
                <a:moveTo>
                  <a:pt x="0" y="0"/>
                </a:moveTo>
                <a:lnTo>
                  <a:pt x="4780196" y="0"/>
                </a:lnTo>
                <a:lnTo>
                  <a:pt x="4780196" y="2503085"/>
                </a:lnTo>
                <a:lnTo>
                  <a:pt x="0" y="25030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788739" y="3898720"/>
            <a:ext cx="3431489" cy="3431489"/>
          </a:xfrm>
          <a:custGeom>
            <a:avLst/>
            <a:gdLst/>
            <a:ahLst/>
            <a:cxnLst/>
            <a:rect r="r" b="b" t="t" l="l"/>
            <a:pathLst>
              <a:path h="3431489" w="3431489">
                <a:moveTo>
                  <a:pt x="0" y="0"/>
                </a:moveTo>
                <a:lnTo>
                  <a:pt x="3431490" y="0"/>
                </a:lnTo>
                <a:lnTo>
                  <a:pt x="3431490" y="3431489"/>
                </a:lnTo>
                <a:lnTo>
                  <a:pt x="0" y="343148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8936148" y="3710089"/>
            <a:ext cx="8943416" cy="5254117"/>
          </a:xfrm>
          <a:prstGeom prst="rect">
            <a:avLst/>
          </a:prstGeom>
        </p:spPr>
        <p:txBody>
          <a:bodyPr anchor="t" rtlCol="false" tIns="0" lIns="0" bIns="0" rIns="0">
            <a:spAutoFit/>
          </a:bodyPr>
          <a:lstStyle/>
          <a:p>
            <a:pPr algn="l">
              <a:lnSpc>
                <a:spcPts val="3223"/>
              </a:lnSpc>
            </a:pPr>
            <a:r>
              <a:rPr lang="en-US" sz="3099" b="true">
                <a:solidFill>
                  <a:srgbClr val="000000"/>
                </a:solidFill>
                <a:latin typeface="Poppins Bold"/>
                <a:ea typeface="Poppins Bold"/>
                <a:cs typeface="Poppins Bold"/>
                <a:sym typeface="Poppins Bold"/>
              </a:rPr>
              <a:t>Write Performance:</a:t>
            </a:r>
          </a:p>
          <a:p>
            <a:pPr algn="l">
              <a:lnSpc>
                <a:spcPts val="3223"/>
              </a:lnSpc>
            </a:pPr>
          </a:p>
          <a:p>
            <a:pPr algn="l">
              <a:lnSpc>
                <a:spcPts val="3223"/>
              </a:lnSpc>
            </a:pPr>
            <a:r>
              <a:rPr lang="en-US" sz="3099">
                <a:solidFill>
                  <a:srgbClr val="000000"/>
                </a:solidFill>
                <a:latin typeface="Poppins"/>
                <a:ea typeface="Poppins"/>
                <a:cs typeface="Poppins"/>
                <a:sym typeface="Poppins"/>
              </a:rPr>
              <a:t>Columnar databases are optimized for read-heavy operations, making them less efficient for write-heavy workloads. This is because writing data to a columnar database often involves more overhead compared to row-oriented databases, which can lead to </a:t>
            </a:r>
            <a:r>
              <a:rPr lang="en-US" sz="3099" b="true">
                <a:solidFill>
                  <a:srgbClr val="000000"/>
                </a:solidFill>
                <a:latin typeface="Poppins Bold"/>
                <a:ea typeface="Poppins Bold"/>
                <a:cs typeface="Poppins Bold"/>
                <a:sym typeface="Poppins Bold"/>
              </a:rPr>
              <a:t>slower insert and update operations</a:t>
            </a:r>
            <a:r>
              <a:rPr lang="en-US" sz="3099">
                <a:solidFill>
                  <a:srgbClr val="000000"/>
                </a:solidFill>
                <a:latin typeface="Poppins"/>
                <a:ea typeface="Poppins"/>
                <a:cs typeface="Poppins"/>
                <a:sym typeface="Poppins"/>
              </a:rPr>
              <a:t>. In scenarios where frequent updates or real-time data ingestion are required, a columnar database may not perform optimally.</a:t>
            </a:r>
          </a:p>
          <a:p>
            <a:pPr algn="l">
              <a:lnSpc>
                <a:spcPts val="3223"/>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1351383">
            <a:off x="13179521" y="1113834"/>
            <a:ext cx="3015788" cy="3057833"/>
          </a:xfrm>
          <a:custGeom>
            <a:avLst/>
            <a:gdLst/>
            <a:ahLst/>
            <a:cxnLst/>
            <a:rect r="r" b="b" t="t" l="l"/>
            <a:pathLst>
              <a:path h="3057833" w="3015788">
                <a:moveTo>
                  <a:pt x="0" y="0"/>
                </a:moveTo>
                <a:lnTo>
                  <a:pt x="3015788" y="0"/>
                </a:lnTo>
                <a:lnTo>
                  <a:pt x="3015788" y="3057833"/>
                </a:lnTo>
                <a:lnTo>
                  <a:pt x="0" y="3057833"/>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823176" y="259238"/>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5" id="5"/>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6" id="6"/>
          <p:cNvSpPr/>
          <p:nvPr/>
        </p:nvSpPr>
        <p:spPr>
          <a:xfrm flipH="false" flipV="false" rot="0">
            <a:off x="13974717" y="5143500"/>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sp>
        <p:nvSpPr>
          <p:cNvPr name="Freeform 7" id="7"/>
          <p:cNvSpPr/>
          <p:nvPr/>
        </p:nvSpPr>
        <p:spPr>
          <a:xfrm flipH="true" flipV="true" rot="0">
            <a:off x="14900066" y="6906806"/>
            <a:ext cx="6775868" cy="4114800"/>
          </a:xfrm>
          <a:custGeom>
            <a:avLst/>
            <a:gdLst/>
            <a:ahLst/>
            <a:cxnLst/>
            <a:rect r="r" b="b" t="t" l="l"/>
            <a:pathLst>
              <a:path h="4114800" w="6775868">
                <a:moveTo>
                  <a:pt x="6775868" y="4114800"/>
                </a:moveTo>
                <a:lnTo>
                  <a:pt x="0" y="4114800"/>
                </a:lnTo>
                <a:lnTo>
                  <a:pt x="0" y="0"/>
                </a:lnTo>
                <a:lnTo>
                  <a:pt x="6775868" y="0"/>
                </a:lnTo>
                <a:lnTo>
                  <a:pt x="6775868"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851" y="1028700"/>
            <a:ext cx="18288851" cy="1627187"/>
            <a:chOff x="0" y="0"/>
            <a:chExt cx="4816817" cy="428560"/>
          </a:xfrm>
        </p:grpSpPr>
        <p:sp>
          <p:nvSpPr>
            <p:cNvPr name="Freeform 9" id="9"/>
            <p:cNvSpPr/>
            <p:nvPr/>
          </p:nvSpPr>
          <p:spPr>
            <a:xfrm flipH="false" flipV="false" rot="0">
              <a:off x="0" y="0"/>
              <a:ext cx="4816817" cy="428560"/>
            </a:xfrm>
            <a:custGeom>
              <a:avLst/>
              <a:gdLst/>
              <a:ahLst/>
              <a:cxnLst/>
              <a:rect r="r" b="b" t="t" l="l"/>
              <a:pathLst>
                <a:path h="428560" w="4816817">
                  <a:moveTo>
                    <a:pt x="0" y="0"/>
                  </a:moveTo>
                  <a:lnTo>
                    <a:pt x="4816817" y="0"/>
                  </a:lnTo>
                  <a:lnTo>
                    <a:pt x="4816817" y="428560"/>
                  </a:lnTo>
                  <a:lnTo>
                    <a:pt x="0" y="428560"/>
                  </a:lnTo>
                  <a:close/>
                </a:path>
              </a:pathLst>
            </a:custGeom>
            <a:solidFill>
              <a:srgbClr val="2B59C3">
                <a:alpha val="71765"/>
              </a:srgbClr>
            </a:solidFill>
          </p:spPr>
        </p:sp>
        <p:sp>
          <p:nvSpPr>
            <p:cNvPr name="TextBox 10" id="10"/>
            <p:cNvSpPr txBox="true"/>
            <p:nvPr/>
          </p:nvSpPr>
          <p:spPr>
            <a:xfrm>
              <a:off x="0" y="38100"/>
              <a:ext cx="4816817" cy="390460"/>
            </a:xfrm>
            <a:prstGeom prst="rect">
              <a:avLst/>
            </a:prstGeom>
          </p:spPr>
          <p:txBody>
            <a:bodyPr anchor="ctr" rtlCol="false" tIns="50800" lIns="50800" bIns="50800" rIns="50800"/>
            <a:lstStyle/>
            <a:p>
              <a:pPr algn="ctr">
                <a:lnSpc>
                  <a:spcPts val="6499"/>
                </a:lnSpc>
              </a:pPr>
              <a:r>
                <a:rPr lang="en-US" sz="6249">
                  <a:solidFill>
                    <a:srgbClr val="FEFEFE">
                      <a:alpha val="71765"/>
                    </a:srgbClr>
                  </a:solidFill>
                  <a:latin typeface="Poppins"/>
                  <a:ea typeface="Poppins"/>
                  <a:cs typeface="Poppins"/>
                  <a:sym typeface="Poppins"/>
                </a:rPr>
                <a:t>Disadvantages of Column DB </a:t>
              </a:r>
            </a:p>
          </p:txBody>
        </p:sp>
      </p:grpSp>
      <p:sp>
        <p:nvSpPr>
          <p:cNvPr name="TextBox 11" id="11"/>
          <p:cNvSpPr txBox="true"/>
          <p:nvPr/>
        </p:nvSpPr>
        <p:spPr>
          <a:xfrm rot="0">
            <a:off x="1028700" y="3473242"/>
            <a:ext cx="7065952" cy="6043676"/>
          </a:xfrm>
          <a:prstGeom prst="rect">
            <a:avLst/>
          </a:prstGeom>
        </p:spPr>
        <p:txBody>
          <a:bodyPr anchor="t" rtlCol="false" tIns="0" lIns="0" bIns="0" rIns="0">
            <a:spAutoFit/>
          </a:bodyPr>
          <a:lstStyle/>
          <a:p>
            <a:pPr algn="l">
              <a:lnSpc>
                <a:spcPts val="3171"/>
              </a:lnSpc>
            </a:pPr>
            <a:r>
              <a:rPr lang="en-US" sz="3049" b="true">
                <a:solidFill>
                  <a:srgbClr val="000000"/>
                </a:solidFill>
                <a:latin typeface="Poppins Bold"/>
                <a:ea typeface="Poppins Bold"/>
                <a:cs typeface="Poppins Bold"/>
                <a:sym typeface="Poppins Bold"/>
              </a:rPr>
              <a:t>Complex Queries:</a:t>
            </a:r>
          </a:p>
          <a:p>
            <a:pPr algn="l">
              <a:lnSpc>
                <a:spcPts val="3171"/>
              </a:lnSpc>
            </a:pPr>
          </a:p>
          <a:p>
            <a:pPr algn="l">
              <a:lnSpc>
                <a:spcPts val="3171"/>
              </a:lnSpc>
            </a:pPr>
            <a:r>
              <a:rPr lang="en-US" sz="3049">
                <a:solidFill>
                  <a:srgbClr val="000000"/>
                </a:solidFill>
                <a:latin typeface="Poppins"/>
                <a:ea typeface="Poppins"/>
                <a:cs typeface="Poppins"/>
                <a:sym typeface="Poppins"/>
              </a:rPr>
              <a:t>While columnar databases excel at analytical queries that aggregate large volumes of data, they can </a:t>
            </a:r>
            <a:r>
              <a:rPr lang="en-US" sz="3049" b="true">
                <a:solidFill>
                  <a:srgbClr val="000000"/>
                </a:solidFill>
                <a:latin typeface="Poppins Bold"/>
                <a:ea typeface="Poppins Bold"/>
                <a:cs typeface="Poppins Bold"/>
                <a:sym typeface="Poppins Bold"/>
              </a:rPr>
              <a:t>struggle with complex queries</a:t>
            </a:r>
            <a:r>
              <a:rPr lang="en-US" sz="3049">
                <a:solidFill>
                  <a:srgbClr val="000000"/>
                </a:solidFill>
                <a:latin typeface="Poppins"/>
                <a:ea typeface="Poppins"/>
                <a:cs typeface="Poppins"/>
                <a:sym typeface="Poppins"/>
              </a:rPr>
              <a:t> involving multiple joins, especially when the data is stored in multiple columns. The way data is structured can lead to inefficient query execution plans, increasing response times for certain types of queries compared to traditional relational databases.</a:t>
            </a:r>
          </a:p>
          <a:p>
            <a:pPr algn="l">
              <a:lnSpc>
                <a:spcPts val="3171"/>
              </a:lnSpc>
            </a:pPr>
          </a:p>
        </p:txBody>
      </p:sp>
      <p:sp>
        <p:nvSpPr>
          <p:cNvPr name="TextBox 12" id="12"/>
          <p:cNvSpPr txBox="true"/>
          <p:nvPr/>
        </p:nvSpPr>
        <p:spPr>
          <a:xfrm rot="0">
            <a:off x="10193348" y="3473242"/>
            <a:ext cx="7065952" cy="5643626"/>
          </a:xfrm>
          <a:prstGeom prst="rect">
            <a:avLst/>
          </a:prstGeom>
        </p:spPr>
        <p:txBody>
          <a:bodyPr anchor="t" rtlCol="false" tIns="0" lIns="0" bIns="0" rIns="0">
            <a:spAutoFit/>
          </a:bodyPr>
          <a:lstStyle/>
          <a:p>
            <a:pPr algn="l">
              <a:lnSpc>
                <a:spcPts val="3172"/>
              </a:lnSpc>
              <a:spcBef>
                <a:spcPct val="0"/>
              </a:spcBef>
            </a:pPr>
            <a:r>
              <a:rPr lang="en-US" b="true" sz="3050">
                <a:solidFill>
                  <a:srgbClr val="000000"/>
                </a:solidFill>
                <a:latin typeface="Poppins Bold"/>
                <a:ea typeface="Poppins Bold"/>
                <a:cs typeface="Poppins Bold"/>
                <a:sym typeface="Poppins Bold"/>
              </a:rPr>
              <a:t>Limited Transaction Support:</a:t>
            </a:r>
          </a:p>
          <a:p>
            <a:pPr algn="l">
              <a:lnSpc>
                <a:spcPts val="3172"/>
              </a:lnSpc>
              <a:spcBef>
                <a:spcPct val="0"/>
              </a:spcBef>
            </a:pPr>
          </a:p>
          <a:p>
            <a:pPr algn="l">
              <a:lnSpc>
                <a:spcPts val="3172"/>
              </a:lnSpc>
              <a:spcBef>
                <a:spcPct val="0"/>
              </a:spcBef>
            </a:pPr>
            <a:r>
              <a:rPr lang="en-US" sz="3050">
                <a:solidFill>
                  <a:srgbClr val="000000"/>
                </a:solidFill>
                <a:latin typeface="Poppins"/>
                <a:ea typeface="Poppins"/>
                <a:cs typeface="Poppins"/>
                <a:sym typeface="Poppins"/>
              </a:rPr>
              <a:t>Many columnar databases are not designed for transactional workloads that require ACID (Atomicity, Consistency, Isolation, Durability) compliance. This can be a significant </a:t>
            </a:r>
            <a:r>
              <a:rPr lang="en-US" b="true" sz="3050">
                <a:solidFill>
                  <a:srgbClr val="000000"/>
                </a:solidFill>
                <a:latin typeface="Poppins Bold"/>
                <a:ea typeface="Poppins Bold"/>
                <a:cs typeface="Poppins Bold"/>
                <a:sym typeface="Poppins Bold"/>
              </a:rPr>
              <a:t>limitation</a:t>
            </a:r>
            <a:r>
              <a:rPr lang="en-US" sz="3050">
                <a:solidFill>
                  <a:srgbClr val="000000"/>
                </a:solidFill>
                <a:latin typeface="Poppins"/>
                <a:ea typeface="Poppins"/>
                <a:cs typeface="Poppins"/>
                <a:sym typeface="Poppins"/>
              </a:rPr>
              <a:t> for applications that need to </a:t>
            </a:r>
            <a:r>
              <a:rPr lang="en-US" b="true" sz="3050">
                <a:solidFill>
                  <a:srgbClr val="000000"/>
                </a:solidFill>
                <a:latin typeface="Poppins Bold"/>
                <a:ea typeface="Poppins Bold"/>
                <a:cs typeface="Poppins Bold"/>
                <a:sym typeface="Poppins Bold"/>
              </a:rPr>
              <a:t>perform frequent transactions</a:t>
            </a:r>
            <a:r>
              <a:rPr lang="en-US" sz="3050">
                <a:solidFill>
                  <a:srgbClr val="000000"/>
                </a:solidFill>
                <a:latin typeface="Poppins"/>
                <a:ea typeface="Poppins"/>
                <a:cs typeface="Poppins"/>
                <a:sym typeface="Poppins"/>
              </a:rPr>
              <a:t>, as the eventual consistency model used by some columnar databases may not guarantee data integrity in real-time.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5887720" y="-811995"/>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grpSp>
        <p:nvGrpSpPr>
          <p:cNvPr name="Group 4" id="4"/>
          <p:cNvGrpSpPr/>
          <p:nvPr/>
        </p:nvGrpSpPr>
        <p:grpSpPr>
          <a:xfrm rot="0">
            <a:off x="3885508" y="2445749"/>
            <a:ext cx="14728021" cy="1464829"/>
            <a:chOff x="0" y="0"/>
            <a:chExt cx="3878985" cy="385799"/>
          </a:xfrm>
        </p:grpSpPr>
        <p:sp>
          <p:nvSpPr>
            <p:cNvPr name="Freeform 5" id="5"/>
            <p:cNvSpPr/>
            <p:nvPr/>
          </p:nvSpPr>
          <p:spPr>
            <a:xfrm flipH="false" flipV="false" rot="0">
              <a:off x="0" y="0"/>
              <a:ext cx="3878985" cy="385799"/>
            </a:xfrm>
            <a:custGeom>
              <a:avLst/>
              <a:gdLst/>
              <a:ahLst/>
              <a:cxnLst/>
              <a:rect r="r" b="b" t="t" l="l"/>
              <a:pathLst>
                <a:path h="385799" w="3878985">
                  <a:moveTo>
                    <a:pt x="0" y="0"/>
                  </a:moveTo>
                  <a:lnTo>
                    <a:pt x="3878985" y="0"/>
                  </a:lnTo>
                  <a:lnTo>
                    <a:pt x="3878985" y="385799"/>
                  </a:lnTo>
                  <a:lnTo>
                    <a:pt x="0" y="385799"/>
                  </a:lnTo>
                  <a:close/>
                </a:path>
              </a:pathLst>
            </a:custGeom>
            <a:solidFill>
              <a:srgbClr val="2B59C3">
                <a:alpha val="71765"/>
              </a:srgbClr>
            </a:solidFill>
          </p:spPr>
        </p:sp>
        <p:sp>
          <p:nvSpPr>
            <p:cNvPr name="TextBox 6" id="6"/>
            <p:cNvSpPr txBox="true"/>
            <p:nvPr/>
          </p:nvSpPr>
          <p:spPr>
            <a:xfrm>
              <a:off x="0" y="28575"/>
              <a:ext cx="3878985" cy="357224"/>
            </a:xfrm>
            <a:prstGeom prst="rect">
              <a:avLst/>
            </a:prstGeom>
          </p:spPr>
          <p:txBody>
            <a:bodyPr anchor="ctr" rtlCol="false" tIns="50800" lIns="50800" bIns="50800" rIns="50800"/>
            <a:lstStyle/>
            <a:p>
              <a:pPr algn="ctr">
                <a:lnSpc>
                  <a:spcPts val="2661"/>
                </a:lnSpc>
              </a:pPr>
            </a:p>
          </p:txBody>
        </p:sp>
      </p:grpSp>
      <p:sp>
        <p:nvSpPr>
          <p:cNvPr name="Freeform 7" id="7"/>
          <p:cNvSpPr/>
          <p:nvPr/>
        </p:nvSpPr>
        <p:spPr>
          <a:xfrm flipH="false" flipV="false" rot="0">
            <a:off x="-772581" y="5777357"/>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sp>
        <p:nvSpPr>
          <p:cNvPr name="TextBox 8" id="8"/>
          <p:cNvSpPr txBox="true"/>
          <p:nvPr/>
        </p:nvSpPr>
        <p:spPr>
          <a:xfrm rot="0">
            <a:off x="6126319" y="2717163"/>
            <a:ext cx="11711807" cy="1726621"/>
          </a:xfrm>
          <a:prstGeom prst="rect">
            <a:avLst/>
          </a:prstGeom>
        </p:spPr>
        <p:txBody>
          <a:bodyPr anchor="t" rtlCol="false" tIns="0" lIns="0" bIns="0" rIns="0">
            <a:spAutoFit/>
          </a:bodyPr>
          <a:lstStyle/>
          <a:p>
            <a:pPr algn="l">
              <a:lnSpc>
                <a:spcPts val="6470"/>
              </a:lnSpc>
            </a:pPr>
            <a:r>
              <a:rPr lang="en-US" sz="6221" b="true">
                <a:solidFill>
                  <a:srgbClr val="F0F7FE"/>
                </a:solidFill>
                <a:latin typeface="Poppins Bold"/>
                <a:ea typeface="Poppins Bold"/>
                <a:cs typeface="Poppins Bold"/>
                <a:sym typeface="Poppins Bold"/>
              </a:rPr>
              <a:t>What is Apache Cassandra?</a:t>
            </a:r>
          </a:p>
          <a:p>
            <a:pPr algn="l">
              <a:lnSpc>
                <a:spcPts val="6470"/>
              </a:lnSpc>
              <a:spcBef>
                <a:spcPct val="0"/>
              </a:spcBef>
            </a:pPr>
          </a:p>
        </p:txBody>
      </p:sp>
      <p:sp>
        <p:nvSpPr>
          <p:cNvPr name="TextBox 9" id="9"/>
          <p:cNvSpPr txBox="true"/>
          <p:nvPr/>
        </p:nvSpPr>
        <p:spPr>
          <a:xfrm rot="0">
            <a:off x="8014197" y="4491295"/>
            <a:ext cx="9024272" cy="4592955"/>
          </a:xfrm>
          <a:prstGeom prst="rect">
            <a:avLst/>
          </a:prstGeom>
        </p:spPr>
        <p:txBody>
          <a:bodyPr anchor="t" rtlCol="false" tIns="0" lIns="0" bIns="0" rIns="0">
            <a:spAutoFit/>
          </a:bodyPr>
          <a:lstStyle/>
          <a:p>
            <a:pPr algn="l">
              <a:lnSpc>
                <a:spcPts val="3660"/>
              </a:lnSpc>
            </a:pPr>
            <a:r>
              <a:rPr lang="en-US" sz="3000" b="true">
                <a:solidFill>
                  <a:srgbClr val="063050"/>
                </a:solidFill>
                <a:latin typeface="Poppins Medium"/>
                <a:ea typeface="Poppins Medium"/>
                <a:cs typeface="Poppins Medium"/>
                <a:sym typeface="Poppins Medium"/>
              </a:rPr>
              <a:t>Cassandra is a </a:t>
            </a:r>
            <a:r>
              <a:rPr lang="en-US" sz="3000" b="true">
                <a:solidFill>
                  <a:srgbClr val="063050"/>
                </a:solidFill>
                <a:latin typeface="Poppins Bold"/>
                <a:ea typeface="Poppins Bold"/>
                <a:cs typeface="Poppins Bold"/>
                <a:sym typeface="Poppins Bold"/>
              </a:rPr>
              <a:t>NoSQL distributed column database</a:t>
            </a:r>
            <a:r>
              <a:rPr lang="en-US" sz="3000" b="true">
                <a:solidFill>
                  <a:srgbClr val="063050"/>
                </a:solidFill>
                <a:latin typeface="Poppins Medium"/>
                <a:ea typeface="Poppins Medium"/>
                <a:cs typeface="Poppins Medium"/>
                <a:sym typeface="Poppins Medium"/>
              </a:rPr>
              <a:t>. Since it is a distributed database, Cassandra can </a:t>
            </a:r>
            <a:r>
              <a:rPr lang="en-US" sz="3000" b="true">
                <a:solidFill>
                  <a:srgbClr val="063050"/>
                </a:solidFill>
                <a:latin typeface="Poppins Bold"/>
                <a:ea typeface="Poppins Bold"/>
                <a:cs typeface="Poppins Bold"/>
                <a:sym typeface="Poppins Bold"/>
              </a:rPr>
              <a:t>have multiple nodes</a:t>
            </a:r>
            <a:r>
              <a:rPr lang="en-US" sz="3000" b="true">
                <a:solidFill>
                  <a:srgbClr val="063050"/>
                </a:solidFill>
                <a:latin typeface="Poppins Medium"/>
                <a:ea typeface="Poppins Medium"/>
                <a:cs typeface="Poppins Medium"/>
                <a:sym typeface="Poppins Medium"/>
              </a:rPr>
              <a:t>. A node represents a single instance of Cassandra. </a:t>
            </a:r>
          </a:p>
          <a:p>
            <a:pPr algn="l">
              <a:lnSpc>
                <a:spcPts val="3660"/>
              </a:lnSpc>
            </a:pPr>
            <a:r>
              <a:rPr lang="en-US" sz="3000" b="true">
                <a:solidFill>
                  <a:srgbClr val="063050"/>
                </a:solidFill>
                <a:latin typeface="Poppins Medium"/>
                <a:ea typeface="Poppins Medium"/>
                <a:cs typeface="Poppins Medium"/>
                <a:sym typeface="Poppins Medium"/>
              </a:rPr>
              <a:t>These nodes communicate with one another through a protocol called </a:t>
            </a:r>
            <a:r>
              <a:rPr lang="en-US" sz="3000" b="true">
                <a:solidFill>
                  <a:srgbClr val="063050"/>
                </a:solidFill>
                <a:latin typeface="Poppins Bold"/>
                <a:ea typeface="Poppins Bold"/>
                <a:cs typeface="Poppins Bold"/>
                <a:sym typeface="Poppins Bold"/>
              </a:rPr>
              <a:t>gossip</a:t>
            </a:r>
            <a:r>
              <a:rPr lang="en-US" sz="3000" b="true">
                <a:solidFill>
                  <a:srgbClr val="063050"/>
                </a:solidFill>
                <a:latin typeface="Poppins Medium"/>
                <a:ea typeface="Poppins Medium"/>
                <a:cs typeface="Poppins Medium"/>
                <a:sym typeface="Poppins Medium"/>
              </a:rPr>
              <a:t>, which is a process of computer peer-to-peer communication. Multiple nodes can be organized logically into </a:t>
            </a:r>
            <a:r>
              <a:rPr lang="en-US" sz="3000" b="true">
                <a:solidFill>
                  <a:srgbClr val="063050"/>
                </a:solidFill>
                <a:latin typeface="Poppins Bold"/>
                <a:ea typeface="Poppins Bold"/>
                <a:cs typeface="Poppins Bold"/>
                <a:sym typeface="Poppins Bold"/>
              </a:rPr>
              <a:t>a cluster, or "ring". </a:t>
            </a:r>
          </a:p>
          <a:p>
            <a:pPr algn="l">
              <a:lnSpc>
                <a:spcPts val="3660"/>
              </a:lnSpc>
            </a:pPr>
          </a:p>
        </p:txBody>
      </p:sp>
      <p:sp>
        <p:nvSpPr>
          <p:cNvPr name="Freeform 10" id="10"/>
          <p:cNvSpPr/>
          <p:nvPr/>
        </p:nvSpPr>
        <p:spPr>
          <a:xfrm flipH="true" flipV="true" rot="0">
            <a:off x="14158001" y="6463808"/>
            <a:ext cx="6775868" cy="4114800"/>
          </a:xfrm>
          <a:custGeom>
            <a:avLst/>
            <a:gdLst/>
            <a:ahLst/>
            <a:cxnLst/>
            <a:rect r="r" b="b" t="t" l="l"/>
            <a:pathLst>
              <a:path h="4114800" w="6775868">
                <a:moveTo>
                  <a:pt x="6775868" y="4114800"/>
                </a:moveTo>
                <a:lnTo>
                  <a:pt x="0" y="4114800"/>
                </a:lnTo>
                <a:lnTo>
                  <a:pt x="0" y="0"/>
                </a:lnTo>
                <a:lnTo>
                  <a:pt x="6775868" y="0"/>
                </a:lnTo>
                <a:lnTo>
                  <a:pt x="6775868"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242964" y="3353214"/>
            <a:ext cx="6192119" cy="619211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BF5FE"/>
            </a:solidFill>
          </p:spPr>
        </p:sp>
        <p:sp>
          <p:nvSpPr>
            <p:cNvPr name="TextBox 13" id="13"/>
            <p:cNvSpPr txBox="true"/>
            <p:nvPr/>
          </p:nvSpPr>
          <p:spPr>
            <a:xfrm>
              <a:off x="76200" y="95250"/>
              <a:ext cx="660400" cy="641350"/>
            </a:xfrm>
            <a:prstGeom prst="rect">
              <a:avLst/>
            </a:prstGeom>
          </p:spPr>
          <p:txBody>
            <a:bodyPr anchor="ctr" rtlCol="false" tIns="50800" lIns="50800" bIns="50800" rIns="50800"/>
            <a:lstStyle/>
            <a:p>
              <a:pPr algn="ctr">
                <a:lnSpc>
                  <a:spcPts val="2139"/>
                </a:lnSpc>
              </a:pPr>
            </a:p>
          </p:txBody>
        </p:sp>
      </p:grpSp>
      <p:sp>
        <p:nvSpPr>
          <p:cNvPr name="Freeform 14" id="14"/>
          <p:cNvSpPr/>
          <p:nvPr/>
        </p:nvSpPr>
        <p:spPr>
          <a:xfrm flipH="false" flipV="false" rot="0">
            <a:off x="641568" y="4485612"/>
            <a:ext cx="5462597" cy="3664780"/>
          </a:xfrm>
          <a:custGeom>
            <a:avLst/>
            <a:gdLst/>
            <a:ahLst/>
            <a:cxnLst/>
            <a:rect r="r" b="b" t="t" l="l"/>
            <a:pathLst>
              <a:path h="3664780" w="5462597">
                <a:moveTo>
                  <a:pt x="0" y="0"/>
                </a:moveTo>
                <a:lnTo>
                  <a:pt x="5462597" y="0"/>
                </a:lnTo>
                <a:lnTo>
                  <a:pt x="5462597" y="3664780"/>
                </a:lnTo>
                <a:lnTo>
                  <a:pt x="0" y="3664780"/>
                </a:lnTo>
                <a:lnTo>
                  <a:pt x="0" y="0"/>
                </a:lnTo>
                <a:close/>
              </a:path>
            </a:pathLst>
          </a:custGeom>
          <a:blipFill>
            <a:blip r:embed="rId6"/>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2149179" y="1715238"/>
            <a:ext cx="14705952" cy="7242681"/>
          </a:xfrm>
          <a:custGeom>
            <a:avLst/>
            <a:gdLst/>
            <a:ahLst/>
            <a:cxnLst/>
            <a:rect r="r" b="b" t="t" l="l"/>
            <a:pathLst>
              <a:path h="7242681" w="14705952">
                <a:moveTo>
                  <a:pt x="0" y="0"/>
                </a:moveTo>
                <a:lnTo>
                  <a:pt x="14705952" y="0"/>
                </a:lnTo>
                <a:lnTo>
                  <a:pt x="14705952" y="7242681"/>
                </a:lnTo>
                <a:lnTo>
                  <a:pt x="0" y="7242681"/>
                </a:lnTo>
                <a:lnTo>
                  <a:pt x="0" y="0"/>
                </a:lnTo>
                <a:close/>
              </a:path>
            </a:pathLst>
          </a:custGeom>
          <a:blipFill>
            <a:blip r:embed="rId3"/>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0712739" y="4305951"/>
            <a:ext cx="5314633" cy="2666980"/>
          </a:xfrm>
          <a:custGeom>
            <a:avLst/>
            <a:gdLst/>
            <a:ahLst/>
            <a:cxnLst/>
            <a:rect r="r" b="b" t="t" l="l"/>
            <a:pathLst>
              <a:path h="2666980" w="5314633">
                <a:moveTo>
                  <a:pt x="0" y="0"/>
                </a:moveTo>
                <a:lnTo>
                  <a:pt x="5314634" y="0"/>
                </a:lnTo>
                <a:lnTo>
                  <a:pt x="5314634" y="2666980"/>
                </a:lnTo>
                <a:lnTo>
                  <a:pt x="0" y="2666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2946399" y="1956063"/>
            <a:ext cx="4312901" cy="7366756"/>
          </a:xfrm>
          <a:custGeom>
            <a:avLst/>
            <a:gdLst/>
            <a:ahLst/>
            <a:cxnLst/>
            <a:rect r="r" b="b" t="t" l="l"/>
            <a:pathLst>
              <a:path h="7366756" w="4312901">
                <a:moveTo>
                  <a:pt x="4312901" y="0"/>
                </a:moveTo>
                <a:lnTo>
                  <a:pt x="0" y="0"/>
                </a:lnTo>
                <a:lnTo>
                  <a:pt x="0" y="7366756"/>
                </a:lnTo>
                <a:lnTo>
                  <a:pt x="4312901" y="7366756"/>
                </a:lnTo>
                <a:lnTo>
                  <a:pt x="431290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630683" y="784161"/>
            <a:ext cx="5314633" cy="2666980"/>
          </a:xfrm>
          <a:custGeom>
            <a:avLst/>
            <a:gdLst/>
            <a:ahLst/>
            <a:cxnLst/>
            <a:rect r="r" b="b" t="t" l="l"/>
            <a:pathLst>
              <a:path h="2666980" w="5314633">
                <a:moveTo>
                  <a:pt x="0" y="0"/>
                </a:moveTo>
                <a:lnTo>
                  <a:pt x="5314634" y="0"/>
                </a:lnTo>
                <a:lnTo>
                  <a:pt x="5314634" y="2666980"/>
                </a:lnTo>
                <a:lnTo>
                  <a:pt x="0" y="2666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4859447" y="8090545"/>
            <a:ext cx="5314633" cy="2666980"/>
          </a:xfrm>
          <a:custGeom>
            <a:avLst/>
            <a:gdLst/>
            <a:ahLst/>
            <a:cxnLst/>
            <a:rect r="r" b="b" t="t" l="l"/>
            <a:pathLst>
              <a:path h="2666980" w="5314633">
                <a:moveTo>
                  <a:pt x="0" y="0"/>
                </a:moveTo>
                <a:lnTo>
                  <a:pt x="5314633" y="0"/>
                </a:lnTo>
                <a:lnTo>
                  <a:pt x="5314633" y="2666980"/>
                </a:lnTo>
                <a:lnTo>
                  <a:pt x="0" y="2666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845531" y="1638545"/>
            <a:ext cx="3083622" cy="3126612"/>
          </a:xfrm>
          <a:custGeom>
            <a:avLst/>
            <a:gdLst/>
            <a:ahLst/>
            <a:cxnLst/>
            <a:rect r="r" b="b" t="t" l="l"/>
            <a:pathLst>
              <a:path h="3126612" w="3083622">
                <a:moveTo>
                  <a:pt x="0" y="0"/>
                </a:moveTo>
                <a:lnTo>
                  <a:pt x="3083621" y="0"/>
                </a:lnTo>
                <a:lnTo>
                  <a:pt x="3083621" y="3126613"/>
                </a:lnTo>
                <a:lnTo>
                  <a:pt x="0" y="3126613"/>
                </a:lnTo>
                <a:lnTo>
                  <a:pt x="0" y="0"/>
                </a:lnTo>
                <a:close/>
              </a:path>
            </a:pathLst>
          </a:custGeom>
          <a:blipFill>
            <a:blip r:embed="rId7">
              <a:alphaModFix amt="71000"/>
            </a:blip>
            <a:stretch>
              <a:fillRect l="0" t="0" r="0" b="0"/>
            </a:stretch>
          </a:blipFill>
        </p:spPr>
      </p:sp>
      <p:sp>
        <p:nvSpPr>
          <p:cNvPr name="Freeform 8" id="8"/>
          <p:cNvSpPr/>
          <p:nvPr/>
        </p:nvSpPr>
        <p:spPr>
          <a:xfrm flipH="false" flipV="false" rot="0">
            <a:off x="-1395590" y="5254128"/>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7">
              <a:alphaModFix amt="71000"/>
            </a:blip>
            <a:stretch>
              <a:fillRect l="0" t="0" r="0" b="0"/>
            </a:stretch>
          </a:blipFill>
        </p:spPr>
      </p:sp>
      <p:grpSp>
        <p:nvGrpSpPr>
          <p:cNvPr name="Group 9" id="9"/>
          <p:cNvGrpSpPr/>
          <p:nvPr/>
        </p:nvGrpSpPr>
        <p:grpSpPr>
          <a:xfrm rot="0">
            <a:off x="1359210" y="3736460"/>
            <a:ext cx="1407040" cy="1407040"/>
            <a:chOff x="0" y="0"/>
            <a:chExt cx="370578" cy="370578"/>
          </a:xfrm>
        </p:grpSpPr>
        <p:sp>
          <p:nvSpPr>
            <p:cNvPr name="Freeform 10" id="10"/>
            <p:cNvSpPr/>
            <p:nvPr/>
          </p:nvSpPr>
          <p:spPr>
            <a:xfrm flipH="false" flipV="false" rot="0">
              <a:off x="0" y="0"/>
              <a:ext cx="370578" cy="370578"/>
            </a:xfrm>
            <a:custGeom>
              <a:avLst/>
              <a:gdLst/>
              <a:ahLst/>
              <a:cxnLst/>
              <a:rect r="r" b="b" t="t" l="l"/>
              <a:pathLst>
                <a:path h="370578" w="370578">
                  <a:moveTo>
                    <a:pt x="185289" y="0"/>
                  </a:moveTo>
                  <a:lnTo>
                    <a:pt x="185289" y="0"/>
                  </a:lnTo>
                  <a:cubicBezTo>
                    <a:pt x="234431" y="0"/>
                    <a:pt x="281560" y="19521"/>
                    <a:pt x="316309" y="54270"/>
                  </a:cubicBezTo>
                  <a:cubicBezTo>
                    <a:pt x="351057" y="89018"/>
                    <a:pt x="370578" y="136147"/>
                    <a:pt x="370578" y="185289"/>
                  </a:cubicBezTo>
                  <a:lnTo>
                    <a:pt x="370578" y="185289"/>
                  </a:lnTo>
                  <a:cubicBezTo>
                    <a:pt x="370578" y="234431"/>
                    <a:pt x="351057" y="281560"/>
                    <a:pt x="316309" y="316309"/>
                  </a:cubicBezTo>
                  <a:cubicBezTo>
                    <a:pt x="281560" y="351057"/>
                    <a:pt x="234431" y="370578"/>
                    <a:pt x="185289" y="370578"/>
                  </a:cubicBezTo>
                  <a:lnTo>
                    <a:pt x="185289" y="370578"/>
                  </a:lnTo>
                  <a:cubicBezTo>
                    <a:pt x="136147" y="370578"/>
                    <a:pt x="89018" y="351057"/>
                    <a:pt x="54270" y="316309"/>
                  </a:cubicBezTo>
                  <a:cubicBezTo>
                    <a:pt x="19521" y="281560"/>
                    <a:pt x="0" y="234431"/>
                    <a:pt x="0" y="185289"/>
                  </a:cubicBezTo>
                  <a:lnTo>
                    <a:pt x="0" y="185289"/>
                  </a:lnTo>
                  <a:cubicBezTo>
                    <a:pt x="0" y="136147"/>
                    <a:pt x="19521" y="89018"/>
                    <a:pt x="54270" y="54270"/>
                  </a:cubicBezTo>
                  <a:cubicBezTo>
                    <a:pt x="89018" y="19521"/>
                    <a:pt x="136147" y="0"/>
                    <a:pt x="185289" y="0"/>
                  </a:cubicBezTo>
                  <a:close/>
                </a:path>
              </a:pathLst>
            </a:custGeom>
            <a:solidFill>
              <a:srgbClr val="F4F4F4"/>
            </a:solidFill>
            <a:ln w="38100" cap="rnd">
              <a:solidFill>
                <a:srgbClr val="000000"/>
              </a:solidFill>
              <a:prstDash val="solid"/>
              <a:round/>
            </a:ln>
          </p:spPr>
        </p:sp>
        <p:sp>
          <p:nvSpPr>
            <p:cNvPr name="TextBox 11" id="11"/>
            <p:cNvSpPr txBox="true"/>
            <p:nvPr/>
          </p:nvSpPr>
          <p:spPr>
            <a:xfrm>
              <a:off x="0" y="28575"/>
              <a:ext cx="370578" cy="342003"/>
            </a:xfrm>
            <a:prstGeom prst="rect">
              <a:avLst/>
            </a:prstGeom>
          </p:spPr>
          <p:txBody>
            <a:bodyPr anchor="ctr" rtlCol="false" tIns="50800" lIns="50800" bIns="50800" rIns="50800"/>
            <a:lstStyle/>
            <a:p>
              <a:pPr algn="ctr">
                <a:lnSpc>
                  <a:spcPts val="2661"/>
                </a:lnSpc>
              </a:pPr>
            </a:p>
          </p:txBody>
        </p:sp>
      </p:grpSp>
      <p:sp>
        <p:nvSpPr>
          <p:cNvPr name="Freeform 12" id="12"/>
          <p:cNvSpPr/>
          <p:nvPr/>
        </p:nvSpPr>
        <p:spPr>
          <a:xfrm flipH="false" flipV="false" rot="0">
            <a:off x="1470702" y="3847952"/>
            <a:ext cx="1184055" cy="1184055"/>
          </a:xfrm>
          <a:custGeom>
            <a:avLst/>
            <a:gdLst/>
            <a:ahLst/>
            <a:cxnLst/>
            <a:rect r="r" b="b" t="t" l="l"/>
            <a:pathLst>
              <a:path h="1184055" w="1184055">
                <a:moveTo>
                  <a:pt x="0" y="0"/>
                </a:moveTo>
                <a:lnTo>
                  <a:pt x="1184056" y="0"/>
                </a:lnTo>
                <a:lnTo>
                  <a:pt x="1184056" y="1184056"/>
                </a:lnTo>
                <a:lnTo>
                  <a:pt x="0" y="11840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8440480" y="4935921"/>
            <a:ext cx="1407040" cy="1407040"/>
            <a:chOff x="0" y="0"/>
            <a:chExt cx="370578" cy="370578"/>
          </a:xfrm>
        </p:grpSpPr>
        <p:sp>
          <p:nvSpPr>
            <p:cNvPr name="Freeform 14" id="14"/>
            <p:cNvSpPr/>
            <p:nvPr/>
          </p:nvSpPr>
          <p:spPr>
            <a:xfrm flipH="false" flipV="false" rot="0">
              <a:off x="0" y="0"/>
              <a:ext cx="370578" cy="370578"/>
            </a:xfrm>
            <a:custGeom>
              <a:avLst/>
              <a:gdLst/>
              <a:ahLst/>
              <a:cxnLst/>
              <a:rect r="r" b="b" t="t" l="l"/>
              <a:pathLst>
                <a:path h="370578" w="370578">
                  <a:moveTo>
                    <a:pt x="185289" y="0"/>
                  </a:moveTo>
                  <a:lnTo>
                    <a:pt x="185289" y="0"/>
                  </a:lnTo>
                  <a:cubicBezTo>
                    <a:pt x="234431" y="0"/>
                    <a:pt x="281560" y="19521"/>
                    <a:pt x="316309" y="54270"/>
                  </a:cubicBezTo>
                  <a:cubicBezTo>
                    <a:pt x="351057" y="89018"/>
                    <a:pt x="370578" y="136147"/>
                    <a:pt x="370578" y="185289"/>
                  </a:cubicBezTo>
                  <a:lnTo>
                    <a:pt x="370578" y="185289"/>
                  </a:lnTo>
                  <a:cubicBezTo>
                    <a:pt x="370578" y="234431"/>
                    <a:pt x="351057" y="281560"/>
                    <a:pt x="316309" y="316309"/>
                  </a:cubicBezTo>
                  <a:cubicBezTo>
                    <a:pt x="281560" y="351057"/>
                    <a:pt x="234431" y="370578"/>
                    <a:pt x="185289" y="370578"/>
                  </a:cubicBezTo>
                  <a:lnTo>
                    <a:pt x="185289" y="370578"/>
                  </a:lnTo>
                  <a:cubicBezTo>
                    <a:pt x="136147" y="370578"/>
                    <a:pt x="89018" y="351057"/>
                    <a:pt x="54270" y="316309"/>
                  </a:cubicBezTo>
                  <a:cubicBezTo>
                    <a:pt x="19521" y="281560"/>
                    <a:pt x="0" y="234431"/>
                    <a:pt x="0" y="185289"/>
                  </a:cubicBezTo>
                  <a:lnTo>
                    <a:pt x="0" y="185289"/>
                  </a:lnTo>
                  <a:cubicBezTo>
                    <a:pt x="0" y="136147"/>
                    <a:pt x="19521" y="89018"/>
                    <a:pt x="54270" y="54270"/>
                  </a:cubicBezTo>
                  <a:cubicBezTo>
                    <a:pt x="89018" y="19521"/>
                    <a:pt x="136147" y="0"/>
                    <a:pt x="185289" y="0"/>
                  </a:cubicBezTo>
                  <a:close/>
                </a:path>
              </a:pathLst>
            </a:custGeom>
            <a:solidFill>
              <a:srgbClr val="F4F4F4"/>
            </a:solidFill>
            <a:ln w="38100" cap="rnd">
              <a:solidFill>
                <a:srgbClr val="000000"/>
              </a:solidFill>
              <a:prstDash val="solid"/>
              <a:round/>
            </a:ln>
          </p:spPr>
        </p:sp>
        <p:sp>
          <p:nvSpPr>
            <p:cNvPr name="TextBox 15" id="15"/>
            <p:cNvSpPr txBox="true"/>
            <p:nvPr/>
          </p:nvSpPr>
          <p:spPr>
            <a:xfrm>
              <a:off x="0" y="28575"/>
              <a:ext cx="370578" cy="342003"/>
            </a:xfrm>
            <a:prstGeom prst="rect">
              <a:avLst/>
            </a:prstGeom>
          </p:spPr>
          <p:txBody>
            <a:bodyPr anchor="ctr" rtlCol="false" tIns="50800" lIns="50800" bIns="50800" rIns="50800"/>
            <a:lstStyle/>
            <a:p>
              <a:pPr algn="ctr">
                <a:lnSpc>
                  <a:spcPts val="2661"/>
                </a:lnSpc>
              </a:pPr>
            </a:p>
          </p:txBody>
        </p:sp>
      </p:grpSp>
      <p:grpSp>
        <p:nvGrpSpPr>
          <p:cNvPr name="Group 16" id="16"/>
          <p:cNvGrpSpPr/>
          <p:nvPr/>
        </p:nvGrpSpPr>
        <p:grpSpPr>
          <a:xfrm rot="0">
            <a:off x="1392452" y="7998981"/>
            <a:ext cx="1407040" cy="1407040"/>
            <a:chOff x="0" y="0"/>
            <a:chExt cx="370578" cy="370578"/>
          </a:xfrm>
        </p:grpSpPr>
        <p:sp>
          <p:nvSpPr>
            <p:cNvPr name="Freeform 17" id="17"/>
            <p:cNvSpPr/>
            <p:nvPr/>
          </p:nvSpPr>
          <p:spPr>
            <a:xfrm flipH="false" flipV="false" rot="0">
              <a:off x="0" y="0"/>
              <a:ext cx="370578" cy="370578"/>
            </a:xfrm>
            <a:custGeom>
              <a:avLst/>
              <a:gdLst/>
              <a:ahLst/>
              <a:cxnLst/>
              <a:rect r="r" b="b" t="t" l="l"/>
              <a:pathLst>
                <a:path h="370578" w="370578">
                  <a:moveTo>
                    <a:pt x="185289" y="0"/>
                  </a:moveTo>
                  <a:lnTo>
                    <a:pt x="185289" y="0"/>
                  </a:lnTo>
                  <a:cubicBezTo>
                    <a:pt x="234431" y="0"/>
                    <a:pt x="281560" y="19521"/>
                    <a:pt x="316309" y="54270"/>
                  </a:cubicBezTo>
                  <a:cubicBezTo>
                    <a:pt x="351057" y="89018"/>
                    <a:pt x="370578" y="136147"/>
                    <a:pt x="370578" y="185289"/>
                  </a:cubicBezTo>
                  <a:lnTo>
                    <a:pt x="370578" y="185289"/>
                  </a:lnTo>
                  <a:cubicBezTo>
                    <a:pt x="370578" y="234431"/>
                    <a:pt x="351057" y="281560"/>
                    <a:pt x="316309" y="316309"/>
                  </a:cubicBezTo>
                  <a:cubicBezTo>
                    <a:pt x="281560" y="351057"/>
                    <a:pt x="234431" y="370578"/>
                    <a:pt x="185289" y="370578"/>
                  </a:cubicBezTo>
                  <a:lnTo>
                    <a:pt x="185289" y="370578"/>
                  </a:lnTo>
                  <a:cubicBezTo>
                    <a:pt x="136147" y="370578"/>
                    <a:pt x="89018" y="351057"/>
                    <a:pt x="54270" y="316309"/>
                  </a:cubicBezTo>
                  <a:cubicBezTo>
                    <a:pt x="19521" y="281560"/>
                    <a:pt x="0" y="234431"/>
                    <a:pt x="0" y="185289"/>
                  </a:cubicBezTo>
                  <a:lnTo>
                    <a:pt x="0" y="185289"/>
                  </a:lnTo>
                  <a:cubicBezTo>
                    <a:pt x="0" y="136147"/>
                    <a:pt x="19521" y="89018"/>
                    <a:pt x="54270" y="54270"/>
                  </a:cubicBezTo>
                  <a:cubicBezTo>
                    <a:pt x="89018" y="19521"/>
                    <a:pt x="136147" y="0"/>
                    <a:pt x="185289" y="0"/>
                  </a:cubicBezTo>
                  <a:close/>
                </a:path>
              </a:pathLst>
            </a:custGeom>
            <a:solidFill>
              <a:srgbClr val="F4F4F4"/>
            </a:solidFill>
            <a:ln w="38100" cap="rnd">
              <a:solidFill>
                <a:srgbClr val="000000"/>
              </a:solidFill>
              <a:prstDash val="solid"/>
              <a:round/>
            </a:ln>
          </p:spPr>
        </p:sp>
        <p:sp>
          <p:nvSpPr>
            <p:cNvPr name="TextBox 18" id="18"/>
            <p:cNvSpPr txBox="true"/>
            <p:nvPr/>
          </p:nvSpPr>
          <p:spPr>
            <a:xfrm>
              <a:off x="0" y="28575"/>
              <a:ext cx="370578" cy="342003"/>
            </a:xfrm>
            <a:prstGeom prst="rect">
              <a:avLst/>
            </a:prstGeom>
          </p:spPr>
          <p:txBody>
            <a:bodyPr anchor="ctr" rtlCol="false" tIns="50800" lIns="50800" bIns="50800" rIns="50800"/>
            <a:lstStyle/>
            <a:p>
              <a:pPr algn="ctr">
                <a:lnSpc>
                  <a:spcPts val="2661"/>
                </a:lnSpc>
              </a:pPr>
            </a:p>
          </p:txBody>
        </p:sp>
      </p:grpSp>
      <p:sp>
        <p:nvSpPr>
          <p:cNvPr name="Freeform 19" id="19"/>
          <p:cNvSpPr/>
          <p:nvPr/>
        </p:nvSpPr>
        <p:spPr>
          <a:xfrm flipH="false" flipV="false" rot="0">
            <a:off x="8581002" y="5076442"/>
            <a:ext cx="1125997" cy="1125997"/>
          </a:xfrm>
          <a:custGeom>
            <a:avLst/>
            <a:gdLst/>
            <a:ahLst/>
            <a:cxnLst/>
            <a:rect r="r" b="b" t="t" l="l"/>
            <a:pathLst>
              <a:path h="1125997" w="1125997">
                <a:moveTo>
                  <a:pt x="0" y="0"/>
                </a:moveTo>
                <a:lnTo>
                  <a:pt x="1125996" y="0"/>
                </a:lnTo>
                <a:lnTo>
                  <a:pt x="1125996" y="1125997"/>
                </a:lnTo>
                <a:lnTo>
                  <a:pt x="0" y="112599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0" id="20"/>
          <p:cNvGrpSpPr/>
          <p:nvPr/>
        </p:nvGrpSpPr>
        <p:grpSpPr>
          <a:xfrm rot="0">
            <a:off x="8440480" y="6973700"/>
            <a:ext cx="1407040" cy="1407040"/>
            <a:chOff x="0" y="0"/>
            <a:chExt cx="370578" cy="370578"/>
          </a:xfrm>
        </p:grpSpPr>
        <p:sp>
          <p:nvSpPr>
            <p:cNvPr name="Freeform 21" id="21"/>
            <p:cNvSpPr/>
            <p:nvPr/>
          </p:nvSpPr>
          <p:spPr>
            <a:xfrm flipH="false" flipV="false" rot="0">
              <a:off x="0" y="0"/>
              <a:ext cx="370578" cy="370578"/>
            </a:xfrm>
            <a:custGeom>
              <a:avLst/>
              <a:gdLst/>
              <a:ahLst/>
              <a:cxnLst/>
              <a:rect r="r" b="b" t="t" l="l"/>
              <a:pathLst>
                <a:path h="370578" w="370578">
                  <a:moveTo>
                    <a:pt x="185289" y="0"/>
                  </a:moveTo>
                  <a:lnTo>
                    <a:pt x="185289" y="0"/>
                  </a:lnTo>
                  <a:cubicBezTo>
                    <a:pt x="234431" y="0"/>
                    <a:pt x="281560" y="19521"/>
                    <a:pt x="316309" y="54270"/>
                  </a:cubicBezTo>
                  <a:cubicBezTo>
                    <a:pt x="351057" y="89018"/>
                    <a:pt x="370578" y="136147"/>
                    <a:pt x="370578" y="185289"/>
                  </a:cubicBezTo>
                  <a:lnTo>
                    <a:pt x="370578" y="185289"/>
                  </a:lnTo>
                  <a:cubicBezTo>
                    <a:pt x="370578" y="234431"/>
                    <a:pt x="351057" y="281560"/>
                    <a:pt x="316309" y="316309"/>
                  </a:cubicBezTo>
                  <a:cubicBezTo>
                    <a:pt x="281560" y="351057"/>
                    <a:pt x="234431" y="370578"/>
                    <a:pt x="185289" y="370578"/>
                  </a:cubicBezTo>
                  <a:lnTo>
                    <a:pt x="185289" y="370578"/>
                  </a:lnTo>
                  <a:cubicBezTo>
                    <a:pt x="136147" y="370578"/>
                    <a:pt x="89018" y="351057"/>
                    <a:pt x="54270" y="316309"/>
                  </a:cubicBezTo>
                  <a:cubicBezTo>
                    <a:pt x="19521" y="281560"/>
                    <a:pt x="0" y="234431"/>
                    <a:pt x="0" y="185289"/>
                  </a:cubicBezTo>
                  <a:lnTo>
                    <a:pt x="0" y="185289"/>
                  </a:lnTo>
                  <a:cubicBezTo>
                    <a:pt x="0" y="136147"/>
                    <a:pt x="19521" y="89018"/>
                    <a:pt x="54270" y="54270"/>
                  </a:cubicBezTo>
                  <a:cubicBezTo>
                    <a:pt x="89018" y="19521"/>
                    <a:pt x="136147" y="0"/>
                    <a:pt x="185289" y="0"/>
                  </a:cubicBezTo>
                  <a:close/>
                </a:path>
              </a:pathLst>
            </a:custGeom>
            <a:solidFill>
              <a:srgbClr val="F4F4F4"/>
            </a:solidFill>
            <a:ln w="38100" cap="rnd">
              <a:solidFill>
                <a:srgbClr val="000000"/>
              </a:solidFill>
              <a:prstDash val="solid"/>
              <a:round/>
            </a:ln>
          </p:spPr>
        </p:sp>
        <p:sp>
          <p:nvSpPr>
            <p:cNvPr name="TextBox 22" id="22"/>
            <p:cNvSpPr txBox="true"/>
            <p:nvPr/>
          </p:nvSpPr>
          <p:spPr>
            <a:xfrm>
              <a:off x="0" y="28575"/>
              <a:ext cx="370578" cy="342003"/>
            </a:xfrm>
            <a:prstGeom prst="rect">
              <a:avLst/>
            </a:prstGeom>
          </p:spPr>
          <p:txBody>
            <a:bodyPr anchor="ctr" rtlCol="false" tIns="50800" lIns="50800" bIns="50800" rIns="50800"/>
            <a:lstStyle/>
            <a:p>
              <a:pPr algn="ctr">
                <a:lnSpc>
                  <a:spcPts val="2661"/>
                </a:lnSpc>
              </a:pPr>
            </a:p>
          </p:txBody>
        </p:sp>
      </p:grpSp>
      <p:sp>
        <p:nvSpPr>
          <p:cNvPr name="Freeform 23" id="23"/>
          <p:cNvSpPr/>
          <p:nvPr/>
        </p:nvSpPr>
        <p:spPr>
          <a:xfrm flipH="false" flipV="false" rot="0">
            <a:off x="8518730" y="7051950"/>
            <a:ext cx="1250541" cy="1250541"/>
          </a:xfrm>
          <a:custGeom>
            <a:avLst/>
            <a:gdLst/>
            <a:ahLst/>
            <a:cxnLst/>
            <a:rect r="r" b="b" t="t" l="l"/>
            <a:pathLst>
              <a:path h="1250541" w="1250541">
                <a:moveTo>
                  <a:pt x="0" y="0"/>
                </a:moveTo>
                <a:lnTo>
                  <a:pt x="1250540" y="0"/>
                </a:lnTo>
                <a:lnTo>
                  <a:pt x="1250540" y="1250541"/>
                </a:lnTo>
                <a:lnTo>
                  <a:pt x="0" y="12505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p:cNvSpPr/>
          <p:nvPr/>
        </p:nvSpPr>
        <p:spPr>
          <a:xfrm flipH="false" flipV="false" rot="0">
            <a:off x="1539399" y="8170260"/>
            <a:ext cx="1046662" cy="1142191"/>
          </a:xfrm>
          <a:custGeom>
            <a:avLst/>
            <a:gdLst/>
            <a:ahLst/>
            <a:cxnLst/>
            <a:rect r="r" b="b" t="t" l="l"/>
            <a:pathLst>
              <a:path h="1142191" w="1046662">
                <a:moveTo>
                  <a:pt x="0" y="0"/>
                </a:moveTo>
                <a:lnTo>
                  <a:pt x="1046662" y="0"/>
                </a:lnTo>
                <a:lnTo>
                  <a:pt x="1046662" y="1142191"/>
                </a:lnTo>
                <a:lnTo>
                  <a:pt x="0" y="114219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5" id="25"/>
          <p:cNvGrpSpPr/>
          <p:nvPr/>
        </p:nvGrpSpPr>
        <p:grpSpPr>
          <a:xfrm rot="0">
            <a:off x="1392452" y="5868041"/>
            <a:ext cx="1407040" cy="1407040"/>
            <a:chOff x="0" y="0"/>
            <a:chExt cx="370578" cy="370578"/>
          </a:xfrm>
        </p:grpSpPr>
        <p:sp>
          <p:nvSpPr>
            <p:cNvPr name="Freeform 26" id="26"/>
            <p:cNvSpPr/>
            <p:nvPr/>
          </p:nvSpPr>
          <p:spPr>
            <a:xfrm flipH="false" flipV="false" rot="0">
              <a:off x="0" y="0"/>
              <a:ext cx="370578" cy="370578"/>
            </a:xfrm>
            <a:custGeom>
              <a:avLst/>
              <a:gdLst/>
              <a:ahLst/>
              <a:cxnLst/>
              <a:rect r="r" b="b" t="t" l="l"/>
              <a:pathLst>
                <a:path h="370578" w="370578">
                  <a:moveTo>
                    <a:pt x="185289" y="0"/>
                  </a:moveTo>
                  <a:lnTo>
                    <a:pt x="185289" y="0"/>
                  </a:lnTo>
                  <a:cubicBezTo>
                    <a:pt x="234431" y="0"/>
                    <a:pt x="281560" y="19521"/>
                    <a:pt x="316309" y="54270"/>
                  </a:cubicBezTo>
                  <a:cubicBezTo>
                    <a:pt x="351057" y="89018"/>
                    <a:pt x="370578" y="136147"/>
                    <a:pt x="370578" y="185289"/>
                  </a:cubicBezTo>
                  <a:lnTo>
                    <a:pt x="370578" y="185289"/>
                  </a:lnTo>
                  <a:cubicBezTo>
                    <a:pt x="370578" y="234431"/>
                    <a:pt x="351057" y="281560"/>
                    <a:pt x="316309" y="316309"/>
                  </a:cubicBezTo>
                  <a:cubicBezTo>
                    <a:pt x="281560" y="351057"/>
                    <a:pt x="234431" y="370578"/>
                    <a:pt x="185289" y="370578"/>
                  </a:cubicBezTo>
                  <a:lnTo>
                    <a:pt x="185289" y="370578"/>
                  </a:lnTo>
                  <a:cubicBezTo>
                    <a:pt x="136147" y="370578"/>
                    <a:pt x="89018" y="351057"/>
                    <a:pt x="54270" y="316309"/>
                  </a:cubicBezTo>
                  <a:cubicBezTo>
                    <a:pt x="19521" y="281560"/>
                    <a:pt x="0" y="234431"/>
                    <a:pt x="0" y="185289"/>
                  </a:cubicBezTo>
                  <a:lnTo>
                    <a:pt x="0" y="185289"/>
                  </a:lnTo>
                  <a:cubicBezTo>
                    <a:pt x="0" y="136147"/>
                    <a:pt x="19521" y="89018"/>
                    <a:pt x="54270" y="54270"/>
                  </a:cubicBezTo>
                  <a:cubicBezTo>
                    <a:pt x="89018" y="19521"/>
                    <a:pt x="136147" y="0"/>
                    <a:pt x="185289" y="0"/>
                  </a:cubicBezTo>
                  <a:close/>
                </a:path>
              </a:pathLst>
            </a:custGeom>
            <a:solidFill>
              <a:srgbClr val="F4F4F4"/>
            </a:solidFill>
            <a:ln w="38100" cap="rnd">
              <a:solidFill>
                <a:srgbClr val="000000"/>
              </a:solidFill>
              <a:prstDash val="solid"/>
              <a:round/>
            </a:ln>
          </p:spPr>
        </p:sp>
        <p:sp>
          <p:nvSpPr>
            <p:cNvPr name="TextBox 27" id="27"/>
            <p:cNvSpPr txBox="true"/>
            <p:nvPr/>
          </p:nvSpPr>
          <p:spPr>
            <a:xfrm>
              <a:off x="0" y="28575"/>
              <a:ext cx="370578" cy="342003"/>
            </a:xfrm>
            <a:prstGeom prst="rect">
              <a:avLst/>
            </a:prstGeom>
          </p:spPr>
          <p:txBody>
            <a:bodyPr anchor="ctr" rtlCol="false" tIns="50800" lIns="50800" bIns="50800" rIns="50800"/>
            <a:lstStyle/>
            <a:p>
              <a:pPr algn="ctr">
                <a:lnSpc>
                  <a:spcPts val="2661"/>
                </a:lnSpc>
              </a:pPr>
            </a:p>
          </p:txBody>
        </p:sp>
      </p:grpSp>
      <p:sp>
        <p:nvSpPr>
          <p:cNvPr name="Freeform 28" id="28"/>
          <p:cNvSpPr/>
          <p:nvPr/>
        </p:nvSpPr>
        <p:spPr>
          <a:xfrm flipH="false" flipV="false" rot="0">
            <a:off x="1539399" y="6015121"/>
            <a:ext cx="1184055" cy="1143152"/>
          </a:xfrm>
          <a:custGeom>
            <a:avLst/>
            <a:gdLst/>
            <a:ahLst/>
            <a:cxnLst/>
            <a:rect r="r" b="b" t="t" l="l"/>
            <a:pathLst>
              <a:path h="1143152" w="1184055">
                <a:moveTo>
                  <a:pt x="0" y="0"/>
                </a:moveTo>
                <a:lnTo>
                  <a:pt x="1184055" y="0"/>
                </a:lnTo>
                <a:lnTo>
                  <a:pt x="1184055" y="1143152"/>
                </a:lnTo>
                <a:lnTo>
                  <a:pt x="0" y="114315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9" id="29"/>
          <p:cNvSpPr txBox="true"/>
          <p:nvPr/>
        </p:nvSpPr>
        <p:spPr>
          <a:xfrm rot="0">
            <a:off x="1359210" y="1994163"/>
            <a:ext cx="6483384"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Key features</a:t>
            </a:r>
          </a:p>
        </p:txBody>
      </p:sp>
      <p:sp>
        <p:nvSpPr>
          <p:cNvPr name="TextBox 30" id="30"/>
          <p:cNvSpPr txBox="true"/>
          <p:nvPr/>
        </p:nvSpPr>
        <p:spPr>
          <a:xfrm rot="0">
            <a:off x="2985133" y="4154230"/>
            <a:ext cx="4585990" cy="514350"/>
          </a:xfrm>
          <a:prstGeom prst="rect">
            <a:avLst/>
          </a:prstGeom>
        </p:spPr>
        <p:txBody>
          <a:bodyPr anchor="t" rtlCol="false" tIns="0" lIns="0" bIns="0" rIns="0">
            <a:spAutoFit/>
          </a:bodyPr>
          <a:lstStyle/>
          <a:p>
            <a:pPr algn="ctr">
              <a:lnSpc>
                <a:spcPts val="4200"/>
              </a:lnSpc>
            </a:pPr>
            <a:r>
              <a:rPr lang="en-US" sz="3000" b="true">
                <a:solidFill>
                  <a:srgbClr val="063050"/>
                </a:solidFill>
                <a:latin typeface="Canva Sans Bold"/>
                <a:ea typeface="Canva Sans Bold"/>
                <a:cs typeface="Canva Sans Bold"/>
                <a:sym typeface="Canva Sans Bold"/>
              </a:rPr>
              <a:t>Distributed Architecture</a:t>
            </a:r>
          </a:p>
        </p:txBody>
      </p:sp>
      <p:sp>
        <p:nvSpPr>
          <p:cNvPr name="TextBox 31" id="31"/>
          <p:cNvSpPr txBox="true"/>
          <p:nvPr/>
        </p:nvSpPr>
        <p:spPr>
          <a:xfrm rot="0">
            <a:off x="6337034" y="5500771"/>
            <a:ext cx="1960364" cy="514350"/>
          </a:xfrm>
          <a:prstGeom prst="rect">
            <a:avLst/>
          </a:prstGeom>
        </p:spPr>
        <p:txBody>
          <a:bodyPr anchor="t" rtlCol="false" tIns="0" lIns="0" bIns="0" rIns="0">
            <a:spAutoFit/>
          </a:bodyPr>
          <a:lstStyle/>
          <a:p>
            <a:pPr algn="ctr">
              <a:lnSpc>
                <a:spcPts val="4200"/>
              </a:lnSpc>
            </a:pPr>
            <a:r>
              <a:rPr lang="en-US" sz="3000" b="true">
                <a:solidFill>
                  <a:srgbClr val="063050"/>
                </a:solidFill>
                <a:latin typeface="Canva Sans Bold"/>
                <a:ea typeface="Canva Sans Bold"/>
                <a:cs typeface="Canva Sans Bold"/>
                <a:sym typeface="Canva Sans Bold"/>
              </a:rPr>
              <a:t>Scalability</a:t>
            </a:r>
          </a:p>
        </p:txBody>
      </p:sp>
      <p:sp>
        <p:nvSpPr>
          <p:cNvPr name="TextBox 32" id="32"/>
          <p:cNvSpPr txBox="true"/>
          <p:nvPr/>
        </p:nvSpPr>
        <p:spPr>
          <a:xfrm rot="0">
            <a:off x="5620912" y="7227456"/>
            <a:ext cx="2898130" cy="495301"/>
          </a:xfrm>
          <a:prstGeom prst="rect">
            <a:avLst/>
          </a:prstGeom>
        </p:spPr>
        <p:txBody>
          <a:bodyPr anchor="t" rtlCol="false" tIns="0" lIns="0" bIns="0" rIns="0">
            <a:spAutoFit/>
          </a:bodyPr>
          <a:lstStyle/>
          <a:p>
            <a:pPr algn="ctr">
              <a:lnSpc>
                <a:spcPts val="4199"/>
              </a:lnSpc>
            </a:pPr>
            <a:r>
              <a:rPr lang="en-US" sz="2999" b="true">
                <a:solidFill>
                  <a:srgbClr val="063050"/>
                </a:solidFill>
                <a:latin typeface="Canva Sans Bold"/>
                <a:ea typeface="Canva Sans Bold"/>
                <a:cs typeface="Canva Sans Bold"/>
                <a:sym typeface="Canva Sans Bold"/>
              </a:rPr>
              <a:t>Fault Tolerance</a:t>
            </a:r>
          </a:p>
        </p:txBody>
      </p:sp>
      <p:sp>
        <p:nvSpPr>
          <p:cNvPr name="TextBox 33" id="33"/>
          <p:cNvSpPr txBox="true"/>
          <p:nvPr/>
        </p:nvSpPr>
        <p:spPr>
          <a:xfrm rot="0">
            <a:off x="2131025" y="8207200"/>
            <a:ext cx="3885456" cy="495301"/>
          </a:xfrm>
          <a:prstGeom prst="rect">
            <a:avLst/>
          </a:prstGeom>
        </p:spPr>
        <p:txBody>
          <a:bodyPr anchor="t" rtlCol="false" tIns="0" lIns="0" bIns="0" rIns="0">
            <a:spAutoFit/>
          </a:bodyPr>
          <a:lstStyle/>
          <a:p>
            <a:pPr algn="ctr">
              <a:lnSpc>
                <a:spcPts val="4199"/>
              </a:lnSpc>
            </a:pPr>
            <a:r>
              <a:rPr lang="en-US" sz="2999" b="true">
                <a:solidFill>
                  <a:srgbClr val="063050"/>
                </a:solidFill>
                <a:latin typeface="Canva Sans Bold"/>
                <a:ea typeface="Canva Sans Bold"/>
                <a:cs typeface="Canva Sans Bold"/>
                <a:sym typeface="Canva Sans Bold"/>
              </a:rPr>
              <a:t>Tunable Consistency</a:t>
            </a:r>
          </a:p>
        </p:txBody>
      </p:sp>
      <p:sp>
        <p:nvSpPr>
          <p:cNvPr name="TextBox 34" id="34"/>
          <p:cNvSpPr txBox="true"/>
          <p:nvPr/>
        </p:nvSpPr>
        <p:spPr>
          <a:xfrm rot="0">
            <a:off x="2985133" y="6285811"/>
            <a:ext cx="1644551" cy="514350"/>
          </a:xfrm>
          <a:prstGeom prst="rect">
            <a:avLst/>
          </a:prstGeom>
        </p:spPr>
        <p:txBody>
          <a:bodyPr anchor="t" rtlCol="false" tIns="0" lIns="0" bIns="0" rIns="0">
            <a:spAutoFit/>
          </a:bodyPr>
          <a:lstStyle/>
          <a:p>
            <a:pPr algn="ctr">
              <a:lnSpc>
                <a:spcPts val="4200"/>
              </a:lnSpc>
            </a:pPr>
            <a:r>
              <a:rPr lang="en-US" sz="3000" b="true">
                <a:solidFill>
                  <a:srgbClr val="063050"/>
                </a:solidFill>
                <a:latin typeface="Canva Sans Bold"/>
                <a:ea typeface="Canva Sans Bold"/>
                <a:cs typeface="Canva Sans Bold"/>
                <a:sym typeface="Canva Sans Bold"/>
              </a:rPr>
              <a:t>Partition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47233" y="1415070"/>
            <a:ext cx="18435233" cy="1464829"/>
            <a:chOff x="0" y="0"/>
            <a:chExt cx="4855370" cy="385799"/>
          </a:xfrm>
        </p:grpSpPr>
        <p:sp>
          <p:nvSpPr>
            <p:cNvPr name="Freeform 4" id="4"/>
            <p:cNvSpPr/>
            <p:nvPr/>
          </p:nvSpPr>
          <p:spPr>
            <a:xfrm flipH="false" flipV="false" rot="0">
              <a:off x="0" y="0"/>
              <a:ext cx="4855370" cy="385799"/>
            </a:xfrm>
            <a:custGeom>
              <a:avLst/>
              <a:gdLst/>
              <a:ahLst/>
              <a:cxnLst/>
              <a:rect r="r" b="b" t="t" l="l"/>
              <a:pathLst>
                <a:path h="385799" w="4855370">
                  <a:moveTo>
                    <a:pt x="0" y="0"/>
                  </a:moveTo>
                  <a:lnTo>
                    <a:pt x="4855370" y="0"/>
                  </a:lnTo>
                  <a:lnTo>
                    <a:pt x="4855370" y="385799"/>
                  </a:lnTo>
                  <a:lnTo>
                    <a:pt x="0" y="385799"/>
                  </a:lnTo>
                  <a:close/>
                </a:path>
              </a:pathLst>
            </a:custGeom>
            <a:solidFill>
              <a:srgbClr val="2B59C3">
                <a:alpha val="71765"/>
              </a:srgbClr>
            </a:solidFill>
          </p:spPr>
        </p:sp>
        <p:sp>
          <p:nvSpPr>
            <p:cNvPr name="TextBox 5" id="5"/>
            <p:cNvSpPr txBox="true"/>
            <p:nvPr/>
          </p:nvSpPr>
          <p:spPr>
            <a:xfrm>
              <a:off x="0" y="28575"/>
              <a:ext cx="4855370"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Distribution</a:t>
              </a:r>
            </a:p>
          </p:txBody>
        </p:sp>
      </p:grpSp>
      <p:sp>
        <p:nvSpPr>
          <p:cNvPr name="Freeform 6" id="6"/>
          <p:cNvSpPr/>
          <p:nvPr/>
        </p:nvSpPr>
        <p:spPr>
          <a:xfrm flipH="false" flipV="false" rot="0">
            <a:off x="16235654" y="7694994"/>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sp>
        <p:nvSpPr>
          <p:cNvPr name="Freeform 7" id="7"/>
          <p:cNvSpPr/>
          <p:nvPr/>
        </p:nvSpPr>
        <p:spPr>
          <a:xfrm flipH="false" flipV="false" rot="0">
            <a:off x="-914619" y="7694994"/>
            <a:ext cx="3083622" cy="3126612"/>
          </a:xfrm>
          <a:custGeom>
            <a:avLst/>
            <a:gdLst/>
            <a:ahLst/>
            <a:cxnLst/>
            <a:rect r="r" b="b" t="t" l="l"/>
            <a:pathLst>
              <a:path h="3126612" w="3083622">
                <a:moveTo>
                  <a:pt x="0" y="0"/>
                </a:moveTo>
                <a:lnTo>
                  <a:pt x="3083621" y="0"/>
                </a:lnTo>
                <a:lnTo>
                  <a:pt x="3083621" y="3126612"/>
                </a:lnTo>
                <a:lnTo>
                  <a:pt x="0" y="3126612"/>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9287912" y="5288740"/>
            <a:ext cx="4216721" cy="4275509"/>
          </a:xfrm>
          <a:custGeom>
            <a:avLst/>
            <a:gdLst/>
            <a:ahLst/>
            <a:cxnLst/>
            <a:rect r="r" b="b" t="t" l="l"/>
            <a:pathLst>
              <a:path h="4275509" w="4216721">
                <a:moveTo>
                  <a:pt x="0" y="0"/>
                </a:moveTo>
                <a:lnTo>
                  <a:pt x="4216720" y="0"/>
                </a:lnTo>
                <a:lnTo>
                  <a:pt x="4216720" y="4275509"/>
                </a:lnTo>
                <a:lnTo>
                  <a:pt x="0" y="4275509"/>
                </a:lnTo>
                <a:lnTo>
                  <a:pt x="0" y="0"/>
                </a:lnTo>
                <a:close/>
              </a:path>
            </a:pathLst>
          </a:custGeom>
          <a:blipFill>
            <a:blip r:embed="rId3">
              <a:alphaModFix amt="71000"/>
            </a:blip>
            <a:stretch>
              <a:fillRect l="0" t="0" r="0" b="0"/>
            </a:stretch>
          </a:blipFill>
        </p:spPr>
      </p:sp>
      <p:sp>
        <p:nvSpPr>
          <p:cNvPr name="Freeform 9" id="9"/>
          <p:cNvSpPr/>
          <p:nvPr/>
        </p:nvSpPr>
        <p:spPr>
          <a:xfrm flipH="false" flipV="false" rot="0">
            <a:off x="5961780" y="3137551"/>
            <a:ext cx="2348911" cy="2636533"/>
          </a:xfrm>
          <a:custGeom>
            <a:avLst/>
            <a:gdLst/>
            <a:ahLst/>
            <a:cxnLst/>
            <a:rect r="r" b="b" t="t" l="l"/>
            <a:pathLst>
              <a:path h="2636533" w="2348911">
                <a:moveTo>
                  <a:pt x="0" y="0"/>
                </a:moveTo>
                <a:lnTo>
                  <a:pt x="2348911" y="0"/>
                </a:lnTo>
                <a:lnTo>
                  <a:pt x="2348911" y="2636533"/>
                </a:lnTo>
                <a:lnTo>
                  <a:pt x="0" y="26365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830864" y="3137551"/>
            <a:ext cx="4998347" cy="6378401"/>
          </a:xfrm>
          <a:custGeom>
            <a:avLst/>
            <a:gdLst/>
            <a:ahLst/>
            <a:cxnLst/>
            <a:rect r="r" b="b" t="t" l="l"/>
            <a:pathLst>
              <a:path h="6378401" w="4998347">
                <a:moveTo>
                  <a:pt x="0" y="0"/>
                </a:moveTo>
                <a:lnTo>
                  <a:pt x="4998347" y="0"/>
                </a:lnTo>
                <a:lnTo>
                  <a:pt x="4998347" y="6378401"/>
                </a:lnTo>
                <a:lnTo>
                  <a:pt x="0" y="63784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1514309">
            <a:off x="3405703" y="5420775"/>
            <a:ext cx="2403801" cy="1356253"/>
          </a:xfrm>
          <a:custGeom>
            <a:avLst/>
            <a:gdLst/>
            <a:ahLst/>
            <a:cxnLst/>
            <a:rect r="r" b="b" t="t" l="l"/>
            <a:pathLst>
              <a:path h="1356253" w="2403801">
                <a:moveTo>
                  <a:pt x="0" y="0"/>
                </a:moveTo>
                <a:lnTo>
                  <a:pt x="2403801" y="0"/>
                </a:lnTo>
                <a:lnTo>
                  <a:pt x="2403801" y="1356253"/>
                </a:lnTo>
                <a:lnTo>
                  <a:pt x="0" y="1356253"/>
                </a:lnTo>
                <a:lnTo>
                  <a:pt x="0" y="0"/>
                </a:lnTo>
                <a:close/>
              </a:path>
            </a:pathLst>
          </a:custGeom>
          <a:blipFill>
            <a:blip r:embed="rId8"/>
            <a:stretch>
              <a:fillRect l="0" t="-9453" r="0" b="-9453"/>
            </a:stretch>
          </a:blipFill>
        </p:spPr>
      </p:sp>
      <p:sp>
        <p:nvSpPr>
          <p:cNvPr name="TextBox 12" id="12"/>
          <p:cNvSpPr txBox="true"/>
          <p:nvPr/>
        </p:nvSpPr>
        <p:spPr>
          <a:xfrm rot="0">
            <a:off x="11396272" y="3919022"/>
            <a:ext cx="5863028" cy="4500246"/>
          </a:xfrm>
          <a:prstGeom prst="rect">
            <a:avLst/>
          </a:prstGeom>
        </p:spPr>
        <p:txBody>
          <a:bodyPr anchor="t" rtlCol="false" tIns="0" lIns="0" bIns="0" rIns="0">
            <a:spAutoFit/>
          </a:bodyPr>
          <a:lstStyle/>
          <a:p>
            <a:pPr algn="just" marL="0" indent="0" lvl="0">
              <a:lnSpc>
                <a:spcPts val="4479"/>
              </a:lnSpc>
              <a:spcBef>
                <a:spcPct val="0"/>
              </a:spcBef>
            </a:pPr>
            <a:r>
              <a:rPr lang="en-US" sz="3199">
                <a:solidFill>
                  <a:srgbClr val="000000"/>
                </a:solidFill>
                <a:latin typeface="Poppins"/>
                <a:ea typeface="Poppins"/>
                <a:cs typeface="Poppins"/>
                <a:sym typeface="Poppins"/>
              </a:rPr>
              <a:t>"Distributed" means that Cassandra can run on </a:t>
            </a:r>
            <a:r>
              <a:rPr lang="en-US" b="true" sz="3199">
                <a:solidFill>
                  <a:srgbClr val="000000"/>
                </a:solidFill>
                <a:latin typeface="Poppins Bold"/>
                <a:ea typeface="Poppins Bold"/>
                <a:cs typeface="Poppins Bold"/>
                <a:sym typeface="Poppins Bold"/>
              </a:rPr>
              <a:t>multiple machines</a:t>
            </a:r>
            <a:r>
              <a:rPr lang="en-US" sz="3199">
                <a:solidFill>
                  <a:srgbClr val="000000"/>
                </a:solidFill>
                <a:latin typeface="Poppins"/>
                <a:ea typeface="Poppins"/>
                <a:cs typeface="Poppins"/>
                <a:sym typeface="Poppins"/>
              </a:rPr>
              <a:t> while appearing to users as </a:t>
            </a:r>
            <a:r>
              <a:rPr lang="en-US" b="true" sz="3199">
                <a:solidFill>
                  <a:srgbClr val="000000"/>
                </a:solidFill>
                <a:latin typeface="Poppins Bold"/>
                <a:ea typeface="Poppins Bold"/>
                <a:cs typeface="Poppins Bold"/>
                <a:sym typeface="Poppins Bold"/>
              </a:rPr>
              <a:t>a unified whole</a:t>
            </a:r>
            <a:r>
              <a:rPr lang="en-US" sz="3199">
                <a:solidFill>
                  <a:srgbClr val="000000"/>
                </a:solidFill>
                <a:latin typeface="Poppins"/>
                <a:ea typeface="Poppins"/>
                <a:cs typeface="Poppins"/>
                <a:sym typeface="Poppins"/>
              </a:rPr>
              <a:t>. So, to get the maximum benefit out of Cassandra, you would run it on multiple machines.</a:t>
            </a:r>
          </a:p>
        </p:txBody>
      </p:sp>
      <p:sp>
        <p:nvSpPr>
          <p:cNvPr name="Freeform 13" id="13"/>
          <p:cNvSpPr/>
          <p:nvPr/>
        </p:nvSpPr>
        <p:spPr>
          <a:xfrm flipH="false" flipV="false" rot="0">
            <a:off x="627191" y="7056122"/>
            <a:ext cx="2604100" cy="2922970"/>
          </a:xfrm>
          <a:custGeom>
            <a:avLst/>
            <a:gdLst/>
            <a:ahLst/>
            <a:cxnLst/>
            <a:rect r="r" b="b" t="t" l="l"/>
            <a:pathLst>
              <a:path h="2922970" w="2604100">
                <a:moveTo>
                  <a:pt x="0" y="0"/>
                </a:moveTo>
                <a:lnTo>
                  <a:pt x="2604101" y="0"/>
                </a:lnTo>
                <a:lnTo>
                  <a:pt x="2604101" y="2922970"/>
                </a:lnTo>
                <a:lnTo>
                  <a:pt x="0" y="29229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8310691" y="6570147"/>
            <a:ext cx="2604100" cy="2922970"/>
          </a:xfrm>
          <a:custGeom>
            <a:avLst/>
            <a:gdLst/>
            <a:ahLst/>
            <a:cxnLst/>
            <a:rect r="r" b="b" t="t" l="l"/>
            <a:pathLst>
              <a:path h="2922970" w="2604100">
                <a:moveTo>
                  <a:pt x="0" y="0"/>
                </a:moveTo>
                <a:lnTo>
                  <a:pt x="2604101" y="0"/>
                </a:lnTo>
                <a:lnTo>
                  <a:pt x="2604101" y="2922969"/>
                </a:lnTo>
                <a:lnTo>
                  <a:pt x="0" y="29229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1415070"/>
            <a:ext cx="3083622" cy="3126612"/>
          </a:xfrm>
          <a:custGeom>
            <a:avLst/>
            <a:gdLst/>
            <a:ahLst/>
            <a:cxnLst/>
            <a:rect r="r" b="b" t="t" l="l"/>
            <a:pathLst>
              <a:path h="3126612" w="3083622">
                <a:moveTo>
                  <a:pt x="0" y="0"/>
                </a:moveTo>
                <a:lnTo>
                  <a:pt x="3083622" y="0"/>
                </a:lnTo>
                <a:lnTo>
                  <a:pt x="3083622" y="3126613"/>
                </a:lnTo>
                <a:lnTo>
                  <a:pt x="0" y="3126613"/>
                </a:lnTo>
                <a:lnTo>
                  <a:pt x="0" y="0"/>
                </a:lnTo>
                <a:close/>
              </a:path>
            </a:pathLst>
          </a:custGeom>
          <a:blipFill>
            <a:blip r:embed="rId3">
              <a:alphaModFix amt="71000"/>
            </a:blip>
            <a:stretch>
              <a:fillRect l="0" t="0" r="0" b="0"/>
            </a:stretch>
          </a:blipFill>
        </p:spPr>
      </p:sp>
      <p:grpSp>
        <p:nvGrpSpPr>
          <p:cNvPr name="Group 4" id="4"/>
          <p:cNvGrpSpPr/>
          <p:nvPr/>
        </p:nvGrpSpPr>
        <p:grpSpPr>
          <a:xfrm rot="0">
            <a:off x="0" y="1415070"/>
            <a:ext cx="18288000" cy="1464829"/>
            <a:chOff x="0" y="0"/>
            <a:chExt cx="4816593" cy="385799"/>
          </a:xfrm>
        </p:grpSpPr>
        <p:sp>
          <p:nvSpPr>
            <p:cNvPr name="Freeform 5" id="5"/>
            <p:cNvSpPr/>
            <p:nvPr/>
          </p:nvSpPr>
          <p:spPr>
            <a:xfrm flipH="false" flipV="false" rot="0">
              <a:off x="0" y="0"/>
              <a:ext cx="4816592" cy="385799"/>
            </a:xfrm>
            <a:custGeom>
              <a:avLst/>
              <a:gdLst/>
              <a:ahLst/>
              <a:cxnLst/>
              <a:rect r="r" b="b" t="t" l="l"/>
              <a:pathLst>
                <a:path h="385799" w="4816592">
                  <a:moveTo>
                    <a:pt x="0" y="0"/>
                  </a:moveTo>
                  <a:lnTo>
                    <a:pt x="4816592" y="0"/>
                  </a:lnTo>
                  <a:lnTo>
                    <a:pt x="4816592" y="385799"/>
                  </a:lnTo>
                  <a:lnTo>
                    <a:pt x="0" y="385799"/>
                  </a:lnTo>
                  <a:close/>
                </a:path>
              </a:pathLst>
            </a:custGeom>
            <a:solidFill>
              <a:srgbClr val="2B59C3">
                <a:alpha val="71765"/>
              </a:srgbClr>
            </a:solidFill>
          </p:spPr>
        </p:sp>
        <p:sp>
          <p:nvSpPr>
            <p:cNvPr name="TextBox 6" id="6"/>
            <p:cNvSpPr txBox="true"/>
            <p:nvPr/>
          </p:nvSpPr>
          <p:spPr>
            <a:xfrm>
              <a:off x="0" y="28575"/>
              <a:ext cx="4816593"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Scalability</a:t>
              </a:r>
            </a:p>
          </p:txBody>
        </p:sp>
      </p:grpSp>
      <p:sp>
        <p:nvSpPr>
          <p:cNvPr name="Freeform 7" id="7"/>
          <p:cNvSpPr/>
          <p:nvPr/>
        </p:nvSpPr>
        <p:spPr>
          <a:xfrm flipH="false" flipV="false" rot="0">
            <a:off x="3789190" y="7124210"/>
            <a:ext cx="3083622" cy="3126612"/>
          </a:xfrm>
          <a:custGeom>
            <a:avLst/>
            <a:gdLst/>
            <a:ahLst/>
            <a:cxnLst/>
            <a:rect r="r" b="b" t="t" l="l"/>
            <a:pathLst>
              <a:path h="3126612" w="3083622">
                <a:moveTo>
                  <a:pt x="0" y="0"/>
                </a:moveTo>
                <a:lnTo>
                  <a:pt x="3083622" y="0"/>
                </a:lnTo>
                <a:lnTo>
                  <a:pt x="3083622" y="3126613"/>
                </a:lnTo>
                <a:lnTo>
                  <a:pt x="0" y="3126613"/>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652000" y="3515471"/>
            <a:ext cx="10475030" cy="5172046"/>
          </a:xfrm>
          <a:custGeom>
            <a:avLst/>
            <a:gdLst/>
            <a:ahLst/>
            <a:cxnLst/>
            <a:rect r="r" b="b" t="t" l="l"/>
            <a:pathLst>
              <a:path h="5172046" w="10475030">
                <a:moveTo>
                  <a:pt x="0" y="0"/>
                </a:moveTo>
                <a:lnTo>
                  <a:pt x="10475030" y="0"/>
                </a:lnTo>
                <a:lnTo>
                  <a:pt x="10475030" y="5172046"/>
                </a:lnTo>
                <a:lnTo>
                  <a:pt x="0" y="5172046"/>
                </a:lnTo>
                <a:lnTo>
                  <a:pt x="0" y="0"/>
                </a:lnTo>
                <a:close/>
              </a:path>
            </a:pathLst>
          </a:custGeom>
          <a:blipFill>
            <a:blip r:embed="rId4"/>
            <a:stretch>
              <a:fillRect l="0" t="0" r="0" b="0"/>
            </a:stretch>
          </a:blipFill>
        </p:spPr>
      </p:sp>
      <p:sp>
        <p:nvSpPr>
          <p:cNvPr name="Freeform 9" id="9"/>
          <p:cNvSpPr/>
          <p:nvPr/>
        </p:nvSpPr>
        <p:spPr>
          <a:xfrm flipH="false" flipV="false" rot="0">
            <a:off x="14738759" y="4302032"/>
            <a:ext cx="3549241" cy="3598723"/>
          </a:xfrm>
          <a:custGeom>
            <a:avLst/>
            <a:gdLst/>
            <a:ahLst/>
            <a:cxnLst/>
            <a:rect r="r" b="b" t="t" l="l"/>
            <a:pathLst>
              <a:path h="3598723" w="3549241">
                <a:moveTo>
                  <a:pt x="0" y="0"/>
                </a:moveTo>
                <a:lnTo>
                  <a:pt x="3549241" y="0"/>
                </a:lnTo>
                <a:lnTo>
                  <a:pt x="3549241" y="3598723"/>
                </a:lnTo>
                <a:lnTo>
                  <a:pt x="0" y="3598723"/>
                </a:lnTo>
                <a:lnTo>
                  <a:pt x="0" y="0"/>
                </a:lnTo>
                <a:close/>
              </a:path>
            </a:pathLst>
          </a:custGeom>
          <a:blipFill>
            <a:blip r:embed="rId3">
              <a:alphaModFix amt="71000"/>
            </a:blip>
            <a:stretch>
              <a:fillRect l="0" t="0" r="0" b="0"/>
            </a:stretch>
          </a:blipFill>
        </p:spPr>
      </p:sp>
      <p:sp>
        <p:nvSpPr>
          <p:cNvPr name="TextBox 10" id="10"/>
          <p:cNvSpPr txBox="true"/>
          <p:nvPr/>
        </p:nvSpPr>
        <p:spPr>
          <a:xfrm rot="0">
            <a:off x="11627131" y="3368603"/>
            <a:ext cx="5632169" cy="4988168"/>
          </a:xfrm>
          <a:prstGeom prst="rect">
            <a:avLst/>
          </a:prstGeom>
        </p:spPr>
        <p:txBody>
          <a:bodyPr anchor="t" rtlCol="false" tIns="0" lIns="0" bIns="0" rIns="0">
            <a:spAutoFit/>
          </a:bodyPr>
          <a:lstStyle/>
          <a:p>
            <a:pPr algn="just" marL="0" indent="0" lvl="0">
              <a:lnSpc>
                <a:spcPts val="4361"/>
              </a:lnSpc>
              <a:spcBef>
                <a:spcPct val="0"/>
              </a:spcBef>
            </a:pPr>
            <a:r>
              <a:rPr lang="en-US" sz="3115">
                <a:solidFill>
                  <a:srgbClr val="000000"/>
                </a:solidFill>
                <a:latin typeface="Poppins"/>
                <a:ea typeface="Poppins"/>
                <a:cs typeface="Poppins"/>
                <a:sym typeface="Poppins"/>
              </a:rPr>
              <a:t>Because it’s based on nodes, Cassandra</a:t>
            </a:r>
            <a:r>
              <a:rPr lang="en-US" b="true" sz="3115">
                <a:solidFill>
                  <a:srgbClr val="000000"/>
                </a:solidFill>
                <a:latin typeface="Poppins Bold"/>
                <a:ea typeface="Poppins Bold"/>
                <a:cs typeface="Poppins Bold"/>
                <a:sym typeface="Poppins Bold"/>
              </a:rPr>
              <a:t> scales horizontally </a:t>
            </a:r>
            <a:r>
              <a:rPr lang="en-US" sz="3115">
                <a:solidFill>
                  <a:srgbClr val="000000"/>
                </a:solidFill>
                <a:latin typeface="Poppins"/>
                <a:ea typeface="Poppins"/>
                <a:cs typeface="Poppins"/>
                <a:sym typeface="Poppins"/>
              </a:rPr>
              <a:t>(aka scale-out), using lower commodity hardware. To double your capacity or double your throughput, double the number of nodes. That’s all it takes.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5204378" y="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grpSp>
        <p:nvGrpSpPr>
          <p:cNvPr name="Group 4" id="4"/>
          <p:cNvGrpSpPr/>
          <p:nvPr/>
        </p:nvGrpSpPr>
        <p:grpSpPr>
          <a:xfrm rot="0">
            <a:off x="0" y="1415070"/>
            <a:ext cx="18288000" cy="1464829"/>
            <a:chOff x="0" y="0"/>
            <a:chExt cx="4816593" cy="385799"/>
          </a:xfrm>
        </p:grpSpPr>
        <p:sp>
          <p:nvSpPr>
            <p:cNvPr name="Freeform 5" id="5"/>
            <p:cNvSpPr/>
            <p:nvPr/>
          </p:nvSpPr>
          <p:spPr>
            <a:xfrm flipH="false" flipV="false" rot="0">
              <a:off x="0" y="0"/>
              <a:ext cx="4816592" cy="385799"/>
            </a:xfrm>
            <a:custGeom>
              <a:avLst/>
              <a:gdLst/>
              <a:ahLst/>
              <a:cxnLst/>
              <a:rect r="r" b="b" t="t" l="l"/>
              <a:pathLst>
                <a:path h="385799" w="4816592">
                  <a:moveTo>
                    <a:pt x="0" y="0"/>
                  </a:moveTo>
                  <a:lnTo>
                    <a:pt x="4816592" y="0"/>
                  </a:lnTo>
                  <a:lnTo>
                    <a:pt x="4816592" y="385799"/>
                  </a:lnTo>
                  <a:lnTo>
                    <a:pt x="0" y="385799"/>
                  </a:lnTo>
                  <a:close/>
                </a:path>
              </a:pathLst>
            </a:custGeom>
            <a:solidFill>
              <a:srgbClr val="2B59C3">
                <a:alpha val="71765"/>
              </a:srgbClr>
            </a:solidFill>
          </p:spPr>
        </p:sp>
        <p:sp>
          <p:nvSpPr>
            <p:cNvPr name="TextBox 6" id="6"/>
            <p:cNvSpPr txBox="true"/>
            <p:nvPr/>
          </p:nvSpPr>
          <p:spPr>
            <a:xfrm>
              <a:off x="0" y="28575"/>
              <a:ext cx="4816593"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                          Partition</a:t>
              </a:r>
            </a:p>
          </p:txBody>
        </p:sp>
      </p:grpSp>
      <p:sp>
        <p:nvSpPr>
          <p:cNvPr name="Freeform 7" id="7"/>
          <p:cNvSpPr/>
          <p:nvPr/>
        </p:nvSpPr>
        <p:spPr>
          <a:xfrm flipH="false" flipV="false" rot="0">
            <a:off x="6666162" y="5143500"/>
            <a:ext cx="3083622" cy="3126612"/>
          </a:xfrm>
          <a:custGeom>
            <a:avLst/>
            <a:gdLst/>
            <a:ahLst/>
            <a:cxnLst/>
            <a:rect r="r" b="b" t="t" l="l"/>
            <a:pathLst>
              <a:path h="3126612" w="3083622">
                <a:moveTo>
                  <a:pt x="0" y="0"/>
                </a:moveTo>
                <a:lnTo>
                  <a:pt x="3083621" y="0"/>
                </a:lnTo>
                <a:lnTo>
                  <a:pt x="3083621" y="3126612"/>
                </a:lnTo>
                <a:lnTo>
                  <a:pt x="0" y="3126612"/>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485479" y="397099"/>
            <a:ext cx="8296346" cy="9188849"/>
          </a:xfrm>
          <a:custGeom>
            <a:avLst/>
            <a:gdLst/>
            <a:ahLst/>
            <a:cxnLst/>
            <a:rect r="r" b="b" t="t" l="l"/>
            <a:pathLst>
              <a:path h="9188849" w="8296346">
                <a:moveTo>
                  <a:pt x="0" y="0"/>
                </a:moveTo>
                <a:lnTo>
                  <a:pt x="8296346" y="0"/>
                </a:lnTo>
                <a:lnTo>
                  <a:pt x="8296346" y="9188849"/>
                </a:lnTo>
                <a:lnTo>
                  <a:pt x="0" y="9188849"/>
                </a:lnTo>
                <a:lnTo>
                  <a:pt x="0" y="0"/>
                </a:lnTo>
                <a:close/>
              </a:path>
            </a:pathLst>
          </a:custGeom>
          <a:blipFill>
            <a:blip r:embed="rId4"/>
            <a:stretch>
              <a:fillRect l="0" t="-1276" r="-209" b="-3319"/>
            </a:stretch>
          </a:blipFill>
        </p:spPr>
      </p:sp>
      <p:sp>
        <p:nvSpPr>
          <p:cNvPr name="Freeform 9" id="9"/>
          <p:cNvSpPr/>
          <p:nvPr/>
        </p:nvSpPr>
        <p:spPr>
          <a:xfrm flipH="false" flipV="false" rot="0">
            <a:off x="8732502" y="6369756"/>
            <a:ext cx="9027906" cy="3216192"/>
          </a:xfrm>
          <a:custGeom>
            <a:avLst/>
            <a:gdLst/>
            <a:ahLst/>
            <a:cxnLst/>
            <a:rect r="r" b="b" t="t" l="l"/>
            <a:pathLst>
              <a:path h="3216192" w="9027906">
                <a:moveTo>
                  <a:pt x="0" y="0"/>
                </a:moveTo>
                <a:lnTo>
                  <a:pt x="9027906" y="0"/>
                </a:lnTo>
                <a:lnTo>
                  <a:pt x="9027906" y="3216192"/>
                </a:lnTo>
                <a:lnTo>
                  <a:pt x="0" y="3216192"/>
                </a:lnTo>
                <a:lnTo>
                  <a:pt x="0" y="0"/>
                </a:lnTo>
                <a:close/>
              </a:path>
            </a:pathLst>
          </a:custGeom>
          <a:blipFill>
            <a:blip r:embed="rId5"/>
            <a:stretch>
              <a:fillRect l="0" t="0" r="0" b="0"/>
            </a:stretch>
          </a:blipFill>
        </p:spPr>
      </p:sp>
      <p:sp>
        <p:nvSpPr>
          <p:cNvPr name="TextBox 10" id="10"/>
          <p:cNvSpPr txBox="true"/>
          <p:nvPr/>
        </p:nvSpPr>
        <p:spPr>
          <a:xfrm rot="0">
            <a:off x="9144000" y="3284978"/>
            <a:ext cx="7551513" cy="2223771"/>
          </a:xfrm>
          <a:prstGeom prst="rect">
            <a:avLst/>
          </a:prstGeom>
        </p:spPr>
        <p:txBody>
          <a:bodyPr anchor="t" rtlCol="false" tIns="0" lIns="0" bIns="0" rIns="0">
            <a:spAutoFit/>
          </a:bodyPr>
          <a:lstStyle/>
          <a:p>
            <a:pPr algn="just" marL="0" indent="0" lvl="0">
              <a:lnSpc>
                <a:spcPts val="4479"/>
              </a:lnSpc>
              <a:spcBef>
                <a:spcPct val="0"/>
              </a:spcBef>
            </a:pPr>
            <a:r>
              <a:rPr lang="en-US" b="true" sz="3199">
                <a:solidFill>
                  <a:srgbClr val="000000"/>
                </a:solidFill>
                <a:latin typeface="Canva Sans Bold"/>
                <a:ea typeface="Canva Sans Bold"/>
                <a:cs typeface="Canva Sans Bold"/>
                <a:sym typeface="Canva Sans Bold"/>
              </a:rPr>
              <a:t>The partition key is responsible for distributing data among nodes</a:t>
            </a:r>
            <a:r>
              <a:rPr lang="en-US" sz="3199">
                <a:solidFill>
                  <a:srgbClr val="000000"/>
                </a:solidFill>
                <a:latin typeface="Canva Sans"/>
                <a:ea typeface="Canva Sans"/>
                <a:cs typeface="Canva Sans"/>
                <a:sym typeface="Canva Sans"/>
              </a:rPr>
              <a:t> and is important for determining data locality.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5807288" y="2147485"/>
            <a:ext cx="3083622" cy="3126612"/>
          </a:xfrm>
          <a:custGeom>
            <a:avLst/>
            <a:gdLst/>
            <a:ahLst/>
            <a:cxnLst/>
            <a:rect r="r" b="b" t="t" l="l"/>
            <a:pathLst>
              <a:path h="3126612" w="3083622">
                <a:moveTo>
                  <a:pt x="0" y="0"/>
                </a:moveTo>
                <a:lnTo>
                  <a:pt x="3083621" y="0"/>
                </a:lnTo>
                <a:lnTo>
                  <a:pt x="3083621" y="3126612"/>
                </a:lnTo>
                <a:lnTo>
                  <a:pt x="0" y="3126612"/>
                </a:lnTo>
                <a:lnTo>
                  <a:pt x="0" y="0"/>
                </a:lnTo>
                <a:close/>
              </a:path>
            </a:pathLst>
          </a:custGeom>
          <a:blipFill>
            <a:blip r:embed="rId3">
              <a:alphaModFix amt="71000"/>
            </a:blip>
            <a:stretch>
              <a:fillRect l="0" t="0" r="0" b="0"/>
            </a:stretch>
          </a:blipFill>
        </p:spPr>
      </p:sp>
      <p:grpSp>
        <p:nvGrpSpPr>
          <p:cNvPr name="Group 4" id="4"/>
          <p:cNvGrpSpPr/>
          <p:nvPr/>
        </p:nvGrpSpPr>
        <p:grpSpPr>
          <a:xfrm rot="0">
            <a:off x="0" y="1415070"/>
            <a:ext cx="18288000" cy="1464829"/>
            <a:chOff x="0" y="0"/>
            <a:chExt cx="4816593" cy="385799"/>
          </a:xfrm>
        </p:grpSpPr>
        <p:sp>
          <p:nvSpPr>
            <p:cNvPr name="Freeform 5" id="5"/>
            <p:cNvSpPr/>
            <p:nvPr/>
          </p:nvSpPr>
          <p:spPr>
            <a:xfrm flipH="false" flipV="false" rot="0">
              <a:off x="0" y="0"/>
              <a:ext cx="4816592" cy="385799"/>
            </a:xfrm>
            <a:custGeom>
              <a:avLst/>
              <a:gdLst/>
              <a:ahLst/>
              <a:cxnLst/>
              <a:rect r="r" b="b" t="t" l="l"/>
              <a:pathLst>
                <a:path h="385799" w="4816592">
                  <a:moveTo>
                    <a:pt x="0" y="0"/>
                  </a:moveTo>
                  <a:lnTo>
                    <a:pt x="4816592" y="0"/>
                  </a:lnTo>
                  <a:lnTo>
                    <a:pt x="4816592" y="385799"/>
                  </a:lnTo>
                  <a:lnTo>
                    <a:pt x="0" y="385799"/>
                  </a:lnTo>
                  <a:close/>
                </a:path>
              </a:pathLst>
            </a:custGeom>
            <a:solidFill>
              <a:srgbClr val="2B59C3">
                <a:alpha val="71765"/>
              </a:srgbClr>
            </a:solidFill>
          </p:spPr>
        </p:sp>
        <p:sp>
          <p:nvSpPr>
            <p:cNvPr name="TextBox 6" id="6"/>
            <p:cNvSpPr txBox="true"/>
            <p:nvPr/>
          </p:nvSpPr>
          <p:spPr>
            <a:xfrm>
              <a:off x="0" y="28575"/>
              <a:ext cx="4816593"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Fault Tolerance</a:t>
              </a:r>
            </a:p>
          </p:txBody>
        </p:sp>
      </p:grpSp>
      <p:sp>
        <p:nvSpPr>
          <p:cNvPr name="Freeform 7" id="7"/>
          <p:cNvSpPr/>
          <p:nvPr/>
        </p:nvSpPr>
        <p:spPr>
          <a:xfrm flipH="false" flipV="false" rot="0">
            <a:off x="1995860" y="3092112"/>
            <a:ext cx="5189235" cy="3168427"/>
          </a:xfrm>
          <a:custGeom>
            <a:avLst/>
            <a:gdLst/>
            <a:ahLst/>
            <a:cxnLst/>
            <a:rect r="r" b="b" t="t" l="l"/>
            <a:pathLst>
              <a:path h="3168427" w="5189235">
                <a:moveTo>
                  <a:pt x="0" y="0"/>
                </a:moveTo>
                <a:lnTo>
                  <a:pt x="5189235" y="0"/>
                </a:lnTo>
                <a:lnTo>
                  <a:pt x="5189235" y="3168427"/>
                </a:lnTo>
                <a:lnTo>
                  <a:pt x="0" y="3168427"/>
                </a:lnTo>
                <a:lnTo>
                  <a:pt x="0" y="0"/>
                </a:lnTo>
                <a:close/>
              </a:path>
            </a:pathLst>
          </a:custGeom>
          <a:blipFill>
            <a:blip r:embed="rId4"/>
            <a:stretch>
              <a:fillRect l="-6100" t="-9234" r="-5132" b="-4626"/>
            </a:stretch>
          </a:blipFill>
        </p:spPr>
      </p:sp>
      <p:sp>
        <p:nvSpPr>
          <p:cNvPr name="Freeform 8" id="8"/>
          <p:cNvSpPr/>
          <p:nvPr/>
        </p:nvSpPr>
        <p:spPr>
          <a:xfrm flipH="false" flipV="false" rot="0">
            <a:off x="3238764" y="6470089"/>
            <a:ext cx="11810473" cy="3218354"/>
          </a:xfrm>
          <a:custGeom>
            <a:avLst/>
            <a:gdLst/>
            <a:ahLst/>
            <a:cxnLst/>
            <a:rect r="r" b="b" t="t" l="l"/>
            <a:pathLst>
              <a:path h="3218354" w="11810473">
                <a:moveTo>
                  <a:pt x="0" y="0"/>
                </a:moveTo>
                <a:lnTo>
                  <a:pt x="11810472" y="0"/>
                </a:lnTo>
                <a:lnTo>
                  <a:pt x="11810472" y="3218354"/>
                </a:lnTo>
                <a:lnTo>
                  <a:pt x="0" y="3218354"/>
                </a:lnTo>
                <a:lnTo>
                  <a:pt x="0" y="0"/>
                </a:lnTo>
                <a:close/>
              </a:path>
            </a:pathLst>
          </a:custGeom>
          <a:blipFill>
            <a:blip r:embed="rId5"/>
            <a:stretch>
              <a:fillRect l="0" t="0" r="0" b="0"/>
            </a:stretch>
          </a:blipFill>
        </p:spPr>
      </p:sp>
      <p:sp>
        <p:nvSpPr>
          <p:cNvPr name="TextBox 9" id="9"/>
          <p:cNvSpPr txBox="true"/>
          <p:nvPr/>
        </p:nvSpPr>
        <p:spPr>
          <a:xfrm rot="0">
            <a:off x="8489107" y="3307900"/>
            <a:ext cx="8271228" cy="2814321"/>
          </a:xfrm>
          <a:prstGeom prst="rect">
            <a:avLst/>
          </a:prstGeom>
        </p:spPr>
        <p:txBody>
          <a:bodyPr anchor="t" rtlCol="false" tIns="0" lIns="0" bIns="0" rIns="0">
            <a:spAutoFit/>
          </a:bodyPr>
          <a:lstStyle/>
          <a:p>
            <a:pPr algn="just">
              <a:lnSpc>
                <a:spcPts val="4479"/>
              </a:lnSpc>
            </a:pPr>
            <a:r>
              <a:rPr lang="en-US" sz="3199">
                <a:solidFill>
                  <a:srgbClr val="000000"/>
                </a:solidFill>
                <a:latin typeface="Poppins"/>
                <a:ea typeface="Poppins"/>
                <a:cs typeface="Poppins"/>
                <a:sym typeface="Poppins"/>
              </a:rPr>
              <a:t>One piece of data can be replicated to multiple (replica) nodes, ensuring reliability and fault tolerance. Doing so helps the system to be </a:t>
            </a:r>
            <a:r>
              <a:rPr lang="en-US" sz="3199" b="true">
                <a:solidFill>
                  <a:srgbClr val="000000"/>
                </a:solidFill>
                <a:latin typeface="Poppins Bold"/>
                <a:ea typeface="Poppins Bold"/>
                <a:cs typeface="Poppins Bold"/>
                <a:sym typeface="Poppins Bold"/>
              </a:rPr>
              <a:t>self-healing</a:t>
            </a:r>
            <a:r>
              <a:rPr lang="en-US" sz="3199">
                <a:solidFill>
                  <a:srgbClr val="000000"/>
                </a:solidFill>
                <a:latin typeface="Poppins"/>
                <a:ea typeface="Poppins"/>
                <a:cs typeface="Poppins"/>
                <a:sym typeface="Poppins"/>
              </a:rPr>
              <a:t> if something goes wrong.</a:t>
            </a:r>
          </a:p>
        </p:txBody>
      </p:sp>
      <p:sp>
        <p:nvSpPr>
          <p:cNvPr name="Freeform 10" id="10"/>
          <p:cNvSpPr/>
          <p:nvPr/>
        </p:nvSpPr>
        <p:spPr>
          <a:xfrm flipH="false" flipV="false" rot="0">
            <a:off x="15038138" y="7160388"/>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sp>
        <p:nvSpPr>
          <p:cNvPr name="Freeform 11" id="11"/>
          <p:cNvSpPr/>
          <p:nvPr/>
        </p:nvSpPr>
        <p:spPr>
          <a:xfrm flipH="false" flipV="false" rot="0">
            <a:off x="-1327910" y="4676325"/>
            <a:ext cx="3083622" cy="3126612"/>
          </a:xfrm>
          <a:custGeom>
            <a:avLst/>
            <a:gdLst/>
            <a:ahLst/>
            <a:cxnLst/>
            <a:rect r="r" b="b" t="t" l="l"/>
            <a:pathLst>
              <a:path h="3126612" w="3083622">
                <a:moveTo>
                  <a:pt x="0" y="0"/>
                </a:moveTo>
                <a:lnTo>
                  <a:pt x="3083621" y="0"/>
                </a:lnTo>
                <a:lnTo>
                  <a:pt x="3083621" y="3126613"/>
                </a:lnTo>
                <a:lnTo>
                  <a:pt x="0" y="3126613"/>
                </a:lnTo>
                <a:lnTo>
                  <a:pt x="0" y="0"/>
                </a:lnTo>
                <a:close/>
              </a:path>
            </a:pathLst>
          </a:custGeom>
          <a:blipFill>
            <a:blip r:embed="rId3">
              <a:alphaModFix amt="71000"/>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102870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grpSp>
        <p:nvGrpSpPr>
          <p:cNvPr name="Group 4" id="4"/>
          <p:cNvGrpSpPr/>
          <p:nvPr/>
        </p:nvGrpSpPr>
        <p:grpSpPr>
          <a:xfrm rot="0">
            <a:off x="0" y="1415070"/>
            <a:ext cx="18288000" cy="1464829"/>
            <a:chOff x="0" y="0"/>
            <a:chExt cx="4816593" cy="385799"/>
          </a:xfrm>
        </p:grpSpPr>
        <p:sp>
          <p:nvSpPr>
            <p:cNvPr name="Freeform 5" id="5"/>
            <p:cNvSpPr/>
            <p:nvPr/>
          </p:nvSpPr>
          <p:spPr>
            <a:xfrm flipH="false" flipV="false" rot="0">
              <a:off x="0" y="0"/>
              <a:ext cx="4816592" cy="385799"/>
            </a:xfrm>
            <a:custGeom>
              <a:avLst/>
              <a:gdLst/>
              <a:ahLst/>
              <a:cxnLst/>
              <a:rect r="r" b="b" t="t" l="l"/>
              <a:pathLst>
                <a:path h="385799" w="4816592">
                  <a:moveTo>
                    <a:pt x="0" y="0"/>
                  </a:moveTo>
                  <a:lnTo>
                    <a:pt x="4816592" y="0"/>
                  </a:lnTo>
                  <a:lnTo>
                    <a:pt x="4816592" y="385799"/>
                  </a:lnTo>
                  <a:lnTo>
                    <a:pt x="0" y="385799"/>
                  </a:lnTo>
                  <a:close/>
                </a:path>
              </a:pathLst>
            </a:custGeom>
            <a:solidFill>
              <a:srgbClr val="2B59C3">
                <a:alpha val="71765"/>
              </a:srgbClr>
            </a:solidFill>
          </p:spPr>
        </p:sp>
        <p:sp>
          <p:nvSpPr>
            <p:cNvPr name="TextBox 6" id="6"/>
            <p:cNvSpPr txBox="true"/>
            <p:nvPr/>
          </p:nvSpPr>
          <p:spPr>
            <a:xfrm>
              <a:off x="0" y="28575"/>
              <a:ext cx="4816593"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Tuning consistency</a:t>
              </a:r>
            </a:p>
          </p:txBody>
        </p:sp>
      </p:grpSp>
      <p:sp>
        <p:nvSpPr>
          <p:cNvPr name="Freeform 7" id="7"/>
          <p:cNvSpPr/>
          <p:nvPr/>
        </p:nvSpPr>
        <p:spPr>
          <a:xfrm flipH="false" flipV="false" rot="0">
            <a:off x="15204378" y="6672116"/>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615343" y="3614943"/>
            <a:ext cx="9713524" cy="4926476"/>
          </a:xfrm>
          <a:custGeom>
            <a:avLst/>
            <a:gdLst/>
            <a:ahLst/>
            <a:cxnLst/>
            <a:rect r="r" b="b" t="t" l="l"/>
            <a:pathLst>
              <a:path h="4926476" w="9713524">
                <a:moveTo>
                  <a:pt x="0" y="0"/>
                </a:moveTo>
                <a:lnTo>
                  <a:pt x="9713524" y="0"/>
                </a:lnTo>
                <a:lnTo>
                  <a:pt x="9713524" y="4926476"/>
                </a:lnTo>
                <a:lnTo>
                  <a:pt x="0" y="4926476"/>
                </a:lnTo>
                <a:lnTo>
                  <a:pt x="0" y="0"/>
                </a:lnTo>
                <a:close/>
              </a:path>
            </a:pathLst>
          </a:custGeom>
          <a:blipFill>
            <a:blip r:embed="rId4"/>
            <a:stretch>
              <a:fillRect l="-3582" t="-3407" r="-4787" b="-5298"/>
            </a:stretch>
          </a:blipFill>
        </p:spPr>
      </p:sp>
      <p:sp>
        <p:nvSpPr>
          <p:cNvPr name="TextBox 9" id="9"/>
          <p:cNvSpPr txBox="true"/>
          <p:nvPr/>
        </p:nvSpPr>
        <p:spPr>
          <a:xfrm rot="0">
            <a:off x="10919313" y="3223221"/>
            <a:ext cx="6339987" cy="5624196"/>
          </a:xfrm>
          <a:prstGeom prst="rect">
            <a:avLst/>
          </a:prstGeom>
        </p:spPr>
        <p:txBody>
          <a:bodyPr anchor="t" rtlCol="false" tIns="0" lIns="0" bIns="0" rIns="0">
            <a:spAutoFit/>
          </a:bodyPr>
          <a:lstStyle/>
          <a:p>
            <a:pPr algn="just">
              <a:lnSpc>
                <a:spcPts val="4479"/>
              </a:lnSpc>
            </a:pPr>
            <a:r>
              <a:rPr lang="en-US" sz="3199">
                <a:solidFill>
                  <a:srgbClr val="000000"/>
                </a:solidFill>
                <a:latin typeface="Poppins"/>
                <a:ea typeface="Poppins"/>
                <a:cs typeface="Poppins"/>
                <a:sym typeface="Poppins"/>
              </a:rPr>
              <a:t>The consistency level represents the minimum number of Cassandra nodes</a:t>
            </a:r>
            <a:r>
              <a:rPr lang="en-US" sz="3199" b="true">
                <a:solidFill>
                  <a:srgbClr val="000000"/>
                </a:solidFill>
                <a:latin typeface="Poppins Bold"/>
                <a:ea typeface="Poppins Bold"/>
                <a:cs typeface="Poppins Bold"/>
                <a:sym typeface="Poppins Bold"/>
              </a:rPr>
              <a:t> </a:t>
            </a:r>
            <a:r>
              <a:rPr lang="en-US" sz="3199">
                <a:solidFill>
                  <a:srgbClr val="000000"/>
                </a:solidFill>
                <a:latin typeface="Poppins"/>
                <a:ea typeface="Poppins"/>
                <a:cs typeface="Poppins"/>
                <a:sym typeface="Poppins"/>
              </a:rPr>
              <a:t>that must acknowledge a read or write operation to the coordinator before the operation is considered successful. </a:t>
            </a:r>
            <a:r>
              <a:rPr lang="en-US" sz="3199" b="true">
                <a:solidFill>
                  <a:srgbClr val="000000"/>
                </a:solidFill>
                <a:latin typeface="Poppins Bold"/>
                <a:ea typeface="Poppins Bold"/>
                <a:cs typeface="Poppins Bold"/>
                <a:sym typeface="Poppins Bold"/>
              </a:rPr>
              <a:t>We have a CL=QUORUM (Quorum referring to majority RF/2 +1).</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9910714" y="4849406"/>
            <a:ext cx="6393051" cy="4114800"/>
          </a:xfrm>
          <a:custGeom>
            <a:avLst/>
            <a:gdLst/>
            <a:ahLst/>
            <a:cxnLst/>
            <a:rect r="r" b="b" t="t" l="l"/>
            <a:pathLst>
              <a:path h="4114800" w="6393051">
                <a:moveTo>
                  <a:pt x="0" y="0"/>
                </a:moveTo>
                <a:lnTo>
                  <a:pt x="6393051" y="0"/>
                </a:lnTo>
                <a:lnTo>
                  <a:pt x="639305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07240" y="2464745"/>
            <a:ext cx="2551176" cy="4114800"/>
          </a:xfrm>
          <a:custGeom>
            <a:avLst/>
            <a:gdLst/>
            <a:ahLst/>
            <a:cxnLst/>
            <a:rect r="r" b="b" t="t" l="l"/>
            <a:pathLst>
              <a:path h="4114800" w="2551176">
                <a:moveTo>
                  <a:pt x="0" y="0"/>
                </a:moveTo>
                <a:lnTo>
                  <a:pt x="2551176" y="0"/>
                </a:lnTo>
                <a:lnTo>
                  <a:pt x="255117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948091" y="2540234"/>
            <a:ext cx="1765702" cy="1981910"/>
          </a:xfrm>
          <a:custGeom>
            <a:avLst/>
            <a:gdLst/>
            <a:ahLst/>
            <a:cxnLst/>
            <a:rect r="r" b="b" t="t" l="l"/>
            <a:pathLst>
              <a:path h="1981910" w="1765702">
                <a:moveTo>
                  <a:pt x="0" y="0"/>
                </a:moveTo>
                <a:lnTo>
                  <a:pt x="1765702" y="0"/>
                </a:lnTo>
                <a:lnTo>
                  <a:pt x="1765702" y="1981911"/>
                </a:lnTo>
                <a:lnTo>
                  <a:pt x="0" y="19819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5936987" y="3531190"/>
            <a:ext cx="1765702" cy="1981910"/>
          </a:xfrm>
          <a:custGeom>
            <a:avLst/>
            <a:gdLst/>
            <a:ahLst/>
            <a:cxnLst/>
            <a:rect r="r" b="b" t="t" l="l"/>
            <a:pathLst>
              <a:path h="1981910" w="1765702">
                <a:moveTo>
                  <a:pt x="0" y="0"/>
                </a:moveTo>
                <a:lnTo>
                  <a:pt x="1765702" y="0"/>
                </a:lnTo>
                <a:lnTo>
                  <a:pt x="1765702" y="1981910"/>
                </a:lnTo>
                <a:lnTo>
                  <a:pt x="0" y="19819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1991022" y="1332965"/>
            <a:ext cx="2232436" cy="2263560"/>
          </a:xfrm>
          <a:custGeom>
            <a:avLst/>
            <a:gdLst/>
            <a:ahLst/>
            <a:cxnLst/>
            <a:rect r="r" b="b" t="t" l="l"/>
            <a:pathLst>
              <a:path h="2263560" w="2232436">
                <a:moveTo>
                  <a:pt x="0" y="0"/>
                </a:moveTo>
                <a:lnTo>
                  <a:pt x="2232436" y="0"/>
                </a:lnTo>
                <a:lnTo>
                  <a:pt x="2232436" y="2263559"/>
                </a:lnTo>
                <a:lnTo>
                  <a:pt x="0" y="2263559"/>
                </a:lnTo>
                <a:lnTo>
                  <a:pt x="0" y="0"/>
                </a:lnTo>
                <a:close/>
              </a:path>
            </a:pathLst>
          </a:custGeom>
          <a:blipFill>
            <a:blip r:embed="rId9">
              <a:alphaModFix amt="71000"/>
            </a:blip>
            <a:stretch>
              <a:fillRect l="0" t="0" r="0" b="0"/>
            </a:stretch>
          </a:blipFill>
        </p:spPr>
      </p:sp>
      <p:sp>
        <p:nvSpPr>
          <p:cNvPr name="TextBox 8" id="8"/>
          <p:cNvSpPr txBox="true"/>
          <p:nvPr/>
        </p:nvSpPr>
        <p:spPr>
          <a:xfrm rot="0">
            <a:off x="2660616" y="3096504"/>
            <a:ext cx="5358227"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Advantages </a:t>
            </a:r>
          </a:p>
        </p:txBody>
      </p:sp>
      <p:grpSp>
        <p:nvGrpSpPr>
          <p:cNvPr name="Group 9" id="9"/>
          <p:cNvGrpSpPr/>
          <p:nvPr/>
        </p:nvGrpSpPr>
        <p:grpSpPr>
          <a:xfrm rot="0">
            <a:off x="2651091" y="4670873"/>
            <a:ext cx="357065" cy="357065"/>
            <a:chOff x="0" y="0"/>
            <a:chExt cx="94042" cy="94042"/>
          </a:xfrm>
        </p:grpSpPr>
        <p:sp>
          <p:nvSpPr>
            <p:cNvPr name="Freeform 10" id="10"/>
            <p:cNvSpPr/>
            <p:nvPr/>
          </p:nvSpPr>
          <p:spPr>
            <a:xfrm flipH="false" flipV="false" rot="0">
              <a:off x="0" y="0"/>
              <a:ext cx="94042" cy="94042"/>
            </a:xfrm>
            <a:custGeom>
              <a:avLst/>
              <a:gdLst/>
              <a:ahLst/>
              <a:cxnLst/>
              <a:rect r="r" b="b" t="t" l="l"/>
              <a:pathLst>
                <a:path h="94042" w="94042">
                  <a:moveTo>
                    <a:pt x="0" y="0"/>
                  </a:moveTo>
                  <a:lnTo>
                    <a:pt x="94042" y="0"/>
                  </a:lnTo>
                  <a:lnTo>
                    <a:pt x="94042" y="94042"/>
                  </a:lnTo>
                  <a:lnTo>
                    <a:pt x="0" y="94042"/>
                  </a:lnTo>
                  <a:close/>
                </a:path>
              </a:pathLst>
            </a:custGeom>
            <a:solidFill>
              <a:srgbClr val="4F9FF5"/>
            </a:solidFill>
          </p:spPr>
        </p:sp>
        <p:sp>
          <p:nvSpPr>
            <p:cNvPr name="TextBox 11" id="11"/>
            <p:cNvSpPr txBox="true"/>
            <p:nvPr/>
          </p:nvSpPr>
          <p:spPr>
            <a:xfrm>
              <a:off x="0" y="28575"/>
              <a:ext cx="94042" cy="65467"/>
            </a:xfrm>
            <a:prstGeom prst="rect">
              <a:avLst/>
            </a:prstGeom>
          </p:spPr>
          <p:txBody>
            <a:bodyPr anchor="ctr" rtlCol="false" tIns="50800" lIns="50800" bIns="50800" rIns="50800"/>
            <a:lstStyle/>
            <a:p>
              <a:pPr algn="ctr">
                <a:lnSpc>
                  <a:spcPts val="2661"/>
                </a:lnSpc>
              </a:pPr>
            </a:p>
          </p:txBody>
        </p:sp>
      </p:grpSp>
      <p:grpSp>
        <p:nvGrpSpPr>
          <p:cNvPr name="Group 12" id="12"/>
          <p:cNvGrpSpPr/>
          <p:nvPr/>
        </p:nvGrpSpPr>
        <p:grpSpPr>
          <a:xfrm rot="0">
            <a:off x="2660616" y="5430747"/>
            <a:ext cx="357065" cy="357065"/>
            <a:chOff x="0" y="0"/>
            <a:chExt cx="94042" cy="94042"/>
          </a:xfrm>
        </p:grpSpPr>
        <p:sp>
          <p:nvSpPr>
            <p:cNvPr name="Freeform 13" id="13"/>
            <p:cNvSpPr/>
            <p:nvPr/>
          </p:nvSpPr>
          <p:spPr>
            <a:xfrm flipH="false" flipV="false" rot="0">
              <a:off x="0" y="0"/>
              <a:ext cx="94042" cy="94042"/>
            </a:xfrm>
            <a:custGeom>
              <a:avLst/>
              <a:gdLst/>
              <a:ahLst/>
              <a:cxnLst/>
              <a:rect r="r" b="b" t="t" l="l"/>
              <a:pathLst>
                <a:path h="94042" w="94042">
                  <a:moveTo>
                    <a:pt x="0" y="0"/>
                  </a:moveTo>
                  <a:lnTo>
                    <a:pt x="94042" y="0"/>
                  </a:lnTo>
                  <a:lnTo>
                    <a:pt x="94042" y="94042"/>
                  </a:lnTo>
                  <a:lnTo>
                    <a:pt x="0" y="94042"/>
                  </a:lnTo>
                  <a:close/>
                </a:path>
              </a:pathLst>
            </a:custGeom>
            <a:solidFill>
              <a:srgbClr val="4F9FF5"/>
            </a:solidFill>
          </p:spPr>
        </p:sp>
        <p:sp>
          <p:nvSpPr>
            <p:cNvPr name="TextBox 14" id="14"/>
            <p:cNvSpPr txBox="true"/>
            <p:nvPr/>
          </p:nvSpPr>
          <p:spPr>
            <a:xfrm>
              <a:off x="0" y="28575"/>
              <a:ext cx="94042" cy="65467"/>
            </a:xfrm>
            <a:prstGeom prst="rect">
              <a:avLst/>
            </a:prstGeom>
          </p:spPr>
          <p:txBody>
            <a:bodyPr anchor="ctr" rtlCol="false" tIns="50800" lIns="50800" bIns="50800" rIns="50800"/>
            <a:lstStyle/>
            <a:p>
              <a:pPr algn="ctr">
                <a:lnSpc>
                  <a:spcPts val="2661"/>
                </a:lnSpc>
              </a:pPr>
            </a:p>
          </p:txBody>
        </p:sp>
      </p:grpSp>
      <p:grpSp>
        <p:nvGrpSpPr>
          <p:cNvPr name="Group 15" id="15"/>
          <p:cNvGrpSpPr/>
          <p:nvPr/>
        </p:nvGrpSpPr>
        <p:grpSpPr>
          <a:xfrm rot="0">
            <a:off x="2660616" y="6222480"/>
            <a:ext cx="357065" cy="357065"/>
            <a:chOff x="0" y="0"/>
            <a:chExt cx="94042" cy="94042"/>
          </a:xfrm>
        </p:grpSpPr>
        <p:sp>
          <p:nvSpPr>
            <p:cNvPr name="Freeform 16" id="16"/>
            <p:cNvSpPr/>
            <p:nvPr/>
          </p:nvSpPr>
          <p:spPr>
            <a:xfrm flipH="false" flipV="false" rot="0">
              <a:off x="0" y="0"/>
              <a:ext cx="94042" cy="94042"/>
            </a:xfrm>
            <a:custGeom>
              <a:avLst/>
              <a:gdLst/>
              <a:ahLst/>
              <a:cxnLst/>
              <a:rect r="r" b="b" t="t" l="l"/>
              <a:pathLst>
                <a:path h="94042" w="94042">
                  <a:moveTo>
                    <a:pt x="0" y="0"/>
                  </a:moveTo>
                  <a:lnTo>
                    <a:pt x="94042" y="0"/>
                  </a:lnTo>
                  <a:lnTo>
                    <a:pt x="94042" y="94042"/>
                  </a:lnTo>
                  <a:lnTo>
                    <a:pt x="0" y="94042"/>
                  </a:lnTo>
                  <a:close/>
                </a:path>
              </a:pathLst>
            </a:custGeom>
            <a:solidFill>
              <a:srgbClr val="4F9FF5"/>
            </a:solidFill>
          </p:spPr>
        </p:sp>
        <p:sp>
          <p:nvSpPr>
            <p:cNvPr name="TextBox 17" id="17"/>
            <p:cNvSpPr txBox="true"/>
            <p:nvPr/>
          </p:nvSpPr>
          <p:spPr>
            <a:xfrm>
              <a:off x="0" y="28575"/>
              <a:ext cx="94042" cy="65467"/>
            </a:xfrm>
            <a:prstGeom prst="rect">
              <a:avLst/>
            </a:prstGeom>
          </p:spPr>
          <p:txBody>
            <a:bodyPr anchor="ctr" rtlCol="false" tIns="50800" lIns="50800" bIns="50800" rIns="50800"/>
            <a:lstStyle/>
            <a:p>
              <a:pPr algn="ctr">
                <a:lnSpc>
                  <a:spcPts val="2661"/>
                </a:lnSpc>
              </a:pPr>
            </a:p>
          </p:txBody>
        </p:sp>
      </p:grpSp>
      <p:sp>
        <p:nvSpPr>
          <p:cNvPr name="Freeform 18" id="18"/>
          <p:cNvSpPr/>
          <p:nvPr/>
        </p:nvSpPr>
        <p:spPr>
          <a:xfrm flipH="false" flipV="false" rot="0">
            <a:off x="14147123" y="1561476"/>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9">
              <a:alphaModFix amt="71000"/>
            </a:blip>
            <a:stretch>
              <a:fillRect l="0" t="0" r="0" b="0"/>
            </a:stretch>
          </a:blipFill>
        </p:spPr>
      </p:sp>
      <p:sp>
        <p:nvSpPr>
          <p:cNvPr name="Freeform 19" id="19"/>
          <p:cNvSpPr/>
          <p:nvPr/>
        </p:nvSpPr>
        <p:spPr>
          <a:xfrm flipH="false" flipV="false" rot="0">
            <a:off x="15906066" y="6478896"/>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9">
              <a:alphaModFix amt="71000"/>
            </a:blip>
            <a:stretch>
              <a:fillRect l="0" t="0" r="0" b="0"/>
            </a:stretch>
          </a:blipFill>
        </p:spPr>
      </p:sp>
      <p:sp>
        <p:nvSpPr>
          <p:cNvPr name="TextBox 20" id="20"/>
          <p:cNvSpPr txBox="true"/>
          <p:nvPr/>
        </p:nvSpPr>
        <p:spPr>
          <a:xfrm rot="0">
            <a:off x="3526320" y="3885935"/>
            <a:ext cx="5875754" cy="309369"/>
          </a:xfrm>
          <a:prstGeom prst="rect">
            <a:avLst/>
          </a:prstGeom>
        </p:spPr>
        <p:txBody>
          <a:bodyPr anchor="t" rtlCol="false" tIns="0" lIns="0" bIns="0" rIns="0">
            <a:spAutoFit/>
          </a:bodyPr>
          <a:lstStyle/>
          <a:p>
            <a:pPr algn="l">
              <a:lnSpc>
                <a:spcPts val="2380"/>
              </a:lnSpc>
            </a:pPr>
          </a:p>
        </p:txBody>
      </p:sp>
      <p:sp>
        <p:nvSpPr>
          <p:cNvPr name="TextBox 21" id="21"/>
          <p:cNvSpPr txBox="true"/>
          <p:nvPr/>
        </p:nvSpPr>
        <p:spPr>
          <a:xfrm rot="0">
            <a:off x="3526320" y="4680561"/>
            <a:ext cx="5875754" cy="309369"/>
          </a:xfrm>
          <a:prstGeom prst="rect">
            <a:avLst/>
          </a:prstGeom>
        </p:spPr>
        <p:txBody>
          <a:bodyPr anchor="t" rtlCol="false" tIns="0" lIns="0" bIns="0" rIns="0">
            <a:spAutoFit/>
          </a:bodyPr>
          <a:lstStyle/>
          <a:p>
            <a:pPr algn="l">
              <a:lnSpc>
                <a:spcPts val="2380"/>
              </a:lnSpc>
            </a:pPr>
            <a:r>
              <a:rPr lang="en-US" sz="1951" b="true">
                <a:solidFill>
                  <a:srgbClr val="063050"/>
                </a:solidFill>
                <a:latin typeface="Poppins Medium"/>
                <a:ea typeface="Poppins Medium"/>
                <a:cs typeface="Poppins Medium"/>
                <a:sym typeface="Poppins Medium"/>
              </a:rPr>
              <a:t>read repair</a:t>
            </a:r>
          </a:p>
        </p:txBody>
      </p:sp>
      <p:sp>
        <p:nvSpPr>
          <p:cNvPr name="TextBox 22" id="22"/>
          <p:cNvSpPr txBox="true"/>
          <p:nvPr/>
        </p:nvSpPr>
        <p:spPr>
          <a:xfrm rot="0">
            <a:off x="3526320" y="5475706"/>
            <a:ext cx="5875754" cy="309369"/>
          </a:xfrm>
          <a:prstGeom prst="rect">
            <a:avLst/>
          </a:prstGeom>
        </p:spPr>
        <p:txBody>
          <a:bodyPr anchor="t" rtlCol="false" tIns="0" lIns="0" bIns="0" rIns="0">
            <a:spAutoFit/>
          </a:bodyPr>
          <a:lstStyle/>
          <a:p>
            <a:pPr algn="l">
              <a:lnSpc>
                <a:spcPts val="2380"/>
              </a:lnSpc>
            </a:pPr>
            <a:r>
              <a:rPr lang="en-US" sz="1951" b="true">
                <a:solidFill>
                  <a:srgbClr val="063050"/>
                </a:solidFill>
                <a:latin typeface="Poppins Medium"/>
                <a:ea typeface="Poppins Medium"/>
                <a:cs typeface="Poppins Medium"/>
                <a:sym typeface="Poppins Medium"/>
              </a:rPr>
              <a:t>hinted handoff </a:t>
            </a:r>
          </a:p>
        </p:txBody>
      </p:sp>
      <p:sp>
        <p:nvSpPr>
          <p:cNvPr name="TextBox 23" id="23"/>
          <p:cNvSpPr txBox="true"/>
          <p:nvPr/>
        </p:nvSpPr>
        <p:spPr>
          <a:xfrm rot="0">
            <a:off x="3526320" y="6203430"/>
            <a:ext cx="5875754" cy="604644"/>
          </a:xfrm>
          <a:prstGeom prst="rect">
            <a:avLst/>
          </a:prstGeom>
        </p:spPr>
        <p:txBody>
          <a:bodyPr anchor="t" rtlCol="false" tIns="0" lIns="0" bIns="0" rIns="0">
            <a:spAutoFit/>
          </a:bodyPr>
          <a:lstStyle/>
          <a:p>
            <a:pPr algn="l">
              <a:lnSpc>
                <a:spcPts val="2380"/>
              </a:lnSpc>
            </a:pPr>
            <a:r>
              <a:rPr lang="en-US" sz="1951" b="true">
                <a:solidFill>
                  <a:srgbClr val="063050"/>
                </a:solidFill>
                <a:latin typeface="Poppins Medium"/>
                <a:ea typeface="Poppins Medium"/>
                <a:cs typeface="Poppins Medium"/>
                <a:sym typeface="Poppins Medium"/>
              </a:rPr>
              <a:t>a flexible data scheme based on a combination of column families</a:t>
            </a:r>
          </a:p>
        </p:txBody>
      </p:sp>
      <p:sp>
        <p:nvSpPr>
          <p:cNvPr name="TextBox 24" id="24"/>
          <p:cNvSpPr txBox="true"/>
          <p:nvPr/>
        </p:nvSpPr>
        <p:spPr>
          <a:xfrm rot="0">
            <a:off x="3526320" y="7139553"/>
            <a:ext cx="5875754" cy="309369"/>
          </a:xfrm>
          <a:prstGeom prst="rect">
            <a:avLst/>
          </a:prstGeom>
        </p:spPr>
        <p:txBody>
          <a:bodyPr anchor="t" rtlCol="false" tIns="0" lIns="0" bIns="0" rIns="0">
            <a:spAutoFit/>
          </a:bodyPr>
          <a:lstStyle/>
          <a:p>
            <a:pPr algn="l">
              <a:lnSpc>
                <a:spcPts val="2380"/>
              </a:lnSpc>
            </a:pPr>
            <a:r>
              <a:rPr lang="en-US" sz="1951" b="true">
                <a:solidFill>
                  <a:srgbClr val="063050"/>
                </a:solidFill>
                <a:latin typeface="Poppins Medium"/>
                <a:ea typeface="Poppins Medium"/>
                <a:cs typeface="Poppins Medium"/>
                <a:sym typeface="Poppins Medium"/>
              </a:rPr>
              <a:t>proprietary SQL-like query language </a:t>
            </a:r>
          </a:p>
        </p:txBody>
      </p:sp>
      <p:grpSp>
        <p:nvGrpSpPr>
          <p:cNvPr name="Group 25" id="25"/>
          <p:cNvGrpSpPr/>
          <p:nvPr/>
        </p:nvGrpSpPr>
        <p:grpSpPr>
          <a:xfrm rot="0">
            <a:off x="2660616" y="7158603"/>
            <a:ext cx="357065" cy="357065"/>
            <a:chOff x="0" y="0"/>
            <a:chExt cx="94042" cy="94042"/>
          </a:xfrm>
        </p:grpSpPr>
        <p:sp>
          <p:nvSpPr>
            <p:cNvPr name="Freeform 26" id="26"/>
            <p:cNvSpPr/>
            <p:nvPr/>
          </p:nvSpPr>
          <p:spPr>
            <a:xfrm flipH="false" flipV="false" rot="0">
              <a:off x="0" y="0"/>
              <a:ext cx="94042" cy="94042"/>
            </a:xfrm>
            <a:custGeom>
              <a:avLst/>
              <a:gdLst/>
              <a:ahLst/>
              <a:cxnLst/>
              <a:rect r="r" b="b" t="t" l="l"/>
              <a:pathLst>
                <a:path h="94042" w="94042">
                  <a:moveTo>
                    <a:pt x="0" y="0"/>
                  </a:moveTo>
                  <a:lnTo>
                    <a:pt x="94042" y="0"/>
                  </a:lnTo>
                  <a:lnTo>
                    <a:pt x="94042" y="94042"/>
                  </a:lnTo>
                  <a:lnTo>
                    <a:pt x="0" y="94042"/>
                  </a:lnTo>
                  <a:close/>
                </a:path>
              </a:pathLst>
            </a:custGeom>
            <a:solidFill>
              <a:srgbClr val="4F9FF5"/>
            </a:solidFill>
          </p:spPr>
        </p:sp>
        <p:sp>
          <p:nvSpPr>
            <p:cNvPr name="TextBox 27" id="27"/>
            <p:cNvSpPr txBox="true"/>
            <p:nvPr/>
          </p:nvSpPr>
          <p:spPr>
            <a:xfrm>
              <a:off x="0" y="28575"/>
              <a:ext cx="94042" cy="65467"/>
            </a:xfrm>
            <a:prstGeom prst="rect">
              <a:avLst/>
            </a:prstGeom>
          </p:spPr>
          <p:txBody>
            <a:bodyPr anchor="ctr" rtlCol="false" tIns="50800" lIns="50800" bIns="50800" rIns="50800"/>
            <a:lstStyle/>
            <a:p>
              <a:pPr algn="ctr">
                <a:lnSpc>
                  <a:spcPts val="2661"/>
                </a:lnSpc>
              </a:pP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102870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grpSp>
        <p:nvGrpSpPr>
          <p:cNvPr name="Group 4" id="4"/>
          <p:cNvGrpSpPr/>
          <p:nvPr/>
        </p:nvGrpSpPr>
        <p:grpSpPr>
          <a:xfrm rot="0">
            <a:off x="0" y="1415070"/>
            <a:ext cx="18288000" cy="1464829"/>
            <a:chOff x="0" y="0"/>
            <a:chExt cx="4816593" cy="385799"/>
          </a:xfrm>
        </p:grpSpPr>
        <p:sp>
          <p:nvSpPr>
            <p:cNvPr name="Freeform 5" id="5"/>
            <p:cNvSpPr/>
            <p:nvPr/>
          </p:nvSpPr>
          <p:spPr>
            <a:xfrm flipH="false" flipV="false" rot="0">
              <a:off x="0" y="0"/>
              <a:ext cx="4816592" cy="385799"/>
            </a:xfrm>
            <a:custGeom>
              <a:avLst/>
              <a:gdLst/>
              <a:ahLst/>
              <a:cxnLst/>
              <a:rect r="r" b="b" t="t" l="l"/>
              <a:pathLst>
                <a:path h="385799" w="4816592">
                  <a:moveTo>
                    <a:pt x="0" y="0"/>
                  </a:moveTo>
                  <a:lnTo>
                    <a:pt x="4816592" y="0"/>
                  </a:lnTo>
                  <a:lnTo>
                    <a:pt x="4816592" y="385799"/>
                  </a:lnTo>
                  <a:lnTo>
                    <a:pt x="0" y="385799"/>
                  </a:lnTo>
                  <a:close/>
                </a:path>
              </a:pathLst>
            </a:custGeom>
            <a:solidFill>
              <a:srgbClr val="2B59C3">
                <a:alpha val="71765"/>
              </a:srgbClr>
            </a:solidFill>
          </p:spPr>
        </p:sp>
        <p:sp>
          <p:nvSpPr>
            <p:cNvPr name="TextBox 6" id="6"/>
            <p:cNvSpPr txBox="true"/>
            <p:nvPr/>
          </p:nvSpPr>
          <p:spPr>
            <a:xfrm>
              <a:off x="0" y="28575"/>
              <a:ext cx="4816593"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Read repair</a:t>
              </a:r>
            </a:p>
          </p:txBody>
        </p:sp>
      </p:grpSp>
      <p:sp>
        <p:nvSpPr>
          <p:cNvPr name="Freeform 7" id="7"/>
          <p:cNvSpPr/>
          <p:nvPr/>
        </p:nvSpPr>
        <p:spPr>
          <a:xfrm flipH="false" flipV="false" rot="0">
            <a:off x="15204378" y="6672116"/>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426183" y="3541188"/>
            <a:ext cx="10140774" cy="5345033"/>
          </a:xfrm>
          <a:custGeom>
            <a:avLst/>
            <a:gdLst/>
            <a:ahLst/>
            <a:cxnLst/>
            <a:rect r="r" b="b" t="t" l="l"/>
            <a:pathLst>
              <a:path h="5345033" w="10140774">
                <a:moveTo>
                  <a:pt x="0" y="0"/>
                </a:moveTo>
                <a:lnTo>
                  <a:pt x="10140774" y="0"/>
                </a:lnTo>
                <a:lnTo>
                  <a:pt x="10140774" y="5345033"/>
                </a:lnTo>
                <a:lnTo>
                  <a:pt x="0" y="5345033"/>
                </a:lnTo>
                <a:lnTo>
                  <a:pt x="0" y="0"/>
                </a:lnTo>
                <a:close/>
              </a:path>
            </a:pathLst>
          </a:custGeom>
          <a:blipFill>
            <a:blip r:embed="rId4"/>
            <a:stretch>
              <a:fillRect l="0" t="0" r="0" b="0"/>
            </a:stretch>
          </a:blipFill>
        </p:spPr>
      </p:sp>
      <p:sp>
        <p:nvSpPr>
          <p:cNvPr name="TextBox 9" id="9"/>
          <p:cNvSpPr txBox="true"/>
          <p:nvPr/>
        </p:nvSpPr>
        <p:spPr>
          <a:xfrm rot="0">
            <a:off x="11044477" y="3076169"/>
            <a:ext cx="6339987" cy="6198870"/>
          </a:xfrm>
          <a:prstGeom prst="rect">
            <a:avLst/>
          </a:prstGeom>
        </p:spPr>
        <p:txBody>
          <a:bodyPr anchor="t" rtlCol="false" tIns="0" lIns="0" bIns="0" rIns="0">
            <a:spAutoFit/>
          </a:bodyPr>
          <a:lstStyle/>
          <a:p>
            <a:pPr algn="just">
              <a:lnSpc>
                <a:spcPts val="3779"/>
              </a:lnSpc>
            </a:pPr>
            <a:r>
              <a:rPr lang="en-US" sz="2699">
                <a:solidFill>
                  <a:srgbClr val="000000"/>
                </a:solidFill>
                <a:latin typeface="Poppins"/>
                <a:ea typeface="Poppins"/>
                <a:cs typeface="Poppins"/>
                <a:sym typeface="Poppins"/>
              </a:rPr>
              <a:t>In Cassandra, data is replicated across multiple nodes to provide fault tolerance. During read operations, Cassandra performs a read repair where </a:t>
            </a:r>
            <a:r>
              <a:rPr lang="en-US" sz="2699" b="true">
                <a:solidFill>
                  <a:srgbClr val="000000"/>
                </a:solidFill>
                <a:latin typeface="Poppins Bold"/>
                <a:ea typeface="Poppins Bold"/>
                <a:cs typeface="Poppins Bold"/>
                <a:sym typeface="Poppins Bold"/>
              </a:rPr>
              <a:t>inconsistencies in replicas are detected and corrected</a:t>
            </a:r>
            <a:r>
              <a:rPr lang="en-US" sz="2699">
                <a:solidFill>
                  <a:srgbClr val="000000"/>
                </a:solidFill>
                <a:latin typeface="Poppins"/>
                <a:ea typeface="Poppins"/>
                <a:cs typeface="Poppins"/>
                <a:sym typeface="Poppins"/>
              </a:rPr>
              <a:t>. If data is found to be out of sync, Cassandra automatically repairs the outdated replicas in the background. This ensures consistency across all replicas without requiring manual intervention.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102870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grpSp>
        <p:nvGrpSpPr>
          <p:cNvPr name="Group 4" id="4"/>
          <p:cNvGrpSpPr/>
          <p:nvPr/>
        </p:nvGrpSpPr>
        <p:grpSpPr>
          <a:xfrm rot="0">
            <a:off x="0" y="1415070"/>
            <a:ext cx="18288000" cy="1464829"/>
            <a:chOff x="0" y="0"/>
            <a:chExt cx="4816593" cy="385799"/>
          </a:xfrm>
        </p:grpSpPr>
        <p:sp>
          <p:nvSpPr>
            <p:cNvPr name="Freeform 5" id="5"/>
            <p:cNvSpPr/>
            <p:nvPr/>
          </p:nvSpPr>
          <p:spPr>
            <a:xfrm flipH="false" flipV="false" rot="0">
              <a:off x="0" y="0"/>
              <a:ext cx="4816592" cy="385799"/>
            </a:xfrm>
            <a:custGeom>
              <a:avLst/>
              <a:gdLst/>
              <a:ahLst/>
              <a:cxnLst/>
              <a:rect r="r" b="b" t="t" l="l"/>
              <a:pathLst>
                <a:path h="385799" w="4816592">
                  <a:moveTo>
                    <a:pt x="0" y="0"/>
                  </a:moveTo>
                  <a:lnTo>
                    <a:pt x="4816592" y="0"/>
                  </a:lnTo>
                  <a:lnTo>
                    <a:pt x="4816592" y="385799"/>
                  </a:lnTo>
                  <a:lnTo>
                    <a:pt x="0" y="385799"/>
                  </a:lnTo>
                  <a:close/>
                </a:path>
              </a:pathLst>
            </a:custGeom>
            <a:solidFill>
              <a:srgbClr val="2B59C3">
                <a:alpha val="71765"/>
              </a:srgbClr>
            </a:solidFill>
          </p:spPr>
        </p:sp>
        <p:sp>
          <p:nvSpPr>
            <p:cNvPr name="TextBox 6" id="6"/>
            <p:cNvSpPr txBox="true"/>
            <p:nvPr/>
          </p:nvSpPr>
          <p:spPr>
            <a:xfrm>
              <a:off x="0" y="28575"/>
              <a:ext cx="4816593"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Hinted handoff</a:t>
              </a:r>
            </a:p>
          </p:txBody>
        </p:sp>
      </p:grpSp>
      <p:sp>
        <p:nvSpPr>
          <p:cNvPr name="Freeform 7" id="7"/>
          <p:cNvSpPr/>
          <p:nvPr/>
        </p:nvSpPr>
        <p:spPr>
          <a:xfrm flipH="false" flipV="false" rot="0">
            <a:off x="15204378" y="6672116"/>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615343" y="3614943"/>
            <a:ext cx="9713524" cy="4926476"/>
          </a:xfrm>
          <a:custGeom>
            <a:avLst/>
            <a:gdLst/>
            <a:ahLst/>
            <a:cxnLst/>
            <a:rect r="r" b="b" t="t" l="l"/>
            <a:pathLst>
              <a:path h="4926476" w="9713524">
                <a:moveTo>
                  <a:pt x="0" y="0"/>
                </a:moveTo>
                <a:lnTo>
                  <a:pt x="9713524" y="0"/>
                </a:lnTo>
                <a:lnTo>
                  <a:pt x="9713524" y="4926476"/>
                </a:lnTo>
                <a:lnTo>
                  <a:pt x="0" y="4926476"/>
                </a:lnTo>
                <a:lnTo>
                  <a:pt x="0" y="0"/>
                </a:lnTo>
                <a:close/>
              </a:path>
            </a:pathLst>
          </a:custGeom>
          <a:blipFill>
            <a:blip r:embed="rId4"/>
            <a:stretch>
              <a:fillRect l="-3582" t="-3407" r="-4787" b="-5298"/>
            </a:stretch>
          </a:blipFill>
        </p:spPr>
      </p:sp>
      <p:sp>
        <p:nvSpPr>
          <p:cNvPr name="TextBox 9" id="9"/>
          <p:cNvSpPr txBox="true"/>
          <p:nvPr/>
        </p:nvSpPr>
        <p:spPr>
          <a:xfrm rot="0">
            <a:off x="10794149" y="3223221"/>
            <a:ext cx="6465151" cy="6453505"/>
          </a:xfrm>
          <a:prstGeom prst="rect">
            <a:avLst/>
          </a:prstGeom>
        </p:spPr>
        <p:txBody>
          <a:bodyPr anchor="t" rtlCol="false" tIns="0" lIns="0" bIns="0" rIns="0">
            <a:spAutoFit/>
          </a:bodyPr>
          <a:lstStyle/>
          <a:p>
            <a:pPr algn="just">
              <a:lnSpc>
                <a:spcPts val="3919"/>
              </a:lnSpc>
            </a:pPr>
            <a:r>
              <a:rPr lang="en-US" sz="2799">
                <a:solidFill>
                  <a:srgbClr val="000000"/>
                </a:solidFill>
                <a:latin typeface="Poppins"/>
                <a:ea typeface="Poppins"/>
                <a:cs typeface="Poppins"/>
                <a:sym typeface="Poppins"/>
              </a:rPr>
              <a:t>Hinted handoff is a mechanism to ensure data availability even when a node is temporarily down. When a </a:t>
            </a:r>
            <a:r>
              <a:rPr lang="en-US" sz="2799" b="true">
                <a:solidFill>
                  <a:srgbClr val="000000"/>
                </a:solidFill>
                <a:latin typeface="Poppins Bold"/>
                <a:ea typeface="Poppins Bold"/>
                <a:cs typeface="Poppins Bold"/>
                <a:sym typeface="Poppins Bold"/>
              </a:rPr>
              <a:t>write is attempted and a node is unavailable, Cassandra stores the write request (hint) on a nearby node</a:t>
            </a:r>
            <a:r>
              <a:rPr lang="en-US" sz="2799">
                <a:solidFill>
                  <a:srgbClr val="000000"/>
                </a:solidFill>
                <a:latin typeface="Poppins"/>
                <a:ea typeface="Poppins"/>
                <a:cs typeface="Poppins"/>
                <a:sym typeface="Poppins"/>
              </a:rPr>
              <a:t>. Once the downed node comes back online, the hinted data is sent to it to catch up with the rest of the cluster. This process minimizes data loss and keeps the system resilient in the face of temporary failures.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102870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grpSp>
        <p:nvGrpSpPr>
          <p:cNvPr name="Group 4" id="4"/>
          <p:cNvGrpSpPr/>
          <p:nvPr/>
        </p:nvGrpSpPr>
        <p:grpSpPr>
          <a:xfrm rot="0">
            <a:off x="0" y="1415070"/>
            <a:ext cx="18288000" cy="1464829"/>
            <a:chOff x="0" y="0"/>
            <a:chExt cx="4816593" cy="385799"/>
          </a:xfrm>
        </p:grpSpPr>
        <p:sp>
          <p:nvSpPr>
            <p:cNvPr name="Freeform 5" id="5"/>
            <p:cNvSpPr/>
            <p:nvPr/>
          </p:nvSpPr>
          <p:spPr>
            <a:xfrm flipH="false" flipV="false" rot="0">
              <a:off x="0" y="0"/>
              <a:ext cx="4816592" cy="385799"/>
            </a:xfrm>
            <a:custGeom>
              <a:avLst/>
              <a:gdLst/>
              <a:ahLst/>
              <a:cxnLst/>
              <a:rect r="r" b="b" t="t" l="l"/>
              <a:pathLst>
                <a:path h="385799" w="4816592">
                  <a:moveTo>
                    <a:pt x="0" y="0"/>
                  </a:moveTo>
                  <a:lnTo>
                    <a:pt x="4816592" y="0"/>
                  </a:lnTo>
                  <a:lnTo>
                    <a:pt x="4816592" y="385799"/>
                  </a:lnTo>
                  <a:lnTo>
                    <a:pt x="0" y="385799"/>
                  </a:lnTo>
                  <a:close/>
                </a:path>
              </a:pathLst>
            </a:custGeom>
            <a:solidFill>
              <a:srgbClr val="2B59C3">
                <a:alpha val="71765"/>
              </a:srgbClr>
            </a:solidFill>
          </p:spPr>
        </p:sp>
        <p:sp>
          <p:nvSpPr>
            <p:cNvPr name="TextBox 6" id="6"/>
            <p:cNvSpPr txBox="true"/>
            <p:nvPr/>
          </p:nvSpPr>
          <p:spPr>
            <a:xfrm>
              <a:off x="0" y="28575"/>
              <a:ext cx="4816593"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Flexible data scheme </a:t>
              </a:r>
            </a:p>
          </p:txBody>
        </p:sp>
      </p:grpSp>
      <p:sp>
        <p:nvSpPr>
          <p:cNvPr name="Freeform 7" id="7"/>
          <p:cNvSpPr/>
          <p:nvPr/>
        </p:nvSpPr>
        <p:spPr>
          <a:xfrm flipH="false" flipV="false" rot="0">
            <a:off x="15204378" y="6672116"/>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841160" y="3883268"/>
            <a:ext cx="9323355" cy="5186116"/>
          </a:xfrm>
          <a:custGeom>
            <a:avLst/>
            <a:gdLst/>
            <a:ahLst/>
            <a:cxnLst/>
            <a:rect r="r" b="b" t="t" l="l"/>
            <a:pathLst>
              <a:path h="5186116" w="9323355">
                <a:moveTo>
                  <a:pt x="0" y="0"/>
                </a:moveTo>
                <a:lnTo>
                  <a:pt x="9323354" y="0"/>
                </a:lnTo>
                <a:lnTo>
                  <a:pt x="9323354" y="5186116"/>
                </a:lnTo>
                <a:lnTo>
                  <a:pt x="0" y="5186116"/>
                </a:lnTo>
                <a:lnTo>
                  <a:pt x="0" y="0"/>
                </a:lnTo>
                <a:close/>
              </a:path>
            </a:pathLst>
          </a:custGeom>
          <a:blipFill>
            <a:blip r:embed="rId4"/>
            <a:stretch>
              <a:fillRect l="0" t="0" r="0" b="0"/>
            </a:stretch>
          </a:blipFill>
        </p:spPr>
      </p:sp>
      <p:sp>
        <p:nvSpPr>
          <p:cNvPr name="TextBox 9" id="9"/>
          <p:cNvSpPr txBox="true"/>
          <p:nvPr/>
        </p:nvSpPr>
        <p:spPr>
          <a:xfrm rot="0">
            <a:off x="10919313" y="3242271"/>
            <a:ext cx="6339987" cy="6401435"/>
          </a:xfrm>
          <a:prstGeom prst="rect">
            <a:avLst/>
          </a:prstGeom>
        </p:spPr>
        <p:txBody>
          <a:bodyPr anchor="t" rtlCol="false" tIns="0" lIns="0" bIns="0" rIns="0">
            <a:spAutoFit/>
          </a:bodyPr>
          <a:lstStyle/>
          <a:p>
            <a:pPr algn="just">
              <a:lnSpc>
                <a:spcPts val="3639"/>
              </a:lnSpc>
            </a:pPr>
            <a:r>
              <a:rPr lang="en-US" sz="2599">
                <a:solidFill>
                  <a:srgbClr val="000000"/>
                </a:solidFill>
                <a:latin typeface="Poppins"/>
                <a:ea typeface="Poppins"/>
                <a:cs typeface="Poppins"/>
                <a:sym typeface="Poppins"/>
              </a:rPr>
              <a:t>Cassandra employs a flexible, schema-optional model based on column families rather than traditional rows and columns. Each column family is essentially a table, but unlike fixed schemas in relational databases, you can store different sets of columns for different rows. This flexibility allows Cassandra to handle structured, semi-structured, and unstructured data efficiently. Developers can easily adapt their data model to evolving business needs without downtime.</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102870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grpSp>
        <p:nvGrpSpPr>
          <p:cNvPr name="Group 4" id="4"/>
          <p:cNvGrpSpPr/>
          <p:nvPr/>
        </p:nvGrpSpPr>
        <p:grpSpPr>
          <a:xfrm rot="0">
            <a:off x="0" y="1415070"/>
            <a:ext cx="18288000" cy="1464829"/>
            <a:chOff x="0" y="0"/>
            <a:chExt cx="4816593" cy="385799"/>
          </a:xfrm>
        </p:grpSpPr>
        <p:sp>
          <p:nvSpPr>
            <p:cNvPr name="Freeform 5" id="5"/>
            <p:cNvSpPr/>
            <p:nvPr/>
          </p:nvSpPr>
          <p:spPr>
            <a:xfrm flipH="false" flipV="false" rot="0">
              <a:off x="0" y="0"/>
              <a:ext cx="4816592" cy="385799"/>
            </a:xfrm>
            <a:custGeom>
              <a:avLst/>
              <a:gdLst/>
              <a:ahLst/>
              <a:cxnLst/>
              <a:rect r="r" b="b" t="t" l="l"/>
              <a:pathLst>
                <a:path h="385799" w="4816592">
                  <a:moveTo>
                    <a:pt x="0" y="0"/>
                  </a:moveTo>
                  <a:lnTo>
                    <a:pt x="4816592" y="0"/>
                  </a:lnTo>
                  <a:lnTo>
                    <a:pt x="4816592" y="385799"/>
                  </a:lnTo>
                  <a:lnTo>
                    <a:pt x="0" y="385799"/>
                  </a:lnTo>
                  <a:close/>
                </a:path>
              </a:pathLst>
            </a:custGeom>
            <a:solidFill>
              <a:srgbClr val="2B59C3">
                <a:alpha val="71765"/>
              </a:srgbClr>
            </a:solidFill>
          </p:spPr>
        </p:sp>
        <p:sp>
          <p:nvSpPr>
            <p:cNvPr name="TextBox 6" id="6"/>
            <p:cNvSpPr txBox="true"/>
            <p:nvPr/>
          </p:nvSpPr>
          <p:spPr>
            <a:xfrm>
              <a:off x="0" y="28575"/>
              <a:ext cx="4816593"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Proprietary SQL-like query language</a:t>
              </a:r>
              <a:r>
                <a:rPr lang="en-US" b="true" sz="5499">
                  <a:solidFill>
                    <a:srgbClr val="FEFEFE">
                      <a:alpha val="71765"/>
                    </a:srgbClr>
                  </a:solidFill>
                  <a:latin typeface="Poppins Bold"/>
                  <a:ea typeface="Poppins Bold"/>
                  <a:cs typeface="Poppins Bold"/>
                  <a:sym typeface="Poppins Bold"/>
                </a:rPr>
                <a:t> </a:t>
              </a:r>
            </a:p>
          </p:txBody>
        </p:sp>
      </p:grpSp>
      <p:sp>
        <p:nvSpPr>
          <p:cNvPr name="Freeform 7" id="7"/>
          <p:cNvSpPr/>
          <p:nvPr/>
        </p:nvSpPr>
        <p:spPr>
          <a:xfrm flipH="false" flipV="false" rot="0">
            <a:off x="15204378" y="6672116"/>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1690850" y="3308946"/>
            <a:ext cx="7960894" cy="5970671"/>
          </a:xfrm>
          <a:custGeom>
            <a:avLst/>
            <a:gdLst/>
            <a:ahLst/>
            <a:cxnLst/>
            <a:rect r="r" b="b" t="t" l="l"/>
            <a:pathLst>
              <a:path h="5970671" w="7960894">
                <a:moveTo>
                  <a:pt x="0" y="0"/>
                </a:moveTo>
                <a:lnTo>
                  <a:pt x="7960894" y="0"/>
                </a:lnTo>
                <a:lnTo>
                  <a:pt x="7960894" y="5970670"/>
                </a:lnTo>
                <a:lnTo>
                  <a:pt x="0" y="5970670"/>
                </a:lnTo>
                <a:lnTo>
                  <a:pt x="0" y="0"/>
                </a:lnTo>
                <a:close/>
              </a:path>
            </a:pathLst>
          </a:custGeom>
          <a:blipFill>
            <a:blip r:embed="rId4"/>
            <a:stretch>
              <a:fillRect l="0" t="0" r="0" b="0"/>
            </a:stretch>
          </a:blipFill>
        </p:spPr>
      </p:sp>
      <p:sp>
        <p:nvSpPr>
          <p:cNvPr name="TextBox 9" id="9"/>
          <p:cNvSpPr txBox="true"/>
          <p:nvPr/>
        </p:nvSpPr>
        <p:spPr>
          <a:xfrm rot="0">
            <a:off x="10919313" y="3242271"/>
            <a:ext cx="6339987" cy="6575425"/>
          </a:xfrm>
          <a:prstGeom prst="rect">
            <a:avLst/>
          </a:prstGeom>
        </p:spPr>
        <p:txBody>
          <a:bodyPr anchor="t" rtlCol="false" tIns="0" lIns="0" bIns="0" rIns="0">
            <a:spAutoFit/>
          </a:bodyPr>
          <a:lstStyle/>
          <a:p>
            <a:pPr algn="just">
              <a:lnSpc>
                <a:spcPts val="3499"/>
              </a:lnSpc>
            </a:pPr>
            <a:r>
              <a:rPr lang="en-US" sz="2499">
                <a:solidFill>
                  <a:srgbClr val="000000"/>
                </a:solidFill>
                <a:latin typeface="Poppins"/>
                <a:ea typeface="Poppins"/>
                <a:cs typeface="Poppins"/>
                <a:sym typeface="Poppins"/>
              </a:rPr>
              <a:t>Cassandra offers Cassandra Query Language (CQL), a proprietary SQL-like language designed specifically for interacting with its data model. CQL provides a familiar interface for developers used to working with SQL, allowing them to </a:t>
            </a:r>
            <a:r>
              <a:rPr lang="en-US" sz="2499" b="true">
                <a:solidFill>
                  <a:srgbClr val="000000"/>
                </a:solidFill>
                <a:latin typeface="Poppins Bold"/>
                <a:ea typeface="Poppins Bold"/>
                <a:cs typeface="Poppins Bold"/>
                <a:sym typeface="Poppins Bold"/>
              </a:rPr>
              <a:t>manage data with commands similar to SQL queries</a:t>
            </a:r>
            <a:r>
              <a:rPr lang="en-US" sz="2499">
                <a:solidFill>
                  <a:srgbClr val="000000"/>
                </a:solidFill>
                <a:latin typeface="Poppins"/>
                <a:ea typeface="Poppins"/>
                <a:cs typeface="Poppins"/>
                <a:sym typeface="Poppins"/>
              </a:rPr>
              <a:t>. Although similar, CQL differs by being optimized for Cassandra’s distributed nature, ensuring efficient querying and data management across large-scale clusters. It simplifies working with Cassandra while leveraging its distributed, NoSQL capabilities.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0474988" y="2337394"/>
            <a:ext cx="5348054" cy="5348054"/>
          </a:xfrm>
          <a:custGeom>
            <a:avLst/>
            <a:gdLst/>
            <a:ahLst/>
            <a:cxnLst/>
            <a:rect r="r" b="b" t="t" l="l"/>
            <a:pathLst>
              <a:path h="5348054" w="5348054">
                <a:moveTo>
                  <a:pt x="0" y="0"/>
                </a:moveTo>
                <a:lnTo>
                  <a:pt x="5348054" y="0"/>
                </a:lnTo>
                <a:lnTo>
                  <a:pt x="5348054" y="5348054"/>
                </a:lnTo>
                <a:lnTo>
                  <a:pt x="0" y="53480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660616" y="2743478"/>
            <a:ext cx="7309547"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Disadvantages</a:t>
            </a:r>
          </a:p>
        </p:txBody>
      </p:sp>
      <p:grpSp>
        <p:nvGrpSpPr>
          <p:cNvPr name="Group 5" id="5"/>
          <p:cNvGrpSpPr/>
          <p:nvPr/>
        </p:nvGrpSpPr>
        <p:grpSpPr>
          <a:xfrm rot="0">
            <a:off x="2660616" y="4367774"/>
            <a:ext cx="357065" cy="357065"/>
            <a:chOff x="0" y="0"/>
            <a:chExt cx="94042" cy="94042"/>
          </a:xfrm>
        </p:grpSpPr>
        <p:sp>
          <p:nvSpPr>
            <p:cNvPr name="Freeform 6" id="6"/>
            <p:cNvSpPr/>
            <p:nvPr/>
          </p:nvSpPr>
          <p:spPr>
            <a:xfrm flipH="false" flipV="false" rot="0">
              <a:off x="0" y="0"/>
              <a:ext cx="94042" cy="94042"/>
            </a:xfrm>
            <a:custGeom>
              <a:avLst/>
              <a:gdLst/>
              <a:ahLst/>
              <a:cxnLst/>
              <a:rect r="r" b="b" t="t" l="l"/>
              <a:pathLst>
                <a:path h="94042" w="94042">
                  <a:moveTo>
                    <a:pt x="0" y="0"/>
                  </a:moveTo>
                  <a:lnTo>
                    <a:pt x="94042" y="0"/>
                  </a:lnTo>
                  <a:lnTo>
                    <a:pt x="94042" y="94042"/>
                  </a:lnTo>
                  <a:lnTo>
                    <a:pt x="0" y="94042"/>
                  </a:lnTo>
                  <a:close/>
                </a:path>
              </a:pathLst>
            </a:custGeom>
            <a:solidFill>
              <a:srgbClr val="4F9FF5"/>
            </a:solidFill>
          </p:spPr>
        </p:sp>
        <p:sp>
          <p:nvSpPr>
            <p:cNvPr name="TextBox 7" id="7"/>
            <p:cNvSpPr txBox="true"/>
            <p:nvPr/>
          </p:nvSpPr>
          <p:spPr>
            <a:xfrm>
              <a:off x="0" y="28575"/>
              <a:ext cx="94042" cy="65467"/>
            </a:xfrm>
            <a:prstGeom prst="rect">
              <a:avLst/>
            </a:prstGeom>
          </p:spPr>
          <p:txBody>
            <a:bodyPr anchor="ctr" rtlCol="false" tIns="50800" lIns="50800" bIns="50800" rIns="50800"/>
            <a:lstStyle/>
            <a:p>
              <a:pPr algn="ctr">
                <a:lnSpc>
                  <a:spcPts val="2661"/>
                </a:lnSpc>
              </a:pPr>
            </a:p>
          </p:txBody>
        </p:sp>
      </p:grpSp>
      <p:grpSp>
        <p:nvGrpSpPr>
          <p:cNvPr name="Group 8" id="8"/>
          <p:cNvGrpSpPr/>
          <p:nvPr/>
        </p:nvGrpSpPr>
        <p:grpSpPr>
          <a:xfrm rot="0">
            <a:off x="2670141" y="5127648"/>
            <a:ext cx="357065" cy="357065"/>
            <a:chOff x="0" y="0"/>
            <a:chExt cx="94042" cy="94042"/>
          </a:xfrm>
        </p:grpSpPr>
        <p:sp>
          <p:nvSpPr>
            <p:cNvPr name="Freeform 9" id="9"/>
            <p:cNvSpPr/>
            <p:nvPr/>
          </p:nvSpPr>
          <p:spPr>
            <a:xfrm flipH="false" flipV="false" rot="0">
              <a:off x="0" y="0"/>
              <a:ext cx="94042" cy="94042"/>
            </a:xfrm>
            <a:custGeom>
              <a:avLst/>
              <a:gdLst/>
              <a:ahLst/>
              <a:cxnLst/>
              <a:rect r="r" b="b" t="t" l="l"/>
              <a:pathLst>
                <a:path h="94042" w="94042">
                  <a:moveTo>
                    <a:pt x="0" y="0"/>
                  </a:moveTo>
                  <a:lnTo>
                    <a:pt x="94042" y="0"/>
                  </a:lnTo>
                  <a:lnTo>
                    <a:pt x="94042" y="94042"/>
                  </a:lnTo>
                  <a:lnTo>
                    <a:pt x="0" y="94042"/>
                  </a:lnTo>
                  <a:close/>
                </a:path>
              </a:pathLst>
            </a:custGeom>
            <a:solidFill>
              <a:srgbClr val="4F9FF5"/>
            </a:solidFill>
          </p:spPr>
        </p:sp>
        <p:sp>
          <p:nvSpPr>
            <p:cNvPr name="TextBox 10" id="10"/>
            <p:cNvSpPr txBox="true"/>
            <p:nvPr/>
          </p:nvSpPr>
          <p:spPr>
            <a:xfrm>
              <a:off x="0" y="28575"/>
              <a:ext cx="94042" cy="65467"/>
            </a:xfrm>
            <a:prstGeom prst="rect">
              <a:avLst/>
            </a:prstGeom>
          </p:spPr>
          <p:txBody>
            <a:bodyPr anchor="ctr" rtlCol="false" tIns="50800" lIns="50800" bIns="50800" rIns="50800"/>
            <a:lstStyle/>
            <a:p>
              <a:pPr algn="ctr">
                <a:lnSpc>
                  <a:spcPts val="2661"/>
                </a:lnSpc>
              </a:pPr>
            </a:p>
          </p:txBody>
        </p:sp>
      </p:grpSp>
      <p:grpSp>
        <p:nvGrpSpPr>
          <p:cNvPr name="Group 11" id="11"/>
          <p:cNvGrpSpPr/>
          <p:nvPr/>
        </p:nvGrpSpPr>
        <p:grpSpPr>
          <a:xfrm rot="0">
            <a:off x="2670141" y="5919381"/>
            <a:ext cx="357065" cy="357065"/>
            <a:chOff x="0" y="0"/>
            <a:chExt cx="94042" cy="94042"/>
          </a:xfrm>
        </p:grpSpPr>
        <p:sp>
          <p:nvSpPr>
            <p:cNvPr name="Freeform 12" id="12"/>
            <p:cNvSpPr/>
            <p:nvPr/>
          </p:nvSpPr>
          <p:spPr>
            <a:xfrm flipH="false" flipV="false" rot="0">
              <a:off x="0" y="0"/>
              <a:ext cx="94042" cy="94042"/>
            </a:xfrm>
            <a:custGeom>
              <a:avLst/>
              <a:gdLst/>
              <a:ahLst/>
              <a:cxnLst/>
              <a:rect r="r" b="b" t="t" l="l"/>
              <a:pathLst>
                <a:path h="94042" w="94042">
                  <a:moveTo>
                    <a:pt x="0" y="0"/>
                  </a:moveTo>
                  <a:lnTo>
                    <a:pt x="94042" y="0"/>
                  </a:lnTo>
                  <a:lnTo>
                    <a:pt x="94042" y="94042"/>
                  </a:lnTo>
                  <a:lnTo>
                    <a:pt x="0" y="94042"/>
                  </a:lnTo>
                  <a:close/>
                </a:path>
              </a:pathLst>
            </a:custGeom>
            <a:solidFill>
              <a:srgbClr val="4F9FF5"/>
            </a:solidFill>
          </p:spPr>
        </p:sp>
        <p:sp>
          <p:nvSpPr>
            <p:cNvPr name="TextBox 13" id="13"/>
            <p:cNvSpPr txBox="true"/>
            <p:nvPr/>
          </p:nvSpPr>
          <p:spPr>
            <a:xfrm>
              <a:off x="0" y="28575"/>
              <a:ext cx="94042" cy="65467"/>
            </a:xfrm>
            <a:prstGeom prst="rect">
              <a:avLst/>
            </a:prstGeom>
          </p:spPr>
          <p:txBody>
            <a:bodyPr anchor="ctr" rtlCol="false" tIns="50800" lIns="50800" bIns="50800" rIns="50800"/>
            <a:lstStyle/>
            <a:p>
              <a:pPr algn="ctr">
                <a:lnSpc>
                  <a:spcPts val="2661"/>
                </a:lnSpc>
              </a:pPr>
            </a:p>
          </p:txBody>
        </p:sp>
      </p:grpSp>
      <p:grpSp>
        <p:nvGrpSpPr>
          <p:cNvPr name="Group 14" id="14"/>
          <p:cNvGrpSpPr/>
          <p:nvPr/>
        </p:nvGrpSpPr>
        <p:grpSpPr>
          <a:xfrm rot="0">
            <a:off x="3532030" y="4383038"/>
            <a:ext cx="5875754" cy="3470377"/>
            <a:chOff x="0" y="0"/>
            <a:chExt cx="7834338" cy="4627170"/>
          </a:xfrm>
        </p:grpSpPr>
        <p:sp>
          <p:nvSpPr>
            <p:cNvPr name="TextBox 15" id="15"/>
            <p:cNvSpPr txBox="true"/>
            <p:nvPr/>
          </p:nvSpPr>
          <p:spPr>
            <a:xfrm rot="0">
              <a:off x="0" y="-19050"/>
              <a:ext cx="7834338" cy="406142"/>
            </a:xfrm>
            <a:prstGeom prst="rect">
              <a:avLst/>
            </a:prstGeom>
          </p:spPr>
          <p:txBody>
            <a:bodyPr anchor="t" rtlCol="false" tIns="0" lIns="0" bIns="0" rIns="0">
              <a:spAutoFit/>
            </a:bodyPr>
            <a:lstStyle/>
            <a:p>
              <a:pPr algn="l">
                <a:lnSpc>
                  <a:spcPts val="2380"/>
                </a:lnSpc>
              </a:pPr>
              <a:r>
                <a:rPr lang="en-US" sz="1951">
                  <a:solidFill>
                    <a:srgbClr val="063050"/>
                  </a:solidFill>
                  <a:latin typeface="Poppins"/>
                  <a:ea typeface="Poppins"/>
                  <a:cs typeface="Poppins"/>
                  <a:sym typeface="Poppins"/>
                </a:rPr>
                <a:t>Does not support join operations</a:t>
              </a:r>
            </a:p>
          </p:txBody>
        </p:sp>
        <p:sp>
          <p:nvSpPr>
            <p:cNvPr name="TextBox 16" id="16"/>
            <p:cNvSpPr txBox="true"/>
            <p:nvPr/>
          </p:nvSpPr>
          <p:spPr>
            <a:xfrm rot="0">
              <a:off x="0" y="1040451"/>
              <a:ext cx="7834338" cy="406142"/>
            </a:xfrm>
            <a:prstGeom prst="rect">
              <a:avLst/>
            </a:prstGeom>
          </p:spPr>
          <p:txBody>
            <a:bodyPr anchor="t" rtlCol="false" tIns="0" lIns="0" bIns="0" rIns="0">
              <a:spAutoFit/>
            </a:bodyPr>
            <a:lstStyle/>
            <a:p>
              <a:pPr algn="l">
                <a:lnSpc>
                  <a:spcPts val="2380"/>
                </a:lnSpc>
              </a:pPr>
              <a:r>
                <a:rPr lang="en-US" sz="1951">
                  <a:solidFill>
                    <a:srgbClr val="063050"/>
                  </a:solidFill>
                  <a:latin typeface="Poppins"/>
                  <a:ea typeface="Poppins"/>
                  <a:cs typeface="Poppins"/>
                  <a:sym typeface="Poppins"/>
                </a:rPr>
                <a:t>High overheads</a:t>
              </a:r>
            </a:p>
          </p:txBody>
        </p:sp>
        <p:sp>
          <p:nvSpPr>
            <p:cNvPr name="TextBox 17" id="17"/>
            <p:cNvSpPr txBox="true"/>
            <p:nvPr/>
          </p:nvSpPr>
          <p:spPr>
            <a:xfrm rot="0">
              <a:off x="0" y="2100643"/>
              <a:ext cx="7834338" cy="406142"/>
            </a:xfrm>
            <a:prstGeom prst="rect">
              <a:avLst/>
            </a:prstGeom>
          </p:spPr>
          <p:txBody>
            <a:bodyPr anchor="t" rtlCol="false" tIns="0" lIns="0" bIns="0" rIns="0">
              <a:spAutoFit/>
            </a:bodyPr>
            <a:lstStyle/>
            <a:p>
              <a:pPr algn="l">
                <a:lnSpc>
                  <a:spcPts val="2380"/>
                </a:lnSpc>
              </a:pPr>
              <a:r>
                <a:rPr lang="en-US" sz="1951">
                  <a:solidFill>
                    <a:srgbClr val="063050"/>
                  </a:solidFill>
                  <a:latin typeface="Poppins"/>
                  <a:ea typeface="Poppins"/>
                  <a:cs typeface="Poppins"/>
                  <a:sym typeface="Poppins"/>
                </a:rPr>
                <a:t>Key uniqueness</a:t>
              </a:r>
            </a:p>
          </p:txBody>
        </p:sp>
        <p:sp>
          <p:nvSpPr>
            <p:cNvPr name="TextBox 18" id="18"/>
            <p:cNvSpPr txBox="true"/>
            <p:nvPr/>
          </p:nvSpPr>
          <p:spPr>
            <a:xfrm rot="0">
              <a:off x="0" y="3160836"/>
              <a:ext cx="7834338" cy="406142"/>
            </a:xfrm>
            <a:prstGeom prst="rect">
              <a:avLst/>
            </a:prstGeom>
          </p:spPr>
          <p:txBody>
            <a:bodyPr anchor="t" rtlCol="false" tIns="0" lIns="0" bIns="0" rIns="0">
              <a:spAutoFit/>
            </a:bodyPr>
            <a:lstStyle/>
            <a:p>
              <a:pPr algn="l">
                <a:lnSpc>
                  <a:spcPts val="2380"/>
                </a:lnSpc>
              </a:pPr>
              <a:r>
                <a:rPr lang="en-US" sz="1951">
                  <a:solidFill>
                    <a:srgbClr val="063050"/>
                  </a:solidFill>
                  <a:latin typeface="Poppins"/>
                  <a:ea typeface="Poppins"/>
                  <a:cs typeface="Poppins"/>
                  <a:sym typeface="Poppins"/>
                </a:rPr>
                <a:t>Diffifculties with search operations</a:t>
              </a:r>
            </a:p>
          </p:txBody>
        </p:sp>
        <p:sp>
          <p:nvSpPr>
            <p:cNvPr name="TextBox 19" id="19"/>
            <p:cNvSpPr txBox="true"/>
            <p:nvPr/>
          </p:nvSpPr>
          <p:spPr>
            <a:xfrm rot="0">
              <a:off x="0" y="4221028"/>
              <a:ext cx="7834338" cy="406142"/>
            </a:xfrm>
            <a:prstGeom prst="rect">
              <a:avLst/>
            </a:prstGeom>
          </p:spPr>
          <p:txBody>
            <a:bodyPr anchor="t" rtlCol="false" tIns="0" lIns="0" bIns="0" rIns="0">
              <a:spAutoFit/>
            </a:bodyPr>
            <a:lstStyle/>
            <a:p>
              <a:pPr algn="l">
                <a:lnSpc>
                  <a:spcPts val="2380"/>
                </a:lnSpc>
              </a:pPr>
              <a:r>
                <a:rPr lang="en-US" sz="1951">
                  <a:solidFill>
                    <a:srgbClr val="063050"/>
                  </a:solidFill>
                  <a:latin typeface="Poppins"/>
                  <a:ea typeface="Poppins"/>
                  <a:cs typeface="Poppins"/>
                  <a:sym typeface="Poppins"/>
                </a:rPr>
                <a:t>Difficulties with counter data type</a:t>
              </a:r>
            </a:p>
          </p:txBody>
        </p:sp>
      </p:grpSp>
      <p:grpSp>
        <p:nvGrpSpPr>
          <p:cNvPr name="Group 20" id="20"/>
          <p:cNvGrpSpPr/>
          <p:nvPr/>
        </p:nvGrpSpPr>
        <p:grpSpPr>
          <a:xfrm rot="0">
            <a:off x="2670141" y="6676495"/>
            <a:ext cx="357065" cy="357065"/>
            <a:chOff x="0" y="0"/>
            <a:chExt cx="94042" cy="94042"/>
          </a:xfrm>
        </p:grpSpPr>
        <p:sp>
          <p:nvSpPr>
            <p:cNvPr name="Freeform 21" id="21"/>
            <p:cNvSpPr/>
            <p:nvPr/>
          </p:nvSpPr>
          <p:spPr>
            <a:xfrm flipH="false" flipV="false" rot="0">
              <a:off x="0" y="0"/>
              <a:ext cx="94042" cy="94042"/>
            </a:xfrm>
            <a:custGeom>
              <a:avLst/>
              <a:gdLst/>
              <a:ahLst/>
              <a:cxnLst/>
              <a:rect r="r" b="b" t="t" l="l"/>
              <a:pathLst>
                <a:path h="94042" w="94042">
                  <a:moveTo>
                    <a:pt x="0" y="0"/>
                  </a:moveTo>
                  <a:lnTo>
                    <a:pt x="94042" y="0"/>
                  </a:lnTo>
                  <a:lnTo>
                    <a:pt x="94042" y="94042"/>
                  </a:lnTo>
                  <a:lnTo>
                    <a:pt x="0" y="94042"/>
                  </a:lnTo>
                  <a:close/>
                </a:path>
              </a:pathLst>
            </a:custGeom>
            <a:solidFill>
              <a:srgbClr val="4F9FF5"/>
            </a:solidFill>
          </p:spPr>
        </p:sp>
        <p:sp>
          <p:nvSpPr>
            <p:cNvPr name="TextBox 22" id="22"/>
            <p:cNvSpPr txBox="true"/>
            <p:nvPr/>
          </p:nvSpPr>
          <p:spPr>
            <a:xfrm>
              <a:off x="0" y="28575"/>
              <a:ext cx="94042" cy="65467"/>
            </a:xfrm>
            <a:prstGeom prst="rect">
              <a:avLst/>
            </a:prstGeom>
          </p:spPr>
          <p:txBody>
            <a:bodyPr anchor="ctr" rtlCol="false" tIns="50800" lIns="50800" bIns="50800" rIns="50800"/>
            <a:lstStyle/>
            <a:p>
              <a:pPr algn="ctr">
                <a:lnSpc>
                  <a:spcPts val="2661"/>
                </a:lnSpc>
              </a:pPr>
            </a:p>
          </p:txBody>
        </p:sp>
      </p:grpSp>
      <p:grpSp>
        <p:nvGrpSpPr>
          <p:cNvPr name="Group 23" id="23"/>
          <p:cNvGrpSpPr/>
          <p:nvPr/>
        </p:nvGrpSpPr>
        <p:grpSpPr>
          <a:xfrm rot="0">
            <a:off x="2670141" y="7506916"/>
            <a:ext cx="357065" cy="357065"/>
            <a:chOff x="0" y="0"/>
            <a:chExt cx="94042" cy="94042"/>
          </a:xfrm>
        </p:grpSpPr>
        <p:sp>
          <p:nvSpPr>
            <p:cNvPr name="Freeform 24" id="24"/>
            <p:cNvSpPr/>
            <p:nvPr/>
          </p:nvSpPr>
          <p:spPr>
            <a:xfrm flipH="false" flipV="false" rot="0">
              <a:off x="0" y="0"/>
              <a:ext cx="94042" cy="94042"/>
            </a:xfrm>
            <a:custGeom>
              <a:avLst/>
              <a:gdLst/>
              <a:ahLst/>
              <a:cxnLst/>
              <a:rect r="r" b="b" t="t" l="l"/>
              <a:pathLst>
                <a:path h="94042" w="94042">
                  <a:moveTo>
                    <a:pt x="0" y="0"/>
                  </a:moveTo>
                  <a:lnTo>
                    <a:pt x="94042" y="0"/>
                  </a:lnTo>
                  <a:lnTo>
                    <a:pt x="94042" y="94042"/>
                  </a:lnTo>
                  <a:lnTo>
                    <a:pt x="0" y="94042"/>
                  </a:lnTo>
                  <a:close/>
                </a:path>
              </a:pathLst>
            </a:custGeom>
            <a:solidFill>
              <a:srgbClr val="4F9FF5"/>
            </a:solidFill>
          </p:spPr>
        </p:sp>
        <p:sp>
          <p:nvSpPr>
            <p:cNvPr name="TextBox 25" id="25"/>
            <p:cNvSpPr txBox="true"/>
            <p:nvPr/>
          </p:nvSpPr>
          <p:spPr>
            <a:xfrm>
              <a:off x="0" y="28575"/>
              <a:ext cx="94042" cy="65467"/>
            </a:xfrm>
            <a:prstGeom prst="rect">
              <a:avLst/>
            </a:prstGeom>
          </p:spPr>
          <p:txBody>
            <a:bodyPr anchor="ctr" rtlCol="false" tIns="50800" lIns="50800" bIns="50800" rIns="50800"/>
            <a:lstStyle/>
            <a:p>
              <a:pPr algn="ctr">
                <a:lnSpc>
                  <a:spcPts val="2661"/>
                </a:lnSpc>
              </a:pP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102870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grpSp>
        <p:nvGrpSpPr>
          <p:cNvPr name="Group 4" id="4"/>
          <p:cNvGrpSpPr/>
          <p:nvPr/>
        </p:nvGrpSpPr>
        <p:grpSpPr>
          <a:xfrm rot="0">
            <a:off x="0" y="1415070"/>
            <a:ext cx="18288000" cy="1464829"/>
            <a:chOff x="0" y="0"/>
            <a:chExt cx="4816593" cy="385799"/>
          </a:xfrm>
        </p:grpSpPr>
        <p:sp>
          <p:nvSpPr>
            <p:cNvPr name="Freeform 5" id="5"/>
            <p:cNvSpPr/>
            <p:nvPr/>
          </p:nvSpPr>
          <p:spPr>
            <a:xfrm flipH="false" flipV="false" rot="0">
              <a:off x="0" y="0"/>
              <a:ext cx="4816592" cy="385799"/>
            </a:xfrm>
            <a:custGeom>
              <a:avLst/>
              <a:gdLst/>
              <a:ahLst/>
              <a:cxnLst/>
              <a:rect r="r" b="b" t="t" l="l"/>
              <a:pathLst>
                <a:path h="385799" w="4816592">
                  <a:moveTo>
                    <a:pt x="0" y="0"/>
                  </a:moveTo>
                  <a:lnTo>
                    <a:pt x="4816592" y="0"/>
                  </a:lnTo>
                  <a:lnTo>
                    <a:pt x="4816592" y="385799"/>
                  </a:lnTo>
                  <a:lnTo>
                    <a:pt x="0" y="385799"/>
                  </a:lnTo>
                  <a:close/>
                </a:path>
              </a:pathLst>
            </a:custGeom>
            <a:solidFill>
              <a:srgbClr val="2B59C3">
                <a:alpha val="71765"/>
              </a:srgbClr>
            </a:solidFill>
          </p:spPr>
        </p:sp>
        <p:sp>
          <p:nvSpPr>
            <p:cNvPr name="TextBox 6" id="6"/>
            <p:cNvSpPr txBox="true"/>
            <p:nvPr/>
          </p:nvSpPr>
          <p:spPr>
            <a:xfrm>
              <a:off x="0" y="28575"/>
              <a:ext cx="4816593"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Does not support join operations</a:t>
              </a:r>
            </a:p>
          </p:txBody>
        </p:sp>
      </p:grpSp>
      <p:sp>
        <p:nvSpPr>
          <p:cNvPr name="Freeform 7" id="7"/>
          <p:cNvSpPr/>
          <p:nvPr/>
        </p:nvSpPr>
        <p:spPr>
          <a:xfrm flipH="false" flipV="false" rot="0">
            <a:off x="15204378" y="6672116"/>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1362438" y="3308946"/>
            <a:ext cx="8442991" cy="5878433"/>
          </a:xfrm>
          <a:custGeom>
            <a:avLst/>
            <a:gdLst/>
            <a:ahLst/>
            <a:cxnLst/>
            <a:rect r="r" b="b" t="t" l="l"/>
            <a:pathLst>
              <a:path h="5878433" w="8442991">
                <a:moveTo>
                  <a:pt x="0" y="0"/>
                </a:moveTo>
                <a:lnTo>
                  <a:pt x="8442991" y="0"/>
                </a:lnTo>
                <a:lnTo>
                  <a:pt x="8442991" y="5878432"/>
                </a:lnTo>
                <a:lnTo>
                  <a:pt x="0" y="5878432"/>
                </a:lnTo>
                <a:lnTo>
                  <a:pt x="0" y="0"/>
                </a:lnTo>
                <a:close/>
              </a:path>
            </a:pathLst>
          </a:custGeom>
          <a:blipFill>
            <a:blip r:embed="rId4"/>
            <a:stretch>
              <a:fillRect l="0" t="0" r="0" b="0"/>
            </a:stretch>
          </a:blipFill>
        </p:spPr>
      </p:sp>
      <p:sp>
        <p:nvSpPr>
          <p:cNvPr name="TextBox 9" id="9"/>
          <p:cNvSpPr txBox="true"/>
          <p:nvPr/>
        </p:nvSpPr>
        <p:spPr>
          <a:xfrm rot="0">
            <a:off x="10919313" y="3242271"/>
            <a:ext cx="6339987" cy="6137275"/>
          </a:xfrm>
          <a:prstGeom prst="rect">
            <a:avLst/>
          </a:prstGeom>
        </p:spPr>
        <p:txBody>
          <a:bodyPr anchor="t" rtlCol="false" tIns="0" lIns="0" bIns="0" rIns="0">
            <a:spAutoFit/>
          </a:bodyPr>
          <a:lstStyle/>
          <a:p>
            <a:pPr algn="just">
              <a:lnSpc>
                <a:spcPts val="3499"/>
              </a:lnSpc>
            </a:pPr>
            <a:r>
              <a:rPr lang="en-US" sz="2499">
                <a:solidFill>
                  <a:srgbClr val="000000"/>
                </a:solidFill>
                <a:latin typeface="Poppins"/>
                <a:ea typeface="Poppins"/>
                <a:cs typeface="Poppins"/>
                <a:sym typeface="Poppins"/>
              </a:rPr>
              <a:t>In Cassandra, tables are designed for specific query patterns and do not support complex SQL-like JOIN operations. A JOIN in a traditional relational database allows data from multiple tables to be combined based on a related column. Cassandra, being a NoSQL database, follows a denormalized data model, meaning data is often duplicated across tables to avoid the need for JOINS. This simplifies read operations but increases the complexity of data management and design.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102870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grpSp>
        <p:nvGrpSpPr>
          <p:cNvPr name="Group 4" id="4"/>
          <p:cNvGrpSpPr/>
          <p:nvPr/>
        </p:nvGrpSpPr>
        <p:grpSpPr>
          <a:xfrm rot="0">
            <a:off x="0" y="1415070"/>
            <a:ext cx="9144000" cy="1464829"/>
            <a:chOff x="0" y="0"/>
            <a:chExt cx="2408296" cy="385799"/>
          </a:xfrm>
        </p:grpSpPr>
        <p:sp>
          <p:nvSpPr>
            <p:cNvPr name="Freeform 5" id="5"/>
            <p:cNvSpPr/>
            <p:nvPr/>
          </p:nvSpPr>
          <p:spPr>
            <a:xfrm flipH="false" flipV="false" rot="0">
              <a:off x="0" y="0"/>
              <a:ext cx="2408296" cy="385799"/>
            </a:xfrm>
            <a:custGeom>
              <a:avLst/>
              <a:gdLst/>
              <a:ahLst/>
              <a:cxnLst/>
              <a:rect r="r" b="b" t="t" l="l"/>
              <a:pathLst>
                <a:path h="385799" w="2408296">
                  <a:moveTo>
                    <a:pt x="0" y="0"/>
                  </a:moveTo>
                  <a:lnTo>
                    <a:pt x="2408296" y="0"/>
                  </a:lnTo>
                  <a:lnTo>
                    <a:pt x="2408296" y="385799"/>
                  </a:lnTo>
                  <a:lnTo>
                    <a:pt x="0" y="385799"/>
                  </a:lnTo>
                  <a:close/>
                </a:path>
              </a:pathLst>
            </a:custGeom>
            <a:solidFill>
              <a:srgbClr val="2B59C3">
                <a:alpha val="71765"/>
              </a:srgbClr>
            </a:solidFill>
          </p:spPr>
        </p:sp>
        <p:sp>
          <p:nvSpPr>
            <p:cNvPr name="TextBox 6" id="6"/>
            <p:cNvSpPr txBox="true"/>
            <p:nvPr/>
          </p:nvSpPr>
          <p:spPr>
            <a:xfrm>
              <a:off x="0" y="28575"/>
              <a:ext cx="2408296"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High overheads</a:t>
              </a:r>
            </a:p>
          </p:txBody>
        </p:sp>
      </p:grpSp>
      <p:sp>
        <p:nvSpPr>
          <p:cNvPr name="Freeform 7" id="7"/>
          <p:cNvSpPr/>
          <p:nvPr/>
        </p:nvSpPr>
        <p:spPr>
          <a:xfrm flipH="false" flipV="false" rot="0">
            <a:off x="15204378" y="6672116"/>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grpSp>
        <p:nvGrpSpPr>
          <p:cNvPr name="Group 8" id="8"/>
          <p:cNvGrpSpPr/>
          <p:nvPr/>
        </p:nvGrpSpPr>
        <p:grpSpPr>
          <a:xfrm rot="0">
            <a:off x="9144000" y="1415070"/>
            <a:ext cx="9144000" cy="1464829"/>
            <a:chOff x="0" y="0"/>
            <a:chExt cx="2408296" cy="385799"/>
          </a:xfrm>
        </p:grpSpPr>
        <p:sp>
          <p:nvSpPr>
            <p:cNvPr name="Freeform 9" id="9"/>
            <p:cNvSpPr/>
            <p:nvPr/>
          </p:nvSpPr>
          <p:spPr>
            <a:xfrm flipH="false" flipV="false" rot="0">
              <a:off x="0" y="0"/>
              <a:ext cx="2408296" cy="385799"/>
            </a:xfrm>
            <a:custGeom>
              <a:avLst/>
              <a:gdLst/>
              <a:ahLst/>
              <a:cxnLst/>
              <a:rect r="r" b="b" t="t" l="l"/>
              <a:pathLst>
                <a:path h="385799" w="2408296">
                  <a:moveTo>
                    <a:pt x="0" y="0"/>
                  </a:moveTo>
                  <a:lnTo>
                    <a:pt x="2408296" y="0"/>
                  </a:lnTo>
                  <a:lnTo>
                    <a:pt x="2408296" y="385799"/>
                  </a:lnTo>
                  <a:lnTo>
                    <a:pt x="0" y="385799"/>
                  </a:lnTo>
                  <a:close/>
                </a:path>
              </a:pathLst>
            </a:custGeom>
            <a:solidFill>
              <a:srgbClr val="2B59C3">
                <a:alpha val="71765"/>
              </a:srgbClr>
            </a:solidFill>
          </p:spPr>
        </p:sp>
        <p:sp>
          <p:nvSpPr>
            <p:cNvPr name="TextBox 10" id="10"/>
            <p:cNvSpPr txBox="true"/>
            <p:nvPr/>
          </p:nvSpPr>
          <p:spPr>
            <a:xfrm>
              <a:off x="0" y="28575"/>
              <a:ext cx="2408296"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Key uniqueness</a:t>
              </a:r>
            </a:p>
          </p:txBody>
        </p:sp>
      </p:grpSp>
      <p:sp>
        <p:nvSpPr>
          <p:cNvPr name="Freeform 11" id="11"/>
          <p:cNvSpPr/>
          <p:nvPr/>
        </p:nvSpPr>
        <p:spPr>
          <a:xfrm flipH="false" flipV="false" rot="0">
            <a:off x="5509100" y="7845575"/>
            <a:ext cx="2258958" cy="2141368"/>
          </a:xfrm>
          <a:custGeom>
            <a:avLst/>
            <a:gdLst/>
            <a:ahLst/>
            <a:cxnLst/>
            <a:rect r="r" b="b" t="t" l="l"/>
            <a:pathLst>
              <a:path h="2141368" w="2258958">
                <a:moveTo>
                  <a:pt x="0" y="0"/>
                </a:moveTo>
                <a:lnTo>
                  <a:pt x="2258957" y="0"/>
                </a:lnTo>
                <a:lnTo>
                  <a:pt x="2258957" y="2141368"/>
                </a:lnTo>
                <a:lnTo>
                  <a:pt x="0" y="21413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2312819" y="7815422"/>
            <a:ext cx="2259181" cy="2201674"/>
          </a:xfrm>
          <a:custGeom>
            <a:avLst/>
            <a:gdLst/>
            <a:ahLst/>
            <a:cxnLst/>
            <a:rect r="r" b="b" t="t" l="l"/>
            <a:pathLst>
              <a:path h="2201674" w="2259181">
                <a:moveTo>
                  <a:pt x="0" y="0"/>
                </a:moveTo>
                <a:lnTo>
                  <a:pt x="2259181" y="0"/>
                </a:lnTo>
                <a:lnTo>
                  <a:pt x="2259181" y="2201674"/>
                </a:lnTo>
                <a:lnTo>
                  <a:pt x="0" y="22016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433935" y="3971886"/>
            <a:ext cx="8276130" cy="3652832"/>
          </a:xfrm>
          <a:prstGeom prst="rect">
            <a:avLst/>
          </a:prstGeom>
        </p:spPr>
        <p:txBody>
          <a:bodyPr anchor="t" rtlCol="false" tIns="0" lIns="0" bIns="0" rIns="0">
            <a:spAutoFit/>
          </a:bodyPr>
          <a:lstStyle/>
          <a:p>
            <a:pPr algn="ctr">
              <a:lnSpc>
                <a:spcPts val="3168"/>
              </a:lnSpc>
              <a:spcBef>
                <a:spcPct val="0"/>
              </a:spcBef>
            </a:pPr>
            <a:r>
              <a:rPr lang="en-US" sz="3046">
                <a:solidFill>
                  <a:srgbClr val="000000"/>
                </a:solidFill>
                <a:latin typeface="Poppins"/>
                <a:ea typeface="Poppins"/>
                <a:cs typeface="Poppins"/>
                <a:sym typeface="Poppins"/>
              </a:rPr>
              <a:t>Cassandra’s architecture is distributed, which involves replicating data across multiple nodes to ensure fault tolerance and availability. However, this replication comes with high resource costs, such as storage, memory, and network bandwidth. Managing multiple copies of data across nodes can increase write amplification and resource utilization.</a:t>
            </a:r>
          </a:p>
        </p:txBody>
      </p:sp>
      <p:sp>
        <p:nvSpPr>
          <p:cNvPr name="TextBox 14" id="14"/>
          <p:cNvSpPr txBox="true"/>
          <p:nvPr/>
        </p:nvSpPr>
        <p:spPr>
          <a:xfrm rot="0">
            <a:off x="10293897" y="4077265"/>
            <a:ext cx="6965403" cy="4348308"/>
          </a:xfrm>
          <a:prstGeom prst="rect">
            <a:avLst/>
          </a:prstGeom>
        </p:spPr>
        <p:txBody>
          <a:bodyPr anchor="t" rtlCol="false" tIns="0" lIns="0" bIns="0" rIns="0">
            <a:spAutoFit/>
          </a:bodyPr>
          <a:lstStyle/>
          <a:p>
            <a:pPr algn="just">
              <a:lnSpc>
                <a:spcPts val="3845"/>
              </a:lnSpc>
            </a:pPr>
            <a:r>
              <a:rPr lang="en-US" sz="2746">
                <a:solidFill>
                  <a:srgbClr val="000000"/>
                </a:solidFill>
                <a:latin typeface="Poppins"/>
                <a:ea typeface="Poppins"/>
                <a:cs typeface="Poppins"/>
                <a:sym typeface="Poppins"/>
              </a:rPr>
              <a:t>Cassandra enforces a unique primary key for each record, which consists of the partition key and optional clustering columns. While this design is intended to ensure quick retrieval of data, it can complicate data modeling when there is a need for composite or non-unique key constraints, which are common in relational databases.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102870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grpSp>
        <p:nvGrpSpPr>
          <p:cNvPr name="Group 4" id="4"/>
          <p:cNvGrpSpPr/>
          <p:nvPr/>
        </p:nvGrpSpPr>
        <p:grpSpPr>
          <a:xfrm rot="0">
            <a:off x="0" y="1415070"/>
            <a:ext cx="18288000" cy="1464829"/>
            <a:chOff x="0" y="0"/>
            <a:chExt cx="4816593" cy="385799"/>
          </a:xfrm>
        </p:grpSpPr>
        <p:sp>
          <p:nvSpPr>
            <p:cNvPr name="Freeform 5" id="5"/>
            <p:cNvSpPr/>
            <p:nvPr/>
          </p:nvSpPr>
          <p:spPr>
            <a:xfrm flipH="false" flipV="false" rot="0">
              <a:off x="0" y="0"/>
              <a:ext cx="4816592" cy="385799"/>
            </a:xfrm>
            <a:custGeom>
              <a:avLst/>
              <a:gdLst/>
              <a:ahLst/>
              <a:cxnLst/>
              <a:rect r="r" b="b" t="t" l="l"/>
              <a:pathLst>
                <a:path h="385799" w="4816592">
                  <a:moveTo>
                    <a:pt x="0" y="0"/>
                  </a:moveTo>
                  <a:lnTo>
                    <a:pt x="4816592" y="0"/>
                  </a:lnTo>
                  <a:lnTo>
                    <a:pt x="4816592" y="385799"/>
                  </a:lnTo>
                  <a:lnTo>
                    <a:pt x="0" y="385799"/>
                  </a:lnTo>
                  <a:close/>
                </a:path>
              </a:pathLst>
            </a:custGeom>
            <a:solidFill>
              <a:srgbClr val="2B59C3">
                <a:alpha val="71765"/>
              </a:srgbClr>
            </a:solidFill>
          </p:spPr>
        </p:sp>
        <p:sp>
          <p:nvSpPr>
            <p:cNvPr name="TextBox 6" id="6"/>
            <p:cNvSpPr txBox="true"/>
            <p:nvPr/>
          </p:nvSpPr>
          <p:spPr>
            <a:xfrm>
              <a:off x="0" y="28575"/>
              <a:ext cx="4816593"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Diffifculties with search operations</a:t>
              </a:r>
            </a:p>
          </p:txBody>
        </p:sp>
      </p:grpSp>
      <p:sp>
        <p:nvSpPr>
          <p:cNvPr name="Freeform 7" id="7"/>
          <p:cNvSpPr/>
          <p:nvPr/>
        </p:nvSpPr>
        <p:spPr>
          <a:xfrm flipH="false" flipV="false" rot="0">
            <a:off x="15204378" y="6672116"/>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485368" y="3915153"/>
            <a:ext cx="9598734" cy="4439600"/>
          </a:xfrm>
          <a:custGeom>
            <a:avLst/>
            <a:gdLst/>
            <a:ahLst/>
            <a:cxnLst/>
            <a:rect r="r" b="b" t="t" l="l"/>
            <a:pathLst>
              <a:path h="4439600" w="9598734">
                <a:moveTo>
                  <a:pt x="0" y="0"/>
                </a:moveTo>
                <a:lnTo>
                  <a:pt x="9598735" y="0"/>
                </a:lnTo>
                <a:lnTo>
                  <a:pt x="9598735" y="4439600"/>
                </a:lnTo>
                <a:lnTo>
                  <a:pt x="0" y="4439600"/>
                </a:lnTo>
                <a:lnTo>
                  <a:pt x="0" y="0"/>
                </a:lnTo>
                <a:close/>
              </a:path>
            </a:pathLst>
          </a:custGeom>
          <a:blipFill>
            <a:blip r:embed="rId4"/>
            <a:stretch>
              <a:fillRect l="-1635" t="-32423" r="-46080" b="-46026"/>
            </a:stretch>
          </a:blipFill>
        </p:spPr>
      </p:sp>
      <p:sp>
        <p:nvSpPr>
          <p:cNvPr name="TextBox 9" id="9"/>
          <p:cNvSpPr txBox="true"/>
          <p:nvPr/>
        </p:nvSpPr>
        <p:spPr>
          <a:xfrm rot="0">
            <a:off x="10826229" y="3838953"/>
            <a:ext cx="6871146" cy="4755959"/>
          </a:xfrm>
          <a:prstGeom prst="rect">
            <a:avLst/>
          </a:prstGeom>
        </p:spPr>
        <p:txBody>
          <a:bodyPr anchor="t" rtlCol="false" tIns="0" lIns="0" bIns="0" rIns="0">
            <a:spAutoFit/>
          </a:bodyPr>
          <a:lstStyle/>
          <a:p>
            <a:pPr algn="just">
              <a:lnSpc>
                <a:spcPts val="3793"/>
              </a:lnSpc>
            </a:pPr>
            <a:r>
              <a:rPr lang="en-US" sz="2709">
                <a:solidFill>
                  <a:srgbClr val="000000"/>
                </a:solidFill>
                <a:latin typeface="Poppins"/>
                <a:ea typeface="Poppins"/>
                <a:cs typeface="Poppins"/>
                <a:sym typeface="Poppins"/>
              </a:rPr>
              <a:t>Cassandra is optimized for quick reads and writes by key lookups, but it lacks built-in support for complex search operations such as full-text search or range queries. These features are often expected in traditional databases or systems. Cassandra queries must be planned carefully around the partition key, which limits flexibility in performing searches across large datasets.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0" y="1028700"/>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grpSp>
        <p:nvGrpSpPr>
          <p:cNvPr name="Group 4" id="4"/>
          <p:cNvGrpSpPr/>
          <p:nvPr/>
        </p:nvGrpSpPr>
        <p:grpSpPr>
          <a:xfrm rot="0">
            <a:off x="0" y="1415070"/>
            <a:ext cx="18288000" cy="1464829"/>
            <a:chOff x="0" y="0"/>
            <a:chExt cx="4816593" cy="385799"/>
          </a:xfrm>
        </p:grpSpPr>
        <p:sp>
          <p:nvSpPr>
            <p:cNvPr name="Freeform 5" id="5"/>
            <p:cNvSpPr/>
            <p:nvPr/>
          </p:nvSpPr>
          <p:spPr>
            <a:xfrm flipH="false" flipV="false" rot="0">
              <a:off x="0" y="0"/>
              <a:ext cx="4816592" cy="385799"/>
            </a:xfrm>
            <a:custGeom>
              <a:avLst/>
              <a:gdLst/>
              <a:ahLst/>
              <a:cxnLst/>
              <a:rect r="r" b="b" t="t" l="l"/>
              <a:pathLst>
                <a:path h="385799" w="4816592">
                  <a:moveTo>
                    <a:pt x="0" y="0"/>
                  </a:moveTo>
                  <a:lnTo>
                    <a:pt x="4816592" y="0"/>
                  </a:lnTo>
                  <a:lnTo>
                    <a:pt x="4816592" y="385799"/>
                  </a:lnTo>
                  <a:lnTo>
                    <a:pt x="0" y="385799"/>
                  </a:lnTo>
                  <a:close/>
                </a:path>
              </a:pathLst>
            </a:custGeom>
            <a:solidFill>
              <a:srgbClr val="2B59C3">
                <a:alpha val="71765"/>
              </a:srgbClr>
            </a:solidFill>
          </p:spPr>
        </p:sp>
        <p:sp>
          <p:nvSpPr>
            <p:cNvPr name="TextBox 6" id="6"/>
            <p:cNvSpPr txBox="true"/>
            <p:nvPr/>
          </p:nvSpPr>
          <p:spPr>
            <a:xfrm>
              <a:off x="0" y="28575"/>
              <a:ext cx="4816593" cy="357224"/>
            </a:xfrm>
            <a:prstGeom prst="rect">
              <a:avLst/>
            </a:prstGeom>
          </p:spPr>
          <p:txBody>
            <a:bodyPr anchor="ctr" rtlCol="false" tIns="50800" lIns="50800" bIns="50800" rIns="50800"/>
            <a:lstStyle/>
            <a:p>
              <a:pPr algn="ctr">
                <a:lnSpc>
                  <a:spcPts val="5719"/>
                </a:lnSpc>
              </a:pPr>
              <a:r>
                <a:rPr lang="en-US" b="true" sz="5499">
                  <a:solidFill>
                    <a:srgbClr val="FEFEFE">
                      <a:alpha val="71765"/>
                    </a:srgbClr>
                  </a:solidFill>
                  <a:latin typeface="Poppins Bold"/>
                  <a:ea typeface="Poppins Bold"/>
                  <a:cs typeface="Poppins Bold"/>
                  <a:sym typeface="Poppins Bold"/>
                </a:rPr>
                <a:t>Difficulties with counter data type</a:t>
              </a:r>
            </a:p>
          </p:txBody>
        </p:sp>
      </p:grpSp>
      <p:sp>
        <p:nvSpPr>
          <p:cNvPr name="Freeform 7" id="7"/>
          <p:cNvSpPr/>
          <p:nvPr/>
        </p:nvSpPr>
        <p:spPr>
          <a:xfrm flipH="false" flipV="false" rot="0">
            <a:off x="15204378" y="6672116"/>
            <a:ext cx="3083622" cy="3126612"/>
          </a:xfrm>
          <a:custGeom>
            <a:avLst/>
            <a:gdLst/>
            <a:ahLst/>
            <a:cxnLst/>
            <a:rect r="r" b="b" t="t" l="l"/>
            <a:pathLst>
              <a:path h="3126612" w="3083622">
                <a:moveTo>
                  <a:pt x="0" y="0"/>
                </a:moveTo>
                <a:lnTo>
                  <a:pt x="3083622" y="0"/>
                </a:lnTo>
                <a:lnTo>
                  <a:pt x="3083622" y="3126612"/>
                </a:lnTo>
                <a:lnTo>
                  <a:pt x="0" y="3126612"/>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1690850" y="3308946"/>
            <a:ext cx="7960894" cy="5970671"/>
          </a:xfrm>
          <a:custGeom>
            <a:avLst/>
            <a:gdLst/>
            <a:ahLst/>
            <a:cxnLst/>
            <a:rect r="r" b="b" t="t" l="l"/>
            <a:pathLst>
              <a:path h="5970671" w="7960894">
                <a:moveTo>
                  <a:pt x="0" y="0"/>
                </a:moveTo>
                <a:lnTo>
                  <a:pt x="7960894" y="0"/>
                </a:lnTo>
                <a:lnTo>
                  <a:pt x="7960894" y="5970670"/>
                </a:lnTo>
                <a:lnTo>
                  <a:pt x="0" y="5970670"/>
                </a:lnTo>
                <a:lnTo>
                  <a:pt x="0" y="0"/>
                </a:lnTo>
                <a:close/>
              </a:path>
            </a:pathLst>
          </a:custGeom>
          <a:blipFill>
            <a:blip r:embed="rId4"/>
            <a:stretch>
              <a:fillRect l="0" t="0" r="0" b="0"/>
            </a:stretch>
          </a:blipFill>
        </p:spPr>
      </p:sp>
      <p:sp>
        <p:nvSpPr>
          <p:cNvPr name="TextBox 9" id="9"/>
          <p:cNvSpPr txBox="true"/>
          <p:nvPr/>
        </p:nvSpPr>
        <p:spPr>
          <a:xfrm rot="0">
            <a:off x="10475540" y="3673551"/>
            <a:ext cx="6783760" cy="5165261"/>
          </a:xfrm>
          <a:prstGeom prst="rect">
            <a:avLst/>
          </a:prstGeom>
        </p:spPr>
        <p:txBody>
          <a:bodyPr anchor="t" rtlCol="false" tIns="0" lIns="0" bIns="0" rIns="0">
            <a:spAutoFit/>
          </a:bodyPr>
          <a:lstStyle/>
          <a:p>
            <a:pPr algn="just">
              <a:lnSpc>
                <a:spcPts val="3744"/>
              </a:lnSpc>
            </a:pPr>
            <a:r>
              <a:rPr lang="en-US" sz="2674">
                <a:solidFill>
                  <a:srgbClr val="000000"/>
                </a:solidFill>
                <a:latin typeface="Poppins"/>
                <a:ea typeface="Poppins"/>
                <a:cs typeface="Poppins"/>
                <a:sym typeface="Poppins"/>
              </a:rPr>
              <a:t>Cassandra provides a special data type called a counter to support atomic increments or decrements. However, counters in Cassandra can be tricky to work with due to limitations such as strict conditions for updates. For example, they can't be part of a batch update with other columns, and concurrent updates to counters can sometimes cause consistency issues without careful configuration.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6705897" y="1234299"/>
            <a:ext cx="2232436" cy="2263560"/>
          </a:xfrm>
          <a:custGeom>
            <a:avLst/>
            <a:gdLst/>
            <a:ahLst/>
            <a:cxnLst/>
            <a:rect r="r" b="b" t="t" l="l"/>
            <a:pathLst>
              <a:path h="2263560" w="2232436">
                <a:moveTo>
                  <a:pt x="0" y="0"/>
                </a:moveTo>
                <a:lnTo>
                  <a:pt x="2232435" y="0"/>
                </a:lnTo>
                <a:lnTo>
                  <a:pt x="2232435"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3336881" y="8723680"/>
            <a:ext cx="2566749" cy="1443796"/>
          </a:xfrm>
          <a:custGeom>
            <a:avLst/>
            <a:gdLst/>
            <a:ahLst/>
            <a:cxnLst/>
            <a:rect r="r" b="b" t="t" l="l"/>
            <a:pathLst>
              <a:path h="1443796" w="2566749">
                <a:moveTo>
                  <a:pt x="0" y="0"/>
                </a:moveTo>
                <a:lnTo>
                  <a:pt x="2566749" y="0"/>
                </a:lnTo>
                <a:lnTo>
                  <a:pt x="2566749" y="1443796"/>
                </a:lnTo>
                <a:lnTo>
                  <a:pt x="0" y="1443796"/>
                </a:lnTo>
                <a:lnTo>
                  <a:pt x="0" y="0"/>
                </a:lnTo>
                <a:close/>
              </a:path>
            </a:pathLst>
          </a:custGeom>
          <a:blipFill>
            <a:blip r:embed="rId4"/>
            <a:stretch>
              <a:fillRect l="0" t="0" r="0" b="0"/>
            </a:stretch>
          </a:blipFill>
        </p:spPr>
      </p:sp>
      <p:sp>
        <p:nvSpPr>
          <p:cNvPr name="Freeform 5" id="5"/>
          <p:cNvSpPr/>
          <p:nvPr/>
        </p:nvSpPr>
        <p:spPr>
          <a:xfrm flipH="false" flipV="false" rot="0">
            <a:off x="1561665" y="8356806"/>
            <a:ext cx="2313140" cy="2313140"/>
          </a:xfrm>
          <a:custGeom>
            <a:avLst/>
            <a:gdLst/>
            <a:ahLst/>
            <a:cxnLst/>
            <a:rect r="r" b="b" t="t" l="l"/>
            <a:pathLst>
              <a:path h="2313140" w="2313140">
                <a:moveTo>
                  <a:pt x="0" y="0"/>
                </a:moveTo>
                <a:lnTo>
                  <a:pt x="2313140" y="0"/>
                </a:lnTo>
                <a:lnTo>
                  <a:pt x="2313140" y="2313139"/>
                </a:lnTo>
                <a:lnTo>
                  <a:pt x="0" y="2313139"/>
                </a:lnTo>
                <a:lnTo>
                  <a:pt x="0" y="0"/>
                </a:lnTo>
                <a:close/>
              </a:path>
            </a:pathLst>
          </a:custGeom>
          <a:blipFill>
            <a:blip r:embed="rId5"/>
            <a:stretch>
              <a:fillRect l="0" t="0" r="0" b="0"/>
            </a:stretch>
          </a:blipFill>
        </p:spPr>
      </p:sp>
      <p:sp>
        <p:nvSpPr>
          <p:cNvPr name="Freeform 6" id="6"/>
          <p:cNvSpPr/>
          <p:nvPr/>
        </p:nvSpPr>
        <p:spPr>
          <a:xfrm flipH="false" flipV="false" rot="0">
            <a:off x="5903630" y="8791478"/>
            <a:ext cx="1308201" cy="1308201"/>
          </a:xfrm>
          <a:custGeom>
            <a:avLst/>
            <a:gdLst/>
            <a:ahLst/>
            <a:cxnLst/>
            <a:rect r="r" b="b" t="t" l="l"/>
            <a:pathLst>
              <a:path h="1308201" w="1308201">
                <a:moveTo>
                  <a:pt x="0" y="0"/>
                </a:moveTo>
                <a:lnTo>
                  <a:pt x="1308201" y="0"/>
                </a:lnTo>
                <a:lnTo>
                  <a:pt x="1308201" y="1308201"/>
                </a:lnTo>
                <a:lnTo>
                  <a:pt x="0" y="1308201"/>
                </a:lnTo>
                <a:lnTo>
                  <a:pt x="0" y="0"/>
                </a:lnTo>
                <a:close/>
              </a:path>
            </a:pathLst>
          </a:custGeom>
          <a:blipFill>
            <a:blip r:embed="rId6"/>
            <a:stretch>
              <a:fillRect l="0" t="0" r="0" b="0"/>
            </a:stretch>
          </a:blipFill>
        </p:spPr>
      </p:sp>
      <p:sp>
        <p:nvSpPr>
          <p:cNvPr name="Freeform 7" id="7"/>
          <p:cNvSpPr/>
          <p:nvPr/>
        </p:nvSpPr>
        <p:spPr>
          <a:xfrm flipH="false" flipV="false" rot="0">
            <a:off x="10430652" y="6930060"/>
            <a:ext cx="6341182" cy="3360826"/>
          </a:xfrm>
          <a:custGeom>
            <a:avLst/>
            <a:gdLst/>
            <a:ahLst/>
            <a:cxnLst/>
            <a:rect r="r" b="b" t="t" l="l"/>
            <a:pathLst>
              <a:path h="3360826" w="6341182">
                <a:moveTo>
                  <a:pt x="0" y="0"/>
                </a:moveTo>
                <a:lnTo>
                  <a:pt x="6341182" y="0"/>
                </a:lnTo>
                <a:lnTo>
                  <a:pt x="6341182" y="3360826"/>
                </a:lnTo>
                <a:lnTo>
                  <a:pt x="0" y="3360826"/>
                </a:lnTo>
                <a:lnTo>
                  <a:pt x="0" y="0"/>
                </a:lnTo>
                <a:close/>
              </a:path>
            </a:pathLst>
          </a:custGeom>
          <a:blipFill>
            <a:blip r:embed="rId7"/>
            <a:stretch>
              <a:fillRect l="0" t="0" r="0" b="0"/>
            </a:stretch>
          </a:blipFill>
        </p:spPr>
      </p:sp>
      <p:sp>
        <p:nvSpPr>
          <p:cNvPr name="TextBox 8" id="8"/>
          <p:cNvSpPr txBox="true"/>
          <p:nvPr/>
        </p:nvSpPr>
        <p:spPr>
          <a:xfrm rot="0">
            <a:off x="7039217" y="594014"/>
            <a:ext cx="4209567"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Use Cases</a:t>
            </a:r>
          </a:p>
        </p:txBody>
      </p:sp>
      <p:sp>
        <p:nvSpPr>
          <p:cNvPr name="TextBox 9" id="9"/>
          <p:cNvSpPr txBox="true"/>
          <p:nvPr/>
        </p:nvSpPr>
        <p:spPr>
          <a:xfrm rot="0">
            <a:off x="702256" y="2048002"/>
            <a:ext cx="8441744" cy="6562471"/>
          </a:xfrm>
          <a:prstGeom prst="rect">
            <a:avLst/>
          </a:prstGeom>
        </p:spPr>
        <p:txBody>
          <a:bodyPr anchor="t" rtlCol="false" tIns="0" lIns="0" bIns="0" rIns="0">
            <a:spAutoFit/>
          </a:bodyPr>
          <a:lstStyle/>
          <a:p>
            <a:pPr algn="ctr">
              <a:lnSpc>
                <a:spcPts val="2912"/>
              </a:lnSpc>
              <a:spcBef>
                <a:spcPct val="0"/>
              </a:spcBef>
            </a:pPr>
            <a:r>
              <a:rPr lang="en-US" b="true" sz="2800">
                <a:solidFill>
                  <a:srgbClr val="063050"/>
                </a:solidFill>
                <a:latin typeface="Poppins Bold"/>
                <a:ea typeface="Poppins Bold"/>
                <a:cs typeface="Poppins Bold"/>
                <a:sym typeface="Poppins Bold"/>
              </a:rPr>
              <a:t>Real-Time Big Data Analytics:</a:t>
            </a:r>
          </a:p>
          <a:p>
            <a:pPr algn="ctr">
              <a:lnSpc>
                <a:spcPts val="2912"/>
              </a:lnSpc>
              <a:spcBef>
                <a:spcPct val="0"/>
              </a:spcBef>
            </a:pPr>
          </a:p>
          <a:p>
            <a:pPr algn="ctr">
              <a:lnSpc>
                <a:spcPts val="2912"/>
              </a:lnSpc>
              <a:spcBef>
                <a:spcPct val="0"/>
              </a:spcBef>
            </a:pPr>
            <a:r>
              <a:rPr lang="en-US" sz="2800">
                <a:solidFill>
                  <a:srgbClr val="063050"/>
                </a:solidFill>
                <a:latin typeface="Poppins"/>
                <a:ea typeface="Poppins"/>
                <a:cs typeface="Poppins"/>
                <a:sym typeface="Poppins"/>
              </a:rPr>
              <a:t>Cassandra’s architecture is designed for </a:t>
            </a:r>
            <a:r>
              <a:rPr lang="en-US" b="true" sz="2800">
                <a:solidFill>
                  <a:srgbClr val="063050"/>
                </a:solidFill>
                <a:latin typeface="Poppins Bold"/>
                <a:ea typeface="Poppins Bold"/>
                <a:cs typeface="Poppins Bold"/>
                <a:sym typeface="Poppins Bold"/>
              </a:rPr>
              <a:t>handling large amounts of data across distributed systems</a:t>
            </a:r>
            <a:r>
              <a:rPr lang="en-US" sz="2800">
                <a:solidFill>
                  <a:srgbClr val="063050"/>
                </a:solidFill>
                <a:latin typeface="Poppins"/>
                <a:ea typeface="Poppins"/>
                <a:cs typeface="Poppins"/>
                <a:sym typeface="Poppins"/>
              </a:rPr>
              <a:t>, making it well-suited for real-time big data analytics. With its ability to perform fast reads and writes, Cassandra enables companies to </a:t>
            </a:r>
            <a:r>
              <a:rPr lang="en-US" b="true" sz="2800">
                <a:solidFill>
                  <a:srgbClr val="063050"/>
                </a:solidFill>
                <a:latin typeface="Poppins Bold"/>
                <a:ea typeface="Poppins Bold"/>
                <a:cs typeface="Poppins Bold"/>
                <a:sym typeface="Poppins Bold"/>
              </a:rPr>
              <a:t>analyze massive datasets in real time</a:t>
            </a:r>
            <a:r>
              <a:rPr lang="en-US" sz="2800">
                <a:solidFill>
                  <a:srgbClr val="063050"/>
                </a:solidFill>
                <a:latin typeface="Poppins"/>
                <a:ea typeface="Poppins"/>
                <a:cs typeface="Poppins"/>
                <a:sym typeface="Poppins"/>
              </a:rPr>
              <a:t>. Data is distributed across multiple nodes, ensuring that </a:t>
            </a:r>
            <a:r>
              <a:rPr lang="en-US" b="true" sz="2800">
                <a:solidFill>
                  <a:srgbClr val="063050"/>
                </a:solidFill>
                <a:latin typeface="Poppins Bold"/>
                <a:ea typeface="Poppins Bold"/>
                <a:cs typeface="Poppins Bold"/>
                <a:sym typeface="Poppins Bold"/>
              </a:rPr>
              <a:t>analytics workloads can be processed in parallel</a:t>
            </a:r>
            <a:r>
              <a:rPr lang="en-US" sz="2800">
                <a:solidFill>
                  <a:srgbClr val="063050"/>
                </a:solidFill>
                <a:latin typeface="Poppins"/>
                <a:ea typeface="Poppins"/>
                <a:cs typeface="Poppins"/>
                <a:sym typeface="Poppins"/>
              </a:rPr>
              <a:t>. This is particularly useful for businesses that need to analyze customer behavior, network traffic, or any other high-volume data in real time.</a:t>
            </a:r>
          </a:p>
          <a:p>
            <a:pPr algn="ctr">
              <a:lnSpc>
                <a:spcPts val="2912"/>
              </a:lnSpc>
              <a:spcBef>
                <a:spcPct val="0"/>
              </a:spcBef>
            </a:pPr>
          </a:p>
          <a:p>
            <a:pPr algn="ctr">
              <a:lnSpc>
                <a:spcPts val="2912"/>
              </a:lnSpc>
              <a:spcBef>
                <a:spcPct val="0"/>
              </a:spcBef>
            </a:pPr>
            <a:r>
              <a:rPr lang="en-US" sz="2800">
                <a:solidFill>
                  <a:srgbClr val="063050"/>
                </a:solidFill>
                <a:latin typeface="Poppins"/>
                <a:ea typeface="Poppins"/>
                <a:cs typeface="Poppins"/>
                <a:sym typeface="Poppins"/>
              </a:rPr>
              <a:t>Example: A social media platform analyzing user interactions in real time to optimize content delivery and engagement metrics.</a:t>
            </a:r>
          </a:p>
        </p:txBody>
      </p:sp>
      <p:sp>
        <p:nvSpPr>
          <p:cNvPr name="TextBox 10" id="10"/>
          <p:cNvSpPr txBox="true"/>
          <p:nvPr/>
        </p:nvSpPr>
        <p:spPr>
          <a:xfrm rot="0">
            <a:off x="9380371" y="2048002"/>
            <a:ext cx="8441744" cy="5114671"/>
          </a:xfrm>
          <a:prstGeom prst="rect">
            <a:avLst/>
          </a:prstGeom>
        </p:spPr>
        <p:txBody>
          <a:bodyPr anchor="t" rtlCol="false" tIns="0" lIns="0" bIns="0" rIns="0">
            <a:spAutoFit/>
          </a:bodyPr>
          <a:lstStyle/>
          <a:p>
            <a:pPr algn="ctr">
              <a:lnSpc>
                <a:spcPts val="2912"/>
              </a:lnSpc>
            </a:pPr>
            <a:r>
              <a:rPr lang="en-US" sz="2800" b="true">
                <a:solidFill>
                  <a:srgbClr val="063050"/>
                </a:solidFill>
                <a:latin typeface="Poppins Bold"/>
                <a:ea typeface="Poppins Bold"/>
                <a:cs typeface="Poppins Bold"/>
                <a:sym typeface="Poppins Bold"/>
              </a:rPr>
              <a:t>Internet of Things (IoT) Applications:</a:t>
            </a:r>
          </a:p>
          <a:p>
            <a:pPr algn="ctr">
              <a:lnSpc>
                <a:spcPts val="2912"/>
              </a:lnSpc>
            </a:pPr>
          </a:p>
          <a:p>
            <a:pPr algn="ctr">
              <a:lnSpc>
                <a:spcPts val="2912"/>
              </a:lnSpc>
            </a:pPr>
            <a:r>
              <a:rPr lang="en-US" sz="2800">
                <a:solidFill>
                  <a:srgbClr val="063050"/>
                </a:solidFill>
                <a:latin typeface="Poppins"/>
                <a:ea typeface="Poppins"/>
                <a:cs typeface="Poppins"/>
                <a:sym typeface="Poppins"/>
              </a:rPr>
              <a:t>Cassandra is ideal for IoT applications due to its ability to handle </a:t>
            </a:r>
            <a:r>
              <a:rPr lang="en-US" sz="2800" b="true">
                <a:solidFill>
                  <a:srgbClr val="063050"/>
                </a:solidFill>
                <a:latin typeface="Poppins Bold"/>
                <a:ea typeface="Poppins Bold"/>
                <a:cs typeface="Poppins Bold"/>
                <a:sym typeface="Poppins Bold"/>
              </a:rPr>
              <a:t>high-velocity data streams and scale horizontally as device numbers grow</a:t>
            </a:r>
            <a:r>
              <a:rPr lang="en-US" sz="2800">
                <a:solidFill>
                  <a:srgbClr val="063050"/>
                </a:solidFill>
                <a:latin typeface="Poppins"/>
                <a:ea typeface="Poppins"/>
                <a:cs typeface="Poppins"/>
                <a:sym typeface="Poppins"/>
              </a:rPr>
              <a:t>. Its eventual consistency model suits IoT, where data is collected across multiple locations and synchronized over time.</a:t>
            </a:r>
          </a:p>
          <a:p>
            <a:pPr algn="ctr">
              <a:lnSpc>
                <a:spcPts val="2912"/>
              </a:lnSpc>
            </a:pPr>
          </a:p>
          <a:p>
            <a:pPr algn="ctr">
              <a:lnSpc>
                <a:spcPts val="2912"/>
              </a:lnSpc>
            </a:pPr>
            <a:r>
              <a:rPr lang="en-US" sz="2800">
                <a:solidFill>
                  <a:srgbClr val="063050"/>
                </a:solidFill>
                <a:latin typeface="Poppins"/>
                <a:ea typeface="Poppins"/>
                <a:cs typeface="Poppins"/>
                <a:sym typeface="Poppins"/>
              </a:rPr>
              <a:t>Example: Cisco uses Cassandra to power its IoT infrastructure for monitoring devices and collecting telemetry data from connected devices across different environments.</a:t>
            </a:r>
          </a:p>
          <a:p>
            <a:pPr algn="ctr">
              <a:lnSpc>
                <a:spcPts val="2912"/>
              </a:lnSpc>
              <a:spcBef>
                <a:spcPct val="0"/>
              </a:spcBef>
            </a:pP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6705897" y="1234299"/>
            <a:ext cx="2232436" cy="2263560"/>
          </a:xfrm>
          <a:custGeom>
            <a:avLst/>
            <a:gdLst/>
            <a:ahLst/>
            <a:cxnLst/>
            <a:rect r="r" b="b" t="t" l="l"/>
            <a:pathLst>
              <a:path h="2263560" w="2232436">
                <a:moveTo>
                  <a:pt x="0" y="0"/>
                </a:moveTo>
                <a:lnTo>
                  <a:pt x="2232435" y="0"/>
                </a:lnTo>
                <a:lnTo>
                  <a:pt x="2232435"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1351342" y="7751378"/>
            <a:ext cx="5432993" cy="1908339"/>
          </a:xfrm>
          <a:custGeom>
            <a:avLst/>
            <a:gdLst/>
            <a:ahLst/>
            <a:cxnLst/>
            <a:rect r="r" b="b" t="t" l="l"/>
            <a:pathLst>
              <a:path h="1908339" w="5432993">
                <a:moveTo>
                  <a:pt x="0" y="0"/>
                </a:moveTo>
                <a:lnTo>
                  <a:pt x="5432994" y="0"/>
                </a:lnTo>
                <a:lnTo>
                  <a:pt x="5432994" y="1908339"/>
                </a:lnTo>
                <a:lnTo>
                  <a:pt x="0" y="1908339"/>
                </a:lnTo>
                <a:lnTo>
                  <a:pt x="0" y="0"/>
                </a:lnTo>
                <a:close/>
              </a:path>
            </a:pathLst>
          </a:custGeom>
          <a:blipFill>
            <a:blip r:embed="rId4"/>
            <a:stretch>
              <a:fillRect l="0" t="0" r="0" b="0"/>
            </a:stretch>
          </a:blipFill>
        </p:spPr>
      </p:sp>
      <p:sp>
        <p:nvSpPr>
          <p:cNvPr name="Freeform 5" id="5"/>
          <p:cNvSpPr/>
          <p:nvPr/>
        </p:nvSpPr>
        <p:spPr>
          <a:xfrm flipH="false" flipV="false" rot="0">
            <a:off x="11544619" y="7923834"/>
            <a:ext cx="5420884" cy="2363166"/>
          </a:xfrm>
          <a:custGeom>
            <a:avLst/>
            <a:gdLst/>
            <a:ahLst/>
            <a:cxnLst/>
            <a:rect r="r" b="b" t="t" l="l"/>
            <a:pathLst>
              <a:path h="2363166" w="5420884">
                <a:moveTo>
                  <a:pt x="0" y="0"/>
                </a:moveTo>
                <a:lnTo>
                  <a:pt x="5420884" y="0"/>
                </a:lnTo>
                <a:lnTo>
                  <a:pt x="5420884" y="2363166"/>
                </a:lnTo>
                <a:lnTo>
                  <a:pt x="0" y="2363166"/>
                </a:lnTo>
                <a:lnTo>
                  <a:pt x="0" y="0"/>
                </a:lnTo>
                <a:close/>
              </a:path>
            </a:pathLst>
          </a:custGeom>
          <a:blipFill>
            <a:blip r:embed="rId5"/>
            <a:stretch>
              <a:fillRect l="0" t="0" r="0" b="0"/>
            </a:stretch>
          </a:blipFill>
        </p:spPr>
      </p:sp>
      <p:sp>
        <p:nvSpPr>
          <p:cNvPr name="TextBox 6" id="6"/>
          <p:cNvSpPr txBox="true"/>
          <p:nvPr/>
        </p:nvSpPr>
        <p:spPr>
          <a:xfrm rot="0">
            <a:off x="7039217" y="594014"/>
            <a:ext cx="4209567"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Use Cases</a:t>
            </a:r>
          </a:p>
        </p:txBody>
      </p:sp>
      <p:sp>
        <p:nvSpPr>
          <p:cNvPr name="TextBox 7" id="7"/>
          <p:cNvSpPr txBox="true"/>
          <p:nvPr/>
        </p:nvSpPr>
        <p:spPr>
          <a:xfrm rot="0">
            <a:off x="702256" y="2048002"/>
            <a:ext cx="8441744" cy="4752721"/>
          </a:xfrm>
          <a:prstGeom prst="rect">
            <a:avLst/>
          </a:prstGeom>
        </p:spPr>
        <p:txBody>
          <a:bodyPr anchor="t" rtlCol="false" tIns="0" lIns="0" bIns="0" rIns="0">
            <a:spAutoFit/>
          </a:bodyPr>
          <a:lstStyle/>
          <a:p>
            <a:pPr algn="l">
              <a:lnSpc>
                <a:spcPts val="2912"/>
              </a:lnSpc>
            </a:pPr>
            <a:r>
              <a:rPr lang="en-US" sz="2800" b="true">
                <a:solidFill>
                  <a:srgbClr val="063050"/>
                </a:solidFill>
                <a:latin typeface="Poppins Bold"/>
                <a:ea typeface="Poppins Bold"/>
                <a:cs typeface="Poppins Bold"/>
                <a:sym typeface="Poppins Bold"/>
              </a:rPr>
              <a:t>Time-Series Data Storage:</a:t>
            </a:r>
          </a:p>
          <a:p>
            <a:pPr algn="l">
              <a:lnSpc>
                <a:spcPts val="2912"/>
              </a:lnSpc>
            </a:pPr>
          </a:p>
          <a:p>
            <a:pPr algn="l">
              <a:lnSpc>
                <a:spcPts val="2912"/>
              </a:lnSpc>
            </a:pPr>
            <a:r>
              <a:rPr lang="en-US" sz="2800">
                <a:solidFill>
                  <a:srgbClr val="063050"/>
                </a:solidFill>
                <a:latin typeface="Poppins"/>
                <a:ea typeface="Poppins"/>
                <a:cs typeface="Poppins"/>
                <a:sym typeface="Poppins"/>
              </a:rPr>
              <a:t>Cassandra excels at time-series data storage, efficiently handling large volumes of sequential data like logs, sensor readings, or financial records. Its partitioning strategy distributes data across nodes for high availability and fault tolerance.</a:t>
            </a:r>
          </a:p>
          <a:p>
            <a:pPr algn="l">
              <a:lnSpc>
                <a:spcPts val="2912"/>
              </a:lnSpc>
            </a:pPr>
          </a:p>
          <a:p>
            <a:pPr algn="l">
              <a:lnSpc>
                <a:spcPts val="2912"/>
              </a:lnSpc>
            </a:pPr>
            <a:r>
              <a:rPr lang="en-US" sz="2800">
                <a:solidFill>
                  <a:srgbClr val="063050"/>
                </a:solidFill>
                <a:latin typeface="Poppins"/>
                <a:ea typeface="Poppins"/>
                <a:cs typeface="Poppins"/>
                <a:sym typeface="Poppins"/>
              </a:rPr>
              <a:t>Example: Uber relies on Cassandra for its mission-critical data, such as real-time ride-tracking, trip details, and dynamic pricing. </a:t>
            </a:r>
          </a:p>
          <a:p>
            <a:pPr algn="l">
              <a:lnSpc>
                <a:spcPts val="2912"/>
              </a:lnSpc>
            </a:pPr>
          </a:p>
        </p:txBody>
      </p:sp>
      <p:sp>
        <p:nvSpPr>
          <p:cNvPr name="TextBox 8" id="8"/>
          <p:cNvSpPr txBox="true"/>
          <p:nvPr/>
        </p:nvSpPr>
        <p:spPr>
          <a:xfrm rot="0">
            <a:off x="9380371" y="2048002"/>
            <a:ext cx="8441744" cy="6562471"/>
          </a:xfrm>
          <a:prstGeom prst="rect">
            <a:avLst/>
          </a:prstGeom>
        </p:spPr>
        <p:txBody>
          <a:bodyPr anchor="t" rtlCol="false" tIns="0" lIns="0" bIns="0" rIns="0">
            <a:spAutoFit/>
          </a:bodyPr>
          <a:lstStyle/>
          <a:p>
            <a:pPr algn="l">
              <a:lnSpc>
                <a:spcPts val="2912"/>
              </a:lnSpc>
            </a:pPr>
            <a:r>
              <a:rPr lang="en-US" sz="2800" b="true">
                <a:solidFill>
                  <a:srgbClr val="063050"/>
                </a:solidFill>
                <a:latin typeface="Poppins Bold"/>
                <a:ea typeface="Poppins Bold"/>
                <a:cs typeface="Poppins Bold"/>
                <a:sym typeface="Poppins Bold"/>
              </a:rPr>
              <a:t>High-Velocity Write Operations:</a:t>
            </a:r>
          </a:p>
          <a:p>
            <a:pPr algn="l">
              <a:lnSpc>
                <a:spcPts val="2912"/>
              </a:lnSpc>
            </a:pPr>
          </a:p>
          <a:p>
            <a:pPr algn="l">
              <a:lnSpc>
                <a:spcPts val="2912"/>
              </a:lnSpc>
            </a:pPr>
            <a:r>
              <a:rPr lang="en-US" sz="2800">
                <a:solidFill>
                  <a:srgbClr val="063050"/>
                </a:solidFill>
                <a:latin typeface="Poppins"/>
                <a:ea typeface="Poppins"/>
                <a:cs typeface="Poppins"/>
                <a:sym typeface="Poppins"/>
              </a:rPr>
              <a:t>Cassandra is optimized for high write throughput, making it ideal for scenarios where there is a need to ingest vast amounts of data at high speeds. Its write-first approach and log-structured storage engine (LSM) ensure that writes are highly performant, even under heavy load. This makes Cassandra suitable for applications that generate massive amounts of write-heavy workloads.</a:t>
            </a:r>
          </a:p>
          <a:p>
            <a:pPr algn="l">
              <a:lnSpc>
                <a:spcPts val="2912"/>
              </a:lnSpc>
            </a:pPr>
          </a:p>
          <a:p>
            <a:pPr algn="l">
              <a:lnSpc>
                <a:spcPts val="2912"/>
              </a:lnSpc>
            </a:pPr>
            <a:r>
              <a:rPr lang="en-US" sz="2800">
                <a:solidFill>
                  <a:srgbClr val="063050"/>
                </a:solidFill>
                <a:latin typeface="Poppins"/>
                <a:ea typeface="Poppins"/>
                <a:cs typeface="Poppins"/>
                <a:sym typeface="Poppins"/>
              </a:rPr>
              <a:t>Example: A global e-commerce platform processing millions of transactions per second, where high-speed writes are crucial to record purchases, orders, and user interactions in real time.</a:t>
            </a:r>
          </a:p>
          <a:p>
            <a:pPr algn="l">
              <a:lnSpc>
                <a:spcPts val="2912"/>
              </a:lnSpc>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6705897" y="1234299"/>
            <a:ext cx="2232436" cy="2263560"/>
          </a:xfrm>
          <a:custGeom>
            <a:avLst/>
            <a:gdLst/>
            <a:ahLst/>
            <a:cxnLst/>
            <a:rect r="r" b="b" t="t" l="l"/>
            <a:pathLst>
              <a:path h="2263560" w="2232436">
                <a:moveTo>
                  <a:pt x="0" y="0"/>
                </a:moveTo>
                <a:lnTo>
                  <a:pt x="2232435" y="0"/>
                </a:lnTo>
                <a:lnTo>
                  <a:pt x="2232435" y="2263560"/>
                </a:lnTo>
                <a:lnTo>
                  <a:pt x="0" y="2263560"/>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10798899" y="7084822"/>
            <a:ext cx="6686762" cy="3761304"/>
          </a:xfrm>
          <a:custGeom>
            <a:avLst/>
            <a:gdLst/>
            <a:ahLst/>
            <a:cxnLst/>
            <a:rect r="r" b="b" t="t" l="l"/>
            <a:pathLst>
              <a:path h="3761304" w="6686762">
                <a:moveTo>
                  <a:pt x="0" y="0"/>
                </a:moveTo>
                <a:lnTo>
                  <a:pt x="6686762" y="0"/>
                </a:lnTo>
                <a:lnTo>
                  <a:pt x="6686762" y="3761303"/>
                </a:lnTo>
                <a:lnTo>
                  <a:pt x="0" y="3761303"/>
                </a:lnTo>
                <a:lnTo>
                  <a:pt x="0" y="0"/>
                </a:lnTo>
                <a:close/>
              </a:path>
            </a:pathLst>
          </a:custGeom>
          <a:blipFill>
            <a:blip r:embed="rId4"/>
            <a:stretch>
              <a:fillRect l="0" t="0" r="0" b="0"/>
            </a:stretch>
          </a:blipFill>
        </p:spPr>
      </p:sp>
      <p:sp>
        <p:nvSpPr>
          <p:cNvPr name="Freeform 5" id="5"/>
          <p:cNvSpPr/>
          <p:nvPr/>
        </p:nvSpPr>
        <p:spPr>
          <a:xfrm flipH="false" flipV="false" rot="0">
            <a:off x="1382819" y="7334123"/>
            <a:ext cx="7385688" cy="2077225"/>
          </a:xfrm>
          <a:custGeom>
            <a:avLst/>
            <a:gdLst/>
            <a:ahLst/>
            <a:cxnLst/>
            <a:rect r="r" b="b" t="t" l="l"/>
            <a:pathLst>
              <a:path h="2077225" w="7385688">
                <a:moveTo>
                  <a:pt x="0" y="0"/>
                </a:moveTo>
                <a:lnTo>
                  <a:pt x="7385688" y="0"/>
                </a:lnTo>
                <a:lnTo>
                  <a:pt x="7385688" y="2077225"/>
                </a:lnTo>
                <a:lnTo>
                  <a:pt x="0" y="2077225"/>
                </a:lnTo>
                <a:lnTo>
                  <a:pt x="0" y="0"/>
                </a:lnTo>
                <a:close/>
              </a:path>
            </a:pathLst>
          </a:custGeom>
          <a:blipFill>
            <a:blip r:embed="rId5"/>
            <a:stretch>
              <a:fillRect l="0" t="0" r="0" b="0"/>
            </a:stretch>
          </a:blipFill>
        </p:spPr>
      </p:sp>
      <p:sp>
        <p:nvSpPr>
          <p:cNvPr name="TextBox 6" id="6"/>
          <p:cNvSpPr txBox="true"/>
          <p:nvPr/>
        </p:nvSpPr>
        <p:spPr>
          <a:xfrm rot="0">
            <a:off x="7039217" y="594014"/>
            <a:ext cx="4209567"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Use Cases</a:t>
            </a:r>
          </a:p>
        </p:txBody>
      </p:sp>
      <p:sp>
        <p:nvSpPr>
          <p:cNvPr name="TextBox 7" id="7"/>
          <p:cNvSpPr txBox="true"/>
          <p:nvPr/>
        </p:nvSpPr>
        <p:spPr>
          <a:xfrm rot="0">
            <a:off x="326764" y="2048002"/>
            <a:ext cx="8441744" cy="4752721"/>
          </a:xfrm>
          <a:prstGeom prst="rect">
            <a:avLst/>
          </a:prstGeom>
        </p:spPr>
        <p:txBody>
          <a:bodyPr anchor="t" rtlCol="false" tIns="0" lIns="0" bIns="0" rIns="0">
            <a:spAutoFit/>
          </a:bodyPr>
          <a:lstStyle/>
          <a:p>
            <a:pPr algn="ctr">
              <a:lnSpc>
                <a:spcPts val="2912"/>
              </a:lnSpc>
            </a:pPr>
            <a:r>
              <a:rPr lang="en-US" sz="2800" b="true">
                <a:solidFill>
                  <a:srgbClr val="063050"/>
                </a:solidFill>
                <a:latin typeface="Poppins Bold"/>
                <a:ea typeface="Poppins Bold"/>
                <a:cs typeface="Poppins Bold"/>
                <a:sym typeface="Poppins Bold"/>
              </a:rPr>
              <a:t>Global, Distributed Applications:</a:t>
            </a:r>
          </a:p>
          <a:p>
            <a:pPr algn="ctr">
              <a:lnSpc>
                <a:spcPts val="2912"/>
              </a:lnSpc>
            </a:pPr>
          </a:p>
          <a:p>
            <a:pPr algn="ctr">
              <a:lnSpc>
                <a:spcPts val="2912"/>
              </a:lnSpc>
            </a:pPr>
            <a:r>
              <a:rPr lang="en-US" sz="2800">
                <a:solidFill>
                  <a:srgbClr val="063050"/>
                </a:solidFill>
                <a:latin typeface="Poppins"/>
                <a:ea typeface="Poppins"/>
                <a:cs typeface="Poppins"/>
                <a:sym typeface="Poppins"/>
              </a:rPr>
              <a:t>Cassandra’s peer-to-peer architecture is ideal for global applications, enabling data replication across multiple data centers for low-latency access. Its tunable consistency model lets developers balance consistency, availability, and partition tolerance.  </a:t>
            </a:r>
          </a:p>
          <a:p>
            <a:pPr algn="ctr">
              <a:lnSpc>
                <a:spcPts val="2912"/>
              </a:lnSpc>
            </a:pPr>
          </a:p>
          <a:p>
            <a:pPr algn="ctr">
              <a:lnSpc>
                <a:spcPts val="2912"/>
              </a:lnSpc>
            </a:pPr>
            <a:r>
              <a:rPr lang="en-US" sz="2800">
                <a:solidFill>
                  <a:srgbClr val="063050"/>
                </a:solidFill>
                <a:latin typeface="Poppins"/>
                <a:ea typeface="Poppins"/>
                <a:cs typeface="Poppins"/>
                <a:sym typeface="Poppins"/>
              </a:rPr>
              <a:t>Example: A global social network using Cassandra to store user data for fast access worldwide.</a:t>
            </a:r>
          </a:p>
          <a:p>
            <a:pPr algn="ctr">
              <a:lnSpc>
                <a:spcPts val="2912"/>
              </a:lnSpc>
              <a:spcBef>
                <a:spcPct val="0"/>
              </a:spcBef>
            </a:pPr>
          </a:p>
        </p:txBody>
      </p:sp>
      <p:sp>
        <p:nvSpPr>
          <p:cNvPr name="TextBox 8" id="8"/>
          <p:cNvSpPr txBox="true"/>
          <p:nvPr/>
        </p:nvSpPr>
        <p:spPr>
          <a:xfrm rot="0">
            <a:off x="9380371" y="2048002"/>
            <a:ext cx="8441744" cy="6200521"/>
          </a:xfrm>
          <a:prstGeom prst="rect">
            <a:avLst/>
          </a:prstGeom>
        </p:spPr>
        <p:txBody>
          <a:bodyPr anchor="t" rtlCol="false" tIns="0" lIns="0" bIns="0" rIns="0">
            <a:spAutoFit/>
          </a:bodyPr>
          <a:lstStyle/>
          <a:p>
            <a:pPr algn="ctr">
              <a:lnSpc>
                <a:spcPts val="2912"/>
              </a:lnSpc>
            </a:pPr>
            <a:r>
              <a:rPr lang="en-US" sz="2800" b="true">
                <a:solidFill>
                  <a:srgbClr val="063050"/>
                </a:solidFill>
                <a:latin typeface="Poppins Bold"/>
                <a:ea typeface="Poppins Bold"/>
                <a:cs typeface="Poppins Bold"/>
                <a:sym typeface="Poppins Bold"/>
              </a:rPr>
              <a:t>Personalization and Recommendation Engines:</a:t>
            </a:r>
          </a:p>
          <a:p>
            <a:pPr algn="ctr">
              <a:lnSpc>
                <a:spcPts val="2912"/>
              </a:lnSpc>
            </a:pPr>
          </a:p>
          <a:p>
            <a:pPr algn="ctr">
              <a:lnSpc>
                <a:spcPts val="2912"/>
              </a:lnSpc>
            </a:pPr>
            <a:r>
              <a:rPr lang="en-US" sz="2800">
                <a:solidFill>
                  <a:srgbClr val="063050"/>
                </a:solidFill>
                <a:latin typeface="Poppins"/>
                <a:ea typeface="Poppins"/>
                <a:cs typeface="Poppins"/>
                <a:sym typeface="Poppins"/>
              </a:rPr>
              <a:t>Cassandra's fast data retrieval and storage make it ideal for personalization and recommendation engines. Its distributed architecture efficiently processes large datasets of user behavior, enabling real-time, tailored content, product, or service recommendations based on user preferences.</a:t>
            </a:r>
          </a:p>
          <a:p>
            <a:pPr algn="ctr">
              <a:lnSpc>
                <a:spcPts val="2912"/>
              </a:lnSpc>
            </a:pPr>
          </a:p>
          <a:p>
            <a:pPr algn="ctr">
              <a:lnSpc>
                <a:spcPts val="2912"/>
              </a:lnSpc>
            </a:pPr>
            <a:r>
              <a:rPr lang="en-US" sz="2800">
                <a:solidFill>
                  <a:srgbClr val="063050"/>
                </a:solidFill>
                <a:latin typeface="Poppins"/>
                <a:ea typeface="Poppins"/>
                <a:cs typeface="Poppins"/>
                <a:sym typeface="Poppins"/>
              </a:rPr>
              <a:t>Example: A video streaming service using Cassandra to store user watch histories and preferences, enabling it to provide real-time recommendations for content based on past viewing habits.</a:t>
            </a:r>
          </a:p>
          <a:p>
            <a:pPr algn="ctr">
              <a:lnSpc>
                <a:spcPts val="2912"/>
              </a:lnSpc>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362632" y="2672274"/>
            <a:ext cx="17562736" cy="6586026"/>
          </a:xfrm>
          <a:custGeom>
            <a:avLst/>
            <a:gdLst/>
            <a:ahLst/>
            <a:cxnLst/>
            <a:rect r="r" b="b" t="t" l="l"/>
            <a:pathLst>
              <a:path h="6586026" w="17562736">
                <a:moveTo>
                  <a:pt x="0" y="0"/>
                </a:moveTo>
                <a:lnTo>
                  <a:pt x="17562736" y="0"/>
                </a:lnTo>
                <a:lnTo>
                  <a:pt x="17562736" y="6586026"/>
                </a:lnTo>
                <a:lnTo>
                  <a:pt x="0" y="6586026"/>
                </a:lnTo>
                <a:lnTo>
                  <a:pt x="0" y="0"/>
                </a:lnTo>
                <a:close/>
              </a:path>
            </a:pathLst>
          </a:custGeom>
          <a:blipFill>
            <a:blip r:embed="rId3"/>
            <a:stretch>
              <a:fillRect l="0" t="0" r="0" b="0"/>
            </a:stretch>
          </a:blipFill>
        </p:spPr>
      </p:sp>
      <p:sp>
        <p:nvSpPr>
          <p:cNvPr name="TextBox 4" id="4"/>
          <p:cNvSpPr txBox="true"/>
          <p:nvPr/>
        </p:nvSpPr>
        <p:spPr>
          <a:xfrm rot="0">
            <a:off x="5909018" y="857250"/>
            <a:ext cx="5691485"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Mind Map</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1351383">
            <a:off x="13179521" y="1113834"/>
            <a:ext cx="3015788" cy="3057833"/>
          </a:xfrm>
          <a:custGeom>
            <a:avLst/>
            <a:gdLst/>
            <a:ahLst/>
            <a:cxnLst/>
            <a:rect r="r" b="b" t="t" l="l"/>
            <a:pathLst>
              <a:path h="3057833" w="3015788">
                <a:moveTo>
                  <a:pt x="0" y="0"/>
                </a:moveTo>
                <a:lnTo>
                  <a:pt x="3015788" y="0"/>
                </a:lnTo>
                <a:lnTo>
                  <a:pt x="3015788" y="3057833"/>
                </a:lnTo>
                <a:lnTo>
                  <a:pt x="0" y="3057833"/>
                </a:lnTo>
                <a:lnTo>
                  <a:pt x="0" y="0"/>
                </a:lnTo>
                <a:close/>
              </a:path>
            </a:pathLst>
          </a:custGeom>
          <a:blipFill>
            <a:blip r:embed="rId3">
              <a:alphaModFix amt="71000"/>
            </a:blip>
            <a:stretch>
              <a:fillRect l="0" t="0" r="0" b="0"/>
            </a:stretch>
          </a:blipFill>
        </p:spPr>
      </p:sp>
      <p:sp>
        <p:nvSpPr>
          <p:cNvPr name="Freeform 4" id="4"/>
          <p:cNvSpPr/>
          <p:nvPr/>
        </p:nvSpPr>
        <p:spPr>
          <a:xfrm flipH="false" flipV="false" rot="0">
            <a:off x="823176" y="259238"/>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5" id="5"/>
          <p:cNvSpPr/>
          <p:nvPr/>
        </p:nvSpPr>
        <p:spPr>
          <a:xfrm flipH="false" flipV="false" rot="0">
            <a:off x="6325918" y="3467721"/>
            <a:ext cx="5636163" cy="5790579"/>
          </a:xfrm>
          <a:custGeom>
            <a:avLst/>
            <a:gdLst/>
            <a:ahLst/>
            <a:cxnLst/>
            <a:rect r="r" b="b" t="t" l="l"/>
            <a:pathLst>
              <a:path h="5790579" w="5636163">
                <a:moveTo>
                  <a:pt x="0" y="0"/>
                </a:moveTo>
                <a:lnTo>
                  <a:pt x="5636164" y="0"/>
                </a:lnTo>
                <a:lnTo>
                  <a:pt x="5636164" y="5790579"/>
                </a:lnTo>
                <a:lnTo>
                  <a:pt x="0" y="5790579"/>
                </a:lnTo>
                <a:lnTo>
                  <a:pt x="0" y="0"/>
                </a:lnTo>
                <a:close/>
              </a:path>
            </a:pathLst>
          </a:custGeom>
          <a:blipFill>
            <a:blip r:embed="rId4"/>
            <a:stretch>
              <a:fillRect l="0" t="0" r="0" b="0"/>
            </a:stretch>
          </a:blipFill>
        </p:spPr>
      </p:sp>
      <p:sp>
        <p:nvSpPr>
          <p:cNvPr name="TextBox 6" id="6"/>
          <p:cNvSpPr txBox="true"/>
          <p:nvPr/>
        </p:nvSpPr>
        <p:spPr>
          <a:xfrm rot="0">
            <a:off x="7827824" y="1149962"/>
            <a:ext cx="2632353" cy="1652269"/>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Quiz</a:t>
            </a:r>
          </a:p>
        </p:txBody>
      </p:sp>
      <p:sp>
        <p:nvSpPr>
          <p:cNvPr name="Freeform 7" id="7"/>
          <p:cNvSpPr/>
          <p:nvPr/>
        </p:nvSpPr>
        <p:spPr>
          <a:xfrm flipH="false" flipV="false" rot="0">
            <a:off x="-2157493" y="6777497"/>
            <a:ext cx="4313283" cy="4373418"/>
          </a:xfrm>
          <a:custGeom>
            <a:avLst/>
            <a:gdLst/>
            <a:ahLst/>
            <a:cxnLst/>
            <a:rect r="r" b="b" t="t" l="l"/>
            <a:pathLst>
              <a:path h="4373418" w="4313283">
                <a:moveTo>
                  <a:pt x="0" y="0"/>
                </a:moveTo>
                <a:lnTo>
                  <a:pt x="4313284" y="0"/>
                </a:lnTo>
                <a:lnTo>
                  <a:pt x="4313284" y="4373418"/>
                </a:lnTo>
                <a:lnTo>
                  <a:pt x="0" y="4373418"/>
                </a:lnTo>
                <a:lnTo>
                  <a:pt x="0" y="0"/>
                </a:lnTo>
                <a:close/>
              </a:path>
            </a:pathLst>
          </a:custGeom>
          <a:blipFill>
            <a:blip r:embed="rId3">
              <a:alphaModFix amt="71000"/>
            </a:blip>
            <a:stretch>
              <a:fillRect l="0" t="0" r="0" b="0"/>
            </a:stretch>
          </a:blipFill>
        </p:spPr>
      </p:sp>
      <p:sp>
        <p:nvSpPr>
          <p:cNvPr name="Freeform 8" id="8"/>
          <p:cNvSpPr/>
          <p:nvPr/>
        </p:nvSpPr>
        <p:spPr>
          <a:xfrm flipH="false" flipV="false" rot="0">
            <a:off x="13974717" y="5143500"/>
            <a:ext cx="4313283" cy="4373418"/>
          </a:xfrm>
          <a:custGeom>
            <a:avLst/>
            <a:gdLst/>
            <a:ahLst/>
            <a:cxnLst/>
            <a:rect r="r" b="b" t="t" l="l"/>
            <a:pathLst>
              <a:path h="4373418" w="4313283">
                <a:moveTo>
                  <a:pt x="0" y="0"/>
                </a:moveTo>
                <a:lnTo>
                  <a:pt x="4313283" y="0"/>
                </a:lnTo>
                <a:lnTo>
                  <a:pt x="4313283" y="4373418"/>
                </a:lnTo>
                <a:lnTo>
                  <a:pt x="0" y="4373418"/>
                </a:lnTo>
                <a:lnTo>
                  <a:pt x="0" y="0"/>
                </a:lnTo>
                <a:close/>
              </a:path>
            </a:pathLst>
          </a:custGeom>
          <a:blipFill>
            <a:blip r:embed="rId3">
              <a:alphaModFix amt="71000"/>
            </a:blip>
            <a:stretch>
              <a:fillRect l="0" t="0" r="0" b="0"/>
            </a:stretch>
          </a:blipFill>
        </p:spPr>
      </p:sp>
      <p:sp>
        <p:nvSpPr>
          <p:cNvPr name="Freeform 9" id="9"/>
          <p:cNvSpPr/>
          <p:nvPr/>
        </p:nvSpPr>
        <p:spPr>
          <a:xfrm flipH="true" flipV="true" rot="0">
            <a:off x="14900066" y="6906806"/>
            <a:ext cx="6775868" cy="4114800"/>
          </a:xfrm>
          <a:custGeom>
            <a:avLst/>
            <a:gdLst/>
            <a:ahLst/>
            <a:cxnLst/>
            <a:rect r="r" b="b" t="t" l="l"/>
            <a:pathLst>
              <a:path h="4114800" w="6775868">
                <a:moveTo>
                  <a:pt x="6775868" y="4114800"/>
                </a:moveTo>
                <a:lnTo>
                  <a:pt x="0" y="4114800"/>
                </a:lnTo>
                <a:lnTo>
                  <a:pt x="0" y="0"/>
                </a:lnTo>
                <a:lnTo>
                  <a:pt x="6775868" y="0"/>
                </a:lnTo>
                <a:lnTo>
                  <a:pt x="6775868" y="411480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p:cSld>
    <p:bg>
      <p:bgPr>
        <a:solidFill>
          <a:srgbClr val="EBF5FE"/>
        </a:solidFill>
      </p:bgPr>
    </p:bg>
    <p:spTree>
      <p:nvGrpSpPr>
        <p:cNvPr id="1" name=""/>
        <p:cNvGrpSpPr/>
        <p:nvPr/>
      </p:nvGrpSpPr>
      <p:grpSpPr>
        <a:xfrm>
          <a:off x="0" y="0"/>
          <a:ext cx="0" cy="0"/>
          <a:chOff x="0" y="0"/>
          <a:chExt cx="0" cy="0"/>
        </a:xfrm>
      </p:grpSpPr>
      <p:grpSp>
        <p:nvGrpSpPr>
          <p:cNvPr name="Group 2" id="2"/>
          <p:cNvGrpSpPr/>
          <p:nvPr/>
        </p:nvGrpSpPr>
        <p:grpSpPr>
          <a:xfrm rot="0">
            <a:off x="-390204" y="3271372"/>
            <a:ext cx="18939059" cy="3217833"/>
            <a:chOff x="0" y="0"/>
            <a:chExt cx="4988065" cy="847495"/>
          </a:xfrm>
        </p:grpSpPr>
        <p:sp>
          <p:nvSpPr>
            <p:cNvPr name="Freeform 3" id="3"/>
            <p:cNvSpPr/>
            <p:nvPr/>
          </p:nvSpPr>
          <p:spPr>
            <a:xfrm flipH="false" flipV="false" rot="0">
              <a:off x="0" y="0"/>
              <a:ext cx="4988065" cy="847495"/>
            </a:xfrm>
            <a:custGeom>
              <a:avLst/>
              <a:gdLst/>
              <a:ahLst/>
              <a:cxnLst/>
              <a:rect r="r" b="b" t="t" l="l"/>
              <a:pathLst>
                <a:path h="847495" w="4988065">
                  <a:moveTo>
                    <a:pt x="0" y="0"/>
                  </a:moveTo>
                  <a:lnTo>
                    <a:pt x="4988065" y="0"/>
                  </a:lnTo>
                  <a:lnTo>
                    <a:pt x="4988065" y="847495"/>
                  </a:lnTo>
                  <a:lnTo>
                    <a:pt x="0" y="847495"/>
                  </a:lnTo>
                  <a:close/>
                </a:path>
              </a:pathLst>
            </a:custGeom>
            <a:solidFill>
              <a:srgbClr val="2B59C3">
                <a:alpha val="71765"/>
              </a:srgbClr>
            </a:solidFill>
          </p:spPr>
        </p:sp>
        <p:sp>
          <p:nvSpPr>
            <p:cNvPr name="TextBox 4" id="4"/>
            <p:cNvSpPr txBox="true"/>
            <p:nvPr/>
          </p:nvSpPr>
          <p:spPr>
            <a:xfrm>
              <a:off x="0" y="28575"/>
              <a:ext cx="4988065" cy="818920"/>
            </a:xfrm>
            <a:prstGeom prst="rect">
              <a:avLst/>
            </a:prstGeom>
          </p:spPr>
          <p:txBody>
            <a:bodyPr anchor="ctr" rtlCol="false" tIns="50800" lIns="50800" bIns="50800" rIns="50800"/>
            <a:lstStyle/>
            <a:p>
              <a:pPr algn="ctr">
                <a:lnSpc>
                  <a:spcPts val="2661"/>
                </a:lnSpc>
              </a:pPr>
            </a:p>
          </p:txBody>
        </p:sp>
      </p:grpSp>
      <p:sp>
        <p:nvSpPr>
          <p:cNvPr name="TextBox 5" id="5"/>
          <p:cNvSpPr txBox="true"/>
          <p:nvPr/>
        </p:nvSpPr>
        <p:spPr>
          <a:xfrm rot="0">
            <a:off x="2246412" y="3014197"/>
            <a:ext cx="13795177" cy="3281044"/>
          </a:xfrm>
          <a:prstGeom prst="rect">
            <a:avLst/>
          </a:prstGeom>
        </p:spPr>
        <p:txBody>
          <a:bodyPr anchor="t" rtlCol="false" tIns="0" lIns="0" bIns="0" rIns="0">
            <a:spAutoFit/>
          </a:bodyPr>
          <a:lstStyle/>
          <a:p>
            <a:pPr algn="ctr">
              <a:lnSpc>
                <a:spcPts val="12880"/>
              </a:lnSpc>
            </a:pPr>
            <a:r>
              <a:rPr lang="en-US" sz="9200" b="true">
                <a:solidFill>
                  <a:srgbClr val="F0F7FE"/>
                </a:solidFill>
                <a:latin typeface="Poppins Bold"/>
                <a:ea typeface="Poppins Bold"/>
                <a:cs typeface="Poppins Bold"/>
                <a:sym typeface="Poppins Bold"/>
              </a:rPr>
              <a:t>PART 2 </a:t>
            </a:r>
          </a:p>
          <a:p>
            <a:pPr algn="ctr">
              <a:lnSpc>
                <a:spcPts val="12880"/>
              </a:lnSpc>
            </a:pPr>
            <a:r>
              <a:rPr lang="en-US" sz="9200" b="true">
                <a:solidFill>
                  <a:srgbClr val="F0F7FE"/>
                </a:solidFill>
                <a:latin typeface="Poppins Bold"/>
                <a:ea typeface="Poppins Bold"/>
                <a:cs typeface="Poppins Bold"/>
                <a:sym typeface="Poppins Bold"/>
              </a:rPr>
              <a:t>Experiment and Usage</a:t>
            </a:r>
            <a:r>
              <a:rPr lang="en-US" sz="9200" b="true">
                <a:solidFill>
                  <a:srgbClr val="000000"/>
                </a:solidFill>
                <a:latin typeface="Poppins Bold"/>
                <a:ea typeface="Poppins Bold"/>
                <a:cs typeface="Poppins Bold"/>
                <a:sym typeface="Poppins Bold"/>
              </a:rPr>
              <a:t> </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grpSp>
        <p:nvGrpSpPr>
          <p:cNvPr name="Group 2" id="2"/>
          <p:cNvGrpSpPr/>
          <p:nvPr/>
        </p:nvGrpSpPr>
        <p:grpSpPr>
          <a:xfrm rot="0">
            <a:off x="-651059" y="695853"/>
            <a:ext cx="18939059" cy="1464829"/>
            <a:chOff x="0" y="0"/>
            <a:chExt cx="4988065" cy="385799"/>
          </a:xfrm>
        </p:grpSpPr>
        <p:sp>
          <p:nvSpPr>
            <p:cNvPr name="Freeform 3" id="3"/>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4" id="4"/>
            <p:cNvSpPr txBox="true"/>
            <p:nvPr/>
          </p:nvSpPr>
          <p:spPr>
            <a:xfrm>
              <a:off x="0" y="28575"/>
              <a:ext cx="4988065" cy="357224"/>
            </a:xfrm>
            <a:prstGeom prst="rect">
              <a:avLst/>
            </a:prstGeom>
          </p:spPr>
          <p:txBody>
            <a:bodyPr anchor="ctr" rtlCol="false" tIns="50800" lIns="50800" bIns="50800" rIns="50800"/>
            <a:lstStyle/>
            <a:p>
              <a:pPr algn="ctr">
                <a:lnSpc>
                  <a:spcPts val="2661"/>
                </a:lnSpc>
              </a:pPr>
            </a:p>
          </p:txBody>
        </p:sp>
      </p:grpSp>
      <p:sp>
        <p:nvSpPr>
          <p:cNvPr name="Freeform 5" id="5"/>
          <p:cNvSpPr/>
          <p:nvPr/>
        </p:nvSpPr>
        <p:spPr>
          <a:xfrm flipH="false" flipV="false" rot="0">
            <a:off x="3541154" y="2819431"/>
            <a:ext cx="11205691" cy="5864797"/>
          </a:xfrm>
          <a:custGeom>
            <a:avLst/>
            <a:gdLst/>
            <a:ahLst/>
            <a:cxnLst/>
            <a:rect r="r" b="b" t="t" l="l"/>
            <a:pathLst>
              <a:path h="5864797" w="11205691">
                <a:moveTo>
                  <a:pt x="0" y="0"/>
                </a:moveTo>
                <a:lnTo>
                  <a:pt x="11205692" y="0"/>
                </a:lnTo>
                <a:lnTo>
                  <a:pt x="11205692" y="5864797"/>
                </a:lnTo>
                <a:lnTo>
                  <a:pt x="0" y="5864797"/>
                </a:lnTo>
                <a:lnTo>
                  <a:pt x="0" y="0"/>
                </a:lnTo>
                <a:close/>
              </a:path>
            </a:pathLst>
          </a:custGeom>
          <a:blipFill>
            <a:blip r:embed="rId2"/>
            <a:stretch>
              <a:fillRect l="0" t="0" r="0" b="0"/>
            </a:stretch>
          </a:blipFill>
        </p:spPr>
      </p:sp>
      <p:sp>
        <p:nvSpPr>
          <p:cNvPr name="TextBox 6" id="6"/>
          <p:cNvSpPr txBox="true"/>
          <p:nvPr/>
        </p:nvSpPr>
        <p:spPr>
          <a:xfrm rot="0">
            <a:off x="3733428" y="9043201"/>
            <a:ext cx="10821144" cy="468297"/>
          </a:xfrm>
          <a:prstGeom prst="rect">
            <a:avLst/>
          </a:prstGeom>
        </p:spPr>
        <p:txBody>
          <a:bodyPr anchor="t" rtlCol="false" tIns="0" lIns="0" bIns="0" rIns="0">
            <a:spAutoFit/>
          </a:bodyPr>
          <a:lstStyle/>
          <a:p>
            <a:pPr algn="ctr">
              <a:lnSpc>
                <a:spcPts val="3492"/>
              </a:lnSpc>
              <a:spcBef>
                <a:spcPct val="0"/>
              </a:spcBef>
            </a:pPr>
            <a:r>
              <a:rPr lang="en-US" sz="3358">
                <a:solidFill>
                  <a:srgbClr val="000000"/>
                </a:solidFill>
                <a:latin typeface="Raleway"/>
                <a:ea typeface="Raleway"/>
                <a:cs typeface="Raleway"/>
                <a:sym typeface="Raleway"/>
              </a:rPr>
              <a:t>https://www.docker.com/products/docker-desktop/</a:t>
            </a:r>
          </a:p>
        </p:txBody>
      </p:sp>
      <p:sp>
        <p:nvSpPr>
          <p:cNvPr name="TextBox 7" id="7"/>
          <p:cNvSpPr txBox="true"/>
          <p:nvPr/>
        </p:nvSpPr>
        <p:spPr>
          <a:xfrm rot="0">
            <a:off x="3794649" y="1021388"/>
            <a:ext cx="10698703" cy="794709"/>
          </a:xfrm>
          <a:prstGeom prst="rect">
            <a:avLst/>
          </a:prstGeom>
        </p:spPr>
        <p:txBody>
          <a:bodyPr anchor="t" rtlCol="false" tIns="0" lIns="0" bIns="0" rIns="0">
            <a:spAutoFit/>
          </a:bodyPr>
          <a:lstStyle/>
          <a:p>
            <a:pPr algn="l">
              <a:lnSpc>
                <a:spcPts val="5923"/>
              </a:lnSpc>
            </a:pPr>
            <a:r>
              <a:rPr lang="en-US" sz="5151" b="true">
                <a:solidFill>
                  <a:srgbClr val="F4F4F4"/>
                </a:solidFill>
                <a:latin typeface="Poppins Bold"/>
                <a:ea typeface="Poppins Bold"/>
                <a:cs typeface="Poppins Bold"/>
                <a:sym typeface="Poppins Bold"/>
              </a:rPr>
              <a:t>Installing using Docker Desktop</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grpSp>
        <p:nvGrpSpPr>
          <p:cNvPr name="Group 2" id="2"/>
          <p:cNvGrpSpPr/>
          <p:nvPr/>
        </p:nvGrpSpPr>
        <p:grpSpPr>
          <a:xfrm rot="0">
            <a:off x="-651059" y="695853"/>
            <a:ext cx="18939059" cy="1464829"/>
            <a:chOff x="0" y="0"/>
            <a:chExt cx="4988065" cy="385799"/>
          </a:xfrm>
        </p:grpSpPr>
        <p:sp>
          <p:nvSpPr>
            <p:cNvPr name="Freeform 3" id="3"/>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4" id="4"/>
            <p:cNvSpPr txBox="true"/>
            <p:nvPr/>
          </p:nvSpPr>
          <p:spPr>
            <a:xfrm>
              <a:off x="0" y="28575"/>
              <a:ext cx="4988065" cy="357224"/>
            </a:xfrm>
            <a:prstGeom prst="rect">
              <a:avLst/>
            </a:prstGeom>
          </p:spPr>
          <p:txBody>
            <a:bodyPr anchor="ctr" rtlCol="false" tIns="50800" lIns="50800" bIns="50800" rIns="50800"/>
            <a:lstStyle/>
            <a:p>
              <a:pPr algn="ctr">
                <a:lnSpc>
                  <a:spcPts val="2661"/>
                </a:lnSpc>
              </a:pPr>
            </a:p>
          </p:txBody>
        </p:sp>
      </p:grpSp>
      <p:sp>
        <p:nvSpPr>
          <p:cNvPr name="Freeform 5" id="5"/>
          <p:cNvSpPr/>
          <p:nvPr/>
        </p:nvSpPr>
        <p:spPr>
          <a:xfrm flipH="false" flipV="false" rot="0">
            <a:off x="745167" y="3189559"/>
            <a:ext cx="16146606" cy="3907882"/>
          </a:xfrm>
          <a:custGeom>
            <a:avLst/>
            <a:gdLst/>
            <a:ahLst/>
            <a:cxnLst/>
            <a:rect r="r" b="b" t="t" l="l"/>
            <a:pathLst>
              <a:path h="3907882" w="16146606">
                <a:moveTo>
                  <a:pt x="0" y="0"/>
                </a:moveTo>
                <a:lnTo>
                  <a:pt x="16146607" y="0"/>
                </a:lnTo>
                <a:lnTo>
                  <a:pt x="16146607" y="3907882"/>
                </a:lnTo>
                <a:lnTo>
                  <a:pt x="0" y="3907882"/>
                </a:lnTo>
                <a:lnTo>
                  <a:pt x="0" y="0"/>
                </a:lnTo>
                <a:close/>
              </a:path>
            </a:pathLst>
          </a:custGeom>
          <a:blipFill>
            <a:blip r:embed="rId2"/>
            <a:stretch>
              <a:fillRect l="0" t="0" r="0" b="-158237"/>
            </a:stretch>
          </a:blipFill>
        </p:spPr>
      </p:sp>
      <p:sp>
        <p:nvSpPr>
          <p:cNvPr name="Freeform 6" id="6"/>
          <p:cNvSpPr/>
          <p:nvPr/>
        </p:nvSpPr>
        <p:spPr>
          <a:xfrm flipH="false" flipV="false" rot="0">
            <a:off x="11394971" y="4923751"/>
            <a:ext cx="1974032" cy="1974032"/>
          </a:xfrm>
          <a:custGeom>
            <a:avLst/>
            <a:gdLst/>
            <a:ahLst/>
            <a:cxnLst/>
            <a:rect r="r" b="b" t="t" l="l"/>
            <a:pathLst>
              <a:path h="1974032" w="1974032">
                <a:moveTo>
                  <a:pt x="0" y="0"/>
                </a:moveTo>
                <a:lnTo>
                  <a:pt x="1974031" y="0"/>
                </a:lnTo>
                <a:lnTo>
                  <a:pt x="1974031" y="1974031"/>
                </a:lnTo>
                <a:lnTo>
                  <a:pt x="0" y="19740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794649" y="1021388"/>
            <a:ext cx="10698703" cy="794709"/>
          </a:xfrm>
          <a:prstGeom prst="rect">
            <a:avLst/>
          </a:prstGeom>
        </p:spPr>
        <p:txBody>
          <a:bodyPr anchor="t" rtlCol="false" tIns="0" lIns="0" bIns="0" rIns="0">
            <a:spAutoFit/>
          </a:bodyPr>
          <a:lstStyle/>
          <a:p>
            <a:pPr algn="l">
              <a:lnSpc>
                <a:spcPts val="5923"/>
              </a:lnSpc>
            </a:pPr>
            <a:r>
              <a:rPr lang="en-US" sz="5151" b="true">
                <a:solidFill>
                  <a:srgbClr val="F4F4F4"/>
                </a:solidFill>
                <a:latin typeface="Poppins Bold"/>
                <a:ea typeface="Poppins Bold"/>
                <a:cs typeface="Poppins Bold"/>
                <a:sym typeface="Poppins Bold"/>
              </a:rPr>
              <a:t>Installing using Docker Desktop</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grpSp>
        <p:nvGrpSpPr>
          <p:cNvPr name="Group 2" id="2"/>
          <p:cNvGrpSpPr/>
          <p:nvPr/>
        </p:nvGrpSpPr>
        <p:grpSpPr>
          <a:xfrm rot="0">
            <a:off x="-651059" y="695853"/>
            <a:ext cx="18939059" cy="1464829"/>
            <a:chOff x="0" y="0"/>
            <a:chExt cx="4988065" cy="385799"/>
          </a:xfrm>
        </p:grpSpPr>
        <p:sp>
          <p:nvSpPr>
            <p:cNvPr name="Freeform 3" id="3"/>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4" id="4"/>
            <p:cNvSpPr txBox="true"/>
            <p:nvPr/>
          </p:nvSpPr>
          <p:spPr>
            <a:xfrm>
              <a:off x="0" y="28575"/>
              <a:ext cx="4988065" cy="357224"/>
            </a:xfrm>
            <a:prstGeom prst="rect">
              <a:avLst/>
            </a:prstGeom>
          </p:spPr>
          <p:txBody>
            <a:bodyPr anchor="ctr" rtlCol="false" tIns="50800" lIns="50800" bIns="50800" rIns="50800"/>
            <a:lstStyle/>
            <a:p>
              <a:pPr algn="ctr">
                <a:lnSpc>
                  <a:spcPts val="2661"/>
                </a:lnSpc>
              </a:pPr>
            </a:p>
          </p:txBody>
        </p:sp>
      </p:grpSp>
      <p:sp>
        <p:nvSpPr>
          <p:cNvPr name="Freeform 5" id="5"/>
          <p:cNvSpPr/>
          <p:nvPr/>
        </p:nvSpPr>
        <p:spPr>
          <a:xfrm flipH="false" flipV="false" rot="0">
            <a:off x="1539175" y="4391269"/>
            <a:ext cx="15209650" cy="752231"/>
          </a:xfrm>
          <a:custGeom>
            <a:avLst/>
            <a:gdLst/>
            <a:ahLst/>
            <a:cxnLst/>
            <a:rect r="r" b="b" t="t" l="l"/>
            <a:pathLst>
              <a:path h="752231" w="15209650">
                <a:moveTo>
                  <a:pt x="0" y="0"/>
                </a:moveTo>
                <a:lnTo>
                  <a:pt x="15209650" y="0"/>
                </a:lnTo>
                <a:lnTo>
                  <a:pt x="15209650" y="752231"/>
                </a:lnTo>
                <a:lnTo>
                  <a:pt x="0" y="752231"/>
                </a:lnTo>
                <a:lnTo>
                  <a:pt x="0" y="0"/>
                </a:lnTo>
                <a:close/>
              </a:path>
            </a:pathLst>
          </a:custGeom>
          <a:blipFill>
            <a:blip r:embed="rId2"/>
            <a:stretch>
              <a:fillRect l="0" t="-20336" r="0" b="-23726"/>
            </a:stretch>
          </a:blipFill>
        </p:spPr>
      </p:sp>
      <p:sp>
        <p:nvSpPr>
          <p:cNvPr name="Freeform 6" id="6"/>
          <p:cNvSpPr/>
          <p:nvPr/>
        </p:nvSpPr>
        <p:spPr>
          <a:xfrm flipH="false" flipV="false" rot="0">
            <a:off x="3493371" y="8170870"/>
            <a:ext cx="11301259" cy="1634415"/>
          </a:xfrm>
          <a:custGeom>
            <a:avLst/>
            <a:gdLst/>
            <a:ahLst/>
            <a:cxnLst/>
            <a:rect r="r" b="b" t="t" l="l"/>
            <a:pathLst>
              <a:path h="1634415" w="11301259">
                <a:moveTo>
                  <a:pt x="0" y="0"/>
                </a:moveTo>
                <a:lnTo>
                  <a:pt x="11301258" y="0"/>
                </a:lnTo>
                <a:lnTo>
                  <a:pt x="11301258" y="1634415"/>
                </a:lnTo>
                <a:lnTo>
                  <a:pt x="0" y="1634415"/>
                </a:lnTo>
                <a:lnTo>
                  <a:pt x="0" y="0"/>
                </a:lnTo>
                <a:close/>
              </a:path>
            </a:pathLst>
          </a:custGeom>
          <a:blipFill>
            <a:blip r:embed="rId3"/>
            <a:stretch>
              <a:fillRect l="0" t="-11591" r="0" b="-33614"/>
            </a:stretch>
          </a:blipFill>
        </p:spPr>
      </p:sp>
      <p:sp>
        <p:nvSpPr>
          <p:cNvPr name="TextBox 7" id="7"/>
          <p:cNvSpPr txBox="true"/>
          <p:nvPr/>
        </p:nvSpPr>
        <p:spPr>
          <a:xfrm rot="0">
            <a:off x="2477981" y="1021388"/>
            <a:ext cx="13332037" cy="794709"/>
          </a:xfrm>
          <a:prstGeom prst="rect">
            <a:avLst/>
          </a:prstGeom>
        </p:spPr>
        <p:txBody>
          <a:bodyPr anchor="t" rtlCol="false" tIns="0" lIns="0" bIns="0" rIns="0">
            <a:spAutoFit/>
          </a:bodyPr>
          <a:lstStyle/>
          <a:p>
            <a:pPr algn="l">
              <a:lnSpc>
                <a:spcPts val="5923"/>
              </a:lnSpc>
            </a:pPr>
            <a:r>
              <a:rPr lang="en-US" sz="5151" b="true">
                <a:solidFill>
                  <a:srgbClr val="F4F4F4"/>
                </a:solidFill>
                <a:latin typeface="Poppins Bold"/>
                <a:ea typeface="Poppins Bold"/>
                <a:cs typeface="Poppins Bold"/>
                <a:sym typeface="Poppins Bold"/>
              </a:rPr>
              <a:t>Using Cassandra (Functions &amp; Queries)</a:t>
            </a:r>
          </a:p>
        </p:txBody>
      </p:sp>
      <p:sp>
        <p:nvSpPr>
          <p:cNvPr name="TextBox 8" id="8"/>
          <p:cNvSpPr txBox="true"/>
          <p:nvPr/>
        </p:nvSpPr>
        <p:spPr>
          <a:xfrm rot="0">
            <a:off x="1956998" y="2306630"/>
            <a:ext cx="14374004" cy="2036770"/>
          </a:xfrm>
          <a:prstGeom prst="rect">
            <a:avLst/>
          </a:prstGeom>
        </p:spPr>
        <p:txBody>
          <a:bodyPr anchor="t" rtlCol="false" tIns="0" lIns="0" bIns="0" rIns="0">
            <a:spAutoFit/>
          </a:bodyPr>
          <a:lstStyle/>
          <a:p>
            <a:pPr algn="l">
              <a:lnSpc>
                <a:spcPts val="3163"/>
              </a:lnSpc>
            </a:pPr>
            <a:r>
              <a:rPr lang="en-US" sz="2751">
                <a:solidFill>
                  <a:srgbClr val="000000"/>
                </a:solidFill>
                <a:latin typeface="Poppins"/>
                <a:ea typeface="Poppins"/>
                <a:cs typeface="Poppins"/>
                <a:sym typeface="Poppins"/>
              </a:rPr>
              <a:t>-- </a:t>
            </a:r>
            <a:r>
              <a:rPr lang="en-US" sz="2751" b="true">
                <a:solidFill>
                  <a:srgbClr val="000000"/>
                </a:solidFill>
                <a:latin typeface="Poppins Bold"/>
                <a:ea typeface="Poppins Bold"/>
                <a:cs typeface="Poppins Bold"/>
                <a:sym typeface="Poppins Bold"/>
              </a:rPr>
              <a:t>Create a keyspace</a:t>
            </a:r>
          </a:p>
          <a:p>
            <a:pPr algn="l">
              <a:lnSpc>
                <a:spcPts val="3163"/>
              </a:lnSpc>
            </a:pPr>
          </a:p>
          <a:p>
            <a:pPr algn="l">
              <a:lnSpc>
                <a:spcPts val="3163"/>
              </a:lnSpc>
            </a:pPr>
            <a:r>
              <a:rPr lang="en-US" sz="2751">
                <a:solidFill>
                  <a:srgbClr val="000000"/>
                </a:solidFill>
                <a:latin typeface="Poppins"/>
                <a:ea typeface="Poppins"/>
                <a:cs typeface="Poppins"/>
                <a:sym typeface="Poppins"/>
              </a:rPr>
              <a:t>CREATE KEYSPACE IF NOT EXISTS store WITH REPLICATION = { 'class' : 'SimpleStrategy', 'replication_factor' : '1' };</a:t>
            </a:r>
          </a:p>
          <a:p>
            <a:pPr algn="l">
              <a:lnSpc>
                <a:spcPts val="3163"/>
              </a:lnSpc>
            </a:pPr>
          </a:p>
        </p:txBody>
      </p:sp>
      <p:sp>
        <p:nvSpPr>
          <p:cNvPr name="TextBox 9" id="9"/>
          <p:cNvSpPr txBox="true"/>
          <p:nvPr/>
        </p:nvSpPr>
        <p:spPr>
          <a:xfrm rot="0">
            <a:off x="2128343" y="5286375"/>
            <a:ext cx="14374004" cy="2836870"/>
          </a:xfrm>
          <a:prstGeom prst="rect">
            <a:avLst/>
          </a:prstGeom>
        </p:spPr>
        <p:txBody>
          <a:bodyPr anchor="t" rtlCol="false" tIns="0" lIns="0" bIns="0" rIns="0">
            <a:spAutoFit/>
          </a:bodyPr>
          <a:lstStyle/>
          <a:p>
            <a:pPr algn="l">
              <a:lnSpc>
                <a:spcPts val="3163"/>
              </a:lnSpc>
            </a:pPr>
            <a:r>
              <a:rPr lang="en-US" sz="2751">
                <a:solidFill>
                  <a:srgbClr val="000000"/>
                </a:solidFill>
                <a:latin typeface="Poppins"/>
                <a:ea typeface="Poppins"/>
                <a:cs typeface="Poppins"/>
                <a:sym typeface="Poppins"/>
              </a:rPr>
              <a:t>-- </a:t>
            </a:r>
            <a:r>
              <a:rPr lang="en-US" sz="2751" b="true">
                <a:solidFill>
                  <a:srgbClr val="000000"/>
                </a:solidFill>
                <a:latin typeface="Poppins Bold"/>
                <a:ea typeface="Poppins Bold"/>
                <a:cs typeface="Poppins Bold"/>
                <a:sym typeface="Poppins Bold"/>
              </a:rPr>
              <a:t>Create a table</a:t>
            </a:r>
          </a:p>
          <a:p>
            <a:pPr algn="l">
              <a:lnSpc>
                <a:spcPts val="3163"/>
              </a:lnSpc>
            </a:pPr>
          </a:p>
          <a:p>
            <a:pPr algn="l">
              <a:lnSpc>
                <a:spcPts val="3163"/>
              </a:lnSpc>
            </a:pPr>
            <a:r>
              <a:rPr lang="en-US" sz="2751">
                <a:solidFill>
                  <a:srgbClr val="000000"/>
                </a:solidFill>
                <a:latin typeface="Poppins"/>
                <a:ea typeface="Poppins"/>
                <a:cs typeface="Poppins"/>
                <a:sym typeface="Poppins"/>
              </a:rPr>
              <a:t>CREATE TABLE IF NOT EXISTS store.shopping_cart (</a:t>
            </a:r>
          </a:p>
          <a:p>
            <a:pPr algn="l">
              <a:lnSpc>
                <a:spcPts val="3163"/>
              </a:lnSpc>
            </a:pPr>
            <a:r>
              <a:rPr lang="en-US" sz="2751">
                <a:solidFill>
                  <a:srgbClr val="000000"/>
                </a:solidFill>
                <a:latin typeface="Poppins"/>
                <a:ea typeface="Poppins"/>
                <a:cs typeface="Poppins"/>
                <a:sym typeface="Poppins"/>
              </a:rPr>
              <a:t>userid text PRIMARY KEY,</a:t>
            </a:r>
          </a:p>
          <a:p>
            <a:pPr algn="l">
              <a:lnSpc>
                <a:spcPts val="3163"/>
              </a:lnSpc>
            </a:pPr>
            <a:r>
              <a:rPr lang="en-US" sz="2751">
                <a:solidFill>
                  <a:srgbClr val="000000"/>
                </a:solidFill>
                <a:latin typeface="Poppins"/>
                <a:ea typeface="Poppins"/>
                <a:cs typeface="Poppins"/>
                <a:sym typeface="Poppins"/>
              </a:rPr>
              <a:t>item_count int,</a:t>
            </a:r>
          </a:p>
          <a:p>
            <a:pPr algn="l">
              <a:lnSpc>
                <a:spcPts val="3163"/>
              </a:lnSpc>
            </a:pPr>
            <a:r>
              <a:rPr lang="en-US" sz="2751">
                <a:solidFill>
                  <a:srgbClr val="000000"/>
                </a:solidFill>
                <a:latin typeface="Poppins"/>
                <a:ea typeface="Poppins"/>
                <a:cs typeface="Poppins"/>
                <a:sym typeface="Poppins"/>
              </a:rPr>
              <a:t>last_update_timestamp timestamp);</a:t>
            </a:r>
          </a:p>
          <a:p>
            <a:pPr algn="l">
              <a:lnSpc>
                <a:spcPts val="3163"/>
              </a:lnSpc>
            </a:pP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grpSp>
        <p:nvGrpSpPr>
          <p:cNvPr name="Group 2" id="2"/>
          <p:cNvGrpSpPr/>
          <p:nvPr/>
        </p:nvGrpSpPr>
        <p:grpSpPr>
          <a:xfrm rot="0">
            <a:off x="-651059" y="695853"/>
            <a:ext cx="18939059" cy="1464829"/>
            <a:chOff x="0" y="0"/>
            <a:chExt cx="4988065" cy="385799"/>
          </a:xfrm>
        </p:grpSpPr>
        <p:sp>
          <p:nvSpPr>
            <p:cNvPr name="Freeform 3" id="3"/>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4" id="4"/>
            <p:cNvSpPr txBox="true"/>
            <p:nvPr/>
          </p:nvSpPr>
          <p:spPr>
            <a:xfrm>
              <a:off x="0" y="28575"/>
              <a:ext cx="4988065" cy="357224"/>
            </a:xfrm>
            <a:prstGeom prst="rect">
              <a:avLst/>
            </a:prstGeom>
          </p:spPr>
          <p:txBody>
            <a:bodyPr anchor="ctr" rtlCol="false" tIns="50800" lIns="50800" bIns="50800" rIns="50800"/>
            <a:lstStyle/>
            <a:p>
              <a:pPr algn="ctr">
                <a:lnSpc>
                  <a:spcPts val="2661"/>
                </a:lnSpc>
              </a:pPr>
            </a:p>
          </p:txBody>
        </p:sp>
      </p:grpSp>
      <p:sp>
        <p:nvSpPr>
          <p:cNvPr name="TextBox 5" id="5"/>
          <p:cNvSpPr txBox="true"/>
          <p:nvPr/>
        </p:nvSpPr>
        <p:spPr>
          <a:xfrm rot="0">
            <a:off x="1956998" y="2306630"/>
            <a:ext cx="14374004" cy="3636970"/>
          </a:xfrm>
          <a:prstGeom prst="rect">
            <a:avLst/>
          </a:prstGeom>
        </p:spPr>
        <p:txBody>
          <a:bodyPr anchor="t" rtlCol="false" tIns="0" lIns="0" bIns="0" rIns="0">
            <a:spAutoFit/>
          </a:bodyPr>
          <a:lstStyle/>
          <a:p>
            <a:pPr algn="l">
              <a:lnSpc>
                <a:spcPts val="3163"/>
              </a:lnSpc>
            </a:pPr>
            <a:r>
              <a:rPr lang="en-US" sz="2751">
                <a:solidFill>
                  <a:srgbClr val="000000"/>
                </a:solidFill>
                <a:latin typeface="Poppins"/>
                <a:ea typeface="Poppins"/>
                <a:cs typeface="Poppins"/>
                <a:sym typeface="Poppins"/>
              </a:rPr>
              <a:t>--</a:t>
            </a:r>
            <a:r>
              <a:rPr lang="en-US" sz="2751" b="true">
                <a:solidFill>
                  <a:srgbClr val="000000"/>
                </a:solidFill>
                <a:latin typeface="Poppins Bold"/>
                <a:ea typeface="Poppins Bold"/>
                <a:cs typeface="Poppins Bold"/>
                <a:sym typeface="Poppins Bold"/>
              </a:rPr>
              <a:t> Insert some data</a:t>
            </a:r>
          </a:p>
          <a:p>
            <a:pPr algn="l">
              <a:lnSpc>
                <a:spcPts val="3163"/>
              </a:lnSpc>
            </a:pPr>
          </a:p>
          <a:p>
            <a:pPr algn="l">
              <a:lnSpc>
                <a:spcPts val="3163"/>
              </a:lnSpc>
            </a:pPr>
            <a:r>
              <a:rPr lang="en-US" sz="2751">
                <a:solidFill>
                  <a:srgbClr val="000000"/>
                </a:solidFill>
                <a:latin typeface="Poppins"/>
                <a:ea typeface="Poppins"/>
                <a:cs typeface="Poppins"/>
                <a:sym typeface="Poppins"/>
              </a:rPr>
              <a:t>INSERT INTO store.shopping_cart</a:t>
            </a:r>
          </a:p>
          <a:p>
            <a:pPr algn="l">
              <a:lnSpc>
                <a:spcPts val="3163"/>
              </a:lnSpc>
            </a:pPr>
            <a:r>
              <a:rPr lang="en-US" sz="2751">
                <a:solidFill>
                  <a:srgbClr val="000000"/>
                </a:solidFill>
                <a:latin typeface="Poppins"/>
                <a:ea typeface="Poppins"/>
                <a:cs typeface="Poppins"/>
                <a:sym typeface="Poppins"/>
              </a:rPr>
              <a:t>(userid, item_count, last_update_timestamp)</a:t>
            </a:r>
          </a:p>
          <a:p>
            <a:pPr algn="l">
              <a:lnSpc>
                <a:spcPts val="3163"/>
              </a:lnSpc>
            </a:pPr>
            <a:r>
              <a:rPr lang="en-US" sz="2751">
                <a:solidFill>
                  <a:srgbClr val="000000"/>
                </a:solidFill>
                <a:latin typeface="Poppins"/>
                <a:ea typeface="Poppins"/>
                <a:cs typeface="Poppins"/>
                <a:sym typeface="Poppins"/>
              </a:rPr>
              <a:t>VALUES ('9876', 2, toTimeStamp(now()));</a:t>
            </a:r>
          </a:p>
          <a:p>
            <a:pPr algn="l">
              <a:lnSpc>
                <a:spcPts val="3163"/>
              </a:lnSpc>
            </a:pPr>
            <a:r>
              <a:rPr lang="en-US" sz="2751">
                <a:solidFill>
                  <a:srgbClr val="000000"/>
                </a:solidFill>
                <a:latin typeface="Poppins"/>
                <a:ea typeface="Poppins"/>
                <a:cs typeface="Poppins"/>
                <a:sym typeface="Poppins"/>
              </a:rPr>
              <a:t>INSERT INTO store.shopping_cart</a:t>
            </a:r>
          </a:p>
          <a:p>
            <a:pPr algn="l">
              <a:lnSpc>
                <a:spcPts val="3163"/>
              </a:lnSpc>
            </a:pPr>
            <a:r>
              <a:rPr lang="en-US" sz="2751">
                <a:solidFill>
                  <a:srgbClr val="000000"/>
                </a:solidFill>
                <a:latin typeface="Poppins"/>
                <a:ea typeface="Poppins"/>
                <a:cs typeface="Poppins"/>
                <a:sym typeface="Poppins"/>
              </a:rPr>
              <a:t>(userid, item_count, last_update_timestamp)</a:t>
            </a:r>
          </a:p>
          <a:p>
            <a:pPr algn="l">
              <a:lnSpc>
                <a:spcPts val="3163"/>
              </a:lnSpc>
            </a:pPr>
            <a:r>
              <a:rPr lang="en-US" sz="2751">
                <a:solidFill>
                  <a:srgbClr val="000000"/>
                </a:solidFill>
                <a:latin typeface="Poppins"/>
                <a:ea typeface="Poppins"/>
                <a:cs typeface="Poppins"/>
                <a:sym typeface="Poppins"/>
              </a:rPr>
              <a:t>VALUES ('1234', 5, toTimeStamp(now()));</a:t>
            </a:r>
          </a:p>
          <a:p>
            <a:pPr algn="l">
              <a:lnSpc>
                <a:spcPts val="3163"/>
              </a:lnSpc>
            </a:pPr>
          </a:p>
        </p:txBody>
      </p:sp>
      <p:sp>
        <p:nvSpPr>
          <p:cNvPr name="Freeform 6" id="6"/>
          <p:cNvSpPr/>
          <p:nvPr/>
        </p:nvSpPr>
        <p:spPr>
          <a:xfrm flipH="false" flipV="false" rot="0">
            <a:off x="3493371" y="5943600"/>
            <a:ext cx="11301259" cy="2641669"/>
          </a:xfrm>
          <a:custGeom>
            <a:avLst/>
            <a:gdLst/>
            <a:ahLst/>
            <a:cxnLst/>
            <a:rect r="r" b="b" t="t" l="l"/>
            <a:pathLst>
              <a:path h="2641669" w="11301259">
                <a:moveTo>
                  <a:pt x="0" y="0"/>
                </a:moveTo>
                <a:lnTo>
                  <a:pt x="11301258" y="0"/>
                </a:lnTo>
                <a:lnTo>
                  <a:pt x="11301258" y="2641669"/>
                </a:lnTo>
                <a:lnTo>
                  <a:pt x="0" y="2641669"/>
                </a:lnTo>
                <a:lnTo>
                  <a:pt x="0" y="0"/>
                </a:lnTo>
                <a:close/>
              </a:path>
            </a:pathLst>
          </a:custGeom>
          <a:blipFill>
            <a:blip r:embed="rId2"/>
            <a:stretch>
              <a:fillRect l="0" t="0" r="0" b="0"/>
            </a:stretch>
          </a:blipFill>
        </p:spPr>
      </p:sp>
      <p:sp>
        <p:nvSpPr>
          <p:cNvPr name="TextBox 7" id="7"/>
          <p:cNvSpPr txBox="true"/>
          <p:nvPr/>
        </p:nvSpPr>
        <p:spPr>
          <a:xfrm rot="0">
            <a:off x="2477981" y="1021388"/>
            <a:ext cx="13332037" cy="794709"/>
          </a:xfrm>
          <a:prstGeom prst="rect">
            <a:avLst/>
          </a:prstGeom>
        </p:spPr>
        <p:txBody>
          <a:bodyPr anchor="t" rtlCol="false" tIns="0" lIns="0" bIns="0" rIns="0">
            <a:spAutoFit/>
          </a:bodyPr>
          <a:lstStyle/>
          <a:p>
            <a:pPr algn="l">
              <a:lnSpc>
                <a:spcPts val="5923"/>
              </a:lnSpc>
            </a:pPr>
            <a:r>
              <a:rPr lang="en-US" sz="5151" b="true">
                <a:solidFill>
                  <a:srgbClr val="F4F4F4"/>
                </a:solidFill>
                <a:latin typeface="Poppins Bold"/>
                <a:ea typeface="Poppins Bold"/>
                <a:cs typeface="Poppins Bold"/>
                <a:sym typeface="Poppins Bold"/>
              </a:rPr>
              <a:t>Using Cassandra (Functions &amp; Queries)</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grpSp>
        <p:nvGrpSpPr>
          <p:cNvPr name="Group 2" id="2"/>
          <p:cNvGrpSpPr/>
          <p:nvPr/>
        </p:nvGrpSpPr>
        <p:grpSpPr>
          <a:xfrm rot="0">
            <a:off x="-651059" y="695853"/>
            <a:ext cx="18939059" cy="1464829"/>
            <a:chOff x="0" y="0"/>
            <a:chExt cx="4988065" cy="385799"/>
          </a:xfrm>
        </p:grpSpPr>
        <p:sp>
          <p:nvSpPr>
            <p:cNvPr name="Freeform 3" id="3"/>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4" id="4"/>
            <p:cNvSpPr txBox="true"/>
            <p:nvPr/>
          </p:nvSpPr>
          <p:spPr>
            <a:xfrm>
              <a:off x="0" y="28575"/>
              <a:ext cx="4988065" cy="357224"/>
            </a:xfrm>
            <a:prstGeom prst="rect">
              <a:avLst/>
            </a:prstGeom>
          </p:spPr>
          <p:txBody>
            <a:bodyPr anchor="ctr" rtlCol="false" tIns="50800" lIns="50800" bIns="50800" rIns="50800"/>
            <a:lstStyle/>
            <a:p>
              <a:pPr algn="ctr">
                <a:lnSpc>
                  <a:spcPts val="2661"/>
                </a:lnSpc>
              </a:pPr>
            </a:p>
          </p:txBody>
        </p:sp>
      </p:grpSp>
      <p:sp>
        <p:nvSpPr>
          <p:cNvPr name="Freeform 5" id="5"/>
          <p:cNvSpPr/>
          <p:nvPr/>
        </p:nvSpPr>
        <p:spPr>
          <a:xfrm flipH="false" flipV="false" rot="0">
            <a:off x="3493371" y="5143500"/>
            <a:ext cx="11301259" cy="3814175"/>
          </a:xfrm>
          <a:custGeom>
            <a:avLst/>
            <a:gdLst/>
            <a:ahLst/>
            <a:cxnLst/>
            <a:rect r="r" b="b" t="t" l="l"/>
            <a:pathLst>
              <a:path h="3814175" w="11301259">
                <a:moveTo>
                  <a:pt x="0" y="0"/>
                </a:moveTo>
                <a:lnTo>
                  <a:pt x="11301258" y="0"/>
                </a:lnTo>
                <a:lnTo>
                  <a:pt x="11301258" y="3814175"/>
                </a:lnTo>
                <a:lnTo>
                  <a:pt x="0" y="3814175"/>
                </a:lnTo>
                <a:lnTo>
                  <a:pt x="0" y="0"/>
                </a:lnTo>
                <a:close/>
              </a:path>
            </a:pathLst>
          </a:custGeom>
          <a:blipFill>
            <a:blip r:embed="rId2"/>
            <a:stretch>
              <a:fillRect l="0" t="0" r="0" b="0"/>
            </a:stretch>
          </a:blipFill>
        </p:spPr>
      </p:sp>
      <p:sp>
        <p:nvSpPr>
          <p:cNvPr name="TextBox 6" id="6"/>
          <p:cNvSpPr txBox="true"/>
          <p:nvPr/>
        </p:nvSpPr>
        <p:spPr>
          <a:xfrm rot="0">
            <a:off x="1956998" y="3024231"/>
            <a:ext cx="14374004" cy="1236670"/>
          </a:xfrm>
          <a:prstGeom prst="rect">
            <a:avLst/>
          </a:prstGeom>
        </p:spPr>
        <p:txBody>
          <a:bodyPr anchor="t" rtlCol="false" tIns="0" lIns="0" bIns="0" rIns="0">
            <a:spAutoFit/>
          </a:bodyPr>
          <a:lstStyle/>
          <a:p>
            <a:pPr algn="l">
              <a:lnSpc>
                <a:spcPts val="3163"/>
              </a:lnSpc>
            </a:pPr>
            <a:r>
              <a:rPr lang="en-US" sz="2751">
                <a:solidFill>
                  <a:srgbClr val="000000"/>
                </a:solidFill>
                <a:latin typeface="Poppins"/>
                <a:ea typeface="Poppins"/>
                <a:cs typeface="Poppins"/>
                <a:sym typeface="Poppins"/>
              </a:rPr>
              <a:t>--</a:t>
            </a:r>
            <a:r>
              <a:rPr lang="en-US" sz="2751" b="true">
                <a:solidFill>
                  <a:srgbClr val="000000"/>
                </a:solidFill>
                <a:latin typeface="Poppins Bold"/>
                <a:ea typeface="Poppins Bold"/>
                <a:cs typeface="Poppins Bold"/>
                <a:sym typeface="Poppins Bold"/>
              </a:rPr>
              <a:t> Select  data</a:t>
            </a:r>
          </a:p>
          <a:p>
            <a:pPr algn="l">
              <a:lnSpc>
                <a:spcPts val="3163"/>
              </a:lnSpc>
            </a:pPr>
          </a:p>
          <a:p>
            <a:pPr algn="l">
              <a:lnSpc>
                <a:spcPts val="3163"/>
              </a:lnSpc>
            </a:pPr>
            <a:r>
              <a:rPr lang="en-US" sz="2751">
                <a:solidFill>
                  <a:srgbClr val="000000"/>
                </a:solidFill>
                <a:latin typeface="Poppins"/>
                <a:ea typeface="Poppins"/>
                <a:cs typeface="Poppins"/>
                <a:sym typeface="Poppins"/>
              </a:rPr>
              <a:t>SELECT * FROM  store.shopping_cart;</a:t>
            </a:r>
          </a:p>
        </p:txBody>
      </p:sp>
      <p:sp>
        <p:nvSpPr>
          <p:cNvPr name="TextBox 7" id="7"/>
          <p:cNvSpPr txBox="true"/>
          <p:nvPr/>
        </p:nvSpPr>
        <p:spPr>
          <a:xfrm rot="0">
            <a:off x="2477981" y="1021388"/>
            <a:ext cx="13332037" cy="794709"/>
          </a:xfrm>
          <a:prstGeom prst="rect">
            <a:avLst/>
          </a:prstGeom>
        </p:spPr>
        <p:txBody>
          <a:bodyPr anchor="t" rtlCol="false" tIns="0" lIns="0" bIns="0" rIns="0">
            <a:spAutoFit/>
          </a:bodyPr>
          <a:lstStyle/>
          <a:p>
            <a:pPr algn="l">
              <a:lnSpc>
                <a:spcPts val="5923"/>
              </a:lnSpc>
            </a:pPr>
            <a:r>
              <a:rPr lang="en-US" sz="5151" b="true">
                <a:solidFill>
                  <a:srgbClr val="F4F4F4"/>
                </a:solidFill>
                <a:latin typeface="Poppins Bold"/>
                <a:ea typeface="Poppins Bold"/>
                <a:cs typeface="Poppins Bold"/>
                <a:sym typeface="Poppins Bold"/>
              </a:rPr>
              <a:t>Using Cassandra (Functions &amp; Queries)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grpSp>
        <p:nvGrpSpPr>
          <p:cNvPr name="Group 2" id="2"/>
          <p:cNvGrpSpPr/>
          <p:nvPr/>
        </p:nvGrpSpPr>
        <p:grpSpPr>
          <a:xfrm rot="0">
            <a:off x="-651059" y="695853"/>
            <a:ext cx="18939059" cy="1464829"/>
            <a:chOff x="0" y="0"/>
            <a:chExt cx="4988065" cy="385799"/>
          </a:xfrm>
        </p:grpSpPr>
        <p:sp>
          <p:nvSpPr>
            <p:cNvPr name="Freeform 3" id="3"/>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4" id="4"/>
            <p:cNvSpPr txBox="true"/>
            <p:nvPr/>
          </p:nvSpPr>
          <p:spPr>
            <a:xfrm>
              <a:off x="0" y="28575"/>
              <a:ext cx="4988065" cy="357224"/>
            </a:xfrm>
            <a:prstGeom prst="rect">
              <a:avLst/>
            </a:prstGeom>
          </p:spPr>
          <p:txBody>
            <a:bodyPr anchor="ctr" rtlCol="false" tIns="50800" lIns="50800" bIns="50800" rIns="50800"/>
            <a:lstStyle/>
            <a:p>
              <a:pPr algn="ctr">
                <a:lnSpc>
                  <a:spcPts val="2661"/>
                </a:lnSpc>
              </a:pPr>
            </a:p>
          </p:txBody>
        </p:sp>
      </p:grpSp>
      <p:sp>
        <p:nvSpPr>
          <p:cNvPr name="Freeform 5" id="5"/>
          <p:cNvSpPr/>
          <p:nvPr/>
        </p:nvSpPr>
        <p:spPr>
          <a:xfrm flipH="false" flipV="false" rot="0">
            <a:off x="4601525" y="4343400"/>
            <a:ext cx="9084951" cy="5768944"/>
          </a:xfrm>
          <a:custGeom>
            <a:avLst/>
            <a:gdLst/>
            <a:ahLst/>
            <a:cxnLst/>
            <a:rect r="r" b="b" t="t" l="l"/>
            <a:pathLst>
              <a:path h="5768944" w="9084951">
                <a:moveTo>
                  <a:pt x="0" y="0"/>
                </a:moveTo>
                <a:lnTo>
                  <a:pt x="9084950" y="0"/>
                </a:lnTo>
                <a:lnTo>
                  <a:pt x="9084950" y="5768944"/>
                </a:lnTo>
                <a:lnTo>
                  <a:pt x="0" y="5768944"/>
                </a:lnTo>
                <a:lnTo>
                  <a:pt x="0" y="0"/>
                </a:lnTo>
                <a:close/>
              </a:path>
            </a:pathLst>
          </a:custGeom>
          <a:blipFill>
            <a:blip r:embed="rId2"/>
            <a:stretch>
              <a:fillRect l="0" t="0" r="0" b="0"/>
            </a:stretch>
          </a:blipFill>
        </p:spPr>
      </p:sp>
      <p:sp>
        <p:nvSpPr>
          <p:cNvPr name="TextBox 6" id="6"/>
          <p:cNvSpPr txBox="true"/>
          <p:nvPr/>
        </p:nvSpPr>
        <p:spPr>
          <a:xfrm rot="0">
            <a:off x="1956998" y="2306630"/>
            <a:ext cx="14374004" cy="2036770"/>
          </a:xfrm>
          <a:prstGeom prst="rect">
            <a:avLst/>
          </a:prstGeom>
        </p:spPr>
        <p:txBody>
          <a:bodyPr anchor="t" rtlCol="false" tIns="0" lIns="0" bIns="0" rIns="0">
            <a:spAutoFit/>
          </a:bodyPr>
          <a:lstStyle/>
          <a:p>
            <a:pPr algn="l">
              <a:lnSpc>
                <a:spcPts val="3163"/>
              </a:lnSpc>
            </a:pPr>
            <a:r>
              <a:rPr lang="en-US" sz="2751">
                <a:solidFill>
                  <a:srgbClr val="000000"/>
                </a:solidFill>
                <a:latin typeface="Poppins"/>
                <a:ea typeface="Poppins"/>
                <a:cs typeface="Poppins"/>
                <a:sym typeface="Poppins"/>
              </a:rPr>
              <a:t>-- </a:t>
            </a:r>
            <a:r>
              <a:rPr lang="en-US" sz="2751" b="true">
                <a:solidFill>
                  <a:srgbClr val="000000"/>
                </a:solidFill>
                <a:latin typeface="Poppins Bold"/>
                <a:ea typeface="Poppins Bold"/>
                <a:cs typeface="Poppins Bold"/>
                <a:sym typeface="Poppins Bold"/>
              </a:rPr>
              <a:t>Update an existing record </a:t>
            </a:r>
          </a:p>
          <a:p>
            <a:pPr algn="l">
              <a:lnSpc>
                <a:spcPts val="3163"/>
              </a:lnSpc>
            </a:pPr>
          </a:p>
          <a:p>
            <a:pPr algn="l">
              <a:lnSpc>
                <a:spcPts val="3163"/>
              </a:lnSpc>
            </a:pPr>
            <a:r>
              <a:rPr lang="en-US" sz="2751">
                <a:solidFill>
                  <a:srgbClr val="000000"/>
                </a:solidFill>
                <a:latin typeface="Poppins"/>
                <a:ea typeface="Poppins"/>
                <a:cs typeface="Poppins"/>
                <a:sym typeface="Poppins"/>
              </a:rPr>
              <a:t>UPDATE store.shopping_cart</a:t>
            </a:r>
          </a:p>
          <a:p>
            <a:pPr algn="l">
              <a:lnSpc>
                <a:spcPts val="3163"/>
              </a:lnSpc>
            </a:pPr>
            <a:r>
              <a:rPr lang="en-US" sz="2751">
                <a:solidFill>
                  <a:srgbClr val="000000"/>
                </a:solidFill>
                <a:latin typeface="Poppins"/>
                <a:ea typeface="Poppins"/>
                <a:cs typeface="Poppins"/>
                <a:sym typeface="Poppins"/>
              </a:rPr>
              <a:t>SET item_count = 10, last_update_timestamp =toTimeStamp(now()) </a:t>
            </a:r>
          </a:p>
          <a:p>
            <a:pPr algn="l">
              <a:lnSpc>
                <a:spcPts val="3163"/>
              </a:lnSpc>
            </a:pPr>
            <a:r>
              <a:rPr lang="en-US" sz="2751">
                <a:solidFill>
                  <a:srgbClr val="000000"/>
                </a:solidFill>
                <a:latin typeface="Poppins"/>
                <a:ea typeface="Poppins"/>
                <a:cs typeface="Poppins"/>
                <a:sym typeface="Poppins"/>
              </a:rPr>
              <a:t>WHERE userid = '5678';</a:t>
            </a:r>
          </a:p>
        </p:txBody>
      </p:sp>
      <p:sp>
        <p:nvSpPr>
          <p:cNvPr name="TextBox 7" id="7"/>
          <p:cNvSpPr txBox="true"/>
          <p:nvPr/>
        </p:nvSpPr>
        <p:spPr>
          <a:xfrm rot="0">
            <a:off x="2477981" y="1021388"/>
            <a:ext cx="13332037" cy="794709"/>
          </a:xfrm>
          <a:prstGeom prst="rect">
            <a:avLst/>
          </a:prstGeom>
        </p:spPr>
        <p:txBody>
          <a:bodyPr anchor="t" rtlCol="false" tIns="0" lIns="0" bIns="0" rIns="0">
            <a:spAutoFit/>
          </a:bodyPr>
          <a:lstStyle/>
          <a:p>
            <a:pPr algn="l">
              <a:lnSpc>
                <a:spcPts val="5923"/>
              </a:lnSpc>
            </a:pPr>
            <a:r>
              <a:rPr lang="en-US" sz="5151" b="true">
                <a:solidFill>
                  <a:srgbClr val="F4F4F4"/>
                </a:solidFill>
                <a:latin typeface="Poppins Bold"/>
                <a:ea typeface="Poppins Bold"/>
                <a:cs typeface="Poppins Bold"/>
                <a:sym typeface="Poppins Bold"/>
              </a:rPr>
              <a:t>Using Cassandra (Functions &amp; Queries)</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grpSp>
        <p:nvGrpSpPr>
          <p:cNvPr name="Group 2" id="2"/>
          <p:cNvGrpSpPr/>
          <p:nvPr/>
        </p:nvGrpSpPr>
        <p:grpSpPr>
          <a:xfrm rot="0">
            <a:off x="-651059" y="695853"/>
            <a:ext cx="18939059" cy="1464829"/>
            <a:chOff x="0" y="0"/>
            <a:chExt cx="4988065" cy="385799"/>
          </a:xfrm>
        </p:grpSpPr>
        <p:sp>
          <p:nvSpPr>
            <p:cNvPr name="Freeform 3" id="3"/>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4" id="4"/>
            <p:cNvSpPr txBox="true"/>
            <p:nvPr/>
          </p:nvSpPr>
          <p:spPr>
            <a:xfrm>
              <a:off x="0" y="28575"/>
              <a:ext cx="4988065" cy="357224"/>
            </a:xfrm>
            <a:prstGeom prst="rect">
              <a:avLst/>
            </a:prstGeom>
          </p:spPr>
          <p:txBody>
            <a:bodyPr anchor="ctr" rtlCol="false" tIns="50800" lIns="50800" bIns="50800" rIns="50800"/>
            <a:lstStyle/>
            <a:p>
              <a:pPr algn="ctr">
                <a:lnSpc>
                  <a:spcPts val="2661"/>
                </a:lnSpc>
              </a:pPr>
            </a:p>
          </p:txBody>
        </p:sp>
      </p:grpSp>
      <p:sp>
        <p:nvSpPr>
          <p:cNvPr name="Freeform 5" id="5"/>
          <p:cNvSpPr/>
          <p:nvPr/>
        </p:nvSpPr>
        <p:spPr>
          <a:xfrm flipH="false" flipV="false" rot="0">
            <a:off x="3493371" y="5325309"/>
            <a:ext cx="11301259" cy="3743542"/>
          </a:xfrm>
          <a:custGeom>
            <a:avLst/>
            <a:gdLst/>
            <a:ahLst/>
            <a:cxnLst/>
            <a:rect r="r" b="b" t="t" l="l"/>
            <a:pathLst>
              <a:path h="3743542" w="11301259">
                <a:moveTo>
                  <a:pt x="0" y="0"/>
                </a:moveTo>
                <a:lnTo>
                  <a:pt x="11301258" y="0"/>
                </a:lnTo>
                <a:lnTo>
                  <a:pt x="11301258" y="3743542"/>
                </a:lnTo>
                <a:lnTo>
                  <a:pt x="0" y="3743542"/>
                </a:lnTo>
                <a:lnTo>
                  <a:pt x="0" y="0"/>
                </a:lnTo>
                <a:close/>
              </a:path>
            </a:pathLst>
          </a:custGeom>
          <a:blipFill>
            <a:blip r:embed="rId2"/>
            <a:stretch>
              <a:fillRect l="0" t="0" r="0" b="0"/>
            </a:stretch>
          </a:blipFill>
        </p:spPr>
      </p:sp>
      <p:sp>
        <p:nvSpPr>
          <p:cNvPr name="TextBox 6" id="6"/>
          <p:cNvSpPr txBox="true"/>
          <p:nvPr/>
        </p:nvSpPr>
        <p:spPr>
          <a:xfrm rot="0">
            <a:off x="1956998" y="2742819"/>
            <a:ext cx="14374004" cy="1636720"/>
          </a:xfrm>
          <a:prstGeom prst="rect">
            <a:avLst/>
          </a:prstGeom>
        </p:spPr>
        <p:txBody>
          <a:bodyPr anchor="t" rtlCol="false" tIns="0" lIns="0" bIns="0" rIns="0">
            <a:spAutoFit/>
          </a:bodyPr>
          <a:lstStyle/>
          <a:p>
            <a:pPr algn="l">
              <a:lnSpc>
                <a:spcPts val="3163"/>
              </a:lnSpc>
            </a:pPr>
            <a:r>
              <a:rPr lang="en-US" sz="2751">
                <a:solidFill>
                  <a:srgbClr val="000000"/>
                </a:solidFill>
                <a:latin typeface="Poppins"/>
                <a:ea typeface="Poppins"/>
                <a:cs typeface="Poppins"/>
                <a:sym typeface="Poppins"/>
              </a:rPr>
              <a:t>-- </a:t>
            </a:r>
            <a:r>
              <a:rPr lang="en-US" sz="2751" b="true">
                <a:solidFill>
                  <a:srgbClr val="000000"/>
                </a:solidFill>
                <a:latin typeface="Poppins Bold"/>
                <a:ea typeface="Poppins Bold"/>
                <a:cs typeface="Poppins Bold"/>
                <a:sym typeface="Poppins Bold"/>
              </a:rPr>
              <a:t>Delete a record </a:t>
            </a:r>
          </a:p>
          <a:p>
            <a:pPr algn="l">
              <a:lnSpc>
                <a:spcPts val="3163"/>
              </a:lnSpc>
            </a:pPr>
          </a:p>
          <a:p>
            <a:pPr algn="l">
              <a:lnSpc>
                <a:spcPts val="3163"/>
              </a:lnSpc>
            </a:pPr>
            <a:r>
              <a:rPr lang="en-US" sz="2751">
                <a:solidFill>
                  <a:srgbClr val="000000"/>
                </a:solidFill>
                <a:latin typeface="Poppins"/>
                <a:ea typeface="Poppins"/>
                <a:cs typeface="Poppins"/>
                <a:sym typeface="Poppins"/>
              </a:rPr>
              <a:t>DELETE FROM store.shopping_cart </a:t>
            </a:r>
          </a:p>
          <a:p>
            <a:pPr algn="l">
              <a:lnSpc>
                <a:spcPts val="3163"/>
              </a:lnSpc>
            </a:pPr>
            <a:r>
              <a:rPr lang="en-US" sz="2751">
                <a:solidFill>
                  <a:srgbClr val="000000"/>
                </a:solidFill>
                <a:latin typeface="Poppins"/>
                <a:ea typeface="Poppins"/>
                <a:cs typeface="Poppins"/>
                <a:sym typeface="Poppins"/>
              </a:rPr>
              <a:t>WHERE userid = '1234';</a:t>
            </a:r>
          </a:p>
        </p:txBody>
      </p:sp>
      <p:sp>
        <p:nvSpPr>
          <p:cNvPr name="TextBox 7" id="7"/>
          <p:cNvSpPr txBox="true"/>
          <p:nvPr/>
        </p:nvSpPr>
        <p:spPr>
          <a:xfrm rot="0">
            <a:off x="2477981" y="1021388"/>
            <a:ext cx="13332037" cy="794709"/>
          </a:xfrm>
          <a:prstGeom prst="rect">
            <a:avLst/>
          </a:prstGeom>
        </p:spPr>
        <p:txBody>
          <a:bodyPr anchor="t" rtlCol="false" tIns="0" lIns="0" bIns="0" rIns="0">
            <a:spAutoFit/>
          </a:bodyPr>
          <a:lstStyle/>
          <a:p>
            <a:pPr algn="l">
              <a:lnSpc>
                <a:spcPts val="5923"/>
              </a:lnSpc>
            </a:pPr>
            <a:r>
              <a:rPr lang="en-US" sz="5151" b="true">
                <a:solidFill>
                  <a:srgbClr val="F4F4F4"/>
                </a:solidFill>
                <a:latin typeface="Poppins Bold"/>
                <a:ea typeface="Poppins Bold"/>
                <a:cs typeface="Poppins Bold"/>
                <a:sym typeface="Poppins Bold"/>
              </a:rPr>
              <a:t>Using Cassandra (Functions &amp; Queries)</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grpSp>
        <p:nvGrpSpPr>
          <p:cNvPr name="Group 2" id="2"/>
          <p:cNvGrpSpPr/>
          <p:nvPr/>
        </p:nvGrpSpPr>
        <p:grpSpPr>
          <a:xfrm rot="0">
            <a:off x="-651059" y="695853"/>
            <a:ext cx="18939059" cy="1464829"/>
            <a:chOff x="0" y="0"/>
            <a:chExt cx="4988065" cy="385799"/>
          </a:xfrm>
        </p:grpSpPr>
        <p:sp>
          <p:nvSpPr>
            <p:cNvPr name="Freeform 3" id="3"/>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4" id="4"/>
            <p:cNvSpPr txBox="true"/>
            <p:nvPr/>
          </p:nvSpPr>
          <p:spPr>
            <a:xfrm>
              <a:off x="0" y="28575"/>
              <a:ext cx="4988065" cy="357224"/>
            </a:xfrm>
            <a:prstGeom prst="rect">
              <a:avLst/>
            </a:prstGeom>
          </p:spPr>
          <p:txBody>
            <a:bodyPr anchor="ctr" rtlCol="false" tIns="50800" lIns="50800" bIns="50800" rIns="50800"/>
            <a:lstStyle/>
            <a:p>
              <a:pPr algn="ctr">
                <a:lnSpc>
                  <a:spcPts val="2661"/>
                </a:lnSpc>
              </a:pPr>
            </a:p>
          </p:txBody>
        </p:sp>
      </p:grpSp>
      <p:sp>
        <p:nvSpPr>
          <p:cNvPr name="Freeform 5" id="5"/>
          <p:cNvSpPr/>
          <p:nvPr/>
        </p:nvSpPr>
        <p:spPr>
          <a:xfrm flipH="false" flipV="false" rot="0">
            <a:off x="3493371" y="4579563"/>
            <a:ext cx="11301259" cy="545948"/>
          </a:xfrm>
          <a:custGeom>
            <a:avLst/>
            <a:gdLst/>
            <a:ahLst/>
            <a:cxnLst/>
            <a:rect r="r" b="b" t="t" l="l"/>
            <a:pathLst>
              <a:path h="545948" w="11301259">
                <a:moveTo>
                  <a:pt x="0" y="0"/>
                </a:moveTo>
                <a:lnTo>
                  <a:pt x="11301258" y="0"/>
                </a:lnTo>
                <a:lnTo>
                  <a:pt x="11301258" y="545948"/>
                </a:lnTo>
                <a:lnTo>
                  <a:pt x="0" y="545948"/>
                </a:lnTo>
                <a:lnTo>
                  <a:pt x="0" y="0"/>
                </a:lnTo>
                <a:close/>
              </a:path>
            </a:pathLst>
          </a:custGeom>
          <a:blipFill>
            <a:blip r:embed="rId2"/>
            <a:stretch>
              <a:fillRect l="0" t="-19026" r="0" b="0"/>
            </a:stretch>
          </a:blipFill>
        </p:spPr>
      </p:sp>
      <p:sp>
        <p:nvSpPr>
          <p:cNvPr name="Freeform 6" id="6"/>
          <p:cNvSpPr/>
          <p:nvPr/>
        </p:nvSpPr>
        <p:spPr>
          <a:xfrm flipH="false" flipV="false" rot="0">
            <a:off x="3713234" y="7543281"/>
            <a:ext cx="10861532" cy="791508"/>
          </a:xfrm>
          <a:custGeom>
            <a:avLst/>
            <a:gdLst/>
            <a:ahLst/>
            <a:cxnLst/>
            <a:rect r="r" b="b" t="t" l="l"/>
            <a:pathLst>
              <a:path h="791508" w="10861532">
                <a:moveTo>
                  <a:pt x="0" y="0"/>
                </a:moveTo>
                <a:lnTo>
                  <a:pt x="10861532" y="0"/>
                </a:lnTo>
                <a:lnTo>
                  <a:pt x="10861532" y="791508"/>
                </a:lnTo>
                <a:lnTo>
                  <a:pt x="0" y="791508"/>
                </a:lnTo>
                <a:lnTo>
                  <a:pt x="0" y="0"/>
                </a:lnTo>
                <a:close/>
              </a:path>
            </a:pathLst>
          </a:custGeom>
          <a:blipFill>
            <a:blip r:embed="rId3"/>
            <a:stretch>
              <a:fillRect l="0" t="0" r="0" b="-19148"/>
            </a:stretch>
          </a:blipFill>
        </p:spPr>
      </p:sp>
      <p:sp>
        <p:nvSpPr>
          <p:cNvPr name="TextBox 7" id="7"/>
          <p:cNvSpPr txBox="true"/>
          <p:nvPr/>
        </p:nvSpPr>
        <p:spPr>
          <a:xfrm rot="0">
            <a:off x="1956998" y="2742819"/>
            <a:ext cx="14374004" cy="1236670"/>
          </a:xfrm>
          <a:prstGeom prst="rect">
            <a:avLst/>
          </a:prstGeom>
        </p:spPr>
        <p:txBody>
          <a:bodyPr anchor="t" rtlCol="false" tIns="0" lIns="0" bIns="0" rIns="0">
            <a:spAutoFit/>
          </a:bodyPr>
          <a:lstStyle/>
          <a:p>
            <a:pPr algn="l">
              <a:lnSpc>
                <a:spcPts val="3163"/>
              </a:lnSpc>
            </a:pPr>
            <a:r>
              <a:rPr lang="en-US" sz="2751">
                <a:solidFill>
                  <a:srgbClr val="000000"/>
                </a:solidFill>
                <a:latin typeface="Poppins"/>
                <a:ea typeface="Poppins"/>
                <a:cs typeface="Poppins"/>
                <a:sym typeface="Poppins"/>
              </a:rPr>
              <a:t>-- </a:t>
            </a:r>
            <a:r>
              <a:rPr lang="en-US" sz="2751" b="true">
                <a:solidFill>
                  <a:srgbClr val="000000"/>
                </a:solidFill>
                <a:latin typeface="Poppins Bold"/>
                <a:ea typeface="Poppins Bold"/>
                <a:cs typeface="Poppins Bold"/>
                <a:sym typeface="Poppins Bold"/>
              </a:rPr>
              <a:t>Drop a table if needed </a:t>
            </a:r>
          </a:p>
          <a:p>
            <a:pPr algn="l">
              <a:lnSpc>
                <a:spcPts val="3163"/>
              </a:lnSpc>
            </a:pPr>
          </a:p>
          <a:p>
            <a:pPr algn="l">
              <a:lnSpc>
                <a:spcPts val="3163"/>
              </a:lnSpc>
            </a:pPr>
            <a:r>
              <a:rPr lang="en-US" sz="2751">
                <a:solidFill>
                  <a:srgbClr val="000000"/>
                </a:solidFill>
                <a:latin typeface="Poppins"/>
                <a:ea typeface="Poppins"/>
                <a:cs typeface="Poppins"/>
                <a:sym typeface="Poppins"/>
              </a:rPr>
              <a:t>DROP TABLE IF EXISTS store.shopping_cart;</a:t>
            </a:r>
          </a:p>
        </p:txBody>
      </p:sp>
      <p:sp>
        <p:nvSpPr>
          <p:cNvPr name="TextBox 8" id="8"/>
          <p:cNvSpPr txBox="true"/>
          <p:nvPr/>
        </p:nvSpPr>
        <p:spPr>
          <a:xfrm rot="0">
            <a:off x="1956998" y="5706536"/>
            <a:ext cx="14374004" cy="1236670"/>
          </a:xfrm>
          <a:prstGeom prst="rect">
            <a:avLst/>
          </a:prstGeom>
        </p:spPr>
        <p:txBody>
          <a:bodyPr anchor="t" rtlCol="false" tIns="0" lIns="0" bIns="0" rIns="0">
            <a:spAutoFit/>
          </a:bodyPr>
          <a:lstStyle/>
          <a:p>
            <a:pPr algn="l">
              <a:lnSpc>
                <a:spcPts val="3163"/>
              </a:lnSpc>
            </a:pPr>
            <a:r>
              <a:rPr lang="en-US" sz="2751">
                <a:solidFill>
                  <a:srgbClr val="000000"/>
                </a:solidFill>
                <a:latin typeface="Poppins"/>
                <a:ea typeface="Poppins"/>
                <a:cs typeface="Poppins"/>
                <a:sym typeface="Poppins"/>
              </a:rPr>
              <a:t>-- </a:t>
            </a:r>
            <a:r>
              <a:rPr lang="en-US" sz="2751" b="true">
                <a:solidFill>
                  <a:srgbClr val="000000"/>
                </a:solidFill>
                <a:latin typeface="Poppins Bold"/>
                <a:ea typeface="Poppins Bold"/>
                <a:cs typeface="Poppins Bold"/>
                <a:sym typeface="Poppins Bold"/>
              </a:rPr>
              <a:t>Drop the keyspace</a:t>
            </a:r>
          </a:p>
          <a:p>
            <a:pPr algn="l">
              <a:lnSpc>
                <a:spcPts val="3163"/>
              </a:lnSpc>
            </a:pPr>
          </a:p>
          <a:p>
            <a:pPr algn="l">
              <a:lnSpc>
                <a:spcPts val="3163"/>
              </a:lnSpc>
            </a:pPr>
            <a:r>
              <a:rPr lang="en-US" sz="2751">
                <a:solidFill>
                  <a:srgbClr val="000000"/>
                </a:solidFill>
                <a:latin typeface="Poppins"/>
                <a:ea typeface="Poppins"/>
                <a:cs typeface="Poppins"/>
                <a:sym typeface="Poppins"/>
              </a:rPr>
              <a:t>DROP KEYSPACE IF EXISTS store;</a:t>
            </a:r>
          </a:p>
        </p:txBody>
      </p:sp>
      <p:sp>
        <p:nvSpPr>
          <p:cNvPr name="TextBox 9" id="9"/>
          <p:cNvSpPr txBox="true"/>
          <p:nvPr/>
        </p:nvSpPr>
        <p:spPr>
          <a:xfrm rot="0">
            <a:off x="2477981" y="1021388"/>
            <a:ext cx="13332037" cy="794709"/>
          </a:xfrm>
          <a:prstGeom prst="rect">
            <a:avLst/>
          </a:prstGeom>
        </p:spPr>
        <p:txBody>
          <a:bodyPr anchor="t" rtlCol="false" tIns="0" lIns="0" bIns="0" rIns="0">
            <a:spAutoFit/>
          </a:bodyPr>
          <a:lstStyle/>
          <a:p>
            <a:pPr algn="l">
              <a:lnSpc>
                <a:spcPts val="5923"/>
              </a:lnSpc>
            </a:pPr>
            <a:r>
              <a:rPr lang="en-US" sz="5151" b="true">
                <a:solidFill>
                  <a:srgbClr val="F4F4F4"/>
                </a:solidFill>
                <a:latin typeface="Poppins Bold"/>
                <a:ea typeface="Poppins Bold"/>
                <a:cs typeface="Poppins Bold"/>
                <a:sym typeface="Poppins Bold"/>
              </a:rPr>
              <a:t>Using Cassandra (Functions &amp; Queries)</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grpSp>
        <p:nvGrpSpPr>
          <p:cNvPr name="Group 2" id="2"/>
          <p:cNvGrpSpPr/>
          <p:nvPr/>
        </p:nvGrpSpPr>
        <p:grpSpPr>
          <a:xfrm rot="0">
            <a:off x="-651059" y="695853"/>
            <a:ext cx="18939059" cy="1464829"/>
            <a:chOff x="0" y="0"/>
            <a:chExt cx="4988065" cy="385799"/>
          </a:xfrm>
        </p:grpSpPr>
        <p:sp>
          <p:nvSpPr>
            <p:cNvPr name="Freeform 3" id="3"/>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4" id="4"/>
            <p:cNvSpPr txBox="true"/>
            <p:nvPr/>
          </p:nvSpPr>
          <p:spPr>
            <a:xfrm>
              <a:off x="0" y="28575"/>
              <a:ext cx="4988065" cy="357224"/>
            </a:xfrm>
            <a:prstGeom prst="rect">
              <a:avLst/>
            </a:prstGeom>
          </p:spPr>
          <p:txBody>
            <a:bodyPr anchor="ctr" rtlCol="false" tIns="50800" lIns="50800" bIns="50800" rIns="50800"/>
            <a:lstStyle/>
            <a:p>
              <a:pPr algn="ctr">
                <a:lnSpc>
                  <a:spcPts val="2661"/>
                </a:lnSpc>
              </a:pPr>
            </a:p>
          </p:txBody>
        </p:sp>
      </p:grpSp>
      <p:sp>
        <p:nvSpPr>
          <p:cNvPr name="TextBox 5" id="5"/>
          <p:cNvSpPr txBox="true"/>
          <p:nvPr/>
        </p:nvSpPr>
        <p:spPr>
          <a:xfrm rot="0">
            <a:off x="1956998" y="2742819"/>
            <a:ext cx="14374004" cy="6437320"/>
          </a:xfrm>
          <a:prstGeom prst="rect">
            <a:avLst/>
          </a:prstGeom>
        </p:spPr>
        <p:txBody>
          <a:bodyPr anchor="t" rtlCol="false" tIns="0" lIns="0" bIns="0" rIns="0">
            <a:spAutoFit/>
          </a:bodyPr>
          <a:lstStyle/>
          <a:p>
            <a:pPr algn="l">
              <a:lnSpc>
                <a:spcPts val="3163"/>
              </a:lnSpc>
            </a:pPr>
            <a:r>
              <a:rPr lang="en-US" sz="2751">
                <a:solidFill>
                  <a:srgbClr val="000000"/>
                </a:solidFill>
                <a:latin typeface="Poppins"/>
                <a:ea typeface="Poppins"/>
                <a:cs typeface="Poppins"/>
                <a:sym typeface="Poppins"/>
              </a:rPr>
              <a:t>-- </a:t>
            </a:r>
            <a:r>
              <a:rPr lang="en-US" sz="2751" b="true">
                <a:solidFill>
                  <a:srgbClr val="000000"/>
                </a:solidFill>
                <a:latin typeface="Poppins Bold"/>
                <a:ea typeface="Poppins Bold"/>
                <a:cs typeface="Poppins Bold"/>
                <a:sym typeface="Poppins Bold"/>
              </a:rPr>
              <a:t>Benchmarking  basic operations using Python script</a:t>
            </a:r>
          </a:p>
          <a:p>
            <a:pPr algn="l">
              <a:lnSpc>
                <a:spcPts val="3163"/>
              </a:lnSpc>
            </a:pPr>
          </a:p>
          <a:p>
            <a:pPr algn="l">
              <a:lnSpc>
                <a:spcPts val="3163"/>
              </a:lnSpc>
            </a:pPr>
            <a:r>
              <a:rPr lang="en-US" sz="2751">
                <a:solidFill>
                  <a:srgbClr val="000000"/>
                </a:solidFill>
                <a:latin typeface="Poppins"/>
                <a:ea typeface="Poppins"/>
                <a:cs typeface="Poppins"/>
                <a:sym typeface="Poppins"/>
              </a:rPr>
              <a:t>Import necessary method from library:</a:t>
            </a:r>
          </a:p>
          <a:p>
            <a:pPr algn="l">
              <a:lnSpc>
                <a:spcPts val="3163"/>
              </a:lnSpc>
            </a:pPr>
          </a:p>
          <a:p>
            <a:pPr algn="l">
              <a:lnSpc>
                <a:spcPts val="3163"/>
              </a:lnSpc>
            </a:pPr>
            <a:r>
              <a:rPr lang="en-US" sz="2751">
                <a:solidFill>
                  <a:srgbClr val="063050"/>
                </a:solidFill>
                <a:latin typeface="Poppins"/>
                <a:ea typeface="Poppins"/>
                <a:cs typeface="Poppins"/>
                <a:sym typeface="Poppins"/>
              </a:rPr>
              <a:t>from cassandra.cluster import Cluster</a:t>
            </a:r>
          </a:p>
          <a:p>
            <a:pPr algn="l">
              <a:lnSpc>
                <a:spcPts val="3163"/>
              </a:lnSpc>
            </a:pPr>
          </a:p>
          <a:p>
            <a:pPr algn="l">
              <a:lnSpc>
                <a:spcPts val="3163"/>
              </a:lnSpc>
            </a:pPr>
            <a:r>
              <a:rPr lang="en-US" sz="2751">
                <a:solidFill>
                  <a:srgbClr val="000000"/>
                </a:solidFill>
                <a:latin typeface="Poppins"/>
                <a:ea typeface="Poppins"/>
                <a:cs typeface="Poppins"/>
                <a:sym typeface="Poppins"/>
              </a:rPr>
              <a:t>Connect to the Cassandra cluster:</a:t>
            </a:r>
          </a:p>
          <a:p>
            <a:pPr algn="l">
              <a:lnSpc>
                <a:spcPts val="3163"/>
              </a:lnSpc>
            </a:pPr>
          </a:p>
          <a:p>
            <a:pPr algn="l">
              <a:lnSpc>
                <a:spcPts val="3163"/>
              </a:lnSpc>
            </a:pPr>
            <a:r>
              <a:rPr lang="en-US" sz="2751">
                <a:solidFill>
                  <a:srgbClr val="063050"/>
                </a:solidFill>
                <a:latin typeface="Poppins"/>
                <a:ea typeface="Poppins"/>
                <a:cs typeface="Poppins"/>
                <a:sym typeface="Poppins"/>
              </a:rPr>
              <a:t>cluster = Cluster(['127.0.0.1'])</a:t>
            </a:r>
          </a:p>
          <a:p>
            <a:pPr algn="l">
              <a:lnSpc>
                <a:spcPts val="3163"/>
              </a:lnSpc>
            </a:pPr>
            <a:r>
              <a:rPr lang="en-US" sz="2751">
                <a:solidFill>
                  <a:srgbClr val="063050"/>
                </a:solidFill>
                <a:latin typeface="Poppins"/>
                <a:ea typeface="Poppins"/>
                <a:cs typeface="Poppins"/>
                <a:sym typeface="Poppins"/>
              </a:rPr>
              <a:t>session = cluster.connect('keyspace_name')</a:t>
            </a:r>
          </a:p>
          <a:p>
            <a:pPr algn="l">
              <a:lnSpc>
                <a:spcPts val="3163"/>
              </a:lnSpc>
            </a:pPr>
          </a:p>
          <a:p>
            <a:pPr algn="l">
              <a:lnSpc>
                <a:spcPts val="3163"/>
              </a:lnSpc>
            </a:pPr>
            <a:r>
              <a:rPr lang="en-US" sz="2751">
                <a:solidFill>
                  <a:srgbClr val="000000"/>
                </a:solidFill>
                <a:latin typeface="Poppins"/>
                <a:ea typeface="Poppins"/>
                <a:cs typeface="Poppins"/>
                <a:sym typeface="Poppins"/>
              </a:rPr>
              <a:t>Then you create a table, read data from a CSV file and insert it into the table.</a:t>
            </a:r>
          </a:p>
          <a:p>
            <a:pPr algn="l">
              <a:lnSpc>
                <a:spcPts val="3163"/>
              </a:lnSpc>
            </a:pPr>
            <a:r>
              <a:rPr lang="en-US" sz="2751">
                <a:solidFill>
                  <a:srgbClr val="000000"/>
                </a:solidFill>
                <a:latin typeface="Poppins"/>
                <a:ea typeface="Poppins"/>
                <a:cs typeface="Poppins"/>
                <a:sym typeface="Poppins"/>
              </a:rPr>
              <a:t>You can also create, read, update and delete data from the data base, using basic functions and queries </a:t>
            </a:r>
          </a:p>
          <a:p>
            <a:pPr algn="l">
              <a:lnSpc>
                <a:spcPts val="3163"/>
              </a:lnSpc>
            </a:pPr>
          </a:p>
          <a:p>
            <a:pPr algn="l">
              <a:lnSpc>
                <a:spcPts val="3163"/>
              </a:lnSpc>
            </a:pPr>
          </a:p>
        </p:txBody>
      </p:sp>
      <p:sp>
        <p:nvSpPr>
          <p:cNvPr name="Freeform 6" id="6"/>
          <p:cNvSpPr/>
          <p:nvPr/>
        </p:nvSpPr>
        <p:spPr>
          <a:xfrm flipH="false" flipV="false" rot="0">
            <a:off x="14295047" y="2761869"/>
            <a:ext cx="3549202" cy="3549202"/>
          </a:xfrm>
          <a:custGeom>
            <a:avLst/>
            <a:gdLst/>
            <a:ahLst/>
            <a:cxnLst/>
            <a:rect r="r" b="b" t="t" l="l"/>
            <a:pathLst>
              <a:path h="3549202" w="3549202">
                <a:moveTo>
                  <a:pt x="0" y="0"/>
                </a:moveTo>
                <a:lnTo>
                  <a:pt x="3549203" y="0"/>
                </a:lnTo>
                <a:lnTo>
                  <a:pt x="3549203" y="3549202"/>
                </a:lnTo>
                <a:lnTo>
                  <a:pt x="0" y="3549202"/>
                </a:lnTo>
                <a:lnTo>
                  <a:pt x="0" y="0"/>
                </a:lnTo>
                <a:close/>
              </a:path>
            </a:pathLst>
          </a:custGeom>
          <a:blipFill>
            <a:blip r:embed="rId2"/>
            <a:stretch>
              <a:fillRect l="0" t="0" r="0" b="0"/>
            </a:stretch>
          </a:blipFill>
        </p:spPr>
      </p:sp>
      <p:sp>
        <p:nvSpPr>
          <p:cNvPr name="Freeform 7" id="7"/>
          <p:cNvSpPr/>
          <p:nvPr/>
        </p:nvSpPr>
        <p:spPr>
          <a:xfrm flipH="false" flipV="false" rot="0">
            <a:off x="10329446" y="3570606"/>
            <a:ext cx="3145789" cy="3145789"/>
          </a:xfrm>
          <a:custGeom>
            <a:avLst/>
            <a:gdLst/>
            <a:ahLst/>
            <a:cxnLst/>
            <a:rect r="r" b="b" t="t" l="l"/>
            <a:pathLst>
              <a:path h="3145789" w="3145789">
                <a:moveTo>
                  <a:pt x="0" y="0"/>
                </a:moveTo>
                <a:lnTo>
                  <a:pt x="3145789" y="0"/>
                </a:lnTo>
                <a:lnTo>
                  <a:pt x="3145789" y="3145788"/>
                </a:lnTo>
                <a:lnTo>
                  <a:pt x="0" y="3145788"/>
                </a:lnTo>
                <a:lnTo>
                  <a:pt x="0" y="0"/>
                </a:lnTo>
                <a:close/>
              </a:path>
            </a:pathLst>
          </a:custGeom>
          <a:blipFill>
            <a:blip r:embed="rId3"/>
            <a:stretch>
              <a:fillRect l="0" t="0" r="0" b="0"/>
            </a:stretch>
          </a:blipFill>
        </p:spPr>
      </p:sp>
      <p:sp>
        <p:nvSpPr>
          <p:cNvPr name="TextBox 8" id="8"/>
          <p:cNvSpPr txBox="true"/>
          <p:nvPr/>
        </p:nvSpPr>
        <p:spPr>
          <a:xfrm rot="0">
            <a:off x="2477981" y="1021388"/>
            <a:ext cx="13332037" cy="794709"/>
          </a:xfrm>
          <a:prstGeom prst="rect">
            <a:avLst/>
          </a:prstGeom>
        </p:spPr>
        <p:txBody>
          <a:bodyPr anchor="t" rtlCol="false" tIns="0" lIns="0" bIns="0" rIns="0">
            <a:spAutoFit/>
          </a:bodyPr>
          <a:lstStyle/>
          <a:p>
            <a:pPr algn="l">
              <a:lnSpc>
                <a:spcPts val="5923"/>
              </a:lnSpc>
            </a:pPr>
            <a:r>
              <a:rPr lang="en-US" sz="5151" b="true">
                <a:solidFill>
                  <a:srgbClr val="F4F4F4"/>
                </a:solidFill>
                <a:latin typeface="Poppins Bold"/>
                <a:ea typeface="Poppins Bold"/>
                <a:cs typeface="Poppins Bold"/>
                <a:sym typeface="Poppins Bold"/>
              </a:rPr>
              <a:t>Using Cassandra (via Python script)</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3032851" y="1139652"/>
            <a:ext cx="12222297" cy="6691708"/>
          </a:xfrm>
          <a:custGeom>
            <a:avLst/>
            <a:gdLst/>
            <a:ahLst/>
            <a:cxnLst/>
            <a:rect r="r" b="b" t="t" l="l"/>
            <a:pathLst>
              <a:path h="6691708" w="12222297">
                <a:moveTo>
                  <a:pt x="0" y="0"/>
                </a:moveTo>
                <a:lnTo>
                  <a:pt x="12222298" y="0"/>
                </a:lnTo>
                <a:lnTo>
                  <a:pt x="12222298" y="6691708"/>
                </a:lnTo>
                <a:lnTo>
                  <a:pt x="0" y="6691708"/>
                </a:lnTo>
                <a:lnTo>
                  <a:pt x="0" y="0"/>
                </a:lnTo>
                <a:close/>
              </a:path>
            </a:pathLst>
          </a:custGeom>
          <a:blipFill>
            <a:blip r:embed="rId2"/>
            <a:stretch>
              <a:fillRect l="0" t="0" r="0" b="0"/>
            </a:stretch>
          </a:blipFill>
        </p:spPr>
      </p:sp>
      <p:sp>
        <p:nvSpPr>
          <p:cNvPr name="Freeform 3" id="3"/>
          <p:cNvSpPr/>
          <p:nvPr/>
        </p:nvSpPr>
        <p:spPr>
          <a:xfrm flipH="false" flipV="false" rot="0">
            <a:off x="15393025" y="7036458"/>
            <a:ext cx="2566619" cy="2834619"/>
          </a:xfrm>
          <a:custGeom>
            <a:avLst/>
            <a:gdLst/>
            <a:ahLst/>
            <a:cxnLst/>
            <a:rect r="r" b="b" t="t" l="l"/>
            <a:pathLst>
              <a:path h="2834619" w="2566619">
                <a:moveTo>
                  <a:pt x="0" y="0"/>
                </a:moveTo>
                <a:lnTo>
                  <a:pt x="2566618" y="0"/>
                </a:lnTo>
                <a:lnTo>
                  <a:pt x="2566618" y="2834619"/>
                </a:lnTo>
                <a:lnTo>
                  <a:pt x="0" y="283461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6783244" y="232180"/>
            <a:ext cx="4721513"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Experiment</a:t>
            </a:r>
          </a:p>
        </p:txBody>
      </p:sp>
      <p:sp>
        <p:nvSpPr>
          <p:cNvPr name="TextBox 5" id="5"/>
          <p:cNvSpPr txBox="true"/>
          <p:nvPr/>
        </p:nvSpPr>
        <p:spPr>
          <a:xfrm rot="0">
            <a:off x="3164798" y="8016427"/>
            <a:ext cx="11958403" cy="2117722"/>
          </a:xfrm>
          <a:prstGeom prst="rect">
            <a:avLst/>
          </a:prstGeom>
        </p:spPr>
        <p:txBody>
          <a:bodyPr anchor="t" rtlCol="false" tIns="0" lIns="0" bIns="0" rIns="0">
            <a:spAutoFit/>
          </a:bodyPr>
          <a:lstStyle/>
          <a:p>
            <a:pPr algn="just">
              <a:lnSpc>
                <a:spcPts val="3356"/>
              </a:lnSpc>
            </a:pPr>
            <a:r>
              <a:rPr lang="en-US" sz="2751" b="true">
                <a:solidFill>
                  <a:srgbClr val="063050"/>
                </a:solidFill>
                <a:latin typeface="Poppins Medium"/>
                <a:ea typeface="Poppins Medium"/>
                <a:cs typeface="Poppins Medium"/>
                <a:sym typeface="Poppins Medium"/>
              </a:rPr>
              <a:t>Experimental data: Student Performance Factors</a:t>
            </a:r>
          </a:p>
          <a:p>
            <a:pPr algn="just">
              <a:lnSpc>
                <a:spcPts val="2380"/>
              </a:lnSpc>
            </a:pPr>
          </a:p>
          <a:p>
            <a:pPr algn="just" marL="486020" indent="-243010" lvl="1">
              <a:lnSpc>
                <a:spcPts val="2746"/>
              </a:lnSpc>
              <a:buFont typeface="Arial"/>
              <a:buChar char="•"/>
            </a:pPr>
            <a:r>
              <a:rPr lang="en-US" b="true" sz="2251">
                <a:solidFill>
                  <a:srgbClr val="063050"/>
                </a:solidFill>
                <a:latin typeface="Poppins Medium"/>
                <a:ea typeface="Poppins Medium"/>
                <a:cs typeface="Poppins Medium"/>
                <a:sym typeface="Poppins Medium"/>
              </a:rPr>
              <a:t>Number of Records: 6,607</a:t>
            </a:r>
          </a:p>
          <a:p>
            <a:pPr algn="just" marL="486020" indent="-243010" lvl="1">
              <a:lnSpc>
                <a:spcPts val="2746"/>
              </a:lnSpc>
              <a:buFont typeface="Arial"/>
              <a:buChar char="•"/>
            </a:pPr>
            <a:r>
              <a:rPr lang="en-US" b="true" sz="2251">
                <a:solidFill>
                  <a:srgbClr val="063050"/>
                </a:solidFill>
                <a:latin typeface="Poppins Medium"/>
                <a:ea typeface="Poppins Medium"/>
                <a:cs typeface="Poppins Medium"/>
                <a:sym typeface="Poppins Medium"/>
              </a:rPr>
              <a:t>Number of Features: 20</a:t>
            </a:r>
          </a:p>
          <a:p>
            <a:pPr algn="just">
              <a:lnSpc>
                <a:spcPts val="2746"/>
              </a:lnSpc>
            </a:pPr>
          </a:p>
          <a:p>
            <a:pPr algn="just">
              <a:lnSpc>
                <a:spcPts val="2746"/>
              </a:lnSpc>
            </a:pPr>
            <a:r>
              <a:rPr lang="en-US" b="true" sz="2251">
                <a:solidFill>
                  <a:srgbClr val="063050"/>
                </a:solidFill>
                <a:latin typeface="Poppins Medium"/>
                <a:ea typeface="Poppins Medium"/>
                <a:cs typeface="Poppins Medium"/>
                <a:sym typeface="Poppins Medium"/>
              </a:rPr>
              <a:t>https://www.kaggle.com/datasets/lainguyn123/student-performance-factors </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145538" y="2287141"/>
            <a:ext cx="15996925" cy="5353854"/>
          </a:xfrm>
          <a:custGeom>
            <a:avLst/>
            <a:gdLst/>
            <a:ahLst/>
            <a:cxnLst/>
            <a:rect r="r" b="b" t="t" l="l"/>
            <a:pathLst>
              <a:path h="5353854" w="15996925">
                <a:moveTo>
                  <a:pt x="0" y="0"/>
                </a:moveTo>
                <a:lnTo>
                  <a:pt x="15996924" y="0"/>
                </a:lnTo>
                <a:lnTo>
                  <a:pt x="15996924" y="5353854"/>
                </a:lnTo>
                <a:lnTo>
                  <a:pt x="0" y="5353854"/>
                </a:lnTo>
                <a:lnTo>
                  <a:pt x="0" y="0"/>
                </a:lnTo>
                <a:close/>
              </a:path>
            </a:pathLst>
          </a:custGeom>
          <a:blipFill>
            <a:blip r:embed="rId2"/>
            <a:stretch>
              <a:fillRect l="0" t="0" r="0" b="-86745"/>
            </a:stretch>
          </a:blipFill>
        </p:spPr>
      </p:sp>
      <p:sp>
        <p:nvSpPr>
          <p:cNvPr name="Freeform 3" id="3"/>
          <p:cNvSpPr/>
          <p:nvPr/>
        </p:nvSpPr>
        <p:spPr>
          <a:xfrm flipH="false" flipV="false" rot="0">
            <a:off x="11669582" y="4156484"/>
            <a:ext cx="1974032" cy="1974032"/>
          </a:xfrm>
          <a:custGeom>
            <a:avLst/>
            <a:gdLst/>
            <a:ahLst/>
            <a:cxnLst/>
            <a:rect r="r" b="b" t="t" l="l"/>
            <a:pathLst>
              <a:path h="1974032" w="1974032">
                <a:moveTo>
                  <a:pt x="0" y="0"/>
                </a:moveTo>
                <a:lnTo>
                  <a:pt x="1974032" y="0"/>
                </a:lnTo>
                <a:lnTo>
                  <a:pt x="1974032" y="1974032"/>
                </a:lnTo>
                <a:lnTo>
                  <a:pt x="0" y="19740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631402" y="560520"/>
            <a:ext cx="7025196" cy="172662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Run a Cassandra </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261977" y="1533292"/>
            <a:ext cx="11819224" cy="6965906"/>
          </a:xfrm>
          <a:custGeom>
            <a:avLst/>
            <a:gdLst/>
            <a:ahLst/>
            <a:cxnLst/>
            <a:rect r="r" b="b" t="t" l="l"/>
            <a:pathLst>
              <a:path h="6965906" w="11819224">
                <a:moveTo>
                  <a:pt x="0" y="0"/>
                </a:moveTo>
                <a:lnTo>
                  <a:pt x="11819224" y="0"/>
                </a:lnTo>
                <a:lnTo>
                  <a:pt x="11819224" y="6965906"/>
                </a:lnTo>
                <a:lnTo>
                  <a:pt x="0" y="6965906"/>
                </a:lnTo>
                <a:lnTo>
                  <a:pt x="0" y="0"/>
                </a:lnTo>
                <a:close/>
              </a:path>
            </a:pathLst>
          </a:custGeom>
          <a:blipFill>
            <a:blip r:embed="rId2"/>
            <a:stretch>
              <a:fillRect l="-22746" t="-18987" r="0" b="-11179"/>
            </a:stretch>
          </a:blipFill>
        </p:spPr>
      </p:sp>
      <p:sp>
        <p:nvSpPr>
          <p:cNvPr name="Freeform 3" id="3"/>
          <p:cNvSpPr/>
          <p:nvPr/>
        </p:nvSpPr>
        <p:spPr>
          <a:xfrm flipH="false" flipV="false" rot="0">
            <a:off x="7303126" y="6004278"/>
            <a:ext cx="10789748" cy="3658783"/>
          </a:xfrm>
          <a:custGeom>
            <a:avLst/>
            <a:gdLst/>
            <a:ahLst/>
            <a:cxnLst/>
            <a:rect r="r" b="b" t="t" l="l"/>
            <a:pathLst>
              <a:path h="3658783" w="10789748">
                <a:moveTo>
                  <a:pt x="0" y="0"/>
                </a:moveTo>
                <a:lnTo>
                  <a:pt x="10789748" y="0"/>
                </a:lnTo>
                <a:lnTo>
                  <a:pt x="10789748" y="3658783"/>
                </a:lnTo>
                <a:lnTo>
                  <a:pt x="0" y="3658783"/>
                </a:lnTo>
                <a:lnTo>
                  <a:pt x="0" y="0"/>
                </a:lnTo>
                <a:close/>
              </a:path>
            </a:pathLst>
          </a:custGeom>
          <a:blipFill>
            <a:blip r:embed="rId3"/>
            <a:stretch>
              <a:fillRect l="-4740" t="0" r="0" b="0"/>
            </a:stretch>
          </a:blipFill>
        </p:spPr>
      </p:sp>
      <p:sp>
        <p:nvSpPr>
          <p:cNvPr name="Freeform 4" id="4"/>
          <p:cNvSpPr/>
          <p:nvPr/>
        </p:nvSpPr>
        <p:spPr>
          <a:xfrm flipH="false" flipV="false" rot="0">
            <a:off x="408539" y="6525167"/>
            <a:ext cx="1974032" cy="1974032"/>
          </a:xfrm>
          <a:custGeom>
            <a:avLst/>
            <a:gdLst/>
            <a:ahLst/>
            <a:cxnLst/>
            <a:rect r="r" b="b" t="t" l="l"/>
            <a:pathLst>
              <a:path h="1974032" w="1974032">
                <a:moveTo>
                  <a:pt x="0" y="0"/>
                </a:moveTo>
                <a:lnTo>
                  <a:pt x="1974032" y="0"/>
                </a:lnTo>
                <a:lnTo>
                  <a:pt x="1974032" y="1974031"/>
                </a:lnTo>
                <a:lnTo>
                  <a:pt x="0" y="19740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4263578" y="38100"/>
            <a:ext cx="9480908"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Import data from csv  </a:t>
            </a:r>
          </a:p>
        </p:txBody>
      </p:sp>
      <p:sp>
        <p:nvSpPr>
          <p:cNvPr name="Freeform 6" id="6"/>
          <p:cNvSpPr/>
          <p:nvPr/>
        </p:nvSpPr>
        <p:spPr>
          <a:xfrm flipH="false" flipV="false" rot="0">
            <a:off x="2891156" y="945571"/>
            <a:ext cx="1974032" cy="1974032"/>
          </a:xfrm>
          <a:custGeom>
            <a:avLst/>
            <a:gdLst/>
            <a:ahLst/>
            <a:cxnLst/>
            <a:rect r="r" b="b" t="t" l="l"/>
            <a:pathLst>
              <a:path h="1974032" w="1974032">
                <a:moveTo>
                  <a:pt x="0" y="0"/>
                </a:moveTo>
                <a:lnTo>
                  <a:pt x="1974032" y="0"/>
                </a:lnTo>
                <a:lnTo>
                  <a:pt x="1974032" y="1974032"/>
                </a:lnTo>
                <a:lnTo>
                  <a:pt x="0" y="19740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507799" y="2836220"/>
            <a:ext cx="14969285" cy="2724643"/>
          </a:xfrm>
          <a:custGeom>
            <a:avLst/>
            <a:gdLst/>
            <a:ahLst/>
            <a:cxnLst/>
            <a:rect r="r" b="b" t="t" l="l"/>
            <a:pathLst>
              <a:path h="2724643" w="14969285">
                <a:moveTo>
                  <a:pt x="0" y="0"/>
                </a:moveTo>
                <a:lnTo>
                  <a:pt x="14969285" y="0"/>
                </a:lnTo>
                <a:lnTo>
                  <a:pt x="14969285" y="2724643"/>
                </a:lnTo>
                <a:lnTo>
                  <a:pt x="0" y="2724643"/>
                </a:lnTo>
                <a:lnTo>
                  <a:pt x="0" y="0"/>
                </a:lnTo>
                <a:close/>
              </a:path>
            </a:pathLst>
          </a:custGeom>
          <a:blipFill>
            <a:blip r:embed="rId2"/>
            <a:stretch>
              <a:fillRect l="0" t="-6446" r="0" b="0"/>
            </a:stretch>
          </a:blipFill>
        </p:spPr>
      </p:sp>
      <p:sp>
        <p:nvSpPr>
          <p:cNvPr name="TextBox 3" id="3"/>
          <p:cNvSpPr txBox="true"/>
          <p:nvPr/>
        </p:nvSpPr>
        <p:spPr>
          <a:xfrm rot="0">
            <a:off x="6165417" y="121229"/>
            <a:ext cx="5957165"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Run CQL shell</a:t>
            </a:r>
          </a:p>
        </p:txBody>
      </p:sp>
    </p:spTree>
  </p:cSld>
  <p:clrMapOvr>
    <a:masterClrMapping/>
  </p:clrMapOvr>
</p:sld>
</file>

<file path=ppt/slides/slide50.xml><?xml version="1.0" encoding="utf-8"?>
<p:sld xmlns:p="http://schemas.openxmlformats.org/presentationml/2006/main" xmlns:a="http://schemas.openxmlformats.org/drawingml/2006/main">
  <p:cSld>
    <p:bg>
      <p:bgPr>
        <a:solidFill>
          <a:srgbClr val="EBF5FE"/>
        </a:solidFill>
      </p:bgPr>
    </p:bg>
    <p:spTree>
      <p:nvGrpSpPr>
        <p:cNvPr id="1" name=""/>
        <p:cNvGrpSpPr/>
        <p:nvPr/>
      </p:nvGrpSpPr>
      <p:grpSpPr>
        <a:xfrm>
          <a:off x="0" y="0"/>
          <a:ext cx="0" cy="0"/>
          <a:chOff x="0" y="0"/>
          <a:chExt cx="0" cy="0"/>
        </a:xfrm>
      </p:grpSpPr>
      <p:sp>
        <p:nvSpPr>
          <p:cNvPr name="TextBox 2" id="2"/>
          <p:cNvSpPr txBox="true"/>
          <p:nvPr/>
        </p:nvSpPr>
        <p:spPr>
          <a:xfrm rot="0">
            <a:off x="4263578" y="38100"/>
            <a:ext cx="9760844"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Create keyspace, table </a:t>
            </a:r>
          </a:p>
        </p:txBody>
      </p:sp>
      <p:grpSp>
        <p:nvGrpSpPr>
          <p:cNvPr name="Group 3" id="3"/>
          <p:cNvGrpSpPr/>
          <p:nvPr/>
        </p:nvGrpSpPr>
        <p:grpSpPr>
          <a:xfrm rot="0">
            <a:off x="-935231" y="1415758"/>
            <a:ext cx="19374790" cy="9819509"/>
            <a:chOff x="0" y="0"/>
            <a:chExt cx="5102825" cy="2586208"/>
          </a:xfrm>
        </p:grpSpPr>
        <p:sp>
          <p:nvSpPr>
            <p:cNvPr name="Freeform 4" id="4"/>
            <p:cNvSpPr/>
            <p:nvPr/>
          </p:nvSpPr>
          <p:spPr>
            <a:xfrm flipH="false" flipV="false" rot="0">
              <a:off x="0" y="0"/>
              <a:ext cx="5102825" cy="2586208"/>
            </a:xfrm>
            <a:custGeom>
              <a:avLst/>
              <a:gdLst/>
              <a:ahLst/>
              <a:cxnLst/>
              <a:rect r="r" b="b" t="t" l="l"/>
              <a:pathLst>
                <a:path h="2586208" w="5102825">
                  <a:moveTo>
                    <a:pt x="0" y="0"/>
                  </a:moveTo>
                  <a:lnTo>
                    <a:pt x="5102825" y="0"/>
                  </a:lnTo>
                  <a:lnTo>
                    <a:pt x="5102825" y="2586208"/>
                  </a:lnTo>
                  <a:lnTo>
                    <a:pt x="0" y="2586208"/>
                  </a:lnTo>
                  <a:close/>
                </a:path>
              </a:pathLst>
            </a:custGeom>
            <a:solidFill>
              <a:srgbClr val="2B59C3">
                <a:alpha val="71765"/>
              </a:srgbClr>
            </a:solidFill>
          </p:spPr>
        </p:sp>
        <p:sp>
          <p:nvSpPr>
            <p:cNvPr name="TextBox 5" id="5"/>
            <p:cNvSpPr txBox="true"/>
            <p:nvPr/>
          </p:nvSpPr>
          <p:spPr>
            <a:xfrm>
              <a:off x="0" y="28575"/>
              <a:ext cx="5102825" cy="2557633"/>
            </a:xfrm>
            <a:prstGeom prst="rect">
              <a:avLst/>
            </a:prstGeom>
          </p:spPr>
          <p:txBody>
            <a:bodyPr anchor="ctr" rtlCol="false" tIns="50800" lIns="50800" bIns="50800" rIns="50800"/>
            <a:lstStyle/>
            <a:p>
              <a:pPr algn="ctr">
                <a:lnSpc>
                  <a:spcPts val="2661"/>
                </a:lnSpc>
              </a:pPr>
            </a:p>
          </p:txBody>
        </p:sp>
      </p:grpSp>
      <p:sp>
        <p:nvSpPr>
          <p:cNvPr name="TextBox 6" id="6"/>
          <p:cNvSpPr txBox="true"/>
          <p:nvPr/>
        </p:nvSpPr>
        <p:spPr>
          <a:xfrm rot="0">
            <a:off x="1852506" y="1920226"/>
            <a:ext cx="14582987" cy="8052506"/>
          </a:xfrm>
          <a:prstGeom prst="rect">
            <a:avLst/>
          </a:prstGeom>
        </p:spPr>
        <p:txBody>
          <a:bodyPr anchor="t" rtlCol="false" tIns="0" lIns="0" bIns="0" rIns="0">
            <a:spAutoFit/>
          </a:bodyPr>
          <a:lstStyle/>
          <a:p>
            <a:pPr algn="l">
              <a:lnSpc>
                <a:spcPts val="2391"/>
              </a:lnSpc>
              <a:spcBef>
                <a:spcPct val="0"/>
              </a:spcBef>
            </a:pPr>
            <a:r>
              <a:rPr lang="en-US" b="true" sz="2299">
                <a:solidFill>
                  <a:srgbClr val="000000"/>
                </a:solidFill>
                <a:latin typeface="Raleway Bold"/>
                <a:ea typeface="Raleway Bold"/>
                <a:cs typeface="Raleway Bold"/>
                <a:sym typeface="Raleway Bold"/>
              </a:rPr>
              <a:t>CREATE KEYSPACE </a:t>
            </a:r>
            <a:r>
              <a:rPr lang="en-US" b="true" sz="2299">
                <a:solidFill>
                  <a:srgbClr val="063050"/>
                </a:solidFill>
                <a:latin typeface="Raleway Bold"/>
                <a:ea typeface="Raleway Bold"/>
                <a:cs typeface="Raleway Bold"/>
                <a:sym typeface="Raleway Bold"/>
              </a:rPr>
              <a:t>student_data WITH REPLICATION = { 'class' : 'SimpleStrategy', 'replication_factor' : 1 };</a:t>
            </a:r>
          </a:p>
          <a:p>
            <a:pPr algn="l">
              <a:lnSpc>
                <a:spcPts val="2204"/>
              </a:lnSpc>
              <a:spcBef>
                <a:spcPct val="0"/>
              </a:spcBef>
            </a:pPr>
          </a:p>
          <a:p>
            <a:pPr algn="l">
              <a:lnSpc>
                <a:spcPts val="2391"/>
              </a:lnSpc>
              <a:spcBef>
                <a:spcPct val="0"/>
              </a:spcBef>
            </a:pPr>
            <a:r>
              <a:rPr lang="en-US" b="true" sz="2299">
                <a:solidFill>
                  <a:srgbClr val="000000"/>
                </a:solidFill>
                <a:latin typeface="Raleway Bold"/>
                <a:ea typeface="Raleway Bold"/>
                <a:cs typeface="Raleway Bold"/>
                <a:sym typeface="Raleway Bold"/>
              </a:rPr>
              <a:t>USE</a:t>
            </a:r>
            <a:r>
              <a:rPr lang="en-US" b="true" sz="2299">
                <a:solidFill>
                  <a:srgbClr val="063050"/>
                </a:solidFill>
                <a:latin typeface="Raleway Bold"/>
                <a:ea typeface="Raleway Bold"/>
                <a:cs typeface="Raleway Bold"/>
                <a:sym typeface="Raleway Bold"/>
              </a:rPr>
              <a:t> student_data;</a:t>
            </a:r>
          </a:p>
          <a:p>
            <a:pPr algn="l">
              <a:lnSpc>
                <a:spcPts val="2204"/>
              </a:lnSpc>
              <a:spcBef>
                <a:spcPct val="0"/>
              </a:spcBef>
            </a:pPr>
          </a:p>
          <a:p>
            <a:pPr algn="l">
              <a:lnSpc>
                <a:spcPts val="2391"/>
              </a:lnSpc>
              <a:spcBef>
                <a:spcPct val="0"/>
              </a:spcBef>
            </a:pPr>
            <a:r>
              <a:rPr lang="en-US" b="true" sz="2299">
                <a:solidFill>
                  <a:srgbClr val="063050"/>
                </a:solidFill>
                <a:latin typeface="Raleway Bold"/>
                <a:ea typeface="Raleway Bold"/>
                <a:cs typeface="Raleway Bold"/>
                <a:sym typeface="Raleway Bold"/>
              </a:rPr>
              <a:t>CREATE TABLE student_performance (</a:t>
            </a:r>
          </a:p>
          <a:p>
            <a:pPr algn="l">
              <a:lnSpc>
                <a:spcPts val="2391"/>
              </a:lnSpc>
              <a:spcBef>
                <a:spcPct val="0"/>
              </a:spcBef>
            </a:pPr>
            <a:r>
              <a:rPr lang="en-US" b="true" sz="2299">
                <a:solidFill>
                  <a:srgbClr val="063050"/>
                </a:solidFill>
                <a:latin typeface="Raleway Bold"/>
                <a:ea typeface="Raleway Bold"/>
                <a:cs typeface="Raleway Bold"/>
                <a:sym typeface="Raleway Bold"/>
              </a:rPr>
              <a:t>    hours_studied FLOAT,</a:t>
            </a:r>
          </a:p>
          <a:p>
            <a:pPr algn="l">
              <a:lnSpc>
                <a:spcPts val="2391"/>
              </a:lnSpc>
              <a:spcBef>
                <a:spcPct val="0"/>
              </a:spcBef>
            </a:pPr>
            <a:r>
              <a:rPr lang="en-US" b="true" sz="2299">
                <a:solidFill>
                  <a:srgbClr val="063050"/>
                </a:solidFill>
                <a:latin typeface="Raleway Bold"/>
                <a:ea typeface="Raleway Bold"/>
                <a:cs typeface="Raleway Bold"/>
                <a:sym typeface="Raleway Bold"/>
              </a:rPr>
              <a:t>    attendance FLOAT,</a:t>
            </a:r>
          </a:p>
          <a:p>
            <a:pPr algn="l">
              <a:lnSpc>
                <a:spcPts val="2391"/>
              </a:lnSpc>
              <a:spcBef>
                <a:spcPct val="0"/>
              </a:spcBef>
            </a:pPr>
            <a:r>
              <a:rPr lang="en-US" b="true" sz="2299">
                <a:solidFill>
                  <a:srgbClr val="063050"/>
                </a:solidFill>
                <a:latin typeface="Raleway Bold"/>
                <a:ea typeface="Raleway Bold"/>
                <a:cs typeface="Raleway Bold"/>
                <a:sym typeface="Raleway Bold"/>
              </a:rPr>
              <a:t>    parental_involvement TEXT,</a:t>
            </a:r>
          </a:p>
          <a:p>
            <a:pPr algn="l">
              <a:lnSpc>
                <a:spcPts val="2391"/>
              </a:lnSpc>
              <a:spcBef>
                <a:spcPct val="0"/>
              </a:spcBef>
            </a:pPr>
            <a:r>
              <a:rPr lang="en-US" b="true" sz="2299">
                <a:solidFill>
                  <a:srgbClr val="063050"/>
                </a:solidFill>
                <a:latin typeface="Raleway Bold"/>
                <a:ea typeface="Raleway Bold"/>
                <a:cs typeface="Raleway Bold"/>
                <a:sym typeface="Raleway Bold"/>
              </a:rPr>
              <a:t>    access_to_resources TEXT,</a:t>
            </a:r>
          </a:p>
          <a:p>
            <a:pPr algn="l">
              <a:lnSpc>
                <a:spcPts val="2391"/>
              </a:lnSpc>
              <a:spcBef>
                <a:spcPct val="0"/>
              </a:spcBef>
            </a:pPr>
            <a:r>
              <a:rPr lang="en-US" b="true" sz="2299">
                <a:solidFill>
                  <a:srgbClr val="063050"/>
                </a:solidFill>
                <a:latin typeface="Raleway Bold"/>
                <a:ea typeface="Raleway Bold"/>
                <a:cs typeface="Raleway Bold"/>
                <a:sym typeface="Raleway Bold"/>
              </a:rPr>
              <a:t>    extracurricular_activities TEXT,</a:t>
            </a:r>
          </a:p>
          <a:p>
            <a:pPr algn="l">
              <a:lnSpc>
                <a:spcPts val="2391"/>
              </a:lnSpc>
              <a:spcBef>
                <a:spcPct val="0"/>
              </a:spcBef>
            </a:pPr>
            <a:r>
              <a:rPr lang="en-US" b="true" sz="2299">
                <a:solidFill>
                  <a:srgbClr val="063050"/>
                </a:solidFill>
                <a:latin typeface="Raleway Bold"/>
                <a:ea typeface="Raleway Bold"/>
                <a:cs typeface="Raleway Bold"/>
                <a:sym typeface="Raleway Bold"/>
              </a:rPr>
              <a:t>    sleep_hours FLOAT,</a:t>
            </a:r>
          </a:p>
          <a:p>
            <a:pPr algn="l">
              <a:lnSpc>
                <a:spcPts val="2391"/>
              </a:lnSpc>
              <a:spcBef>
                <a:spcPct val="0"/>
              </a:spcBef>
            </a:pPr>
            <a:r>
              <a:rPr lang="en-US" b="true" sz="2299">
                <a:solidFill>
                  <a:srgbClr val="063050"/>
                </a:solidFill>
                <a:latin typeface="Raleway Bold"/>
                <a:ea typeface="Raleway Bold"/>
                <a:cs typeface="Raleway Bold"/>
                <a:sym typeface="Raleway Bold"/>
              </a:rPr>
              <a:t>    previous_scores FLOAT,</a:t>
            </a:r>
          </a:p>
          <a:p>
            <a:pPr algn="l">
              <a:lnSpc>
                <a:spcPts val="2391"/>
              </a:lnSpc>
              <a:spcBef>
                <a:spcPct val="0"/>
              </a:spcBef>
            </a:pPr>
            <a:r>
              <a:rPr lang="en-US" b="true" sz="2299">
                <a:solidFill>
                  <a:srgbClr val="063050"/>
                </a:solidFill>
                <a:latin typeface="Raleway Bold"/>
                <a:ea typeface="Raleway Bold"/>
                <a:cs typeface="Raleway Bold"/>
                <a:sym typeface="Raleway Bold"/>
              </a:rPr>
              <a:t>    motivation_level TEXT,</a:t>
            </a:r>
          </a:p>
          <a:p>
            <a:pPr algn="l">
              <a:lnSpc>
                <a:spcPts val="2391"/>
              </a:lnSpc>
              <a:spcBef>
                <a:spcPct val="0"/>
              </a:spcBef>
            </a:pPr>
            <a:r>
              <a:rPr lang="en-US" b="true" sz="2299">
                <a:solidFill>
                  <a:srgbClr val="063050"/>
                </a:solidFill>
                <a:latin typeface="Raleway Bold"/>
                <a:ea typeface="Raleway Bold"/>
                <a:cs typeface="Raleway Bold"/>
                <a:sym typeface="Raleway Bold"/>
              </a:rPr>
              <a:t>    internet_access TEXT,</a:t>
            </a:r>
          </a:p>
          <a:p>
            <a:pPr algn="l">
              <a:lnSpc>
                <a:spcPts val="2391"/>
              </a:lnSpc>
              <a:spcBef>
                <a:spcPct val="0"/>
              </a:spcBef>
            </a:pPr>
            <a:r>
              <a:rPr lang="en-US" b="true" sz="2299">
                <a:solidFill>
                  <a:srgbClr val="063050"/>
                </a:solidFill>
                <a:latin typeface="Raleway Bold"/>
                <a:ea typeface="Raleway Bold"/>
                <a:cs typeface="Raleway Bold"/>
                <a:sym typeface="Raleway Bold"/>
              </a:rPr>
              <a:t>    tutoring_sessions FLOAT,</a:t>
            </a:r>
          </a:p>
          <a:p>
            <a:pPr algn="l">
              <a:lnSpc>
                <a:spcPts val="2391"/>
              </a:lnSpc>
              <a:spcBef>
                <a:spcPct val="0"/>
              </a:spcBef>
            </a:pPr>
            <a:r>
              <a:rPr lang="en-US" b="true" sz="2299">
                <a:solidFill>
                  <a:srgbClr val="063050"/>
                </a:solidFill>
                <a:latin typeface="Raleway Bold"/>
                <a:ea typeface="Raleway Bold"/>
                <a:cs typeface="Raleway Bold"/>
                <a:sym typeface="Raleway Bold"/>
              </a:rPr>
              <a:t>    family_income TEXT,</a:t>
            </a:r>
          </a:p>
          <a:p>
            <a:pPr algn="l">
              <a:lnSpc>
                <a:spcPts val="2391"/>
              </a:lnSpc>
              <a:spcBef>
                <a:spcPct val="0"/>
              </a:spcBef>
            </a:pPr>
            <a:r>
              <a:rPr lang="en-US" b="true" sz="2299">
                <a:solidFill>
                  <a:srgbClr val="063050"/>
                </a:solidFill>
                <a:latin typeface="Raleway Bold"/>
                <a:ea typeface="Raleway Bold"/>
                <a:cs typeface="Raleway Bold"/>
                <a:sym typeface="Raleway Bold"/>
              </a:rPr>
              <a:t>    teacher_quality TEXT,</a:t>
            </a:r>
          </a:p>
          <a:p>
            <a:pPr algn="l">
              <a:lnSpc>
                <a:spcPts val="2391"/>
              </a:lnSpc>
              <a:spcBef>
                <a:spcPct val="0"/>
              </a:spcBef>
            </a:pPr>
            <a:r>
              <a:rPr lang="en-US" b="true" sz="2299">
                <a:solidFill>
                  <a:srgbClr val="063050"/>
                </a:solidFill>
                <a:latin typeface="Raleway Bold"/>
                <a:ea typeface="Raleway Bold"/>
                <a:cs typeface="Raleway Bold"/>
                <a:sym typeface="Raleway Bold"/>
              </a:rPr>
              <a:t>    school_type TEXT,</a:t>
            </a:r>
          </a:p>
          <a:p>
            <a:pPr algn="l">
              <a:lnSpc>
                <a:spcPts val="2391"/>
              </a:lnSpc>
              <a:spcBef>
                <a:spcPct val="0"/>
              </a:spcBef>
            </a:pPr>
            <a:r>
              <a:rPr lang="en-US" b="true" sz="2299">
                <a:solidFill>
                  <a:srgbClr val="063050"/>
                </a:solidFill>
                <a:latin typeface="Raleway Bold"/>
                <a:ea typeface="Raleway Bold"/>
                <a:cs typeface="Raleway Bold"/>
                <a:sym typeface="Raleway Bold"/>
              </a:rPr>
              <a:t>    peer_influence TEXT,</a:t>
            </a:r>
          </a:p>
          <a:p>
            <a:pPr algn="l">
              <a:lnSpc>
                <a:spcPts val="2391"/>
              </a:lnSpc>
              <a:spcBef>
                <a:spcPct val="0"/>
              </a:spcBef>
            </a:pPr>
            <a:r>
              <a:rPr lang="en-US" b="true" sz="2299">
                <a:solidFill>
                  <a:srgbClr val="063050"/>
                </a:solidFill>
                <a:latin typeface="Raleway Bold"/>
                <a:ea typeface="Raleway Bold"/>
                <a:cs typeface="Raleway Bold"/>
                <a:sym typeface="Raleway Bold"/>
              </a:rPr>
              <a:t>    physical_activity FLOAT,</a:t>
            </a:r>
          </a:p>
          <a:p>
            <a:pPr algn="l">
              <a:lnSpc>
                <a:spcPts val="2391"/>
              </a:lnSpc>
              <a:spcBef>
                <a:spcPct val="0"/>
              </a:spcBef>
            </a:pPr>
            <a:r>
              <a:rPr lang="en-US" b="true" sz="2299">
                <a:solidFill>
                  <a:srgbClr val="063050"/>
                </a:solidFill>
                <a:latin typeface="Raleway Bold"/>
                <a:ea typeface="Raleway Bold"/>
                <a:cs typeface="Raleway Bold"/>
                <a:sym typeface="Raleway Bold"/>
              </a:rPr>
              <a:t>    learning_disabilities TEXT,</a:t>
            </a:r>
          </a:p>
          <a:p>
            <a:pPr algn="l">
              <a:lnSpc>
                <a:spcPts val="2391"/>
              </a:lnSpc>
              <a:spcBef>
                <a:spcPct val="0"/>
              </a:spcBef>
            </a:pPr>
            <a:r>
              <a:rPr lang="en-US" b="true" sz="2299">
                <a:solidFill>
                  <a:srgbClr val="063050"/>
                </a:solidFill>
                <a:latin typeface="Raleway Bold"/>
                <a:ea typeface="Raleway Bold"/>
                <a:cs typeface="Raleway Bold"/>
                <a:sym typeface="Raleway Bold"/>
              </a:rPr>
              <a:t>    parental_education_level TEXT,</a:t>
            </a:r>
          </a:p>
          <a:p>
            <a:pPr algn="l">
              <a:lnSpc>
                <a:spcPts val="2391"/>
              </a:lnSpc>
              <a:spcBef>
                <a:spcPct val="0"/>
              </a:spcBef>
            </a:pPr>
            <a:r>
              <a:rPr lang="en-US" b="true" sz="2299">
                <a:solidFill>
                  <a:srgbClr val="063050"/>
                </a:solidFill>
                <a:latin typeface="Raleway Bold"/>
                <a:ea typeface="Raleway Bold"/>
                <a:cs typeface="Raleway Bold"/>
                <a:sym typeface="Raleway Bold"/>
              </a:rPr>
              <a:t>    distance_from_home TEXT,</a:t>
            </a:r>
          </a:p>
          <a:p>
            <a:pPr algn="l">
              <a:lnSpc>
                <a:spcPts val="2391"/>
              </a:lnSpc>
              <a:spcBef>
                <a:spcPct val="0"/>
              </a:spcBef>
            </a:pPr>
            <a:r>
              <a:rPr lang="en-US" b="true" sz="2299">
                <a:solidFill>
                  <a:srgbClr val="063050"/>
                </a:solidFill>
                <a:latin typeface="Raleway Bold"/>
                <a:ea typeface="Raleway Bold"/>
                <a:cs typeface="Raleway Bold"/>
                <a:sym typeface="Raleway Bold"/>
              </a:rPr>
              <a:t>    gender TEXT,</a:t>
            </a:r>
          </a:p>
          <a:p>
            <a:pPr algn="l">
              <a:lnSpc>
                <a:spcPts val="2391"/>
              </a:lnSpc>
              <a:spcBef>
                <a:spcPct val="0"/>
              </a:spcBef>
            </a:pPr>
            <a:r>
              <a:rPr lang="en-US" b="true" sz="2299">
                <a:solidFill>
                  <a:srgbClr val="063050"/>
                </a:solidFill>
                <a:latin typeface="Raleway Bold"/>
                <a:ea typeface="Raleway Bold"/>
                <a:cs typeface="Raleway Bold"/>
                <a:sym typeface="Raleway Bold"/>
              </a:rPr>
              <a:t>    exam_score FLOAT,</a:t>
            </a:r>
          </a:p>
          <a:p>
            <a:pPr algn="l">
              <a:lnSpc>
                <a:spcPts val="2391"/>
              </a:lnSpc>
              <a:spcBef>
                <a:spcPct val="0"/>
              </a:spcBef>
            </a:pPr>
            <a:r>
              <a:rPr lang="en-US" b="true" sz="2299">
                <a:solidFill>
                  <a:srgbClr val="063050"/>
                </a:solidFill>
                <a:latin typeface="Raleway Bold"/>
                <a:ea typeface="Raleway Bold"/>
                <a:cs typeface="Raleway Bold"/>
                <a:sym typeface="Raleway Bold"/>
              </a:rPr>
              <a:t>    PRIMARY KEY (hours_studied,attendance) </a:t>
            </a:r>
          </a:p>
          <a:p>
            <a:pPr algn="l">
              <a:lnSpc>
                <a:spcPts val="2391"/>
              </a:lnSpc>
              <a:spcBef>
                <a:spcPct val="0"/>
              </a:spcBef>
            </a:pPr>
            <a:r>
              <a:rPr lang="en-US" b="true" sz="2299">
                <a:solidFill>
                  <a:srgbClr val="063050"/>
                </a:solidFill>
                <a:latin typeface="Raleway Bold"/>
                <a:ea typeface="Raleway Bold"/>
                <a:cs typeface="Raleway Bold"/>
                <a:sym typeface="Raleway Bold"/>
              </a:rPr>
              <a:t>);</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802945" y="1279630"/>
            <a:ext cx="16682110" cy="9007370"/>
          </a:xfrm>
          <a:custGeom>
            <a:avLst/>
            <a:gdLst/>
            <a:ahLst/>
            <a:cxnLst/>
            <a:rect r="r" b="b" t="t" l="l"/>
            <a:pathLst>
              <a:path h="9007370" w="16682110">
                <a:moveTo>
                  <a:pt x="0" y="0"/>
                </a:moveTo>
                <a:lnTo>
                  <a:pt x="16682110" y="0"/>
                </a:lnTo>
                <a:lnTo>
                  <a:pt x="16682110" y="9007370"/>
                </a:lnTo>
                <a:lnTo>
                  <a:pt x="0" y="9007370"/>
                </a:lnTo>
                <a:lnTo>
                  <a:pt x="0" y="0"/>
                </a:lnTo>
                <a:close/>
              </a:path>
            </a:pathLst>
          </a:custGeom>
          <a:blipFill>
            <a:blip r:embed="rId2"/>
            <a:stretch>
              <a:fillRect l="0" t="-1862" r="0" b="0"/>
            </a:stretch>
          </a:blipFill>
        </p:spPr>
      </p:sp>
      <p:sp>
        <p:nvSpPr>
          <p:cNvPr name="TextBox 3" id="3"/>
          <p:cNvSpPr txBox="true"/>
          <p:nvPr/>
        </p:nvSpPr>
        <p:spPr>
          <a:xfrm rot="0">
            <a:off x="4263578" y="38100"/>
            <a:ext cx="9760844"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Create keyspace, table </a:t>
            </a:r>
          </a:p>
        </p:txBody>
      </p:sp>
    </p:spTree>
  </p:cSld>
  <p:clrMapOvr>
    <a:masterClrMapping/>
  </p:clrMapOvr>
</p:sld>
</file>

<file path=ppt/slides/slide52.xml><?xml version="1.0" encoding="utf-8"?>
<p:sld xmlns:p="http://schemas.openxmlformats.org/presentationml/2006/main" xmlns:a="http://schemas.openxmlformats.org/drawingml/2006/main">
  <p:cSld>
    <p:bg>
      <p:bgPr>
        <a:solidFill>
          <a:srgbClr val="EBF5FE"/>
        </a:solidFill>
      </p:bgPr>
    </p:bg>
    <p:spTree>
      <p:nvGrpSpPr>
        <p:cNvPr id="1" name=""/>
        <p:cNvGrpSpPr/>
        <p:nvPr/>
      </p:nvGrpSpPr>
      <p:grpSpPr>
        <a:xfrm>
          <a:off x="0" y="0"/>
          <a:ext cx="0" cy="0"/>
          <a:chOff x="0" y="0"/>
          <a:chExt cx="0" cy="0"/>
        </a:xfrm>
      </p:grpSpPr>
      <p:sp>
        <p:nvSpPr>
          <p:cNvPr name="TextBox 2" id="2"/>
          <p:cNvSpPr txBox="true"/>
          <p:nvPr/>
        </p:nvSpPr>
        <p:spPr>
          <a:xfrm rot="0">
            <a:off x="4263578" y="38100"/>
            <a:ext cx="9760844"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Copy data from csv file </a:t>
            </a:r>
          </a:p>
        </p:txBody>
      </p:sp>
      <p:grpSp>
        <p:nvGrpSpPr>
          <p:cNvPr name="Group 3" id="3"/>
          <p:cNvGrpSpPr/>
          <p:nvPr/>
        </p:nvGrpSpPr>
        <p:grpSpPr>
          <a:xfrm rot="0">
            <a:off x="-325529" y="1443178"/>
            <a:ext cx="18939059" cy="3700322"/>
            <a:chOff x="0" y="0"/>
            <a:chExt cx="4988065" cy="974570"/>
          </a:xfrm>
        </p:grpSpPr>
        <p:sp>
          <p:nvSpPr>
            <p:cNvPr name="Freeform 4" id="4"/>
            <p:cNvSpPr/>
            <p:nvPr/>
          </p:nvSpPr>
          <p:spPr>
            <a:xfrm flipH="false" flipV="false" rot="0">
              <a:off x="0" y="0"/>
              <a:ext cx="4988065" cy="974570"/>
            </a:xfrm>
            <a:custGeom>
              <a:avLst/>
              <a:gdLst/>
              <a:ahLst/>
              <a:cxnLst/>
              <a:rect r="r" b="b" t="t" l="l"/>
              <a:pathLst>
                <a:path h="974570" w="4988065">
                  <a:moveTo>
                    <a:pt x="0" y="0"/>
                  </a:moveTo>
                  <a:lnTo>
                    <a:pt x="4988065" y="0"/>
                  </a:lnTo>
                  <a:lnTo>
                    <a:pt x="4988065" y="974570"/>
                  </a:lnTo>
                  <a:lnTo>
                    <a:pt x="0" y="974570"/>
                  </a:lnTo>
                  <a:close/>
                </a:path>
              </a:pathLst>
            </a:custGeom>
            <a:solidFill>
              <a:srgbClr val="2B59C3">
                <a:alpha val="71765"/>
              </a:srgbClr>
            </a:solidFill>
          </p:spPr>
        </p:sp>
        <p:sp>
          <p:nvSpPr>
            <p:cNvPr name="TextBox 5" id="5"/>
            <p:cNvSpPr txBox="true"/>
            <p:nvPr/>
          </p:nvSpPr>
          <p:spPr>
            <a:xfrm>
              <a:off x="0" y="28575"/>
              <a:ext cx="4988065" cy="945995"/>
            </a:xfrm>
            <a:prstGeom prst="rect">
              <a:avLst/>
            </a:prstGeom>
          </p:spPr>
          <p:txBody>
            <a:bodyPr anchor="ctr" rtlCol="false" tIns="50800" lIns="50800" bIns="50800" rIns="50800"/>
            <a:lstStyle/>
            <a:p>
              <a:pPr algn="ctr">
                <a:lnSpc>
                  <a:spcPts val="2661"/>
                </a:lnSpc>
              </a:pPr>
            </a:p>
          </p:txBody>
        </p:sp>
      </p:grpSp>
      <p:grpSp>
        <p:nvGrpSpPr>
          <p:cNvPr name="Group 6" id="6"/>
          <p:cNvGrpSpPr/>
          <p:nvPr/>
        </p:nvGrpSpPr>
        <p:grpSpPr>
          <a:xfrm rot="0">
            <a:off x="0" y="6923677"/>
            <a:ext cx="18939059" cy="1850161"/>
            <a:chOff x="0" y="0"/>
            <a:chExt cx="4988065" cy="487285"/>
          </a:xfrm>
        </p:grpSpPr>
        <p:sp>
          <p:nvSpPr>
            <p:cNvPr name="Freeform 7" id="7"/>
            <p:cNvSpPr/>
            <p:nvPr/>
          </p:nvSpPr>
          <p:spPr>
            <a:xfrm flipH="false" flipV="false" rot="0">
              <a:off x="0" y="0"/>
              <a:ext cx="4988065" cy="487285"/>
            </a:xfrm>
            <a:custGeom>
              <a:avLst/>
              <a:gdLst/>
              <a:ahLst/>
              <a:cxnLst/>
              <a:rect r="r" b="b" t="t" l="l"/>
              <a:pathLst>
                <a:path h="487285" w="4988065">
                  <a:moveTo>
                    <a:pt x="0" y="0"/>
                  </a:moveTo>
                  <a:lnTo>
                    <a:pt x="4988065" y="0"/>
                  </a:lnTo>
                  <a:lnTo>
                    <a:pt x="4988065" y="487285"/>
                  </a:lnTo>
                  <a:lnTo>
                    <a:pt x="0" y="487285"/>
                  </a:lnTo>
                  <a:close/>
                </a:path>
              </a:pathLst>
            </a:custGeom>
            <a:solidFill>
              <a:srgbClr val="2B59C3">
                <a:alpha val="71765"/>
              </a:srgbClr>
            </a:solidFill>
          </p:spPr>
        </p:sp>
        <p:sp>
          <p:nvSpPr>
            <p:cNvPr name="TextBox 8" id="8"/>
            <p:cNvSpPr txBox="true"/>
            <p:nvPr/>
          </p:nvSpPr>
          <p:spPr>
            <a:xfrm>
              <a:off x="0" y="28575"/>
              <a:ext cx="4988065" cy="458710"/>
            </a:xfrm>
            <a:prstGeom prst="rect">
              <a:avLst/>
            </a:prstGeom>
          </p:spPr>
          <p:txBody>
            <a:bodyPr anchor="ctr" rtlCol="false" tIns="50800" lIns="50800" bIns="50800" rIns="50800"/>
            <a:lstStyle/>
            <a:p>
              <a:pPr algn="ctr">
                <a:lnSpc>
                  <a:spcPts val="2661"/>
                </a:lnSpc>
              </a:pPr>
            </a:p>
          </p:txBody>
        </p:sp>
      </p:grpSp>
      <p:sp>
        <p:nvSpPr>
          <p:cNvPr name="TextBox 9" id="9"/>
          <p:cNvSpPr txBox="true"/>
          <p:nvPr/>
        </p:nvSpPr>
        <p:spPr>
          <a:xfrm rot="0">
            <a:off x="1651862" y="1763108"/>
            <a:ext cx="14984277" cy="5962979"/>
          </a:xfrm>
          <a:prstGeom prst="rect">
            <a:avLst/>
          </a:prstGeom>
        </p:spPr>
        <p:txBody>
          <a:bodyPr anchor="t" rtlCol="false" tIns="0" lIns="0" bIns="0" rIns="0">
            <a:spAutoFit/>
          </a:bodyPr>
          <a:lstStyle/>
          <a:p>
            <a:pPr algn="l">
              <a:lnSpc>
                <a:spcPts val="2454"/>
              </a:lnSpc>
            </a:pPr>
            <a:r>
              <a:rPr lang="en-US" sz="2359" b="true">
                <a:solidFill>
                  <a:srgbClr val="063050"/>
                </a:solidFill>
                <a:latin typeface="Raleway Bold"/>
                <a:ea typeface="Raleway Bold"/>
                <a:cs typeface="Raleway Bold"/>
                <a:sym typeface="Raleway Bold"/>
              </a:rPr>
              <a:t>COPY student_performance (</a:t>
            </a:r>
          </a:p>
          <a:p>
            <a:pPr algn="l">
              <a:lnSpc>
                <a:spcPts val="2454"/>
              </a:lnSpc>
            </a:pPr>
            <a:r>
              <a:rPr lang="en-US" sz="2359" b="true">
                <a:solidFill>
                  <a:srgbClr val="063050"/>
                </a:solidFill>
                <a:latin typeface="Raleway Bold"/>
                <a:ea typeface="Raleway Bold"/>
                <a:cs typeface="Raleway Bold"/>
                <a:sym typeface="Raleway Bold"/>
              </a:rPr>
              <a:t>    hours_studied, attendance, parental_involvement, access_to_resources, extracurricular_activities, sleep_hours, previous_scores,</a:t>
            </a:r>
          </a:p>
          <a:p>
            <a:pPr algn="l">
              <a:lnSpc>
                <a:spcPts val="2454"/>
              </a:lnSpc>
            </a:pPr>
            <a:r>
              <a:rPr lang="en-US" sz="2359" b="true">
                <a:solidFill>
                  <a:srgbClr val="063050"/>
                </a:solidFill>
                <a:latin typeface="Raleway Bold"/>
                <a:ea typeface="Raleway Bold"/>
                <a:cs typeface="Raleway Bold"/>
                <a:sym typeface="Raleway Bold"/>
              </a:rPr>
              <a:t>    motivation_level, internet_access, tutoring_sessions, family_income, teacher_quality, school_type, peer_influence, physical_activity,</a:t>
            </a:r>
          </a:p>
          <a:p>
            <a:pPr algn="l">
              <a:lnSpc>
                <a:spcPts val="2454"/>
              </a:lnSpc>
            </a:pPr>
            <a:r>
              <a:rPr lang="en-US" sz="2359" b="true">
                <a:solidFill>
                  <a:srgbClr val="063050"/>
                </a:solidFill>
                <a:latin typeface="Raleway Bold"/>
                <a:ea typeface="Raleway Bold"/>
                <a:cs typeface="Raleway Bold"/>
                <a:sym typeface="Raleway Bold"/>
              </a:rPr>
              <a:t>    learning_disabilities, parental_education_level, distance_from_home, gender, exam_score</a:t>
            </a:r>
          </a:p>
          <a:p>
            <a:pPr algn="l">
              <a:lnSpc>
                <a:spcPts val="2454"/>
              </a:lnSpc>
            </a:pPr>
            <a:r>
              <a:rPr lang="en-US" sz="2359" b="true">
                <a:solidFill>
                  <a:srgbClr val="063050"/>
                </a:solidFill>
                <a:latin typeface="Raleway Bold"/>
                <a:ea typeface="Raleway Bold"/>
                <a:cs typeface="Raleway Bold"/>
                <a:sym typeface="Raleway Bold"/>
              </a:rPr>
              <a:t>) </a:t>
            </a:r>
          </a:p>
          <a:p>
            <a:pPr algn="l">
              <a:lnSpc>
                <a:spcPts val="2454"/>
              </a:lnSpc>
            </a:pPr>
            <a:r>
              <a:rPr lang="en-US" sz="2359" b="true">
                <a:solidFill>
                  <a:srgbClr val="063050"/>
                </a:solidFill>
                <a:latin typeface="Raleway Bold"/>
                <a:ea typeface="Raleway Bold"/>
                <a:cs typeface="Raleway Bold"/>
                <a:sym typeface="Raleway Bold"/>
              </a:rPr>
              <a:t>FROM '/tmp/StudentPerformanceFactors.csv' </a:t>
            </a:r>
          </a:p>
          <a:p>
            <a:pPr algn="l">
              <a:lnSpc>
                <a:spcPts val="2454"/>
              </a:lnSpc>
            </a:pPr>
            <a:r>
              <a:rPr lang="en-US" sz="2359" b="true">
                <a:solidFill>
                  <a:srgbClr val="063050"/>
                </a:solidFill>
                <a:latin typeface="Raleway Bold"/>
                <a:ea typeface="Raleway Bold"/>
                <a:cs typeface="Raleway Bold"/>
                <a:sym typeface="Raleway Bold"/>
              </a:rPr>
              <a:t>WITH HEADER = TRUE;</a:t>
            </a:r>
          </a:p>
          <a:p>
            <a:pPr algn="l">
              <a:lnSpc>
                <a:spcPts val="2454"/>
              </a:lnSpc>
            </a:pPr>
          </a:p>
          <a:p>
            <a:pPr algn="l">
              <a:lnSpc>
                <a:spcPts val="2454"/>
              </a:lnSpc>
            </a:pPr>
          </a:p>
          <a:p>
            <a:pPr algn="l">
              <a:lnSpc>
                <a:spcPts val="2454"/>
              </a:lnSpc>
            </a:pPr>
          </a:p>
          <a:p>
            <a:pPr algn="ctr">
              <a:lnSpc>
                <a:spcPts val="7342"/>
              </a:lnSpc>
            </a:pPr>
            <a:r>
              <a:rPr lang="en-US" sz="7059" b="true">
                <a:solidFill>
                  <a:srgbClr val="063050"/>
                </a:solidFill>
                <a:latin typeface="Raleway Bold"/>
                <a:ea typeface="Raleway Bold"/>
                <a:cs typeface="Raleway Bold"/>
                <a:sym typeface="Raleway Bold"/>
              </a:rPr>
              <a:t>SELECT statement</a:t>
            </a:r>
          </a:p>
          <a:p>
            <a:pPr algn="ctr">
              <a:lnSpc>
                <a:spcPts val="5990"/>
              </a:lnSpc>
            </a:pPr>
          </a:p>
          <a:p>
            <a:pPr algn="l">
              <a:lnSpc>
                <a:spcPts val="2454"/>
              </a:lnSpc>
            </a:pPr>
          </a:p>
          <a:p>
            <a:pPr algn="l">
              <a:lnSpc>
                <a:spcPts val="2454"/>
              </a:lnSpc>
              <a:spcBef>
                <a:spcPct val="0"/>
              </a:spcBef>
            </a:pPr>
            <a:r>
              <a:rPr lang="en-US" b="true" sz="2359">
                <a:solidFill>
                  <a:srgbClr val="063050"/>
                </a:solidFill>
                <a:latin typeface="Raleway Bold"/>
                <a:ea typeface="Raleway Bold"/>
                <a:cs typeface="Raleway Bold"/>
                <a:sym typeface="Raleway Bold"/>
              </a:rPr>
              <a:t>SELECT * FROM student_performance;</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512824" y="1296940"/>
            <a:ext cx="15262353" cy="8571186"/>
          </a:xfrm>
          <a:custGeom>
            <a:avLst/>
            <a:gdLst/>
            <a:ahLst/>
            <a:cxnLst/>
            <a:rect r="r" b="b" t="t" l="l"/>
            <a:pathLst>
              <a:path h="8571186" w="15262353">
                <a:moveTo>
                  <a:pt x="0" y="0"/>
                </a:moveTo>
                <a:lnTo>
                  <a:pt x="15262352" y="0"/>
                </a:lnTo>
                <a:lnTo>
                  <a:pt x="15262352" y="8571186"/>
                </a:lnTo>
                <a:lnTo>
                  <a:pt x="0" y="8571186"/>
                </a:lnTo>
                <a:lnTo>
                  <a:pt x="0" y="0"/>
                </a:lnTo>
                <a:close/>
              </a:path>
            </a:pathLst>
          </a:custGeom>
          <a:blipFill>
            <a:blip r:embed="rId2"/>
            <a:stretch>
              <a:fillRect l="0" t="0" r="0" b="-8620"/>
            </a:stretch>
          </a:blipFill>
        </p:spPr>
      </p:sp>
      <p:sp>
        <p:nvSpPr>
          <p:cNvPr name="TextBox 3" id="3"/>
          <p:cNvSpPr txBox="true"/>
          <p:nvPr/>
        </p:nvSpPr>
        <p:spPr>
          <a:xfrm rot="0">
            <a:off x="4263578" y="38100"/>
            <a:ext cx="9760844" cy="907471"/>
          </a:xfrm>
          <a:prstGeom prst="rect">
            <a:avLst/>
          </a:prstGeom>
        </p:spPr>
        <p:txBody>
          <a:bodyPr anchor="t" rtlCol="false" tIns="0" lIns="0" bIns="0" rIns="0">
            <a:spAutoFit/>
          </a:bodyPr>
          <a:lstStyle/>
          <a:p>
            <a:pPr algn="l">
              <a:lnSpc>
                <a:spcPts val="6470"/>
              </a:lnSpc>
              <a:spcBef>
                <a:spcPct val="0"/>
              </a:spcBef>
            </a:pPr>
            <a:r>
              <a:rPr lang="en-US" b="true" sz="6221">
                <a:solidFill>
                  <a:srgbClr val="063050"/>
                </a:solidFill>
                <a:latin typeface="Poppins Bold"/>
                <a:ea typeface="Poppins Bold"/>
                <a:cs typeface="Poppins Bold"/>
                <a:sym typeface="Poppins Bold"/>
              </a:rPr>
              <a:t>Copy data from csv file </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1266430" y="2470397"/>
            <a:ext cx="15755139" cy="7601855"/>
          </a:xfrm>
          <a:custGeom>
            <a:avLst/>
            <a:gdLst/>
            <a:ahLst/>
            <a:cxnLst/>
            <a:rect r="r" b="b" t="t" l="l"/>
            <a:pathLst>
              <a:path h="7601855" w="15755139">
                <a:moveTo>
                  <a:pt x="0" y="0"/>
                </a:moveTo>
                <a:lnTo>
                  <a:pt x="15755140" y="0"/>
                </a:lnTo>
                <a:lnTo>
                  <a:pt x="15755140" y="7601855"/>
                </a:lnTo>
                <a:lnTo>
                  <a:pt x="0" y="7601855"/>
                </a:lnTo>
                <a:lnTo>
                  <a:pt x="0" y="0"/>
                </a:lnTo>
                <a:close/>
              </a:path>
            </a:pathLst>
          </a:custGeom>
          <a:blipFill>
            <a:blip r:embed="rId2"/>
            <a:stretch>
              <a:fillRect l="0" t="0" r="0" b="0"/>
            </a:stretch>
          </a:blipFill>
        </p:spPr>
      </p:sp>
      <p:sp>
        <p:nvSpPr>
          <p:cNvPr name="TextBox 3" id="3"/>
          <p:cNvSpPr txBox="true"/>
          <p:nvPr/>
        </p:nvSpPr>
        <p:spPr>
          <a:xfrm rot="0">
            <a:off x="2501759" y="470725"/>
            <a:ext cx="13303532" cy="1619307"/>
          </a:xfrm>
          <a:prstGeom prst="rect">
            <a:avLst/>
          </a:prstGeom>
        </p:spPr>
        <p:txBody>
          <a:bodyPr anchor="t" rtlCol="false" tIns="0" lIns="0" bIns="0" rIns="0">
            <a:spAutoFit/>
          </a:bodyPr>
          <a:lstStyle/>
          <a:p>
            <a:pPr algn="ctr">
              <a:lnSpc>
                <a:spcPts val="5326"/>
              </a:lnSpc>
            </a:pPr>
            <a:r>
              <a:rPr lang="en-US" sz="5121" b="true">
                <a:solidFill>
                  <a:srgbClr val="063050"/>
                </a:solidFill>
                <a:latin typeface="Poppins Bold"/>
                <a:ea typeface="Poppins Bold"/>
                <a:cs typeface="Poppins Bold"/>
                <a:sym typeface="Poppins Bold"/>
              </a:rPr>
              <a:t>Complex Query</a:t>
            </a:r>
          </a:p>
          <a:p>
            <a:pPr algn="l">
              <a:lnSpc>
                <a:spcPts val="3454"/>
              </a:lnSpc>
            </a:pPr>
            <a:r>
              <a:rPr lang="en-US" sz="3321">
                <a:solidFill>
                  <a:srgbClr val="063050"/>
                </a:solidFill>
                <a:latin typeface="Poppins"/>
                <a:ea typeface="Poppins"/>
                <a:cs typeface="Poppins"/>
                <a:sym typeface="Poppins"/>
              </a:rPr>
              <a:t>SELECT * FROM student_performance</a:t>
            </a:r>
            <a:r>
              <a:rPr lang="en-US" sz="3321">
                <a:solidFill>
                  <a:srgbClr val="063050"/>
                </a:solidFill>
                <a:latin typeface="Poppins"/>
                <a:ea typeface="Poppins"/>
                <a:cs typeface="Poppins"/>
                <a:sym typeface="Poppins"/>
              </a:rPr>
              <a:t> </a:t>
            </a:r>
          </a:p>
          <a:p>
            <a:pPr algn="l">
              <a:lnSpc>
                <a:spcPts val="3454"/>
              </a:lnSpc>
              <a:spcBef>
                <a:spcPct val="0"/>
              </a:spcBef>
            </a:pPr>
            <a:r>
              <a:rPr lang="en-US" sz="3321">
                <a:solidFill>
                  <a:srgbClr val="063050"/>
                </a:solidFill>
                <a:latin typeface="Poppins"/>
                <a:ea typeface="Poppins"/>
                <a:cs typeface="Poppins"/>
                <a:sym typeface="Poppins"/>
              </a:rPr>
              <a:t>WHERE gender = 'Male' AND exam_score &gt; 80 ALLOW FILTERING;</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2513601" y="4146645"/>
            <a:ext cx="13260797" cy="2917375"/>
          </a:xfrm>
          <a:custGeom>
            <a:avLst/>
            <a:gdLst/>
            <a:ahLst/>
            <a:cxnLst/>
            <a:rect r="r" b="b" t="t" l="l"/>
            <a:pathLst>
              <a:path h="2917375" w="13260797">
                <a:moveTo>
                  <a:pt x="0" y="0"/>
                </a:moveTo>
                <a:lnTo>
                  <a:pt x="13260798" y="0"/>
                </a:lnTo>
                <a:lnTo>
                  <a:pt x="13260798" y="2917375"/>
                </a:lnTo>
                <a:lnTo>
                  <a:pt x="0" y="2917375"/>
                </a:lnTo>
                <a:lnTo>
                  <a:pt x="0" y="0"/>
                </a:lnTo>
                <a:close/>
              </a:path>
            </a:pathLst>
          </a:custGeom>
          <a:blipFill>
            <a:blip r:embed="rId2"/>
            <a:stretch>
              <a:fillRect l="0" t="0" r="0" b="0"/>
            </a:stretch>
          </a:blipFill>
        </p:spPr>
      </p:sp>
      <p:sp>
        <p:nvSpPr>
          <p:cNvPr name="TextBox 3" id="3"/>
          <p:cNvSpPr txBox="true"/>
          <p:nvPr/>
        </p:nvSpPr>
        <p:spPr>
          <a:xfrm rot="0">
            <a:off x="2492234" y="2715742"/>
            <a:ext cx="13303532" cy="1018598"/>
          </a:xfrm>
          <a:prstGeom prst="rect">
            <a:avLst/>
          </a:prstGeom>
        </p:spPr>
        <p:txBody>
          <a:bodyPr anchor="t" rtlCol="false" tIns="0" lIns="0" bIns="0" rIns="0">
            <a:spAutoFit/>
          </a:bodyPr>
          <a:lstStyle/>
          <a:p>
            <a:pPr algn="l">
              <a:lnSpc>
                <a:spcPts val="3870"/>
              </a:lnSpc>
            </a:pPr>
            <a:r>
              <a:rPr lang="en-US" sz="3721">
                <a:solidFill>
                  <a:srgbClr val="063050"/>
                </a:solidFill>
                <a:latin typeface="Poppins"/>
                <a:ea typeface="Poppins"/>
                <a:cs typeface="Poppins"/>
                <a:sym typeface="Poppins"/>
              </a:rPr>
              <a:t>SELECT AVG(exam_score) FROM student_performance;</a:t>
            </a:r>
          </a:p>
          <a:p>
            <a:pPr algn="l">
              <a:lnSpc>
                <a:spcPts val="3870"/>
              </a:lnSpc>
              <a:spcBef>
                <a:spcPct val="0"/>
              </a:spcBef>
            </a:pPr>
          </a:p>
        </p:txBody>
      </p:sp>
      <p:sp>
        <p:nvSpPr>
          <p:cNvPr name="TextBox 4" id="4"/>
          <p:cNvSpPr txBox="true"/>
          <p:nvPr/>
        </p:nvSpPr>
        <p:spPr>
          <a:xfrm rot="0">
            <a:off x="6072812" y="8839146"/>
            <a:ext cx="6142377" cy="532823"/>
          </a:xfrm>
          <a:prstGeom prst="rect">
            <a:avLst/>
          </a:prstGeom>
        </p:spPr>
        <p:txBody>
          <a:bodyPr anchor="t" rtlCol="false" tIns="0" lIns="0" bIns="0" rIns="0">
            <a:spAutoFit/>
          </a:bodyPr>
          <a:lstStyle/>
          <a:p>
            <a:pPr algn="l">
              <a:lnSpc>
                <a:spcPts val="3870"/>
              </a:lnSpc>
              <a:spcBef>
                <a:spcPct val="0"/>
              </a:spcBef>
            </a:pPr>
            <a:r>
              <a:rPr lang="en-US" sz="3721">
                <a:solidFill>
                  <a:srgbClr val="063050"/>
                </a:solidFill>
                <a:latin typeface="Poppins"/>
                <a:ea typeface="Poppins"/>
                <a:cs typeface="Poppins"/>
                <a:sym typeface="Poppins"/>
              </a:rPr>
              <a:t>Average exam score is 67</a:t>
            </a:r>
          </a:p>
        </p:txBody>
      </p:sp>
      <p:sp>
        <p:nvSpPr>
          <p:cNvPr name="TextBox 5" id="5"/>
          <p:cNvSpPr txBox="true"/>
          <p:nvPr/>
        </p:nvSpPr>
        <p:spPr>
          <a:xfrm rot="0">
            <a:off x="1883051" y="197593"/>
            <a:ext cx="14521898" cy="3195319"/>
          </a:xfrm>
          <a:prstGeom prst="rect">
            <a:avLst/>
          </a:prstGeom>
        </p:spPr>
        <p:txBody>
          <a:bodyPr anchor="t" rtlCol="false" tIns="0" lIns="0" bIns="0" rIns="0">
            <a:spAutoFit/>
          </a:bodyPr>
          <a:lstStyle/>
          <a:p>
            <a:pPr algn="ctr">
              <a:lnSpc>
                <a:spcPts val="12880"/>
              </a:lnSpc>
            </a:pPr>
            <a:r>
              <a:rPr lang="en-US" sz="9200" b="true">
                <a:solidFill>
                  <a:srgbClr val="000000"/>
                </a:solidFill>
                <a:latin typeface="Open Sans Bold"/>
                <a:ea typeface="Open Sans Bold"/>
                <a:cs typeface="Open Sans Bold"/>
                <a:sym typeface="Open Sans Bold"/>
              </a:rPr>
              <a:t>Search for average score  </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2802176" y="3251909"/>
            <a:ext cx="13971897" cy="6584257"/>
          </a:xfrm>
          <a:custGeom>
            <a:avLst/>
            <a:gdLst/>
            <a:ahLst/>
            <a:cxnLst/>
            <a:rect r="r" b="b" t="t" l="l"/>
            <a:pathLst>
              <a:path h="6584257" w="13971897">
                <a:moveTo>
                  <a:pt x="0" y="0"/>
                </a:moveTo>
                <a:lnTo>
                  <a:pt x="13971898" y="0"/>
                </a:lnTo>
                <a:lnTo>
                  <a:pt x="13971898" y="6584256"/>
                </a:lnTo>
                <a:lnTo>
                  <a:pt x="0" y="6584256"/>
                </a:lnTo>
                <a:lnTo>
                  <a:pt x="0" y="0"/>
                </a:lnTo>
                <a:close/>
              </a:path>
            </a:pathLst>
          </a:custGeom>
          <a:blipFill>
            <a:blip r:embed="rId2"/>
            <a:stretch>
              <a:fillRect l="0" t="0" r="0" b="0"/>
            </a:stretch>
          </a:blipFill>
        </p:spPr>
      </p:sp>
      <p:sp>
        <p:nvSpPr>
          <p:cNvPr name="TextBox 3" id="3"/>
          <p:cNvSpPr txBox="true"/>
          <p:nvPr/>
        </p:nvSpPr>
        <p:spPr>
          <a:xfrm rot="0">
            <a:off x="2802176" y="1663327"/>
            <a:ext cx="13303532" cy="1405821"/>
          </a:xfrm>
          <a:prstGeom prst="rect">
            <a:avLst/>
          </a:prstGeom>
        </p:spPr>
        <p:txBody>
          <a:bodyPr anchor="t" rtlCol="false" tIns="0" lIns="0" bIns="0" rIns="0">
            <a:spAutoFit/>
          </a:bodyPr>
          <a:lstStyle/>
          <a:p>
            <a:pPr algn="l">
              <a:lnSpc>
                <a:spcPts val="2726"/>
              </a:lnSpc>
            </a:pPr>
            <a:r>
              <a:rPr lang="en-US" sz="2621">
                <a:solidFill>
                  <a:srgbClr val="063050"/>
                </a:solidFill>
                <a:latin typeface="Poppins"/>
                <a:ea typeface="Poppins"/>
                <a:cs typeface="Poppins"/>
                <a:sym typeface="Poppins"/>
              </a:rPr>
              <a:t>SELECT * </a:t>
            </a:r>
          </a:p>
          <a:p>
            <a:pPr algn="l">
              <a:lnSpc>
                <a:spcPts val="2726"/>
              </a:lnSpc>
            </a:pPr>
            <a:r>
              <a:rPr lang="en-US" sz="2621">
                <a:solidFill>
                  <a:srgbClr val="063050"/>
                </a:solidFill>
                <a:latin typeface="Poppins"/>
                <a:ea typeface="Poppins"/>
                <a:cs typeface="Poppins"/>
                <a:sym typeface="Poppins"/>
              </a:rPr>
              <a:t>FROM student_performance </a:t>
            </a:r>
          </a:p>
          <a:p>
            <a:pPr algn="l">
              <a:lnSpc>
                <a:spcPts val="2726"/>
              </a:lnSpc>
            </a:pPr>
            <a:r>
              <a:rPr lang="en-US" sz="2621">
                <a:solidFill>
                  <a:srgbClr val="063050"/>
                </a:solidFill>
                <a:latin typeface="Poppins"/>
                <a:ea typeface="Poppins"/>
                <a:cs typeface="Poppins"/>
                <a:sym typeface="Poppins"/>
              </a:rPr>
              <a:t>WHERE motivation_level = 'High' AND family_income = 'Low' ALLOW FILTERING;</a:t>
            </a:r>
          </a:p>
          <a:p>
            <a:pPr algn="l">
              <a:lnSpc>
                <a:spcPts val="2726"/>
              </a:lnSpc>
              <a:spcBef>
                <a:spcPct val="0"/>
              </a:spcBef>
            </a:pPr>
          </a:p>
        </p:txBody>
      </p:sp>
      <p:sp>
        <p:nvSpPr>
          <p:cNvPr name="TextBox 4" id="4"/>
          <p:cNvSpPr txBox="true"/>
          <p:nvPr/>
        </p:nvSpPr>
        <p:spPr>
          <a:xfrm rot="0">
            <a:off x="2511179" y="96471"/>
            <a:ext cx="14553892" cy="1366831"/>
          </a:xfrm>
          <a:prstGeom prst="rect">
            <a:avLst/>
          </a:prstGeom>
        </p:spPr>
        <p:txBody>
          <a:bodyPr anchor="t" rtlCol="false" tIns="0" lIns="0" bIns="0" rIns="0">
            <a:spAutoFit/>
          </a:bodyPr>
          <a:lstStyle/>
          <a:p>
            <a:pPr algn="ctr">
              <a:lnSpc>
                <a:spcPts val="5118"/>
              </a:lnSpc>
              <a:spcBef>
                <a:spcPct val="0"/>
              </a:spcBef>
            </a:pPr>
            <a:r>
              <a:rPr lang="en-US" b="true" sz="4921">
                <a:solidFill>
                  <a:srgbClr val="063050"/>
                </a:solidFill>
                <a:latin typeface="Poppins Bold"/>
                <a:ea typeface="Poppins Bold"/>
                <a:cs typeface="Poppins Bold"/>
                <a:sym typeface="Poppins Bold"/>
              </a:rPr>
              <a:t>SELECT for High Motivation and Low Family Income</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2992802" y="4321442"/>
            <a:ext cx="12302395" cy="3090977"/>
          </a:xfrm>
          <a:custGeom>
            <a:avLst/>
            <a:gdLst/>
            <a:ahLst/>
            <a:cxnLst/>
            <a:rect r="r" b="b" t="t" l="l"/>
            <a:pathLst>
              <a:path h="3090977" w="12302395">
                <a:moveTo>
                  <a:pt x="0" y="0"/>
                </a:moveTo>
                <a:lnTo>
                  <a:pt x="12302396" y="0"/>
                </a:lnTo>
                <a:lnTo>
                  <a:pt x="12302396" y="3090977"/>
                </a:lnTo>
                <a:lnTo>
                  <a:pt x="0" y="3090977"/>
                </a:lnTo>
                <a:lnTo>
                  <a:pt x="0" y="0"/>
                </a:lnTo>
                <a:close/>
              </a:path>
            </a:pathLst>
          </a:custGeom>
          <a:blipFill>
            <a:blip r:embed="rId2"/>
            <a:stretch>
              <a:fillRect l="0" t="0" r="0" b="0"/>
            </a:stretch>
          </a:blipFill>
        </p:spPr>
      </p:sp>
      <p:sp>
        <p:nvSpPr>
          <p:cNvPr name="Freeform 3" id="3"/>
          <p:cNvSpPr/>
          <p:nvPr/>
        </p:nvSpPr>
        <p:spPr>
          <a:xfrm flipH="false" flipV="false" rot="0">
            <a:off x="3493371" y="8368326"/>
            <a:ext cx="11301259" cy="1779948"/>
          </a:xfrm>
          <a:custGeom>
            <a:avLst/>
            <a:gdLst/>
            <a:ahLst/>
            <a:cxnLst/>
            <a:rect r="r" b="b" t="t" l="l"/>
            <a:pathLst>
              <a:path h="1779948" w="11301259">
                <a:moveTo>
                  <a:pt x="0" y="0"/>
                </a:moveTo>
                <a:lnTo>
                  <a:pt x="11301258" y="0"/>
                </a:lnTo>
                <a:lnTo>
                  <a:pt x="11301258" y="1779948"/>
                </a:lnTo>
                <a:lnTo>
                  <a:pt x="0" y="1779948"/>
                </a:lnTo>
                <a:lnTo>
                  <a:pt x="0" y="0"/>
                </a:lnTo>
                <a:close/>
              </a:path>
            </a:pathLst>
          </a:custGeom>
          <a:blipFill>
            <a:blip r:embed="rId3"/>
            <a:stretch>
              <a:fillRect l="0" t="0" r="0" b="0"/>
            </a:stretch>
          </a:blipFill>
        </p:spPr>
      </p:sp>
      <p:sp>
        <p:nvSpPr>
          <p:cNvPr name="TextBox 4" id="4"/>
          <p:cNvSpPr txBox="true"/>
          <p:nvPr/>
        </p:nvSpPr>
        <p:spPr>
          <a:xfrm rot="0">
            <a:off x="2492234" y="1201121"/>
            <a:ext cx="13303532" cy="3120321"/>
          </a:xfrm>
          <a:prstGeom prst="rect">
            <a:avLst/>
          </a:prstGeom>
        </p:spPr>
        <p:txBody>
          <a:bodyPr anchor="t" rtlCol="false" tIns="0" lIns="0" bIns="0" rIns="0">
            <a:spAutoFit/>
          </a:bodyPr>
          <a:lstStyle/>
          <a:p>
            <a:pPr algn="l">
              <a:lnSpc>
                <a:spcPts val="2726"/>
              </a:lnSpc>
            </a:pPr>
            <a:r>
              <a:rPr lang="en-US" sz="2621">
                <a:solidFill>
                  <a:srgbClr val="063050"/>
                </a:solidFill>
                <a:latin typeface="Poppins"/>
                <a:ea typeface="Poppins"/>
                <a:cs typeface="Poppins"/>
                <a:sym typeface="Poppins"/>
              </a:rPr>
              <a:t>INSERT INTO student_performance ( hours_studied, attendance, access_to_resources, distance_from_home, exam_score, extracurricular_activities, family_income, gender, internet_access, learning_disabilities, motivation_level, parental_education_level, parental_involvement, peer_influence, physical_activity, previous_scores, school_type, sleep_hours, teacher_quality, tutoring_sessions ) VALUES ( 24, 70, 'High', 'Moderate', 85, 'Yes', 'Low', 'Male', 'Yes', 'No', 'High', 'Postgraduate', 'Medium', 'Positive', 2, 52, 'Public', 9, 'Medium', 1 ); </a:t>
            </a:r>
          </a:p>
          <a:p>
            <a:pPr algn="l">
              <a:lnSpc>
                <a:spcPts val="2726"/>
              </a:lnSpc>
              <a:spcBef>
                <a:spcPct val="0"/>
              </a:spcBef>
            </a:pPr>
          </a:p>
        </p:txBody>
      </p:sp>
      <p:sp>
        <p:nvSpPr>
          <p:cNvPr name="TextBox 5" id="5"/>
          <p:cNvSpPr txBox="true"/>
          <p:nvPr/>
        </p:nvSpPr>
        <p:spPr>
          <a:xfrm rot="0">
            <a:off x="6034922" y="186506"/>
            <a:ext cx="6218156" cy="842194"/>
          </a:xfrm>
          <a:prstGeom prst="rect">
            <a:avLst/>
          </a:prstGeom>
        </p:spPr>
        <p:txBody>
          <a:bodyPr anchor="t" rtlCol="false" tIns="0" lIns="0" bIns="0" rIns="0">
            <a:spAutoFit/>
          </a:bodyPr>
          <a:lstStyle/>
          <a:p>
            <a:pPr algn="l">
              <a:lnSpc>
                <a:spcPts val="6054"/>
              </a:lnSpc>
              <a:spcBef>
                <a:spcPct val="0"/>
              </a:spcBef>
            </a:pPr>
            <a:r>
              <a:rPr lang="en-US" b="true" sz="5821">
                <a:solidFill>
                  <a:srgbClr val="063050"/>
                </a:solidFill>
                <a:latin typeface="Poppins Bold"/>
                <a:ea typeface="Poppins Bold"/>
                <a:cs typeface="Poppins Bold"/>
                <a:sym typeface="Poppins Bold"/>
              </a:rPr>
              <a:t>Insert operation</a:t>
            </a:r>
          </a:p>
        </p:txBody>
      </p:sp>
      <p:sp>
        <p:nvSpPr>
          <p:cNvPr name="TextBox 6" id="6"/>
          <p:cNvSpPr txBox="true"/>
          <p:nvPr/>
        </p:nvSpPr>
        <p:spPr>
          <a:xfrm rot="0">
            <a:off x="2492234" y="7583869"/>
            <a:ext cx="13303532" cy="1062921"/>
          </a:xfrm>
          <a:prstGeom prst="rect">
            <a:avLst/>
          </a:prstGeom>
        </p:spPr>
        <p:txBody>
          <a:bodyPr anchor="t" rtlCol="false" tIns="0" lIns="0" bIns="0" rIns="0">
            <a:spAutoFit/>
          </a:bodyPr>
          <a:lstStyle/>
          <a:p>
            <a:pPr algn="l">
              <a:lnSpc>
                <a:spcPts val="2726"/>
              </a:lnSpc>
            </a:pPr>
            <a:r>
              <a:rPr lang="en-US" sz="2621">
                <a:solidFill>
                  <a:srgbClr val="063050"/>
                </a:solidFill>
                <a:latin typeface="Poppins"/>
                <a:ea typeface="Poppins"/>
                <a:cs typeface="Poppins"/>
                <a:sym typeface="Poppins"/>
              </a:rPr>
              <a:t>SELECT * FROM student_performance</a:t>
            </a:r>
          </a:p>
          <a:p>
            <a:pPr algn="l">
              <a:lnSpc>
                <a:spcPts val="2726"/>
              </a:lnSpc>
            </a:pPr>
            <a:r>
              <a:rPr lang="en-US" sz="2621">
                <a:solidFill>
                  <a:srgbClr val="063050"/>
                </a:solidFill>
                <a:latin typeface="Poppins"/>
                <a:ea typeface="Poppins"/>
                <a:cs typeface="Poppins"/>
                <a:sym typeface="Poppins"/>
              </a:rPr>
              <a:t>WHERE gender = 'Male' AND exam_score = 85 ALLOW FILTERING;</a:t>
            </a:r>
          </a:p>
          <a:p>
            <a:pPr algn="l">
              <a:lnSpc>
                <a:spcPts val="2726"/>
              </a:lnSpc>
              <a:spcBef>
                <a:spcPct val="0"/>
              </a:spcBef>
            </a:pP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sp>
        <p:nvSpPr>
          <p:cNvPr name="Freeform 2" id="2"/>
          <p:cNvSpPr/>
          <p:nvPr/>
        </p:nvSpPr>
        <p:spPr>
          <a:xfrm flipH="false" flipV="false" rot="0">
            <a:off x="3493371" y="3119429"/>
            <a:ext cx="11301259" cy="1624556"/>
          </a:xfrm>
          <a:custGeom>
            <a:avLst/>
            <a:gdLst/>
            <a:ahLst/>
            <a:cxnLst/>
            <a:rect r="r" b="b" t="t" l="l"/>
            <a:pathLst>
              <a:path h="1624556" w="11301259">
                <a:moveTo>
                  <a:pt x="0" y="0"/>
                </a:moveTo>
                <a:lnTo>
                  <a:pt x="11301258" y="0"/>
                </a:lnTo>
                <a:lnTo>
                  <a:pt x="11301258" y="1624556"/>
                </a:lnTo>
                <a:lnTo>
                  <a:pt x="0" y="1624556"/>
                </a:lnTo>
                <a:lnTo>
                  <a:pt x="0" y="0"/>
                </a:lnTo>
                <a:close/>
              </a:path>
            </a:pathLst>
          </a:custGeom>
          <a:blipFill>
            <a:blip r:embed="rId2"/>
            <a:stretch>
              <a:fillRect l="0" t="0" r="0" b="0"/>
            </a:stretch>
          </a:blipFill>
        </p:spPr>
      </p:sp>
      <p:sp>
        <p:nvSpPr>
          <p:cNvPr name="Freeform 3" id="3"/>
          <p:cNvSpPr/>
          <p:nvPr/>
        </p:nvSpPr>
        <p:spPr>
          <a:xfrm flipH="false" flipV="false" rot="0">
            <a:off x="3493371" y="6984970"/>
            <a:ext cx="11301259" cy="833468"/>
          </a:xfrm>
          <a:custGeom>
            <a:avLst/>
            <a:gdLst/>
            <a:ahLst/>
            <a:cxnLst/>
            <a:rect r="r" b="b" t="t" l="l"/>
            <a:pathLst>
              <a:path h="833468" w="11301259">
                <a:moveTo>
                  <a:pt x="0" y="0"/>
                </a:moveTo>
                <a:lnTo>
                  <a:pt x="11301258" y="0"/>
                </a:lnTo>
                <a:lnTo>
                  <a:pt x="11301258" y="833468"/>
                </a:lnTo>
                <a:lnTo>
                  <a:pt x="0" y="833468"/>
                </a:lnTo>
                <a:lnTo>
                  <a:pt x="0" y="0"/>
                </a:lnTo>
                <a:close/>
              </a:path>
            </a:pathLst>
          </a:custGeom>
          <a:blipFill>
            <a:blip r:embed="rId3"/>
            <a:stretch>
              <a:fillRect l="0" t="0" r="0" b="0"/>
            </a:stretch>
          </a:blipFill>
        </p:spPr>
      </p:sp>
      <p:sp>
        <p:nvSpPr>
          <p:cNvPr name="TextBox 4" id="4"/>
          <p:cNvSpPr txBox="true"/>
          <p:nvPr/>
        </p:nvSpPr>
        <p:spPr>
          <a:xfrm rot="0">
            <a:off x="3493371" y="1603499"/>
            <a:ext cx="13303532" cy="1515930"/>
          </a:xfrm>
          <a:prstGeom prst="rect">
            <a:avLst/>
          </a:prstGeom>
        </p:spPr>
        <p:txBody>
          <a:bodyPr anchor="t" rtlCol="false" tIns="0" lIns="0" bIns="0" rIns="0">
            <a:spAutoFit/>
          </a:bodyPr>
          <a:lstStyle/>
          <a:p>
            <a:pPr algn="l">
              <a:lnSpc>
                <a:spcPts val="3558"/>
              </a:lnSpc>
            </a:pPr>
            <a:r>
              <a:rPr lang="en-US" sz="3421">
                <a:solidFill>
                  <a:srgbClr val="063050"/>
                </a:solidFill>
                <a:latin typeface="Poppins"/>
                <a:ea typeface="Poppins"/>
                <a:cs typeface="Poppins"/>
                <a:sym typeface="Poppins"/>
              </a:rPr>
              <a:t>ALTER TABLE student_performance </a:t>
            </a:r>
          </a:p>
          <a:p>
            <a:pPr algn="l">
              <a:lnSpc>
                <a:spcPts val="3558"/>
              </a:lnSpc>
            </a:pPr>
            <a:r>
              <a:rPr lang="en-US" sz="3421">
                <a:solidFill>
                  <a:srgbClr val="063050"/>
                </a:solidFill>
                <a:latin typeface="Poppins"/>
                <a:ea typeface="Poppins"/>
                <a:cs typeface="Poppins"/>
                <a:sym typeface="Poppins"/>
              </a:rPr>
              <a:t>ADD student_id UUID;</a:t>
            </a:r>
          </a:p>
          <a:p>
            <a:pPr algn="l">
              <a:lnSpc>
                <a:spcPts val="4390"/>
              </a:lnSpc>
              <a:spcBef>
                <a:spcPct val="0"/>
              </a:spcBef>
            </a:pPr>
          </a:p>
        </p:txBody>
      </p:sp>
      <p:sp>
        <p:nvSpPr>
          <p:cNvPr name="TextBox 5" id="5"/>
          <p:cNvSpPr txBox="true"/>
          <p:nvPr/>
        </p:nvSpPr>
        <p:spPr>
          <a:xfrm rot="0">
            <a:off x="4263578" y="411451"/>
            <a:ext cx="9760844" cy="842194"/>
          </a:xfrm>
          <a:prstGeom prst="rect">
            <a:avLst/>
          </a:prstGeom>
        </p:spPr>
        <p:txBody>
          <a:bodyPr anchor="t" rtlCol="false" tIns="0" lIns="0" bIns="0" rIns="0">
            <a:spAutoFit/>
          </a:bodyPr>
          <a:lstStyle/>
          <a:p>
            <a:pPr algn="l">
              <a:lnSpc>
                <a:spcPts val="6054"/>
              </a:lnSpc>
              <a:spcBef>
                <a:spcPct val="0"/>
              </a:spcBef>
            </a:pPr>
            <a:r>
              <a:rPr lang="en-US" b="true" sz="5821">
                <a:solidFill>
                  <a:srgbClr val="063050"/>
                </a:solidFill>
                <a:latin typeface="Poppins Bold"/>
                <a:ea typeface="Poppins Bold"/>
                <a:cs typeface="Poppins Bold"/>
                <a:sym typeface="Poppins Bold"/>
              </a:rPr>
              <a:t>Update the table colums</a:t>
            </a:r>
          </a:p>
        </p:txBody>
      </p:sp>
      <p:sp>
        <p:nvSpPr>
          <p:cNvPr name="TextBox 6" id="6"/>
          <p:cNvSpPr txBox="true"/>
          <p:nvPr/>
        </p:nvSpPr>
        <p:spPr>
          <a:xfrm rot="0">
            <a:off x="4263578" y="5578451"/>
            <a:ext cx="9760844" cy="842194"/>
          </a:xfrm>
          <a:prstGeom prst="rect">
            <a:avLst/>
          </a:prstGeom>
        </p:spPr>
        <p:txBody>
          <a:bodyPr anchor="t" rtlCol="false" tIns="0" lIns="0" bIns="0" rIns="0">
            <a:spAutoFit/>
          </a:bodyPr>
          <a:lstStyle/>
          <a:p>
            <a:pPr algn="l">
              <a:lnSpc>
                <a:spcPts val="6054"/>
              </a:lnSpc>
              <a:spcBef>
                <a:spcPct val="0"/>
              </a:spcBef>
            </a:pPr>
            <a:r>
              <a:rPr lang="en-US" b="true" sz="5821">
                <a:solidFill>
                  <a:srgbClr val="063050"/>
                </a:solidFill>
                <a:latin typeface="Poppins Bold"/>
                <a:ea typeface="Poppins Bold"/>
                <a:cs typeface="Poppins Bold"/>
                <a:sym typeface="Poppins Bold"/>
              </a:rPr>
              <a:t>Delete from the table </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EBF5FE"/>
        </a:solidFill>
      </p:bgPr>
    </p:bg>
    <p:spTree>
      <p:nvGrpSpPr>
        <p:cNvPr id="1" name=""/>
        <p:cNvGrpSpPr/>
        <p:nvPr/>
      </p:nvGrpSpPr>
      <p:grpSpPr>
        <a:xfrm>
          <a:off x="0" y="0"/>
          <a:ext cx="0" cy="0"/>
          <a:chOff x="0" y="0"/>
          <a:chExt cx="0" cy="0"/>
        </a:xfrm>
      </p:grpSpPr>
      <p:grpSp>
        <p:nvGrpSpPr>
          <p:cNvPr name="Group 2" id="2"/>
          <p:cNvGrpSpPr/>
          <p:nvPr/>
        </p:nvGrpSpPr>
        <p:grpSpPr>
          <a:xfrm rot="0">
            <a:off x="-325529" y="3404967"/>
            <a:ext cx="18939059" cy="1464829"/>
            <a:chOff x="0" y="0"/>
            <a:chExt cx="4988065" cy="385799"/>
          </a:xfrm>
        </p:grpSpPr>
        <p:sp>
          <p:nvSpPr>
            <p:cNvPr name="Freeform 3" id="3"/>
            <p:cNvSpPr/>
            <p:nvPr/>
          </p:nvSpPr>
          <p:spPr>
            <a:xfrm flipH="false" flipV="false" rot="0">
              <a:off x="0" y="0"/>
              <a:ext cx="4988065" cy="385799"/>
            </a:xfrm>
            <a:custGeom>
              <a:avLst/>
              <a:gdLst/>
              <a:ahLst/>
              <a:cxnLst/>
              <a:rect r="r" b="b" t="t" l="l"/>
              <a:pathLst>
                <a:path h="385799" w="4988065">
                  <a:moveTo>
                    <a:pt x="0" y="0"/>
                  </a:moveTo>
                  <a:lnTo>
                    <a:pt x="4988065" y="0"/>
                  </a:lnTo>
                  <a:lnTo>
                    <a:pt x="4988065" y="385799"/>
                  </a:lnTo>
                  <a:lnTo>
                    <a:pt x="0" y="385799"/>
                  </a:lnTo>
                  <a:close/>
                </a:path>
              </a:pathLst>
            </a:custGeom>
            <a:solidFill>
              <a:srgbClr val="2B59C3">
                <a:alpha val="71765"/>
              </a:srgbClr>
            </a:solidFill>
          </p:spPr>
        </p:sp>
        <p:sp>
          <p:nvSpPr>
            <p:cNvPr name="TextBox 4" id="4"/>
            <p:cNvSpPr txBox="true"/>
            <p:nvPr/>
          </p:nvSpPr>
          <p:spPr>
            <a:xfrm>
              <a:off x="0" y="28575"/>
              <a:ext cx="4988065" cy="357224"/>
            </a:xfrm>
            <a:prstGeom prst="rect">
              <a:avLst/>
            </a:prstGeom>
          </p:spPr>
          <p:txBody>
            <a:bodyPr anchor="ctr" rtlCol="false" tIns="50800" lIns="50800" bIns="50800" rIns="50800"/>
            <a:lstStyle/>
            <a:p>
              <a:pPr algn="ctr">
                <a:lnSpc>
                  <a:spcPts val="2661"/>
                </a:lnSpc>
              </a:pPr>
            </a:p>
          </p:txBody>
        </p:sp>
      </p:grpSp>
      <p:sp>
        <p:nvSpPr>
          <p:cNvPr name="Freeform 5" id="5"/>
          <p:cNvSpPr/>
          <p:nvPr/>
        </p:nvSpPr>
        <p:spPr>
          <a:xfrm flipH="false" flipV="false" rot="0">
            <a:off x="12326993" y="4137382"/>
            <a:ext cx="3980134" cy="4114800"/>
          </a:xfrm>
          <a:custGeom>
            <a:avLst/>
            <a:gdLst/>
            <a:ahLst/>
            <a:cxnLst/>
            <a:rect r="r" b="b" t="t" l="l"/>
            <a:pathLst>
              <a:path h="4114800" w="3980134">
                <a:moveTo>
                  <a:pt x="0" y="0"/>
                </a:moveTo>
                <a:lnTo>
                  <a:pt x="3980134" y="0"/>
                </a:lnTo>
                <a:lnTo>
                  <a:pt x="398013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1588548"/>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4">
              <a:alphaModFix amt="71000"/>
            </a:blip>
            <a:stretch>
              <a:fillRect l="0" t="0" r="0" b="0"/>
            </a:stretch>
          </a:blipFill>
        </p:spPr>
      </p:sp>
      <p:sp>
        <p:nvSpPr>
          <p:cNvPr name="Freeform 7" id="7"/>
          <p:cNvSpPr/>
          <p:nvPr/>
        </p:nvSpPr>
        <p:spPr>
          <a:xfrm flipH="false" flipV="false" rot="0">
            <a:off x="16543611" y="3404967"/>
            <a:ext cx="2549517" cy="2585062"/>
          </a:xfrm>
          <a:custGeom>
            <a:avLst/>
            <a:gdLst/>
            <a:ahLst/>
            <a:cxnLst/>
            <a:rect r="r" b="b" t="t" l="l"/>
            <a:pathLst>
              <a:path h="2585062" w="2549517">
                <a:moveTo>
                  <a:pt x="0" y="0"/>
                </a:moveTo>
                <a:lnTo>
                  <a:pt x="2549517" y="0"/>
                </a:lnTo>
                <a:lnTo>
                  <a:pt x="2549517" y="2585062"/>
                </a:lnTo>
                <a:lnTo>
                  <a:pt x="0" y="2585062"/>
                </a:lnTo>
                <a:lnTo>
                  <a:pt x="0" y="0"/>
                </a:lnTo>
                <a:close/>
              </a:path>
            </a:pathLst>
          </a:custGeom>
          <a:blipFill>
            <a:blip r:embed="rId4">
              <a:alphaModFix amt="71000"/>
            </a:blip>
            <a:stretch>
              <a:fillRect l="0" t="0" r="0" b="0"/>
            </a:stretch>
          </a:blipFill>
        </p:spPr>
      </p:sp>
      <p:sp>
        <p:nvSpPr>
          <p:cNvPr name="TextBox 8" id="8"/>
          <p:cNvSpPr txBox="true"/>
          <p:nvPr/>
        </p:nvSpPr>
        <p:spPr>
          <a:xfrm rot="0">
            <a:off x="1274758" y="5608843"/>
            <a:ext cx="9883182" cy="1984699"/>
          </a:xfrm>
          <a:prstGeom prst="rect">
            <a:avLst/>
          </a:prstGeom>
        </p:spPr>
        <p:txBody>
          <a:bodyPr anchor="t" rtlCol="false" tIns="0" lIns="0" bIns="0" rIns="0">
            <a:spAutoFit/>
          </a:bodyPr>
          <a:lstStyle/>
          <a:p>
            <a:pPr algn="l">
              <a:lnSpc>
                <a:spcPts val="7533"/>
              </a:lnSpc>
            </a:pPr>
            <a:r>
              <a:rPr lang="en-US" sz="6551" b="true">
                <a:solidFill>
                  <a:srgbClr val="063050"/>
                </a:solidFill>
                <a:latin typeface="Poppins Bold"/>
                <a:ea typeface="Poppins Bold"/>
                <a:cs typeface="Poppins Bold"/>
                <a:sym typeface="Poppins Bold"/>
              </a:rPr>
              <a:t>If you have questions, feel free to ask</a:t>
            </a:r>
          </a:p>
        </p:txBody>
      </p:sp>
      <p:sp>
        <p:nvSpPr>
          <p:cNvPr name="TextBox 9" id="9"/>
          <p:cNvSpPr txBox="true"/>
          <p:nvPr/>
        </p:nvSpPr>
        <p:spPr>
          <a:xfrm rot="0">
            <a:off x="2660616" y="3511872"/>
            <a:ext cx="8449147" cy="1371102"/>
          </a:xfrm>
          <a:prstGeom prst="rect">
            <a:avLst/>
          </a:prstGeom>
        </p:spPr>
        <p:txBody>
          <a:bodyPr anchor="t" rtlCol="false" tIns="0" lIns="0" bIns="0" rIns="0">
            <a:spAutoFit/>
          </a:bodyPr>
          <a:lstStyle/>
          <a:p>
            <a:pPr algn="l">
              <a:lnSpc>
                <a:spcPts val="9724"/>
              </a:lnSpc>
              <a:spcBef>
                <a:spcPct val="0"/>
              </a:spcBef>
            </a:pPr>
            <a:r>
              <a:rPr lang="en-US" b="true" sz="9350">
                <a:solidFill>
                  <a:srgbClr val="F4F4F4"/>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DAGQsBX784M</dc:identifier>
  <dcterms:modified xsi:type="dcterms:W3CDTF">2011-08-01T06:04:30Z</dcterms:modified>
  <cp:revision>1</cp:revision>
  <dc:title>Cassandra</dc:title>
</cp:coreProperties>
</file>