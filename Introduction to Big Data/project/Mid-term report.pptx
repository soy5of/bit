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loud" panose="020B0604020202020204" charset="0"/>
      <p:regular r:id="rId12"/>
    </p:embeddedFont>
    <p:embeddedFont>
      <p:font typeface="Cloud Bold" panose="020B0604020202020204" charset="0"/>
      <p:regular r:id="rId13"/>
    </p:embeddedFont>
    <p:embeddedFont>
      <p:font typeface="Helios" panose="020B0604020202020204" charset="0"/>
      <p:regular r:id="rId14"/>
    </p:embeddedFont>
    <p:embeddedFont>
      <p:font typeface="Inter" panose="020B0604020202020204" charset="0"/>
      <p:regular r:id="rId15"/>
    </p:embeddedFont>
    <p:embeddedFont>
      <p:font typeface="Inter Bold" panose="020B0604020202020204" charset="0"/>
      <p:regular r:id="rId16"/>
    </p:embeddedFont>
    <p:embeddedFont>
      <p:font typeface="League Spartan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802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.png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4.pn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4.pn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.png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4.pn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.png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5" Type="http://schemas.openxmlformats.org/officeDocument/2006/relationships/image" Target="../media/image4.png"/><Relationship Id="rId4" Type="http://schemas.openxmlformats.org/officeDocument/2006/relationships/image" Target="../media/image1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image" Target="../media/image4.png"/><Relationship Id="rId5" Type="http://schemas.openxmlformats.org/officeDocument/2006/relationships/image" Target="../media/image19.png"/><Relationship Id="rId4" Type="http://schemas.openxmlformats.org/officeDocument/2006/relationships/image" Target="../media/image1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6666" b="-16666"/>
            </a:stretch>
          </a:blipFill>
        </p:spPr>
        <p:txBody>
          <a:bodyPr/>
          <a:lstStyle/>
          <a:p>
            <a:endParaRPr lang="ru-RU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520038" cy="10287000"/>
            <a:chOff x="0" y="0"/>
            <a:chExt cx="4877705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77705" cy="2709333"/>
            </a:xfrm>
            <a:custGeom>
              <a:avLst/>
              <a:gdLst/>
              <a:ahLst/>
              <a:cxnLst/>
              <a:rect l="l" t="t" r="r" b="b"/>
              <a:pathLst>
                <a:path w="4877705" h="2709333">
                  <a:moveTo>
                    <a:pt x="0" y="0"/>
                  </a:moveTo>
                  <a:lnTo>
                    <a:pt x="4877705" y="0"/>
                  </a:lnTo>
                  <a:lnTo>
                    <a:pt x="487770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>
                <a:alpha val="77647"/>
              </a:srgbClr>
            </a:solidFill>
          </p:spPr>
          <p:txBody>
            <a:bodyPr/>
            <a:lstStyle/>
            <a:p>
              <a:endParaRPr lang="ru-RU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77705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0" y="4810163"/>
            <a:ext cx="6073106" cy="5476837"/>
          </a:xfrm>
          <a:custGeom>
            <a:avLst/>
            <a:gdLst/>
            <a:ahLst/>
            <a:cxnLst/>
            <a:rect l="l" t="t" r="r" b="b"/>
            <a:pathLst>
              <a:path w="6073106" h="5476837">
                <a:moveTo>
                  <a:pt x="0" y="0"/>
                </a:moveTo>
                <a:lnTo>
                  <a:pt x="6073106" y="0"/>
                </a:lnTo>
                <a:lnTo>
                  <a:pt x="6073106" y="5476837"/>
                </a:lnTo>
                <a:lnTo>
                  <a:pt x="0" y="54768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7" name="Freeform 7"/>
          <p:cNvSpPr/>
          <p:nvPr/>
        </p:nvSpPr>
        <p:spPr>
          <a:xfrm rot="-10800000">
            <a:off x="12214894" y="0"/>
            <a:ext cx="6073106" cy="5476837"/>
          </a:xfrm>
          <a:custGeom>
            <a:avLst/>
            <a:gdLst/>
            <a:ahLst/>
            <a:cxnLst/>
            <a:rect l="l" t="t" r="r" b="b"/>
            <a:pathLst>
              <a:path w="6073106" h="5476837">
                <a:moveTo>
                  <a:pt x="0" y="0"/>
                </a:moveTo>
                <a:lnTo>
                  <a:pt x="6073106" y="0"/>
                </a:lnTo>
                <a:lnTo>
                  <a:pt x="6073106" y="5476837"/>
                </a:lnTo>
                <a:lnTo>
                  <a:pt x="0" y="54768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8" name="TextBox 8"/>
          <p:cNvSpPr txBox="1"/>
          <p:nvPr/>
        </p:nvSpPr>
        <p:spPr>
          <a:xfrm>
            <a:off x="2638256" y="2898540"/>
            <a:ext cx="13645630" cy="3794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79"/>
              </a:lnSpc>
            </a:pPr>
            <a:r>
              <a:rPr lang="en-US" sz="6999" spc="167">
                <a:solidFill>
                  <a:srgbClr val="3656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NETFLIX STOCK PRICE PREDICTION</a:t>
            </a:r>
          </a:p>
          <a:p>
            <a:pPr algn="ctr">
              <a:lnSpc>
                <a:spcPts val="12753"/>
              </a:lnSpc>
            </a:pPr>
            <a:r>
              <a:rPr lang="en-US" sz="10285" spc="246">
                <a:solidFill>
                  <a:srgbClr val="3656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MID-TERM REPORT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872053" y="7042843"/>
            <a:ext cx="6775931" cy="505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85"/>
              </a:lnSpc>
            </a:pPr>
            <a:r>
              <a:rPr lang="en-US" sz="2918" spc="172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TEAM MEMBERS: 狄苏菲, 伯汀娜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073106" y="7920056"/>
            <a:ext cx="6775931" cy="505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85"/>
              </a:lnSpc>
            </a:pPr>
            <a:r>
              <a:rPr lang="en-US" sz="2918" spc="172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TIME: 2024/10/12</a:t>
            </a:r>
          </a:p>
        </p:txBody>
      </p:sp>
      <p:pic>
        <p:nvPicPr>
          <p:cNvPr id="11" name="1">
            <a:hlinkClick r:id="" action="ppaction://media"/>
            <a:extLst>
              <a:ext uri="{FF2B5EF4-FFF2-40B4-BE49-F238E27FC236}">
                <a16:creationId xmlns:a16="http://schemas.microsoft.com/office/drawing/2014/main" id="{DC33EBC8-C4F0-84E1-5E59-4D5FF2A16D3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6764000" y="9029700"/>
            <a:ext cx="930275" cy="9302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436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-5112380" y="-148194"/>
            <a:ext cx="12727251" cy="12193285"/>
            <a:chOff x="0" y="0"/>
            <a:chExt cx="524208" cy="5022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24208" cy="502215"/>
            </a:xfrm>
            <a:custGeom>
              <a:avLst/>
              <a:gdLst/>
              <a:ahLst/>
              <a:cxnLst/>
              <a:rect l="l" t="t" r="r" b="b"/>
              <a:pathLst>
                <a:path w="524208" h="502215">
                  <a:moveTo>
                    <a:pt x="203200" y="0"/>
                  </a:moveTo>
                  <a:lnTo>
                    <a:pt x="524208" y="0"/>
                  </a:lnTo>
                  <a:lnTo>
                    <a:pt x="321008" y="502215"/>
                  </a:lnTo>
                  <a:lnTo>
                    <a:pt x="0" y="50221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ru-RU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-66675"/>
              <a:ext cx="321008" cy="5688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2163302"/>
            <a:ext cx="7094998" cy="709499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25097" y="0"/>
                  </a:moveTo>
                  <a:lnTo>
                    <a:pt x="787703" y="0"/>
                  </a:lnTo>
                  <a:cubicBezTo>
                    <a:pt x="801564" y="0"/>
                    <a:pt x="812800" y="11236"/>
                    <a:pt x="812800" y="25097"/>
                  </a:cubicBezTo>
                  <a:lnTo>
                    <a:pt x="812800" y="787703"/>
                  </a:lnTo>
                  <a:cubicBezTo>
                    <a:pt x="812800" y="801564"/>
                    <a:pt x="801564" y="812800"/>
                    <a:pt x="787703" y="812800"/>
                  </a:cubicBezTo>
                  <a:lnTo>
                    <a:pt x="25097" y="812800"/>
                  </a:lnTo>
                  <a:cubicBezTo>
                    <a:pt x="11236" y="812800"/>
                    <a:pt x="0" y="801564"/>
                    <a:pt x="0" y="787703"/>
                  </a:cubicBezTo>
                  <a:lnTo>
                    <a:pt x="0" y="25097"/>
                  </a:lnTo>
                  <a:cubicBezTo>
                    <a:pt x="0" y="11236"/>
                    <a:pt x="11236" y="0"/>
                    <a:pt x="25097" y="0"/>
                  </a:cubicBezTo>
                  <a:close/>
                </a:path>
              </a:pathLst>
            </a:custGeom>
            <a:blipFill>
              <a:blip r:embed="rId4"/>
              <a:stretch>
                <a:fillRect l="-25000" r="-25000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7" name="AutoShape 7"/>
          <p:cNvSpPr/>
          <p:nvPr/>
        </p:nvSpPr>
        <p:spPr>
          <a:xfrm>
            <a:off x="8876857" y="4082659"/>
            <a:ext cx="2050229" cy="0"/>
          </a:xfrm>
          <a:prstGeom prst="line">
            <a:avLst/>
          </a:prstGeom>
          <a:ln w="85725" cap="flat">
            <a:solidFill>
              <a:srgbClr val="36567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  <p:grpSp>
        <p:nvGrpSpPr>
          <p:cNvPr id="8" name="Group 8"/>
          <p:cNvGrpSpPr/>
          <p:nvPr/>
        </p:nvGrpSpPr>
        <p:grpSpPr>
          <a:xfrm rot="9902075">
            <a:off x="16254219" y="-861230"/>
            <a:ext cx="3620223" cy="3167695"/>
            <a:chOff x="0" y="0"/>
            <a:chExt cx="812800" cy="711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65679"/>
            </a:solidFill>
          </p:spPr>
          <p:txBody>
            <a:bodyPr/>
            <a:lstStyle/>
            <a:p>
              <a:endParaRPr lang="ru-RU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8876857" y="2997192"/>
            <a:ext cx="6931946" cy="1042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26"/>
              </a:lnSpc>
            </a:pPr>
            <a:r>
              <a:rPr lang="en-US" sz="6405" spc="153">
                <a:solidFill>
                  <a:srgbClr val="3656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Outline: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719499" y="5076825"/>
            <a:ext cx="6643017" cy="2450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0437" lvl="1" indent="-375219" algn="l">
              <a:lnSpc>
                <a:spcPts val="4866"/>
              </a:lnSpc>
              <a:buFont typeface="Arial"/>
              <a:buChar char="•"/>
            </a:pPr>
            <a:r>
              <a:rPr lang="en-US" sz="3475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Step 1:</a:t>
            </a:r>
            <a:r>
              <a:rPr lang="en-US" sz="347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Importing libraries</a:t>
            </a:r>
          </a:p>
          <a:p>
            <a:pPr marL="750437" lvl="1" indent="-375219" algn="l">
              <a:lnSpc>
                <a:spcPts val="4866"/>
              </a:lnSpc>
              <a:buFont typeface="Arial"/>
              <a:buChar char="•"/>
            </a:pPr>
            <a:r>
              <a:rPr lang="en-US" sz="3475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Step 2:</a:t>
            </a:r>
            <a:r>
              <a:rPr lang="en-US" sz="347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Data loading</a:t>
            </a:r>
          </a:p>
          <a:p>
            <a:pPr marL="750437" lvl="1" indent="-375219" algn="l">
              <a:lnSpc>
                <a:spcPts val="4866"/>
              </a:lnSpc>
              <a:buFont typeface="Arial"/>
              <a:buChar char="•"/>
            </a:pPr>
            <a:r>
              <a:rPr lang="en-US" sz="3475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Step 3: </a:t>
            </a:r>
            <a:r>
              <a:rPr lang="en-US" sz="347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Data preparation</a:t>
            </a:r>
          </a:p>
          <a:p>
            <a:pPr marL="750437" lvl="1" indent="-375219" algn="l">
              <a:lnSpc>
                <a:spcPts val="4866"/>
              </a:lnSpc>
              <a:buFont typeface="Arial"/>
              <a:buChar char="•"/>
            </a:pPr>
            <a:r>
              <a:rPr lang="en-US" sz="347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Future goals</a:t>
            </a:r>
          </a:p>
        </p:txBody>
      </p:sp>
      <p:pic>
        <p:nvPicPr>
          <p:cNvPr id="14" name="2">
            <a:hlinkClick r:id="" action="ppaction://media"/>
            <a:extLst>
              <a:ext uri="{FF2B5EF4-FFF2-40B4-BE49-F238E27FC236}">
                <a16:creationId xmlns:a16="http://schemas.microsoft.com/office/drawing/2014/main" id="{620875E7-0C4E-C4A6-3333-F7AA72D242D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6668253" y="8801100"/>
            <a:ext cx="1182094" cy="118209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906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772121" y="0"/>
            <a:ext cx="11709920" cy="10855389"/>
            <a:chOff x="0" y="0"/>
            <a:chExt cx="693921" cy="6432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93921" cy="643282"/>
            </a:xfrm>
            <a:custGeom>
              <a:avLst/>
              <a:gdLst/>
              <a:ahLst/>
              <a:cxnLst/>
              <a:rect l="l" t="t" r="r" b="b"/>
              <a:pathLst>
                <a:path w="693921" h="643282">
                  <a:moveTo>
                    <a:pt x="203200" y="0"/>
                  </a:moveTo>
                  <a:lnTo>
                    <a:pt x="693921" y="0"/>
                  </a:lnTo>
                  <a:lnTo>
                    <a:pt x="490721" y="643282"/>
                  </a:lnTo>
                  <a:lnTo>
                    <a:pt x="0" y="643282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ru-RU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-66675"/>
              <a:ext cx="490721" cy="7099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066800" y="3702665"/>
            <a:ext cx="2050229" cy="0"/>
          </a:xfrm>
          <a:prstGeom prst="line">
            <a:avLst/>
          </a:prstGeom>
          <a:ln w="85725" cap="flat">
            <a:solidFill>
              <a:srgbClr val="36567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  <p:grpSp>
        <p:nvGrpSpPr>
          <p:cNvPr id="6" name="Group 6"/>
          <p:cNvGrpSpPr/>
          <p:nvPr/>
        </p:nvGrpSpPr>
        <p:grpSpPr>
          <a:xfrm>
            <a:off x="1066800" y="4328218"/>
            <a:ext cx="10705321" cy="4845487"/>
            <a:chOff x="0" y="0"/>
            <a:chExt cx="2819508" cy="127617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19509" cy="1276178"/>
            </a:xfrm>
            <a:custGeom>
              <a:avLst/>
              <a:gdLst/>
              <a:ahLst/>
              <a:cxnLst/>
              <a:rect l="l" t="t" r="r" b="b"/>
              <a:pathLst>
                <a:path w="2819509" h="1276178">
                  <a:moveTo>
                    <a:pt x="36882" y="0"/>
                  </a:moveTo>
                  <a:lnTo>
                    <a:pt x="2782626" y="0"/>
                  </a:lnTo>
                  <a:cubicBezTo>
                    <a:pt x="2792408" y="0"/>
                    <a:pt x="2801789" y="3886"/>
                    <a:pt x="2808706" y="10803"/>
                  </a:cubicBezTo>
                  <a:cubicBezTo>
                    <a:pt x="2815623" y="17719"/>
                    <a:pt x="2819509" y="27101"/>
                    <a:pt x="2819509" y="36882"/>
                  </a:cubicBezTo>
                  <a:lnTo>
                    <a:pt x="2819509" y="1239295"/>
                  </a:lnTo>
                  <a:cubicBezTo>
                    <a:pt x="2819509" y="1249077"/>
                    <a:pt x="2815623" y="1258458"/>
                    <a:pt x="2808706" y="1265375"/>
                  </a:cubicBezTo>
                  <a:cubicBezTo>
                    <a:pt x="2801789" y="1272292"/>
                    <a:pt x="2792408" y="1276178"/>
                    <a:pt x="2782626" y="1276178"/>
                  </a:cubicBezTo>
                  <a:lnTo>
                    <a:pt x="36882" y="1276178"/>
                  </a:lnTo>
                  <a:cubicBezTo>
                    <a:pt x="27101" y="1276178"/>
                    <a:pt x="17719" y="1272292"/>
                    <a:pt x="10803" y="1265375"/>
                  </a:cubicBezTo>
                  <a:cubicBezTo>
                    <a:pt x="3886" y="1258458"/>
                    <a:pt x="0" y="1249077"/>
                    <a:pt x="0" y="1239295"/>
                  </a:cubicBezTo>
                  <a:lnTo>
                    <a:pt x="0" y="36882"/>
                  </a:lnTo>
                  <a:cubicBezTo>
                    <a:pt x="0" y="27101"/>
                    <a:pt x="3886" y="17719"/>
                    <a:pt x="10803" y="10803"/>
                  </a:cubicBezTo>
                  <a:cubicBezTo>
                    <a:pt x="17719" y="3886"/>
                    <a:pt x="27101" y="0"/>
                    <a:pt x="36882" y="0"/>
                  </a:cubicBez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ru-RU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2819508" cy="13428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66800" y="2485475"/>
            <a:ext cx="13086267" cy="1130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999" spc="167">
                <a:solidFill>
                  <a:srgbClr val="3656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STEP 1: Importing libraries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66800" y="4628792"/>
            <a:ext cx="10509462" cy="4187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5" lvl="1" indent="-259082" algn="just">
              <a:lnSpc>
                <a:spcPts val="3360"/>
              </a:lnSpc>
              <a:buFont typeface="Arial"/>
              <a:buChar char="•"/>
            </a:pPr>
            <a:r>
              <a:rPr lang="en-US" sz="2400" b="1" spc="278">
                <a:solidFill>
                  <a:srgbClr val="FFFFFF"/>
                </a:solidFill>
                <a:latin typeface="Cloud Bold"/>
                <a:ea typeface="Cloud Bold"/>
                <a:cs typeface="Cloud Bold"/>
                <a:sym typeface="Cloud Bold"/>
              </a:rPr>
              <a:t>NumPy</a:t>
            </a:r>
            <a:r>
              <a:rPr lang="en-US" sz="2400" spc="278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 is used for working with arrays, matrices, and mathematical operations;</a:t>
            </a:r>
          </a:p>
          <a:p>
            <a:pPr marL="518165" lvl="1" indent="-259082" algn="just">
              <a:lnSpc>
                <a:spcPts val="3360"/>
              </a:lnSpc>
              <a:buFont typeface="Arial"/>
              <a:buChar char="•"/>
            </a:pPr>
            <a:r>
              <a:rPr lang="en-US" sz="2400" b="1" spc="278">
                <a:solidFill>
                  <a:srgbClr val="FFFFFF"/>
                </a:solidFill>
                <a:latin typeface="Cloud Bold"/>
                <a:ea typeface="Cloud Bold"/>
                <a:cs typeface="Cloud Bold"/>
                <a:sym typeface="Cloud Bold"/>
              </a:rPr>
              <a:t>Pandas</a:t>
            </a:r>
            <a:r>
              <a:rPr lang="en-US" sz="2400" spc="278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 is used for data manipulation, providing data structures like DataFrames for convenient data handling and analysis;</a:t>
            </a:r>
          </a:p>
          <a:p>
            <a:pPr marL="518165" lvl="1" indent="-259082" algn="just">
              <a:lnSpc>
                <a:spcPts val="3360"/>
              </a:lnSpc>
              <a:buFont typeface="Arial"/>
              <a:buChar char="•"/>
            </a:pPr>
            <a:r>
              <a:rPr lang="en-US" sz="2400" b="1" spc="278">
                <a:solidFill>
                  <a:srgbClr val="FFFFFF"/>
                </a:solidFill>
                <a:latin typeface="Cloud Bold"/>
                <a:ea typeface="Cloud Bold"/>
                <a:cs typeface="Cloud Bold"/>
                <a:sym typeface="Cloud Bold"/>
              </a:rPr>
              <a:t>Matplotlib</a:t>
            </a:r>
            <a:r>
              <a:rPr lang="en-US" sz="2400" spc="278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 is used for creating various types of plots and visualizing data;</a:t>
            </a:r>
          </a:p>
          <a:p>
            <a:pPr marL="518165" lvl="1" indent="-259082" algn="just">
              <a:lnSpc>
                <a:spcPts val="3360"/>
              </a:lnSpc>
              <a:buFont typeface="Arial"/>
              <a:buChar char="•"/>
            </a:pPr>
            <a:r>
              <a:rPr lang="en-US" sz="2400" spc="278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By using </a:t>
            </a:r>
            <a:r>
              <a:rPr lang="en-US" sz="2400" b="1" spc="278">
                <a:solidFill>
                  <a:srgbClr val="FFFFFF"/>
                </a:solidFill>
                <a:latin typeface="Cloud Bold"/>
                <a:ea typeface="Cloud Bold"/>
                <a:cs typeface="Cloud Bold"/>
                <a:sym typeface="Cloud Bold"/>
              </a:rPr>
              <a:t>Scikit-learn library </a:t>
            </a:r>
            <a:r>
              <a:rPr lang="en-US" sz="2400" spc="278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it’s easier to split the dataset, to create a linear regression model and count various metrics for evaluating the performance</a:t>
            </a:r>
          </a:p>
        </p:txBody>
      </p:sp>
      <p:grpSp>
        <p:nvGrpSpPr>
          <p:cNvPr id="11" name="Group 11"/>
          <p:cNvGrpSpPr/>
          <p:nvPr/>
        </p:nvGrpSpPr>
        <p:grpSpPr>
          <a:xfrm rot="-9805163">
            <a:off x="-1568218" y="-825165"/>
            <a:ext cx="3418135" cy="2990868"/>
            <a:chOff x="0" y="0"/>
            <a:chExt cx="812800" cy="71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65679"/>
            </a:solidFill>
          </p:spPr>
          <p:txBody>
            <a:bodyPr/>
            <a:lstStyle/>
            <a:p>
              <a:endParaRPr lang="ru-RU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3738562" y="5704408"/>
            <a:ext cx="3888519" cy="3840481"/>
          </a:xfrm>
          <a:custGeom>
            <a:avLst/>
            <a:gdLst/>
            <a:ahLst/>
            <a:cxnLst/>
            <a:rect l="l" t="t" r="r" b="b"/>
            <a:pathLst>
              <a:path w="3888519" h="3840481">
                <a:moveTo>
                  <a:pt x="0" y="0"/>
                </a:moveTo>
                <a:lnTo>
                  <a:pt x="3888519" y="0"/>
                </a:lnTo>
                <a:lnTo>
                  <a:pt x="3888519" y="3840481"/>
                </a:lnTo>
                <a:lnTo>
                  <a:pt x="0" y="38404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1250"/>
            </a:stretch>
          </a:blipFill>
        </p:spPr>
        <p:txBody>
          <a:bodyPr/>
          <a:lstStyle/>
          <a:p>
            <a:endParaRPr lang="ru-RU"/>
          </a:p>
        </p:txBody>
      </p:sp>
      <p:pic>
        <p:nvPicPr>
          <p:cNvPr id="15" name="3">
            <a:hlinkClick r:id="" action="ppaction://media"/>
            <a:extLst>
              <a:ext uri="{FF2B5EF4-FFF2-40B4-BE49-F238E27FC236}">
                <a16:creationId xmlns:a16="http://schemas.microsoft.com/office/drawing/2014/main" id="{181A18BD-21DA-C9B1-B679-5C269DF3E69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2302475" y="8191500"/>
            <a:ext cx="1539875" cy="15398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075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772121" y="0"/>
            <a:ext cx="11709920" cy="10855389"/>
            <a:chOff x="0" y="0"/>
            <a:chExt cx="693921" cy="6432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93921" cy="643282"/>
            </a:xfrm>
            <a:custGeom>
              <a:avLst/>
              <a:gdLst/>
              <a:ahLst/>
              <a:cxnLst/>
              <a:rect l="l" t="t" r="r" b="b"/>
              <a:pathLst>
                <a:path w="693921" h="643282">
                  <a:moveTo>
                    <a:pt x="203200" y="0"/>
                  </a:moveTo>
                  <a:lnTo>
                    <a:pt x="693921" y="0"/>
                  </a:lnTo>
                  <a:lnTo>
                    <a:pt x="490721" y="643282"/>
                  </a:lnTo>
                  <a:lnTo>
                    <a:pt x="0" y="643282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ru-RU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-66675"/>
              <a:ext cx="490721" cy="7099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066800" y="3702665"/>
            <a:ext cx="2050229" cy="0"/>
          </a:xfrm>
          <a:prstGeom prst="line">
            <a:avLst/>
          </a:prstGeom>
          <a:ln w="85725" cap="flat">
            <a:solidFill>
              <a:srgbClr val="36567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  <p:grpSp>
        <p:nvGrpSpPr>
          <p:cNvPr id="6" name="Group 6"/>
          <p:cNvGrpSpPr/>
          <p:nvPr/>
        </p:nvGrpSpPr>
        <p:grpSpPr>
          <a:xfrm>
            <a:off x="1066800" y="4328218"/>
            <a:ext cx="10705321" cy="4845487"/>
            <a:chOff x="0" y="0"/>
            <a:chExt cx="2819508" cy="127617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19509" cy="1276178"/>
            </a:xfrm>
            <a:custGeom>
              <a:avLst/>
              <a:gdLst/>
              <a:ahLst/>
              <a:cxnLst/>
              <a:rect l="l" t="t" r="r" b="b"/>
              <a:pathLst>
                <a:path w="2819509" h="1276178">
                  <a:moveTo>
                    <a:pt x="36882" y="0"/>
                  </a:moveTo>
                  <a:lnTo>
                    <a:pt x="2782626" y="0"/>
                  </a:lnTo>
                  <a:cubicBezTo>
                    <a:pt x="2792408" y="0"/>
                    <a:pt x="2801789" y="3886"/>
                    <a:pt x="2808706" y="10803"/>
                  </a:cubicBezTo>
                  <a:cubicBezTo>
                    <a:pt x="2815623" y="17719"/>
                    <a:pt x="2819509" y="27101"/>
                    <a:pt x="2819509" y="36882"/>
                  </a:cubicBezTo>
                  <a:lnTo>
                    <a:pt x="2819509" y="1239295"/>
                  </a:lnTo>
                  <a:cubicBezTo>
                    <a:pt x="2819509" y="1249077"/>
                    <a:pt x="2815623" y="1258458"/>
                    <a:pt x="2808706" y="1265375"/>
                  </a:cubicBezTo>
                  <a:cubicBezTo>
                    <a:pt x="2801789" y="1272292"/>
                    <a:pt x="2792408" y="1276178"/>
                    <a:pt x="2782626" y="1276178"/>
                  </a:cubicBezTo>
                  <a:lnTo>
                    <a:pt x="36882" y="1276178"/>
                  </a:lnTo>
                  <a:cubicBezTo>
                    <a:pt x="27101" y="1276178"/>
                    <a:pt x="17719" y="1272292"/>
                    <a:pt x="10803" y="1265375"/>
                  </a:cubicBezTo>
                  <a:cubicBezTo>
                    <a:pt x="3886" y="1258458"/>
                    <a:pt x="0" y="1249077"/>
                    <a:pt x="0" y="1239295"/>
                  </a:cubicBezTo>
                  <a:lnTo>
                    <a:pt x="0" y="36882"/>
                  </a:lnTo>
                  <a:cubicBezTo>
                    <a:pt x="0" y="27101"/>
                    <a:pt x="3886" y="17719"/>
                    <a:pt x="10803" y="10803"/>
                  </a:cubicBezTo>
                  <a:cubicBezTo>
                    <a:pt x="17719" y="3886"/>
                    <a:pt x="27101" y="0"/>
                    <a:pt x="36882" y="0"/>
                  </a:cubicBez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ru-RU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2819508" cy="13428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66800" y="2485475"/>
            <a:ext cx="13086267" cy="1130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999" spc="167">
                <a:solidFill>
                  <a:srgbClr val="3656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STEP 1: Importing libraries</a:t>
            </a:r>
          </a:p>
        </p:txBody>
      </p:sp>
      <p:grpSp>
        <p:nvGrpSpPr>
          <p:cNvPr id="10" name="Group 10"/>
          <p:cNvGrpSpPr/>
          <p:nvPr/>
        </p:nvGrpSpPr>
        <p:grpSpPr>
          <a:xfrm rot="-9805163">
            <a:off x="-1568218" y="-825165"/>
            <a:ext cx="3418135" cy="2990868"/>
            <a:chOff x="0" y="0"/>
            <a:chExt cx="812800" cy="711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65679"/>
            </a:solidFill>
          </p:spPr>
          <p:txBody>
            <a:bodyPr/>
            <a:lstStyle/>
            <a:p>
              <a:endParaRPr lang="ru-RU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3738562" y="5704408"/>
            <a:ext cx="3888519" cy="3840481"/>
          </a:xfrm>
          <a:custGeom>
            <a:avLst/>
            <a:gdLst/>
            <a:ahLst/>
            <a:cxnLst/>
            <a:rect l="l" t="t" r="r" b="b"/>
            <a:pathLst>
              <a:path w="3888519" h="3840481">
                <a:moveTo>
                  <a:pt x="0" y="0"/>
                </a:moveTo>
                <a:lnTo>
                  <a:pt x="3888519" y="0"/>
                </a:lnTo>
                <a:lnTo>
                  <a:pt x="3888519" y="3840481"/>
                </a:lnTo>
                <a:lnTo>
                  <a:pt x="0" y="38404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1250"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4" name="Freeform 14"/>
          <p:cNvSpPr/>
          <p:nvPr/>
        </p:nvSpPr>
        <p:spPr>
          <a:xfrm>
            <a:off x="1230304" y="5143500"/>
            <a:ext cx="10378314" cy="3253119"/>
          </a:xfrm>
          <a:custGeom>
            <a:avLst/>
            <a:gdLst/>
            <a:ahLst/>
            <a:cxnLst/>
            <a:rect l="l" t="t" r="r" b="b"/>
            <a:pathLst>
              <a:path w="10378314" h="3253119">
                <a:moveTo>
                  <a:pt x="0" y="0"/>
                </a:moveTo>
                <a:lnTo>
                  <a:pt x="10378314" y="0"/>
                </a:lnTo>
                <a:lnTo>
                  <a:pt x="10378314" y="3253119"/>
                </a:lnTo>
                <a:lnTo>
                  <a:pt x="0" y="32531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pic>
        <p:nvPicPr>
          <p:cNvPr id="15" name="4">
            <a:hlinkClick r:id="" action="ppaction://media"/>
            <a:extLst>
              <a:ext uri="{FF2B5EF4-FFF2-40B4-BE49-F238E27FC236}">
                <a16:creationId xmlns:a16="http://schemas.microsoft.com/office/drawing/2014/main" id="{57F2AAB5-69FD-AB4A-0C00-1818615B261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2344400" y="8115300"/>
            <a:ext cx="1616075" cy="16160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59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53476" y="3852613"/>
            <a:ext cx="2050229" cy="0"/>
          </a:xfrm>
          <a:prstGeom prst="line">
            <a:avLst/>
          </a:prstGeom>
          <a:ln w="85725" cap="flat">
            <a:solidFill>
              <a:srgbClr val="36567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Box 3"/>
          <p:cNvSpPr txBox="1"/>
          <p:nvPr/>
        </p:nvSpPr>
        <p:spPr>
          <a:xfrm>
            <a:off x="1028700" y="2679450"/>
            <a:ext cx="12336400" cy="1130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999" spc="167">
                <a:solidFill>
                  <a:srgbClr val="3656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STEP 2: Data loading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4552136" y="0"/>
            <a:ext cx="13380588" cy="11610081"/>
            <a:chOff x="0" y="0"/>
            <a:chExt cx="853424" cy="7405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53424" cy="740500"/>
            </a:xfrm>
            <a:custGeom>
              <a:avLst/>
              <a:gdLst/>
              <a:ahLst/>
              <a:cxnLst/>
              <a:rect l="l" t="t" r="r" b="b"/>
              <a:pathLst>
                <a:path w="853424" h="740500">
                  <a:moveTo>
                    <a:pt x="203200" y="0"/>
                  </a:moveTo>
                  <a:lnTo>
                    <a:pt x="853424" y="0"/>
                  </a:lnTo>
                  <a:lnTo>
                    <a:pt x="650224" y="740500"/>
                  </a:lnTo>
                  <a:lnTo>
                    <a:pt x="0" y="7405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ru-RU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1600" y="-66675"/>
              <a:ext cx="650224" cy="807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1925099" y="-823150"/>
            <a:ext cx="13380588" cy="11610081"/>
            <a:chOff x="0" y="0"/>
            <a:chExt cx="853424" cy="7405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53424" cy="740500"/>
            </a:xfrm>
            <a:custGeom>
              <a:avLst/>
              <a:gdLst/>
              <a:ahLst/>
              <a:cxnLst/>
              <a:rect l="l" t="t" r="r" b="b"/>
              <a:pathLst>
                <a:path w="853424" h="740500">
                  <a:moveTo>
                    <a:pt x="203200" y="0"/>
                  </a:moveTo>
                  <a:lnTo>
                    <a:pt x="853424" y="0"/>
                  </a:lnTo>
                  <a:lnTo>
                    <a:pt x="650224" y="740500"/>
                  </a:lnTo>
                  <a:lnTo>
                    <a:pt x="0" y="7405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ru-RU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1600" y="-66675"/>
              <a:ext cx="650224" cy="807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0617745" y="4048200"/>
            <a:ext cx="6641555" cy="5053476"/>
          </a:xfrm>
          <a:custGeom>
            <a:avLst/>
            <a:gdLst/>
            <a:ahLst/>
            <a:cxnLst/>
            <a:rect l="l" t="t" r="r" b="b"/>
            <a:pathLst>
              <a:path w="6641555" h="5053476">
                <a:moveTo>
                  <a:pt x="0" y="0"/>
                </a:moveTo>
                <a:lnTo>
                  <a:pt x="6641555" y="0"/>
                </a:lnTo>
                <a:lnTo>
                  <a:pt x="6641555" y="5053476"/>
                </a:lnTo>
                <a:lnTo>
                  <a:pt x="0" y="5053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4133"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1053476" y="4710659"/>
            <a:ext cx="8115300" cy="2678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6"/>
              </a:lnSpc>
            </a:pPr>
            <a:r>
              <a:rPr lang="en-US" sz="2547" spc="303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In this step we are loading the data from a CSV file into a Pandas DataFrame and getting basic information about the dataset and its structure. </a:t>
            </a:r>
          </a:p>
          <a:p>
            <a:pPr algn="l">
              <a:lnSpc>
                <a:spcPts val="3566"/>
              </a:lnSpc>
            </a:pPr>
            <a:r>
              <a:rPr lang="en-US" sz="2547" spc="303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After that we are creating a deep copy so the original dataset will not be effected.</a:t>
            </a:r>
          </a:p>
        </p:txBody>
      </p:sp>
      <p:pic>
        <p:nvPicPr>
          <p:cNvPr id="12" name="5">
            <a:hlinkClick r:id="" action="ppaction://media"/>
            <a:extLst>
              <a:ext uri="{FF2B5EF4-FFF2-40B4-BE49-F238E27FC236}">
                <a16:creationId xmlns:a16="http://schemas.microsoft.com/office/drawing/2014/main" id="{9B3C2C63-AB25-9B3D-BB35-072D96F5597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3838902" y="9101676"/>
            <a:ext cx="1006475" cy="10064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415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480264" y="1462719"/>
            <a:ext cx="2050229" cy="0"/>
          </a:xfrm>
          <a:prstGeom prst="line">
            <a:avLst/>
          </a:prstGeom>
          <a:ln w="85725" cap="flat">
            <a:solidFill>
              <a:srgbClr val="36567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  <p:grpSp>
        <p:nvGrpSpPr>
          <p:cNvPr id="3" name="Group 3"/>
          <p:cNvGrpSpPr/>
          <p:nvPr/>
        </p:nvGrpSpPr>
        <p:grpSpPr>
          <a:xfrm>
            <a:off x="14552136" y="0"/>
            <a:ext cx="13380588" cy="11610081"/>
            <a:chOff x="0" y="0"/>
            <a:chExt cx="853424" cy="7405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53424" cy="740500"/>
            </a:xfrm>
            <a:custGeom>
              <a:avLst/>
              <a:gdLst/>
              <a:ahLst/>
              <a:cxnLst/>
              <a:rect l="l" t="t" r="r" b="b"/>
              <a:pathLst>
                <a:path w="853424" h="740500">
                  <a:moveTo>
                    <a:pt x="203200" y="0"/>
                  </a:moveTo>
                  <a:lnTo>
                    <a:pt x="853424" y="0"/>
                  </a:lnTo>
                  <a:lnTo>
                    <a:pt x="650224" y="740500"/>
                  </a:lnTo>
                  <a:lnTo>
                    <a:pt x="0" y="7405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ru-RU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00" y="-66675"/>
              <a:ext cx="650224" cy="807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1925099" y="-823150"/>
            <a:ext cx="13380588" cy="11610081"/>
            <a:chOff x="0" y="0"/>
            <a:chExt cx="853424" cy="7405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53424" cy="740500"/>
            </a:xfrm>
            <a:custGeom>
              <a:avLst/>
              <a:gdLst/>
              <a:ahLst/>
              <a:cxnLst/>
              <a:rect l="l" t="t" r="r" b="b"/>
              <a:pathLst>
                <a:path w="853424" h="740500">
                  <a:moveTo>
                    <a:pt x="203200" y="0"/>
                  </a:moveTo>
                  <a:lnTo>
                    <a:pt x="853424" y="0"/>
                  </a:lnTo>
                  <a:lnTo>
                    <a:pt x="650224" y="740500"/>
                  </a:lnTo>
                  <a:lnTo>
                    <a:pt x="0" y="7405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ru-RU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1600" y="-66675"/>
              <a:ext cx="650224" cy="807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419086" y="5343525"/>
            <a:ext cx="4686276" cy="4289321"/>
          </a:xfrm>
          <a:custGeom>
            <a:avLst/>
            <a:gdLst/>
            <a:ahLst/>
            <a:cxnLst/>
            <a:rect l="l" t="t" r="r" b="b"/>
            <a:pathLst>
              <a:path w="4686276" h="4289321">
                <a:moveTo>
                  <a:pt x="0" y="0"/>
                </a:moveTo>
                <a:lnTo>
                  <a:pt x="4686276" y="0"/>
                </a:lnTo>
                <a:lnTo>
                  <a:pt x="4686276" y="4289321"/>
                </a:lnTo>
                <a:lnTo>
                  <a:pt x="0" y="42893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0" name="Freeform 10"/>
          <p:cNvSpPr/>
          <p:nvPr/>
        </p:nvSpPr>
        <p:spPr>
          <a:xfrm>
            <a:off x="6376946" y="5324573"/>
            <a:ext cx="7903608" cy="4327225"/>
          </a:xfrm>
          <a:custGeom>
            <a:avLst/>
            <a:gdLst/>
            <a:ahLst/>
            <a:cxnLst/>
            <a:rect l="l" t="t" r="r" b="b"/>
            <a:pathLst>
              <a:path w="7903608" h="4327225">
                <a:moveTo>
                  <a:pt x="0" y="0"/>
                </a:moveTo>
                <a:lnTo>
                  <a:pt x="7903607" y="0"/>
                </a:lnTo>
                <a:lnTo>
                  <a:pt x="7903607" y="4327225"/>
                </a:lnTo>
                <a:lnTo>
                  <a:pt x="0" y="43272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>
          <a:xfrm>
            <a:off x="1480264" y="1901194"/>
            <a:ext cx="7996925" cy="3242306"/>
          </a:xfrm>
          <a:custGeom>
            <a:avLst/>
            <a:gdLst/>
            <a:ahLst/>
            <a:cxnLst/>
            <a:rect l="l" t="t" r="r" b="b"/>
            <a:pathLst>
              <a:path w="7996925" h="3242306">
                <a:moveTo>
                  <a:pt x="0" y="0"/>
                </a:moveTo>
                <a:lnTo>
                  <a:pt x="7996926" y="0"/>
                </a:lnTo>
                <a:lnTo>
                  <a:pt x="7996926" y="3242306"/>
                </a:lnTo>
                <a:lnTo>
                  <a:pt x="0" y="32423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2" name="TextBox 12"/>
          <p:cNvSpPr txBox="1"/>
          <p:nvPr/>
        </p:nvSpPr>
        <p:spPr>
          <a:xfrm>
            <a:off x="1455489" y="289556"/>
            <a:ext cx="12336400" cy="1130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999" spc="167">
                <a:solidFill>
                  <a:srgbClr val="3656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STEP 2: Data loading</a:t>
            </a:r>
          </a:p>
        </p:txBody>
      </p:sp>
      <p:pic>
        <p:nvPicPr>
          <p:cNvPr id="13" name="6">
            <a:hlinkClick r:id="" action="ppaction://media"/>
            <a:extLst>
              <a:ext uri="{FF2B5EF4-FFF2-40B4-BE49-F238E27FC236}">
                <a16:creationId xmlns:a16="http://schemas.microsoft.com/office/drawing/2014/main" id="{FB3C6E2B-FE66-935D-B53A-6D457F8744F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4986218" y="8724900"/>
            <a:ext cx="1158875" cy="11588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87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05387" y="1028700"/>
            <a:ext cx="8353913" cy="4114800"/>
            <a:chOff x="0" y="0"/>
            <a:chExt cx="1294240" cy="6374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94240" cy="637490"/>
            </a:xfrm>
            <a:custGeom>
              <a:avLst/>
              <a:gdLst/>
              <a:ahLst/>
              <a:cxnLst/>
              <a:rect l="l" t="t" r="r" b="b"/>
              <a:pathLst>
                <a:path w="1294240" h="637490">
                  <a:moveTo>
                    <a:pt x="21315" y="0"/>
                  </a:moveTo>
                  <a:lnTo>
                    <a:pt x="1272925" y="0"/>
                  </a:lnTo>
                  <a:cubicBezTo>
                    <a:pt x="1278578" y="0"/>
                    <a:pt x="1283999" y="2246"/>
                    <a:pt x="1287997" y="6243"/>
                  </a:cubicBezTo>
                  <a:cubicBezTo>
                    <a:pt x="1291994" y="10240"/>
                    <a:pt x="1294240" y="15662"/>
                    <a:pt x="1294240" y="21315"/>
                  </a:cubicBezTo>
                  <a:lnTo>
                    <a:pt x="1294240" y="616175"/>
                  </a:lnTo>
                  <a:cubicBezTo>
                    <a:pt x="1294240" y="627947"/>
                    <a:pt x="1284697" y="637490"/>
                    <a:pt x="1272925" y="637490"/>
                  </a:cubicBezTo>
                  <a:lnTo>
                    <a:pt x="21315" y="637490"/>
                  </a:lnTo>
                  <a:cubicBezTo>
                    <a:pt x="15662" y="637490"/>
                    <a:pt x="10240" y="635245"/>
                    <a:pt x="6243" y="631247"/>
                  </a:cubicBezTo>
                  <a:cubicBezTo>
                    <a:pt x="2246" y="627250"/>
                    <a:pt x="0" y="621828"/>
                    <a:pt x="0" y="616175"/>
                  </a:cubicBezTo>
                  <a:lnTo>
                    <a:pt x="0" y="21315"/>
                  </a:lnTo>
                  <a:cubicBezTo>
                    <a:pt x="0" y="15662"/>
                    <a:pt x="2246" y="10240"/>
                    <a:pt x="6243" y="6243"/>
                  </a:cubicBezTo>
                  <a:cubicBezTo>
                    <a:pt x="10240" y="2246"/>
                    <a:pt x="15662" y="0"/>
                    <a:pt x="21315" y="0"/>
                  </a:cubicBezTo>
                  <a:close/>
                </a:path>
              </a:pathLst>
            </a:custGeom>
            <a:blipFill>
              <a:blip r:embed="rId4"/>
              <a:stretch>
                <a:fillRect t="-17631" b="-17631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4" name="Group 4"/>
          <p:cNvGrpSpPr/>
          <p:nvPr/>
        </p:nvGrpSpPr>
        <p:grpSpPr>
          <a:xfrm rot="-10800000">
            <a:off x="-1596877" y="4070613"/>
            <a:ext cx="9401164" cy="7308453"/>
            <a:chOff x="0" y="0"/>
            <a:chExt cx="2476027" cy="19248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76027" cy="1924860"/>
            </a:xfrm>
            <a:custGeom>
              <a:avLst/>
              <a:gdLst/>
              <a:ahLst/>
              <a:cxnLst/>
              <a:rect l="l" t="t" r="r" b="b"/>
              <a:pathLst>
                <a:path w="2476027" h="1924860">
                  <a:moveTo>
                    <a:pt x="203200" y="0"/>
                  </a:moveTo>
                  <a:lnTo>
                    <a:pt x="2476027" y="0"/>
                  </a:lnTo>
                  <a:lnTo>
                    <a:pt x="2272827" y="1924860"/>
                  </a:lnTo>
                  <a:lnTo>
                    <a:pt x="0" y="192486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65679"/>
            </a:solidFill>
          </p:spPr>
          <p:txBody>
            <a:bodyPr/>
            <a:lstStyle/>
            <a:p>
              <a:endParaRPr lang="ru-RU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1600" y="-66675"/>
              <a:ext cx="2272827" cy="19915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28700" y="5257800"/>
            <a:ext cx="7876687" cy="4000500"/>
            <a:chOff x="0" y="0"/>
            <a:chExt cx="1220305" cy="61978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20305" cy="619782"/>
            </a:xfrm>
            <a:custGeom>
              <a:avLst/>
              <a:gdLst/>
              <a:ahLst/>
              <a:cxnLst/>
              <a:rect l="l" t="t" r="r" b="b"/>
              <a:pathLst>
                <a:path w="1220305" h="619782">
                  <a:moveTo>
                    <a:pt x="22606" y="0"/>
                  </a:moveTo>
                  <a:lnTo>
                    <a:pt x="1197699" y="0"/>
                  </a:lnTo>
                  <a:cubicBezTo>
                    <a:pt x="1203694" y="0"/>
                    <a:pt x="1209444" y="2382"/>
                    <a:pt x="1213684" y="6621"/>
                  </a:cubicBezTo>
                  <a:cubicBezTo>
                    <a:pt x="1217923" y="10861"/>
                    <a:pt x="1220305" y="16611"/>
                    <a:pt x="1220305" y="22606"/>
                  </a:cubicBezTo>
                  <a:lnTo>
                    <a:pt x="1220305" y="597176"/>
                  </a:lnTo>
                  <a:cubicBezTo>
                    <a:pt x="1220305" y="609661"/>
                    <a:pt x="1210184" y="619782"/>
                    <a:pt x="1197699" y="619782"/>
                  </a:cubicBezTo>
                  <a:lnTo>
                    <a:pt x="22606" y="619782"/>
                  </a:lnTo>
                  <a:cubicBezTo>
                    <a:pt x="10121" y="619782"/>
                    <a:pt x="0" y="609661"/>
                    <a:pt x="0" y="597176"/>
                  </a:cubicBezTo>
                  <a:lnTo>
                    <a:pt x="0" y="22606"/>
                  </a:lnTo>
                  <a:cubicBezTo>
                    <a:pt x="0" y="10121"/>
                    <a:pt x="10121" y="0"/>
                    <a:pt x="22606" y="0"/>
                  </a:cubicBezTo>
                  <a:close/>
                </a:path>
              </a:pathLst>
            </a:custGeom>
            <a:blipFill>
              <a:blip r:embed="rId5"/>
              <a:stretch>
                <a:fillRect t="-5252" b="-5252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9" name="AutoShape 9"/>
          <p:cNvSpPr/>
          <p:nvPr/>
        </p:nvSpPr>
        <p:spPr>
          <a:xfrm>
            <a:off x="788118" y="3273425"/>
            <a:ext cx="2315587" cy="0"/>
          </a:xfrm>
          <a:prstGeom prst="line">
            <a:avLst/>
          </a:prstGeom>
          <a:ln w="57150" cap="flat">
            <a:solidFill>
              <a:srgbClr val="36567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Box 10"/>
          <p:cNvSpPr txBox="1"/>
          <p:nvPr/>
        </p:nvSpPr>
        <p:spPr>
          <a:xfrm>
            <a:off x="788118" y="1066800"/>
            <a:ext cx="7545762" cy="203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79"/>
              </a:lnSpc>
            </a:pPr>
            <a:r>
              <a:rPr lang="en-US" sz="6999" spc="167">
                <a:solidFill>
                  <a:srgbClr val="3656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STEP 3: Data preparation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42954" y="5759451"/>
            <a:ext cx="7478779" cy="3498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spc="297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In this step we:</a:t>
            </a:r>
          </a:p>
          <a:p>
            <a:pPr marL="539754" lvl="1" indent="-269877" algn="l">
              <a:lnSpc>
                <a:spcPts val="3500"/>
              </a:lnSpc>
              <a:buFont typeface="Arial"/>
              <a:buChar char="•"/>
            </a:pPr>
            <a:r>
              <a:rPr lang="en-US" sz="2500" spc="297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Сheck the dataset for missing values;</a:t>
            </a:r>
          </a:p>
          <a:p>
            <a:pPr marL="539754" lvl="1" indent="-269877" algn="l">
              <a:lnSpc>
                <a:spcPts val="3500"/>
              </a:lnSpc>
              <a:buFont typeface="Arial"/>
              <a:buChar char="•"/>
            </a:pPr>
            <a:r>
              <a:rPr lang="en-US" sz="2500" spc="297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Separate features (input variables) and the target variable (closing price);</a:t>
            </a:r>
          </a:p>
          <a:p>
            <a:pPr marL="539754" lvl="1" indent="-269877" algn="l">
              <a:lnSpc>
                <a:spcPts val="3500"/>
              </a:lnSpc>
              <a:buFont typeface="Arial"/>
              <a:buChar char="•"/>
            </a:pPr>
            <a:r>
              <a:rPr lang="en-US" sz="2500" spc="297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Split the data into training and testing sets for model training and evaluation.</a:t>
            </a:r>
          </a:p>
          <a:p>
            <a:pPr algn="l">
              <a:lnSpc>
                <a:spcPts val="3500"/>
              </a:lnSpc>
            </a:pPr>
            <a:endParaRPr lang="en-US" sz="2500" spc="297">
              <a:solidFill>
                <a:srgbClr val="000000"/>
              </a:solidFill>
              <a:latin typeface="Cloud"/>
              <a:ea typeface="Cloud"/>
              <a:cs typeface="Cloud"/>
              <a:sym typeface="Cloud"/>
            </a:endParaRPr>
          </a:p>
        </p:txBody>
      </p:sp>
      <p:grpSp>
        <p:nvGrpSpPr>
          <p:cNvPr id="12" name="Group 12"/>
          <p:cNvGrpSpPr/>
          <p:nvPr/>
        </p:nvGrpSpPr>
        <p:grpSpPr>
          <a:xfrm rot="9902075">
            <a:off x="16639813" y="-861230"/>
            <a:ext cx="3620223" cy="3167695"/>
            <a:chOff x="0" y="0"/>
            <a:chExt cx="812800" cy="711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65679"/>
            </a:solidFill>
          </p:spPr>
          <p:txBody>
            <a:bodyPr/>
            <a:lstStyle/>
            <a:p>
              <a:endParaRPr lang="ru-RU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3572976" y="8657913"/>
            <a:ext cx="2871424" cy="406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3"/>
              </a:lnSpc>
            </a:pPr>
            <a:r>
              <a:rPr lang="en-US" sz="2525" spc="14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CONTINUE</a:t>
            </a:r>
          </a:p>
        </p:txBody>
      </p:sp>
      <p:pic>
        <p:nvPicPr>
          <p:cNvPr id="16" name="7">
            <a:hlinkClick r:id="" action="ppaction://media"/>
            <a:extLst>
              <a:ext uri="{FF2B5EF4-FFF2-40B4-BE49-F238E27FC236}">
                <a16:creationId xmlns:a16="http://schemas.microsoft.com/office/drawing/2014/main" id="{97EC9080-FD64-13BB-F876-CE5A2089509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5788762" y="8205297"/>
            <a:ext cx="1311275" cy="13112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53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-1596877" y="4070613"/>
            <a:ext cx="9401164" cy="7308453"/>
            <a:chOff x="0" y="0"/>
            <a:chExt cx="2476027" cy="19248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76027" cy="1924860"/>
            </a:xfrm>
            <a:custGeom>
              <a:avLst/>
              <a:gdLst/>
              <a:ahLst/>
              <a:cxnLst/>
              <a:rect l="l" t="t" r="r" b="b"/>
              <a:pathLst>
                <a:path w="2476027" h="1924860">
                  <a:moveTo>
                    <a:pt x="203200" y="0"/>
                  </a:moveTo>
                  <a:lnTo>
                    <a:pt x="2476027" y="0"/>
                  </a:lnTo>
                  <a:lnTo>
                    <a:pt x="2272827" y="1924860"/>
                  </a:lnTo>
                  <a:lnTo>
                    <a:pt x="0" y="192486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65679"/>
            </a:solidFill>
          </p:spPr>
          <p:txBody>
            <a:bodyPr/>
            <a:lstStyle/>
            <a:p>
              <a:endParaRPr lang="ru-RU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-66675"/>
              <a:ext cx="2272827" cy="19915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788118" y="1814183"/>
            <a:ext cx="2315587" cy="0"/>
          </a:xfrm>
          <a:prstGeom prst="line">
            <a:avLst/>
          </a:prstGeom>
          <a:ln w="57150" cap="flat">
            <a:solidFill>
              <a:srgbClr val="36567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  <p:grpSp>
        <p:nvGrpSpPr>
          <p:cNvPr id="6" name="Group 6"/>
          <p:cNvGrpSpPr/>
          <p:nvPr/>
        </p:nvGrpSpPr>
        <p:grpSpPr>
          <a:xfrm rot="9902075">
            <a:off x="16639813" y="-861230"/>
            <a:ext cx="3620223" cy="3167695"/>
            <a:chOff x="0" y="0"/>
            <a:chExt cx="812800" cy="711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65679"/>
            </a:solidFill>
          </p:spPr>
          <p:txBody>
            <a:bodyPr/>
            <a:lstStyle/>
            <a:p>
              <a:endParaRPr lang="ru-RU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6313951" y="5788942"/>
            <a:ext cx="10456893" cy="3409856"/>
          </a:xfrm>
          <a:custGeom>
            <a:avLst/>
            <a:gdLst/>
            <a:ahLst/>
            <a:cxnLst/>
            <a:rect l="l" t="t" r="r" b="b"/>
            <a:pathLst>
              <a:path w="10456893" h="3409856">
                <a:moveTo>
                  <a:pt x="0" y="0"/>
                </a:moveTo>
                <a:lnTo>
                  <a:pt x="10456892" y="0"/>
                </a:lnTo>
                <a:lnTo>
                  <a:pt x="10456892" y="3409856"/>
                </a:lnTo>
                <a:lnTo>
                  <a:pt x="0" y="34098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0" name="Freeform 10"/>
          <p:cNvSpPr/>
          <p:nvPr/>
        </p:nvSpPr>
        <p:spPr>
          <a:xfrm>
            <a:off x="788118" y="5524500"/>
            <a:ext cx="3533968" cy="3938740"/>
          </a:xfrm>
          <a:custGeom>
            <a:avLst/>
            <a:gdLst/>
            <a:ahLst/>
            <a:cxnLst/>
            <a:rect l="l" t="t" r="r" b="b"/>
            <a:pathLst>
              <a:path w="3533968" h="3938740">
                <a:moveTo>
                  <a:pt x="0" y="0"/>
                </a:moveTo>
                <a:lnTo>
                  <a:pt x="3533968" y="0"/>
                </a:lnTo>
                <a:lnTo>
                  <a:pt x="3533968" y="3938740"/>
                </a:lnTo>
                <a:lnTo>
                  <a:pt x="0" y="39387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>
          <a:xfrm>
            <a:off x="788118" y="2162793"/>
            <a:ext cx="11051666" cy="2980707"/>
          </a:xfrm>
          <a:custGeom>
            <a:avLst/>
            <a:gdLst/>
            <a:ahLst/>
            <a:cxnLst/>
            <a:rect l="l" t="t" r="r" b="b"/>
            <a:pathLst>
              <a:path w="11051666" h="2980707">
                <a:moveTo>
                  <a:pt x="0" y="0"/>
                </a:moveTo>
                <a:lnTo>
                  <a:pt x="11051665" y="0"/>
                </a:lnTo>
                <a:lnTo>
                  <a:pt x="11051665" y="2980707"/>
                </a:lnTo>
                <a:lnTo>
                  <a:pt x="0" y="29807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258"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2" name="TextBox 12"/>
          <p:cNvSpPr txBox="1"/>
          <p:nvPr/>
        </p:nvSpPr>
        <p:spPr>
          <a:xfrm>
            <a:off x="788118" y="760718"/>
            <a:ext cx="15176578" cy="1024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79"/>
              </a:lnSpc>
            </a:pPr>
            <a:r>
              <a:rPr lang="en-US" sz="6999" spc="167">
                <a:solidFill>
                  <a:srgbClr val="3656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STEP 3: Data preparation</a:t>
            </a:r>
          </a:p>
        </p:txBody>
      </p:sp>
      <p:pic>
        <p:nvPicPr>
          <p:cNvPr id="13" name="8">
            <a:hlinkClick r:id="" action="ppaction://media"/>
            <a:extLst>
              <a:ext uri="{FF2B5EF4-FFF2-40B4-BE49-F238E27FC236}">
                <a16:creationId xmlns:a16="http://schemas.microsoft.com/office/drawing/2014/main" id="{9C96EFCB-2A63-232F-B11A-33B30732E4D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3839018" y="2769966"/>
            <a:ext cx="1524000" cy="1524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08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2956" y="-868823"/>
            <a:ext cx="13380588" cy="11610081"/>
            <a:chOff x="0" y="0"/>
            <a:chExt cx="853424" cy="740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3424" cy="740500"/>
            </a:xfrm>
            <a:custGeom>
              <a:avLst/>
              <a:gdLst/>
              <a:ahLst/>
              <a:cxnLst/>
              <a:rect l="l" t="t" r="r" b="b"/>
              <a:pathLst>
                <a:path w="853424" h="740500">
                  <a:moveTo>
                    <a:pt x="203200" y="0"/>
                  </a:moveTo>
                  <a:lnTo>
                    <a:pt x="853424" y="0"/>
                  </a:lnTo>
                  <a:lnTo>
                    <a:pt x="650224" y="740500"/>
                  </a:lnTo>
                  <a:lnTo>
                    <a:pt x="0" y="7405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ru-RU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-66675"/>
              <a:ext cx="650224" cy="807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028700" y="2829063"/>
            <a:ext cx="2050229" cy="0"/>
          </a:xfrm>
          <a:prstGeom prst="line">
            <a:avLst/>
          </a:prstGeom>
          <a:ln w="85725" cap="flat">
            <a:solidFill>
              <a:srgbClr val="36567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  <p:grpSp>
        <p:nvGrpSpPr>
          <p:cNvPr id="6" name="Group 6"/>
          <p:cNvGrpSpPr/>
          <p:nvPr/>
        </p:nvGrpSpPr>
        <p:grpSpPr>
          <a:xfrm>
            <a:off x="914616" y="8105342"/>
            <a:ext cx="2879231" cy="823305"/>
            <a:chOff x="0" y="0"/>
            <a:chExt cx="1584993" cy="45322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84993" cy="453222"/>
            </a:xfrm>
            <a:custGeom>
              <a:avLst/>
              <a:gdLst/>
              <a:ahLst/>
              <a:cxnLst/>
              <a:rect l="l" t="t" r="r" b="b"/>
              <a:pathLst>
                <a:path w="1584993" h="453222">
                  <a:moveTo>
                    <a:pt x="1381793" y="0"/>
                  </a:moveTo>
                  <a:cubicBezTo>
                    <a:pt x="1494017" y="0"/>
                    <a:pt x="1584993" y="101457"/>
                    <a:pt x="1584993" y="226611"/>
                  </a:cubicBezTo>
                  <a:cubicBezTo>
                    <a:pt x="1584993" y="351765"/>
                    <a:pt x="1494017" y="453222"/>
                    <a:pt x="1381793" y="453222"/>
                  </a:cubicBezTo>
                  <a:lnTo>
                    <a:pt x="203200" y="453222"/>
                  </a:lnTo>
                  <a:cubicBezTo>
                    <a:pt x="90976" y="453222"/>
                    <a:pt x="0" y="351765"/>
                    <a:pt x="0" y="226611"/>
                  </a:cubicBezTo>
                  <a:cubicBezTo>
                    <a:pt x="0" y="101457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ru-RU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1584993" cy="5198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439604" y="3266483"/>
            <a:ext cx="7262827" cy="4838859"/>
          </a:xfrm>
          <a:custGeom>
            <a:avLst/>
            <a:gdLst/>
            <a:ahLst/>
            <a:cxnLst/>
            <a:rect l="l" t="t" r="r" b="b"/>
            <a:pathLst>
              <a:path w="7262827" h="4838859">
                <a:moveTo>
                  <a:pt x="0" y="0"/>
                </a:moveTo>
                <a:lnTo>
                  <a:pt x="7262827" y="0"/>
                </a:lnTo>
                <a:lnTo>
                  <a:pt x="7262827" y="4838859"/>
                </a:lnTo>
                <a:lnTo>
                  <a:pt x="0" y="48388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0" name="TextBox 10"/>
          <p:cNvSpPr txBox="1"/>
          <p:nvPr/>
        </p:nvSpPr>
        <p:spPr>
          <a:xfrm>
            <a:off x="1028700" y="1698763"/>
            <a:ext cx="6488239" cy="1130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999" spc="167">
                <a:solidFill>
                  <a:srgbClr val="3656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Future goals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616" y="4632518"/>
            <a:ext cx="8229384" cy="212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 spc="35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Step 4:</a:t>
            </a:r>
            <a:r>
              <a:rPr lang="en-US" sz="3000" spc="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Linear regression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 spc="35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Step 5:</a:t>
            </a:r>
            <a:r>
              <a:rPr lang="en-US" sz="3000" spc="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Evaluate the model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 spc="35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Step 6:</a:t>
            </a:r>
            <a:r>
              <a:rPr lang="en-US" sz="3000" spc="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Visualize the model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 spc="35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Step 7:</a:t>
            </a:r>
            <a:r>
              <a:rPr lang="en-US" sz="3000" spc="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Saving the Data as CSV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4616" y="8328259"/>
            <a:ext cx="2871424" cy="406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3"/>
              </a:lnSpc>
            </a:pPr>
            <a:r>
              <a:rPr lang="en-US" sz="2525" spc="14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CONTINUE</a:t>
            </a:r>
          </a:p>
        </p:txBody>
      </p:sp>
      <p:pic>
        <p:nvPicPr>
          <p:cNvPr id="13" name="9">
            <a:hlinkClick r:id="" action="ppaction://media"/>
            <a:extLst>
              <a:ext uri="{FF2B5EF4-FFF2-40B4-BE49-F238E27FC236}">
                <a16:creationId xmlns:a16="http://schemas.microsoft.com/office/drawing/2014/main" id="{9CFB043B-8DF6-9AFA-3C25-BE7B90100F0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4630400" y="8516994"/>
            <a:ext cx="1082675" cy="10826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579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605917" y="2610316"/>
            <a:ext cx="16074978" cy="7991215"/>
            <a:chOff x="0" y="0"/>
            <a:chExt cx="952591" cy="4735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2591" cy="473553"/>
            </a:xfrm>
            <a:custGeom>
              <a:avLst/>
              <a:gdLst/>
              <a:ahLst/>
              <a:cxnLst/>
              <a:rect l="l" t="t" r="r" b="b"/>
              <a:pathLst>
                <a:path w="952591" h="473553">
                  <a:moveTo>
                    <a:pt x="203200" y="0"/>
                  </a:moveTo>
                  <a:lnTo>
                    <a:pt x="952591" y="0"/>
                  </a:lnTo>
                  <a:lnTo>
                    <a:pt x="749391" y="473553"/>
                  </a:lnTo>
                  <a:lnTo>
                    <a:pt x="0" y="473553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ru-RU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-66675"/>
              <a:ext cx="749391" cy="5402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049845" y="0"/>
            <a:ext cx="11123371" cy="10287000"/>
            <a:chOff x="0" y="0"/>
            <a:chExt cx="1292476" cy="119529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92476" cy="1195294"/>
            </a:xfrm>
            <a:custGeom>
              <a:avLst/>
              <a:gdLst/>
              <a:ahLst/>
              <a:cxnLst/>
              <a:rect l="l" t="t" r="r" b="b"/>
              <a:pathLst>
                <a:path w="1292476" h="1195294">
                  <a:moveTo>
                    <a:pt x="203200" y="0"/>
                  </a:moveTo>
                  <a:lnTo>
                    <a:pt x="1292476" y="0"/>
                  </a:lnTo>
                  <a:lnTo>
                    <a:pt x="1089276" y="1195294"/>
                  </a:lnTo>
                  <a:lnTo>
                    <a:pt x="0" y="1195294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4"/>
              <a:stretch>
                <a:fillRect t="-22086" b="-22086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7" name="AutoShape 7"/>
          <p:cNvSpPr/>
          <p:nvPr/>
        </p:nvSpPr>
        <p:spPr>
          <a:xfrm>
            <a:off x="1732613" y="5156506"/>
            <a:ext cx="2050229" cy="0"/>
          </a:xfrm>
          <a:prstGeom prst="line">
            <a:avLst/>
          </a:prstGeom>
          <a:ln w="857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  <p:sp>
        <p:nvSpPr>
          <p:cNvPr id="8" name="Freeform 8"/>
          <p:cNvSpPr/>
          <p:nvPr/>
        </p:nvSpPr>
        <p:spPr>
          <a:xfrm>
            <a:off x="1624750" y="5156506"/>
            <a:ext cx="5694244" cy="4505571"/>
          </a:xfrm>
          <a:custGeom>
            <a:avLst/>
            <a:gdLst/>
            <a:ahLst/>
            <a:cxnLst/>
            <a:rect l="l" t="t" r="r" b="b"/>
            <a:pathLst>
              <a:path w="5694244" h="4505571">
                <a:moveTo>
                  <a:pt x="0" y="0"/>
                </a:moveTo>
                <a:lnTo>
                  <a:pt x="5694245" y="0"/>
                </a:lnTo>
                <a:lnTo>
                  <a:pt x="5694245" y="4505571"/>
                </a:lnTo>
                <a:lnTo>
                  <a:pt x="0" y="45055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9" name="TextBox 9"/>
          <p:cNvSpPr txBox="1"/>
          <p:nvPr/>
        </p:nvSpPr>
        <p:spPr>
          <a:xfrm>
            <a:off x="1624750" y="3683833"/>
            <a:ext cx="6573548" cy="1136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90"/>
              </a:lnSpc>
            </a:pPr>
            <a:r>
              <a:rPr lang="en-US" sz="7069" spc="16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pic>
        <p:nvPicPr>
          <p:cNvPr id="10" name="10">
            <a:hlinkClick r:id="" action="ppaction://media"/>
            <a:extLst>
              <a:ext uri="{FF2B5EF4-FFF2-40B4-BE49-F238E27FC236}">
                <a16:creationId xmlns:a16="http://schemas.microsoft.com/office/drawing/2014/main" id="{CC4A2A84-9F67-A582-AD59-E3DF09CC8F9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967171" y="9029700"/>
            <a:ext cx="1082674" cy="10826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66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250</Words>
  <Application>Microsoft Office PowerPoint</Application>
  <PresentationFormat>Произвольный</PresentationFormat>
  <Paragraphs>33</Paragraphs>
  <Slides>10</Slides>
  <Notes>0</Notes>
  <HiddenSlides>0</HiddenSlides>
  <MMClips>10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9" baseType="lpstr">
      <vt:lpstr>Cloud Bold</vt:lpstr>
      <vt:lpstr>Calibri</vt:lpstr>
      <vt:lpstr>Inter Bold</vt:lpstr>
      <vt:lpstr>Inter</vt:lpstr>
      <vt:lpstr>League Spartan</vt:lpstr>
      <vt:lpstr>Helios</vt:lpstr>
      <vt:lpstr>Arial</vt:lpstr>
      <vt:lpstr>Cloud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Proposal</dc:title>
  <cp:lastModifiedBy>София Денисенко</cp:lastModifiedBy>
  <cp:revision>2</cp:revision>
  <dcterms:created xsi:type="dcterms:W3CDTF">2006-08-16T00:00:00Z</dcterms:created>
  <dcterms:modified xsi:type="dcterms:W3CDTF">2024-10-12T11:12:29Z</dcterms:modified>
  <dc:identifier>DAGSD93ZEMk</dc:identifier>
</cp:coreProperties>
</file>