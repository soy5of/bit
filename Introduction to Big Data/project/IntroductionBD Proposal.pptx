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 Bold" panose="020B0604020202020204" charset="0"/>
      <p:regular r:id="rId15"/>
    </p:embeddedFont>
    <p:embeddedFont>
      <p:font typeface="Cloud" panose="020B0604020202020204" charset="0"/>
      <p:regular r:id="rId16"/>
    </p:embeddedFont>
    <p:embeddedFont>
      <p:font typeface="Helios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League Spartan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62" y="-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sv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520038" cy="10287000"/>
            <a:chOff x="0" y="0"/>
            <a:chExt cx="487770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7705" cy="2709333"/>
            </a:xfrm>
            <a:custGeom>
              <a:avLst/>
              <a:gdLst/>
              <a:ahLst/>
              <a:cxnLst/>
              <a:rect l="l" t="t" r="r" b="b"/>
              <a:pathLst>
                <a:path w="4877705" h="2709333">
                  <a:moveTo>
                    <a:pt x="0" y="0"/>
                  </a:moveTo>
                  <a:lnTo>
                    <a:pt x="4877705" y="0"/>
                  </a:lnTo>
                  <a:lnTo>
                    <a:pt x="48777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7770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4810163"/>
            <a:ext cx="6073106" cy="5476837"/>
          </a:xfrm>
          <a:custGeom>
            <a:avLst/>
            <a:gdLst/>
            <a:ahLst/>
            <a:cxnLst/>
            <a:rect l="l" t="t" r="r" b="b"/>
            <a:pathLst>
              <a:path w="6073106" h="5476837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2214894" y="0"/>
            <a:ext cx="6073106" cy="5476837"/>
          </a:xfrm>
          <a:custGeom>
            <a:avLst/>
            <a:gdLst/>
            <a:ahLst/>
            <a:cxnLst/>
            <a:rect l="l" t="t" r="r" b="b"/>
            <a:pathLst>
              <a:path w="6073106" h="5476837">
                <a:moveTo>
                  <a:pt x="0" y="0"/>
                </a:moveTo>
                <a:lnTo>
                  <a:pt x="6073106" y="0"/>
                </a:lnTo>
                <a:lnTo>
                  <a:pt x="6073106" y="5476837"/>
                </a:lnTo>
                <a:lnTo>
                  <a:pt x="0" y="5476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38256" y="3437436"/>
            <a:ext cx="13645630" cy="323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53"/>
              </a:lnSpc>
            </a:pPr>
            <a:r>
              <a:rPr lang="en-US" sz="10285" spc="246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NETFLIX STOCK PRICE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72053" y="7042843"/>
            <a:ext cx="6775931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sz="2918" spc="172" dirty="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TEAM MEMBERS: </a:t>
            </a:r>
            <a:r>
              <a:rPr lang="en-US" sz="2918" spc="172" dirty="0" err="1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狄</a:t>
            </a:r>
            <a:r>
              <a:rPr lang="en-US" sz="2918" b="1" spc="172" dirty="0" err="1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苏菲</a:t>
            </a:r>
            <a:r>
              <a:rPr lang="en-US" sz="2918" spc="172" dirty="0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, </a:t>
            </a:r>
            <a:r>
              <a:rPr lang="en-US" sz="2918" spc="172" dirty="0" err="1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伯汀娜</a:t>
            </a:r>
            <a:endParaRPr lang="en-US" sz="2918" spc="172" dirty="0">
              <a:solidFill>
                <a:srgbClr val="365679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73106" y="7920056"/>
            <a:ext cx="6775931" cy="505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5"/>
              </a:lnSpc>
            </a:pPr>
            <a:r>
              <a:rPr lang="en-US" sz="2918" spc="172">
                <a:solidFill>
                  <a:srgbClr val="365679"/>
                </a:solidFill>
                <a:latin typeface="Helios"/>
                <a:ea typeface="Helios"/>
                <a:cs typeface="Helios"/>
                <a:sym typeface="Helios"/>
              </a:rPr>
              <a:t>TIME: 2024/09/30</a:t>
            </a:r>
          </a:p>
        </p:txBody>
      </p:sp>
      <p:pic>
        <p:nvPicPr>
          <p:cNvPr id="15" name="1">
            <a:hlinkClick r:id="" action="ppaction://media"/>
            <a:extLst>
              <a:ext uri="{FF2B5EF4-FFF2-40B4-BE49-F238E27FC236}">
                <a16:creationId xmlns:a16="http://schemas.microsoft.com/office/drawing/2014/main" id="{383A6E55-0207-5530-556D-7B37BC9A7D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925800" y="8914273"/>
            <a:ext cx="1143000" cy="114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5112380" y="-148194"/>
            <a:ext cx="12727251" cy="12193285"/>
            <a:chOff x="0" y="0"/>
            <a:chExt cx="524208" cy="502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208" cy="502215"/>
            </a:xfrm>
            <a:custGeom>
              <a:avLst/>
              <a:gdLst/>
              <a:ahLst/>
              <a:cxnLst/>
              <a:rect l="l" t="t" r="r" b="b"/>
              <a:pathLst>
                <a:path w="524208" h="502215">
                  <a:moveTo>
                    <a:pt x="203200" y="0"/>
                  </a:moveTo>
                  <a:lnTo>
                    <a:pt x="524208" y="0"/>
                  </a:lnTo>
                  <a:lnTo>
                    <a:pt x="321008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321008" cy="568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163302"/>
            <a:ext cx="7094998" cy="70949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5097" y="0"/>
                  </a:moveTo>
                  <a:lnTo>
                    <a:pt x="787703" y="0"/>
                  </a:lnTo>
                  <a:cubicBezTo>
                    <a:pt x="801564" y="0"/>
                    <a:pt x="812800" y="11236"/>
                    <a:pt x="812800" y="25097"/>
                  </a:cubicBezTo>
                  <a:lnTo>
                    <a:pt x="812800" y="787703"/>
                  </a:lnTo>
                  <a:cubicBezTo>
                    <a:pt x="812800" y="801564"/>
                    <a:pt x="801564" y="812800"/>
                    <a:pt x="787703" y="812800"/>
                  </a:cubicBezTo>
                  <a:lnTo>
                    <a:pt x="25097" y="812800"/>
                  </a:lnTo>
                  <a:cubicBezTo>
                    <a:pt x="11236" y="812800"/>
                    <a:pt x="0" y="801564"/>
                    <a:pt x="0" y="787703"/>
                  </a:cubicBezTo>
                  <a:lnTo>
                    <a:pt x="0" y="25097"/>
                  </a:lnTo>
                  <a:cubicBezTo>
                    <a:pt x="0" y="11236"/>
                    <a:pt x="11236" y="0"/>
                    <a:pt x="25097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r="-25000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8876857" y="408265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9902075">
            <a:off x="16254219" y="-861230"/>
            <a:ext cx="3620223" cy="3167695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876857" y="2997192"/>
            <a:ext cx="6931946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6405" spc="153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71203" y="5076825"/>
            <a:ext cx="5733580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content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Correlation analysis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Modeling and prediction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Expected outcome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Our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81973" y="6379819"/>
            <a:ext cx="4377327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Project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Infographic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Our Team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 Us</a:t>
            </a:r>
          </a:p>
        </p:txBody>
      </p:sp>
      <p:pic>
        <p:nvPicPr>
          <p:cNvPr id="14" name="2">
            <a:hlinkClick r:id="" action="ppaction://media"/>
            <a:extLst>
              <a:ext uri="{FF2B5EF4-FFF2-40B4-BE49-F238E27FC236}">
                <a16:creationId xmlns:a16="http://schemas.microsoft.com/office/drawing/2014/main" id="{271AC827-8A4C-AC88-4AAC-62075561BF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011718" y="8876613"/>
            <a:ext cx="930275" cy="930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7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0690" y="0"/>
            <a:ext cx="14732382" cy="12193285"/>
            <a:chOff x="0" y="0"/>
            <a:chExt cx="606795" cy="502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6795" cy="502215"/>
            </a:xfrm>
            <a:custGeom>
              <a:avLst/>
              <a:gdLst/>
              <a:ahLst/>
              <a:cxnLst/>
              <a:rect l="l" t="t" r="r" b="b"/>
              <a:pathLst>
                <a:path w="606795" h="502215">
                  <a:moveTo>
                    <a:pt x="203200" y="0"/>
                  </a:moveTo>
                  <a:lnTo>
                    <a:pt x="606795" y="0"/>
                  </a:lnTo>
                  <a:lnTo>
                    <a:pt x="403595" y="502215"/>
                  </a:lnTo>
                  <a:lnTo>
                    <a:pt x="0" y="50221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403595" cy="568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69958" y="1499427"/>
            <a:ext cx="7570292" cy="757029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521" y="0"/>
                  </a:moveTo>
                  <a:lnTo>
                    <a:pt x="789279" y="0"/>
                  </a:lnTo>
                  <a:cubicBezTo>
                    <a:pt x="802269" y="0"/>
                    <a:pt x="812800" y="10531"/>
                    <a:pt x="812800" y="23521"/>
                  </a:cubicBezTo>
                  <a:lnTo>
                    <a:pt x="812800" y="789279"/>
                  </a:lnTo>
                  <a:cubicBezTo>
                    <a:pt x="812800" y="802269"/>
                    <a:pt x="802269" y="812800"/>
                    <a:pt x="789279" y="812800"/>
                  </a:cubicBezTo>
                  <a:lnTo>
                    <a:pt x="23521" y="812800"/>
                  </a:lnTo>
                  <a:cubicBezTo>
                    <a:pt x="10531" y="812800"/>
                    <a:pt x="0" y="802269"/>
                    <a:pt x="0" y="789279"/>
                  </a:cubicBezTo>
                  <a:lnTo>
                    <a:pt x="0" y="23521"/>
                  </a:lnTo>
                  <a:cubicBezTo>
                    <a:pt x="0" y="10531"/>
                    <a:pt x="10531" y="0"/>
                    <a:pt x="23521" y="0"/>
                  </a:cubicBezTo>
                  <a:close/>
                </a:path>
              </a:pathLst>
            </a:custGeom>
            <a:blipFill>
              <a:blip r:embed="rId4"/>
              <a:stretch>
                <a:fillRect l="-7102" r="-26230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905091" y="3748693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14616" y="8105342"/>
            <a:ext cx="2879231" cy="823305"/>
            <a:chOff x="0" y="0"/>
            <a:chExt cx="1584993" cy="4532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9805163">
            <a:off x="-1568218" y="-825165"/>
            <a:ext cx="3418135" cy="29908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616" y="2524552"/>
            <a:ext cx="8229384" cy="10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6"/>
              </a:lnSpc>
            </a:pPr>
            <a:r>
              <a:rPr lang="en-US" sz="6405" spc="153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5091" y="4329834"/>
            <a:ext cx="6130289" cy="3189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7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are predicting Netflix stock prices, so potential stock holders will be more confident in their choice. </a:t>
            </a:r>
          </a:p>
          <a:p>
            <a:pPr algn="l">
              <a:lnSpc>
                <a:spcPts val="3220"/>
              </a:lnSpc>
            </a:pPr>
            <a:r>
              <a:rPr lang="en-US" sz="2300" spc="27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will try to predict the prices based on the previous ones. We are going to establish a model for our goal.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616" y="8328259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8" name="3">
            <a:hlinkClick r:id="" action="ppaction://media"/>
            <a:extLst>
              <a:ext uri="{FF2B5EF4-FFF2-40B4-BE49-F238E27FC236}">
                <a16:creationId xmlns:a16="http://schemas.microsoft.com/office/drawing/2014/main" id="{4091304D-AAF7-DC0D-3554-63DB3E67F9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97200" y="9244395"/>
            <a:ext cx="1042605" cy="1042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1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72121" y="0"/>
            <a:ext cx="11709920" cy="10855389"/>
            <a:chOff x="0" y="0"/>
            <a:chExt cx="693921" cy="643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3921" cy="643282"/>
            </a:xfrm>
            <a:custGeom>
              <a:avLst/>
              <a:gdLst/>
              <a:ahLst/>
              <a:cxnLst/>
              <a:rect l="l" t="t" r="r" b="b"/>
              <a:pathLst>
                <a:path w="693921" h="643282">
                  <a:moveTo>
                    <a:pt x="203200" y="0"/>
                  </a:moveTo>
                  <a:lnTo>
                    <a:pt x="693921" y="0"/>
                  </a:lnTo>
                  <a:lnTo>
                    <a:pt x="490721" y="643282"/>
                  </a:lnTo>
                  <a:lnTo>
                    <a:pt x="0" y="6432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490721" cy="709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93353" y="1533565"/>
            <a:ext cx="12978200" cy="3100796"/>
            <a:chOff x="0" y="0"/>
            <a:chExt cx="3418127" cy="8166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8127" cy="816671"/>
            </a:xfrm>
            <a:custGeom>
              <a:avLst/>
              <a:gdLst/>
              <a:ahLst/>
              <a:cxnLst/>
              <a:rect l="l" t="t" r="r" b="b"/>
              <a:pathLst>
                <a:path w="3418127" h="816671">
                  <a:moveTo>
                    <a:pt x="30423" y="0"/>
                  </a:moveTo>
                  <a:lnTo>
                    <a:pt x="3387703" y="0"/>
                  </a:lnTo>
                  <a:cubicBezTo>
                    <a:pt x="3395772" y="0"/>
                    <a:pt x="3403510" y="3205"/>
                    <a:pt x="3409216" y="8911"/>
                  </a:cubicBezTo>
                  <a:cubicBezTo>
                    <a:pt x="3414921" y="14616"/>
                    <a:pt x="3418127" y="22354"/>
                    <a:pt x="3418127" y="30423"/>
                  </a:cubicBezTo>
                  <a:lnTo>
                    <a:pt x="3418127" y="786247"/>
                  </a:lnTo>
                  <a:cubicBezTo>
                    <a:pt x="3418127" y="803050"/>
                    <a:pt x="3404506" y="816671"/>
                    <a:pt x="3387703" y="816671"/>
                  </a:cubicBezTo>
                  <a:lnTo>
                    <a:pt x="30423" y="816671"/>
                  </a:lnTo>
                  <a:cubicBezTo>
                    <a:pt x="22354" y="816671"/>
                    <a:pt x="14616" y="813465"/>
                    <a:pt x="8911" y="807760"/>
                  </a:cubicBezTo>
                  <a:cubicBezTo>
                    <a:pt x="3205" y="802054"/>
                    <a:pt x="0" y="794316"/>
                    <a:pt x="0" y="786247"/>
                  </a:cubicBezTo>
                  <a:lnTo>
                    <a:pt x="0" y="30423"/>
                  </a:lnTo>
                  <a:cubicBezTo>
                    <a:pt x="0" y="13621"/>
                    <a:pt x="13621" y="0"/>
                    <a:pt x="304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418127" cy="883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66800" y="3702665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5505607" y="1746980"/>
            <a:ext cx="11753693" cy="2673965"/>
          </a:xfrm>
          <a:custGeom>
            <a:avLst/>
            <a:gdLst/>
            <a:ahLst/>
            <a:cxnLst/>
            <a:rect l="l" t="t" r="r" b="b"/>
            <a:pathLst>
              <a:path w="11753693" h="2673965">
                <a:moveTo>
                  <a:pt x="0" y="0"/>
                </a:moveTo>
                <a:lnTo>
                  <a:pt x="11753693" y="0"/>
                </a:lnTo>
                <a:lnTo>
                  <a:pt x="11753693" y="2673965"/>
                </a:lnTo>
                <a:lnTo>
                  <a:pt x="0" y="2673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66800" y="4328218"/>
            <a:ext cx="9257134" cy="3194434"/>
            <a:chOff x="0" y="0"/>
            <a:chExt cx="2438093" cy="8413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093" cy="841332"/>
            </a:xfrm>
            <a:custGeom>
              <a:avLst/>
              <a:gdLst/>
              <a:ahLst/>
              <a:cxnLst/>
              <a:rect l="l" t="t" r="r" b="b"/>
              <a:pathLst>
                <a:path w="2438093" h="841332">
                  <a:moveTo>
                    <a:pt x="42652" y="0"/>
                  </a:moveTo>
                  <a:lnTo>
                    <a:pt x="2395441" y="0"/>
                  </a:lnTo>
                  <a:cubicBezTo>
                    <a:pt x="2406753" y="0"/>
                    <a:pt x="2417601" y="4494"/>
                    <a:pt x="2425600" y="12493"/>
                  </a:cubicBezTo>
                  <a:cubicBezTo>
                    <a:pt x="2433599" y="20491"/>
                    <a:pt x="2438093" y="31340"/>
                    <a:pt x="2438093" y="42652"/>
                  </a:cubicBezTo>
                  <a:lnTo>
                    <a:pt x="2438093" y="798680"/>
                  </a:lnTo>
                  <a:cubicBezTo>
                    <a:pt x="2438093" y="809992"/>
                    <a:pt x="2433599" y="820841"/>
                    <a:pt x="2425600" y="828840"/>
                  </a:cubicBezTo>
                  <a:cubicBezTo>
                    <a:pt x="2417601" y="836839"/>
                    <a:pt x="2406753" y="841332"/>
                    <a:pt x="2395441" y="841332"/>
                  </a:cubicBezTo>
                  <a:lnTo>
                    <a:pt x="42652" y="841332"/>
                  </a:lnTo>
                  <a:cubicBezTo>
                    <a:pt x="19096" y="841332"/>
                    <a:pt x="0" y="822236"/>
                    <a:pt x="0" y="798680"/>
                  </a:cubicBezTo>
                  <a:lnTo>
                    <a:pt x="0" y="42652"/>
                  </a:lnTo>
                  <a:cubicBezTo>
                    <a:pt x="0" y="19096"/>
                    <a:pt x="19096" y="0"/>
                    <a:pt x="42652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438093" cy="908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800" y="2485475"/>
            <a:ext cx="7164163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2850" y="4995632"/>
            <a:ext cx="7788163" cy="199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273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The data is derived from the dataset of Netflix Stock Price Prediction by Kaggle.</a:t>
            </a:r>
          </a:p>
          <a:p>
            <a:pPr algn="l">
              <a:lnSpc>
                <a:spcPts val="3220"/>
              </a:lnSpc>
            </a:pPr>
            <a:endParaRPr lang="en-US" sz="2300" spc="273">
              <a:solidFill>
                <a:srgbClr val="FFFFFF"/>
              </a:solidFill>
              <a:latin typeface="Cloud"/>
              <a:ea typeface="Cloud"/>
              <a:cs typeface="Cloud"/>
              <a:sym typeface="Cloud"/>
            </a:endParaRPr>
          </a:p>
          <a:p>
            <a:pPr algn="l">
              <a:lnSpc>
                <a:spcPts val="3220"/>
              </a:lnSpc>
            </a:pPr>
            <a:r>
              <a:rPr lang="en-US" sz="2300" spc="273">
                <a:solidFill>
                  <a:srgbClr val="FFFFFF"/>
                </a:solidFill>
                <a:latin typeface="Cloud"/>
                <a:ea typeface="Cloud"/>
                <a:cs typeface="Cloud"/>
                <a:sym typeface="Cloud"/>
              </a:rPr>
              <a:t>The Dataset contains data for 5 years i.e. from 5th Feb 2018 to 5th Feb 2022.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4616" y="8105342"/>
            <a:ext cx="2879231" cy="823305"/>
            <a:chOff x="0" y="0"/>
            <a:chExt cx="1584993" cy="4532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616" y="8328259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grpSp>
        <p:nvGrpSpPr>
          <p:cNvPr id="19" name="Group 19"/>
          <p:cNvGrpSpPr/>
          <p:nvPr/>
        </p:nvGrpSpPr>
        <p:grpSpPr>
          <a:xfrm rot="-9805163">
            <a:off x="-1568218" y="-825165"/>
            <a:ext cx="3418135" cy="2990868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22" name="4">
            <a:hlinkClick r:id="" action="ppaction://media"/>
            <a:extLst>
              <a:ext uri="{FF2B5EF4-FFF2-40B4-BE49-F238E27FC236}">
                <a16:creationId xmlns:a16="http://schemas.microsoft.com/office/drawing/2014/main" id="{802B61F8-0E8B-40F9-E8D0-C7FD44B446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706600" y="8734304"/>
            <a:ext cx="1091060" cy="1091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67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6975" y="0"/>
            <a:ext cx="13196926" cy="10815302"/>
            <a:chOff x="0" y="0"/>
            <a:chExt cx="812800" cy="666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66116"/>
            </a:xfrm>
            <a:custGeom>
              <a:avLst/>
              <a:gdLst/>
              <a:ahLst/>
              <a:cxnLst/>
              <a:rect l="l" t="t" r="r" b="b"/>
              <a:pathLst>
                <a:path w="812800" h="666116">
                  <a:moveTo>
                    <a:pt x="609600" y="0"/>
                  </a:moveTo>
                  <a:lnTo>
                    <a:pt x="0" y="0"/>
                  </a:lnTo>
                  <a:lnTo>
                    <a:pt x="203200" y="666116"/>
                  </a:lnTo>
                  <a:lnTo>
                    <a:pt x="812800" y="666116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4"/>
              <a:stretch>
                <a:fillRect l="-11503" r="-1150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723" y="4676318"/>
            <a:ext cx="18288000" cy="4581982"/>
            <a:chOff x="0" y="0"/>
            <a:chExt cx="4816593" cy="12067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06777"/>
            </a:xfrm>
            <a:custGeom>
              <a:avLst/>
              <a:gdLst/>
              <a:ahLst/>
              <a:cxnLst/>
              <a:rect l="l" t="t" r="r" b="b"/>
              <a:pathLst>
                <a:path w="4816592" h="120677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185187"/>
                  </a:lnTo>
                  <a:cubicBezTo>
                    <a:pt x="4816592" y="1197111"/>
                    <a:pt x="4806926" y="1206777"/>
                    <a:pt x="4795002" y="1206777"/>
                  </a:cubicBezTo>
                  <a:lnTo>
                    <a:pt x="21590" y="1206777"/>
                  </a:lnTo>
                  <a:cubicBezTo>
                    <a:pt x="9666" y="1206777"/>
                    <a:pt x="0" y="1197111"/>
                    <a:pt x="0" y="118518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273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14616" y="385057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14616" y="7227823"/>
            <a:ext cx="2811504" cy="1725241"/>
          </a:xfrm>
          <a:custGeom>
            <a:avLst/>
            <a:gdLst/>
            <a:ahLst/>
            <a:cxnLst/>
            <a:rect l="l" t="t" r="r" b="b"/>
            <a:pathLst>
              <a:path w="2811504" h="1725241">
                <a:moveTo>
                  <a:pt x="0" y="0"/>
                </a:moveTo>
                <a:lnTo>
                  <a:pt x="2811504" y="0"/>
                </a:lnTo>
                <a:lnTo>
                  <a:pt x="2811504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17055" y="7227823"/>
            <a:ext cx="2814867" cy="1725241"/>
          </a:xfrm>
          <a:custGeom>
            <a:avLst/>
            <a:gdLst/>
            <a:ahLst/>
            <a:cxnLst/>
            <a:rect l="l" t="t" r="r" b="b"/>
            <a:pathLst>
              <a:path w="2814867" h="1725241">
                <a:moveTo>
                  <a:pt x="0" y="0"/>
                </a:moveTo>
                <a:lnTo>
                  <a:pt x="2814867" y="0"/>
                </a:lnTo>
                <a:lnTo>
                  <a:pt x="2814867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96330" y="7227823"/>
            <a:ext cx="2837063" cy="1725241"/>
          </a:xfrm>
          <a:custGeom>
            <a:avLst/>
            <a:gdLst/>
            <a:ahLst/>
            <a:cxnLst/>
            <a:rect l="l" t="t" r="r" b="b"/>
            <a:pathLst>
              <a:path w="2837063" h="1725241">
                <a:moveTo>
                  <a:pt x="0" y="0"/>
                </a:moveTo>
                <a:lnTo>
                  <a:pt x="2837063" y="0"/>
                </a:lnTo>
                <a:lnTo>
                  <a:pt x="2837063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05091" y="2553738"/>
            <a:ext cx="8108385" cy="113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6"/>
              </a:lnSpc>
            </a:pPr>
            <a:r>
              <a:rPr lang="en-US" sz="7005" spc="168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Meaning of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616" y="4926348"/>
            <a:ext cx="980388" cy="50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616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616" y="6155741"/>
            <a:ext cx="373378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Everyday price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26580" y="4926348"/>
            <a:ext cx="980388" cy="50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26580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6580" y="6155741"/>
            <a:ext cx="4701100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from the first transaction of a trading day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6330" y="4926348"/>
            <a:ext cx="980388" cy="50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96330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96330" y="6155741"/>
            <a:ext cx="3772224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Today's High</a:t>
            </a:r>
          </a:p>
        </p:txBody>
      </p:sp>
      <p:pic>
        <p:nvPicPr>
          <p:cNvPr id="21" name="5">
            <a:hlinkClick r:id="" action="ppaction://media"/>
            <a:extLst>
              <a:ext uri="{FF2B5EF4-FFF2-40B4-BE49-F238E27FC236}">
                <a16:creationId xmlns:a16="http://schemas.microsoft.com/office/drawing/2014/main" id="{4AFCB2CB-58A6-B5AC-EC74-A978B8BC5C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692370" y="9258300"/>
            <a:ext cx="947903" cy="947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85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6975" y="0"/>
            <a:ext cx="13196926" cy="10815302"/>
            <a:chOff x="0" y="0"/>
            <a:chExt cx="812800" cy="666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66116"/>
            </a:xfrm>
            <a:custGeom>
              <a:avLst/>
              <a:gdLst/>
              <a:ahLst/>
              <a:cxnLst/>
              <a:rect l="l" t="t" r="r" b="b"/>
              <a:pathLst>
                <a:path w="812800" h="666116">
                  <a:moveTo>
                    <a:pt x="609600" y="0"/>
                  </a:moveTo>
                  <a:lnTo>
                    <a:pt x="0" y="0"/>
                  </a:lnTo>
                  <a:lnTo>
                    <a:pt x="203200" y="666116"/>
                  </a:lnTo>
                  <a:lnTo>
                    <a:pt x="812800" y="666116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4"/>
              <a:stretch>
                <a:fillRect l="-11503" r="-1150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723" y="4676318"/>
            <a:ext cx="18288000" cy="4581982"/>
            <a:chOff x="0" y="0"/>
            <a:chExt cx="4816593" cy="12067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06777"/>
            </a:xfrm>
            <a:custGeom>
              <a:avLst/>
              <a:gdLst/>
              <a:ahLst/>
              <a:cxnLst/>
              <a:rect l="l" t="t" r="r" b="b"/>
              <a:pathLst>
                <a:path w="4816592" h="120677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185187"/>
                  </a:lnTo>
                  <a:cubicBezTo>
                    <a:pt x="4816592" y="1197111"/>
                    <a:pt x="4806926" y="1206777"/>
                    <a:pt x="4795002" y="1206777"/>
                  </a:cubicBezTo>
                  <a:lnTo>
                    <a:pt x="21590" y="1206777"/>
                  </a:lnTo>
                  <a:cubicBezTo>
                    <a:pt x="9666" y="1206777"/>
                    <a:pt x="0" y="1197111"/>
                    <a:pt x="0" y="118518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273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14616" y="385057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14616" y="7227823"/>
            <a:ext cx="2811504" cy="1725241"/>
          </a:xfrm>
          <a:custGeom>
            <a:avLst/>
            <a:gdLst/>
            <a:ahLst/>
            <a:cxnLst/>
            <a:rect l="l" t="t" r="r" b="b"/>
            <a:pathLst>
              <a:path w="2811504" h="1725241">
                <a:moveTo>
                  <a:pt x="0" y="0"/>
                </a:moveTo>
                <a:lnTo>
                  <a:pt x="2811504" y="0"/>
                </a:lnTo>
                <a:lnTo>
                  <a:pt x="2811504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17055" y="7227823"/>
            <a:ext cx="2814867" cy="1725241"/>
          </a:xfrm>
          <a:custGeom>
            <a:avLst/>
            <a:gdLst/>
            <a:ahLst/>
            <a:cxnLst/>
            <a:rect l="l" t="t" r="r" b="b"/>
            <a:pathLst>
              <a:path w="2814867" h="1725241">
                <a:moveTo>
                  <a:pt x="0" y="0"/>
                </a:moveTo>
                <a:lnTo>
                  <a:pt x="2814867" y="0"/>
                </a:lnTo>
                <a:lnTo>
                  <a:pt x="2814867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96330" y="7227823"/>
            <a:ext cx="2837063" cy="1725241"/>
          </a:xfrm>
          <a:custGeom>
            <a:avLst/>
            <a:gdLst/>
            <a:ahLst/>
            <a:cxnLst/>
            <a:rect l="l" t="t" r="r" b="b"/>
            <a:pathLst>
              <a:path w="2837063" h="1725241">
                <a:moveTo>
                  <a:pt x="0" y="0"/>
                </a:moveTo>
                <a:lnTo>
                  <a:pt x="2837063" y="0"/>
                </a:lnTo>
                <a:lnTo>
                  <a:pt x="2837063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616" y="7227823"/>
            <a:ext cx="2811504" cy="1692109"/>
          </a:xfrm>
          <a:custGeom>
            <a:avLst/>
            <a:gdLst/>
            <a:ahLst/>
            <a:cxnLst/>
            <a:rect l="l" t="t" r="r" b="b"/>
            <a:pathLst>
              <a:path w="2811504" h="1692109">
                <a:moveTo>
                  <a:pt x="0" y="0"/>
                </a:moveTo>
                <a:lnTo>
                  <a:pt x="2811504" y="0"/>
                </a:lnTo>
                <a:lnTo>
                  <a:pt x="2811504" y="1692108"/>
                </a:lnTo>
                <a:lnTo>
                  <a:pt x="0" y="16921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226580" y="7227823"/>
            <a:ext cx="2768905" cy="1692109"/>
          </a:xfrm>
          <a:custGeom>
            <a:avLst/>
            <a:gdLst/>
            <a:ahLst/>
            <a:cxnLst/>
            <a:rect l="l" t="t" r="r" b="b"/>
            <a:pathLst>
              <a:path w="2768905" h="1692109">
                <a:moveTo>
                  <a:pt x="0" y="0"/>
                </a:moveTo>
                <a:lnTo>
                  <a:pt x="2768905" y="0"/>
                </a:lnTo>
                <a:lnTo>
                  <a:pt x="2768905" y="1692108"/>
                </a:lnTo>
                <a:lnTo>
                  <a:pt x="0" y="16921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496330" y="7227823"/>
            <a:ext cx="2837063" cy="1712697"/>
          </a:xfrm>
          <a:custGeom>
            <a:avLst/>
            <a:gdLst/>
            <a:ahLst/>
            <a:cxnLst/>
            <a:rect l="l" t="t" r="r" b="b"/>
            <a:pathLst>
              <a:path w="2837063" h="1712697">
                <a:moveTo>
                  <a:pt x="0" y="0"/>
                </a:moveTo>
                <a:lnTo>
                  <a:pt x="2837063" y="0"/>
                </a:lnTo>
                <a:lnTo>
                  <a:pt x="2837063" y="1712697"/>
                </a:lnTo>
                <a:lnTo>
                  <a:pt x="0" y="17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05091" y="2553738"/>
            <a:ext cx="8108385" cy="113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6"/>
              </a:lnSpc>
            </a:pPr>
            <a:r>
              <a:rPr lang="en-US" sz="7005" spc="168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Meaning of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616" y="4926348"/>
            <a:ext cx="980388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616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616" y="6155741"/>
            <a:ext cx="373378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Today's 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6580" y="4926348"/>
            <a:ext cx="980388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26580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26580" y="6155741"/>
            <a:ext cx="4701100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price adjusted for splits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96330" y="4926348"/>
            <a:ext cx="980388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6330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Adj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6330" y="6155741"/>
            <a:ext cx="3772224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Adjusted close price</a:t>
            </a:r>
          </a:p>
        </p:txBody>
      </p:sp>
      <p:pic>
        <p:nvPicPr>
          <p:cNvPr id="24" name="6">
            <a:hlinkClick r:id="" action="ppaction://media"/>
            <a:extLst>
              <a:ext uri="{FF2B5EF4-FFF2-40B4-BE49-F238E27FC236}">
                <a16:creationId xmlns:a16="http://schemas.microsoft.com/office/drawing/2014/main" id="{447BF63F-22B3-E38E-B3A4-FCEA94AA4A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6618972" y="9258300"/>
            <a:ext cx="980388" cy="980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3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6975" y="0"/>
            <a:ext cx="13196926" cy="10815302"/>
            <a:chOff x="0" y="0"/>
            <a:chExt cx="812800" cy="666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666116"/>
            </a:xfrm>
            <a:custGeom>
              <a:avLst/>
              <a:gdLst/>
              <a:ahLst/>
              <a:cxnLst/>
              <a:rect l="l" t="t" r="r" b="b"/>
              <a:pathLst>
                <a:path w="812800" h="666116">
                  <a:moveTo>
                    <a:pt x="609600" y="0"/>
                  </a:moveTo>
                  <a:lnTo>
                    <a:pt x="0" y="0"/>
                  </a:lnTo>
                  <a:lnTo>
                    <a:pt x="203200" y="666116"/>
                  </a:lnTo>
                  <a:lnTo>
                    <a:pt x="812800" y="666116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4"/>
              <a:stretch>
                <a:fillRect l="-11503" r="-1150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47723" y="4676318"/>
            <a:ext cx="18288000" cy="4581982"/>
            <a:chOff x="0" y="0"/>
            <a:chExt cx="4816593" cy="12067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06777"/>
            </a:xfrm>
            <a:custGeom>
              <a:avLst/>
              <a:gdLst/>
              <a:ahLst/>
              <a:cxnLst/>
              <a:rect l="l" t="t" r="r" b="b"/>
              <a:pathLst>
                <a:path w="4816592" h="1206777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1185187"/>
                  </a:lnTo>
                  <a:cubicBezTo>
                    <a:pt x="4816592" y="1197111"/>
                    <a:pt x="4806926" y="1206777"/>
                    <a:pt x="4795002" y="1206777"/>
                  </a:cubicBezTo>
                  <a:lnTo>
                    <a:pt x="21590" y="1206777"/>
                  </a:lnTo>
                  <a:cubicBezTo>
                    <a:pt x="9666" y="1206777"/>
                    <a:pt x="0" y="1197111"/>
                    <a:pt x="0" y="1185187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273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14616" y="3850579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14616" y="7227823"/>
            <a:ext cx="2811504" cy="1725241"/>
          </a:xfrm>
          <a:custGeom>
            <a:avLst/>
            <a:gdLst/>
            <a:ahLst/>
            <a:cxnLst/>
            <a:rect l="l" t="t" r="r" b="b"/>
            <a:pathLst>
              <a:path w="2811504" h="1725241">
                <a:moveTo>
                  <a:pt x="0" y="0"/>
                </a:moveTo>
                <a:lnTo>
                  <a:pt x="2811504" y="0"/>
                </a:lnTo>
                <a:lnTo>
                  <a:pt x="2811504" y="1725241"/>
                </a:lnTo>
                <a:lnTo>
                  <a:pt x="0" y="17252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616" y="7227823"/>
            <a:ext cx="2811504" cy="1692109"/>
          </a:xfrm>
          <a:custGeom>
            <a:avLst/>
            <a:gdLst/>
            <a:ahLst/>
            <a:cxnLst/>
            <a:rect l="l" t="t" r="r" b="b"/>
            <a:pathLst>
              <a:path w="2811504" h="1692109">
                <a:moveTo>
                  <a:pt x="0" y="0"/>
                </a:moveTo>
                <a:lnTo>
                  <a:pt x="2811504" y="0"/>
                </a:lnTo>
                <a:lnTo>
                  <a:pt x="2811504" y="1692108"/>
                </a:lnTo>
                <a:lnTo>
                  <a:pt x="0" y="1692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4616" y="7227823"/>
            <a:ext cx="2811504" cy="1731157"/>
          </a:xfrm>
          <a:custGeom>
            <a:avLst/>
            <a:gdLst/>
            <a:ahLst/>
            <a:cxnLst/>
            <a:rect l="l" t="t" r="r" b="b"/>
            <a:pathLst>
              <a:path w="2811504" h="1731157">
                <a:moveTo>
                  <a:pt x="0" y="0"/>
                </a:moveTo>
                <a:lnTo>
                  <a:pt x="2811504" y="0"/>
                </a:lnTo>
                <a:lnTo>
                  <a:pt x="2811504" y="1731157"/>
                </a:lnTo>
                <a:lnTo>
                  <a:pt x="0" y="17311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05091" y="2553738"/>
            <a:ext cx="8108385" cy="113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6"/>
              </a:lnSpc>
            </a:pPr>
            <a:r>
              <a:rPr lang="en-US" sz="7005" spc="168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Meaning of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616" y="4926348"/>
            <a:ext cx="980388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616" y="5507370"/>
            <a:ext cx="3014129" cy="50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spc="7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616" y="6155741"/>
            <a:ext cx="373378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Volume of stocks</a:t>
            </a:r>
          </a:p>
        </p:txBody>
      </p:sp>
      <p:pic>
        <p:nvPicPr>
          <p:cNvPr id="15" name="7">
            <a:hlinkClick r:id="" action="ppaction://media"/>
            <a:extLst>
              <a:ext uri="{FF2B5EF4-FFF2-40B4-BE49-F238E27FC236}">
                <a16:creationId xmlns:a16="http://schemas.microsoft.com/office/drawing/2014/main" id="{073EFFFC-E0C2-3EA9-E332-D2FFC5EE28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659885" y="9319388"/>
            <a:ext cx="980388" cy="980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05387" y="1028700"/>
            <a:ext cx="8353913" cy="4114800"/>
            <a:chOff x="0" y="0"/>
            <a:chExt cx="1294240" cy="637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4240" cy="637490"/>
            </a:xfrm>
            <a:custGeom>
              <a:avLst/>
              <a:gdLst/>
              <a:ahLst/>
              <a:cxnLst/>
              <a:rect l="l" t="t" r="r" b="b"/>
              <a:pathLst>
                <a:path w="1294240" h="637490">
                  <a:moveTo>
                    <a:pt x="21315" y="0"/>
                  </a:moveTo>
                  <a:lnTo>
                    <a:pt x="1272925" y="0"/>
                  </a:lnTo>
                  <a:cubicBezTo>
                    <a:pt x="1278578" y="0"/>
                    <a:pt x="1283999" y="2246"/>
                    <a:pt x="1287997" y="6243"/>
                  </a:cubicBezTo>
                  <a:cubicBezTo>
                    <a:pt x="1291994" y="10240"/>
                    <a:pt x="1294240" y="15662"/>
                    <a:pt x="1294240" y="21315"/>
                  </a:cubicBezTo>
                  <a:lnTo>
                    <a:pt x="1294240" y="616175"/>
                  </a:lnTo>
                  <a:cubicBezTo>
                    <a:pt x="1294240" y="627947"/>
                    <a:pt x="1284697" y="637490"/>
                    <a:pt x="1272925" y="637490"/>
                  </a:cubicBezTo>
                  <a:lnTo>
                    <a:pt x="21315" y="637490"/>
                  </a:lnTo>
                  <a:cubicBezTo>
                    <a:pt x="15662" y="637490"/>
                    <a:pt x="10240" y="635245"/>
                    <a:pt x="6243" y="631247"/>
                  </a:cubicBezTo>
                  <a:cubicBezTo>
                    <a:pt x="2246" y="627250"/>
                    <a:pt x="0" y="621828"/>
                    <a:pt x="0" y="616175"/>
                  </a:cubicBezTo>
                  <a:lnTo>
                    <a:pt x="0" y="21315"/>
                  </a:lnTo>
                  <a:cubicBezTo>
                    <a:pt x="0" y="15662"/>
                    <a:pt x="2246" y="10240"/>
                    <a:pt x="6243" y="6243"/>
                  </a:cubicBezTo>
                  <a:cubicBezTo>
                    <a:pt x="10240" y="2246"/>
                    <a:pt x="15662" y="0"/>
                    <a:pt x="21315" y="0"/>
                  </a:cubicBezTo>
                  <a:close/>
                </a:path>
              </a:pathLst>
            </a:custGeom>
            <a:blipFill>
              <a:blip r:embed="rId4"/>
              <a:stretch>
                <a:fillRect t="-17631" b="-1763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-1596877" y="4070613"/>
            <a:ext cx="9401164" cy="7308453"/>
            <a:chOff x="0" y="0"/>
            <a:chExt cx="2476027" cy="19248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6027" cy="1924860"/>
            </a:xfrm>
            <a:custGeom>
              <a:avLst/>
              <a:gdLst/>
              <a:ahLst/>
              <a:cxnLst/>
              <a:rect l="l" t="t" r="r" b="b"/>
              <a:pathLst>
                <a:path w="2476027" h="1924860">
                  <a:moveTo>
                    <a:pt x="203200" y="0"/>
                  </a:moveTo>
                  <a:lnTo>
                    <a:pt x="2476027" y="0"/>
                  </a:lnTo>
                  <a:lnTo>
                    <a:pt x="2272827" y="1924860"/>
                  </a:lnTo>
                  <a:lnTo>
                    <a:pt x="0" y="19248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66675"/>
              <a:ext cx="2272827" cy="19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257800"/>
            <a:ext cx="7876687" cy="4000500"/>
            <a:chOff x="0" y="0"/>
            <a:chExt cx="1220305" cy="6197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0305" cy="619782"/>
            </a:xfrm>
            <a:custGeom>
              <a:avLst/>
              <a:gdLst/>
              <a:ahLst/>
              <a:cxnLst/>
              <a:rect l="l" t="t" r="r" b="b"/>
              <a:pathLst>
                <a:path w="1220305" h="619782">
                  <a:moveTo>
                    <a:pt x="22606" y="0"/>
                  </a:moveTo>
                  <a:lnTo>
                    <a:pt x="1197699" y="0"/>
                  </a:lnTo>
                  <a:cubicBezTo>
                    <a:pt x="1203694" y="0"/>
                    <a:pt x="1209444" y="2382"/>
                    <a:pt x="1213684" y="6621"/>
                  </a:cubicBezTo>
                  <a:cubicBezTo>
                    <a:pt x="1217923" y="10861"/>
                    <a:pt x="1220305" y="16611"/>
                    <a:pt x="1220305" y="22606"/>
                  </a:cubicBezTo>
                  <a:lnTo>
                    <a:pt x="1220305" y="597176"/>
                  </a:lnTo>
                  <a:cubicBezTo>
                    <a:pt x="1220305" y="609661"/>
                    <a:pt x="1210184" y="619782"/>
                    <a:pt x="1197699" y="619782"/>
                  </a:cubicBezTo>
                  <a:lnTo>
                    <a:pt x="22606" y="619782"/>
                  </a:lnTo>
                  <a:cubicBezTo>
                    <a:pt x="10121" y="619782"/>
                    <a:pt x="0" y="609661"/>
                    <a:pt x="0" y="597176"/>
                  </a:cubicBezTo>
                  <a:lnTo>
                    <a:pt x="0" y="22606"/>
                  </a:lnTo>
                  <a:cubicBezTo>
                    <a:pt x="0" y="10121"/>
                    <a:pt x="10121" y="0"/>
                    <a:pt x="22606" y="0"/>
                  </a:cubicBezTo>
                  <a:close/>
                </a:path>
              </a:pathLst>
            </a:custGeom>
            <a:blipFill>
              <a:blip r:embed="rId5"/>
              <a:stretch>
                <a:fillRect t="-5252" b="-5252"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788118" y="3273425"/>
            <a:ext cx="2315587" cy="0"/>
          </a:xfrm>
          <a:prstGeom prst="line">
            <a:avLst/>
          </a:prstGeom>
          <a:ln w="57150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788118" y="1066800"/>
            <a:ext cx="8576962" cy="203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52479" y="6030184"/>
            <a:ext cx="7478779" cy="248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spc="285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We will find the rows in the dataset that contain missing, wrong or unusable values.</a:t>
            </a:r>
          </a:p>
          <a:p>
            <a:pPr algn="l">
              <a:lnSpc>
                <a:spcPts val="3360"/>
              </a:lnSpc>
            </a:pPr>
            <a:r>
              <a:rPr lang="en-US" sz="2400" spc="285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Then we will decide whether to keep the fields and fill in the missing values or simply delete the fields.</a:t>
            </a:r>
          </a:p>
          <a:p>
            <a:pPr algn="l">
              <a:lnSpc>
                <a:spcPts val="3080"/>
              </a:lnSpc>
            </a:pPr>
            <a:endParaRPr lang="en-US" sz="2400" spc="285">
              <a:solidFill>
                <a:srgbClr val="00000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grpSp>
        <p:nvGrpSpPr>
          <p:cNvPr id="12" name="Group 12"/>
          <p:cNvGrpSpPr/>
          <p:nvPr/>
        </p:nvGrpSpPr>
        <p:grpSpPr>
          <a:xfrm rot="9902075">
            <a:off x="16639813" y="-861230"/>
            <a:ext cx="3620223" cy="3167695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72976" y="8434995"/>
            <a:ext cx="2879231" cy="823305"/>
            <a:chOff x="0" y="0"/>
            <a:chExt cx="1584993" cy="4532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572976" y="8657913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9" name="8">
            <a:hlinkClick r:id="" action="ppaction://media"/>
            <a:extLst>
              <a:ext uri="{FF2B5EF4-FFF2-40B4-BE49-F238E27FC236}">
                <a16:creationId xmlns:a16="http://schemas.microsoft.com/office/drawing/2014/main" id="{C2F033B9-1CCB-ACE4-B9E7-C043A0F820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565562" y="8564562"/>
            <a:ext cx="1387475" cy="1387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49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2956" y="-868823"/>
            <a:ext cx="13380588" cy="11610081"/>
            <a:chOff x="0" y="0"/>
            <a:chExt cx="853424" cy="740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3777573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14616" y="8105342"/>
            <a:ext cx="2879231" cy="823305"/>
            <a:chOff x="0" y="0"/>
            <a:chExt cx="1584993" cy="4532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279710" y="3827709"/>
            <a:ext cx="6288339" cy="4192226"/>
          </a:xfrm>
          <a:custGeom>
            <a:avLst/>
            <a:gdLst/>
            <a:ahLst/>
            <a:cxnLst/>
            <a:rect l="l" t="t" r="r" b="b"/>
            <a:pathLst>
              <a:path w="6288339" h="4192226">
                <a:moveTo>
                  <a:pt x="0" y="0"/>
                </a:moveTo>
                <a:lnTo>
                  <a:pt x="6288339" y="0"/>
                </a:lnTo>
                <a:lnTo>
                  <a:pt x="6288339" y="4192226"/>
                </a:lnTo>
                <a:lnTo>
                  <a:pt x="0" y="4192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130268"/>
            <a:ext cx="6488239" cy="228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7868" y="4546825"/>
            <a:ext cx="7045089" cy="271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Based on the columns in the database we need to find the correlation between different previous factors and we will try to define the new price.</a:t>
            </a:r>
          </a:p>
          <a:p>
            <a:pPr algn="l">
              <a:lnSpc>
                <a:spcPts val="3080"/>
              </a:lnSpc>
            </a:pPr>
            <a:endParaRPr lang="en-US" sz="2200" spc="26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will do it using Python Numpy, Pandas and Matplotlib functions.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30895" y="2276443"/>
            <a:ext cx="4385970" cy="114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3"/>
              </a:lnSpc>
            </a:pPr>
            <a:r>
              <a:rPr lang="en-US" sz="3525" spc="8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Correlation graph example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616" y="8328259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5" name="9">
            <a:hlinkClick r:id="" action="ppaction://media"/>
            <a:extLst>
              <a:ext uri="{FF2B5EF4-FFF2-40B4-BE49-F238E27FC236}">
                <a16:creationId xmlns:a16="http://schemas.microsoft.com/office/drawing/2014/main" id="{6B023FB9-C731-2EC7-5AEA-832BD3814B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332974" y="8418335"/>
            <a:ext cx="1235075" cy="1235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5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596877" y="4070613"/>
            <a:ext cx="9401164" cy="7308453"/>
            <a:chOff x="0" y="0"/>
            <a:chExt cx="2476027" cy="1924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6027" cy="1924860"/>
            </a:xfrm>
            <a:custGeom>
              <a:avLst/>
              <a:gdLst/>
              <a:ahLst/>
              <a:cxnLst/>
              <a:rect l="l" t="t" r="r" b="b"/>
              <a:pathLst>
                <a:path w="2476027" h="1924860">
                  <a:moveTo>
                    <a:pt x="203200" y="0"/>
                  </a:moveTo>
                  <a:lnTo>
                    <a:pt x="2476027" y="0"/>
                  </a:lnTo>
                  <a:lnTo>
                    <a:pt x="2272827" y="1924860"/>
                  </a:lnTo>
                  <a:lnTo>
                    <a:pt x="0" y="19248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2272827" cy="1991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9902075">
            <a:off x="16639813" y="-861230"/>
            <a:ext cx="3620223" cy="3167695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6567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53476" y="3153196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696852" y="4634294"/>
            <a:ext cx="3888519" cy="3840481"/>
          </a:xfrm>
          <a:custGeom>
            <a:avLst/>
            <a:gdLst/>
            <a:ahLst/>
            <a:cxnLst/>
            <a:rect l="l" t="t" r="r" b="b"/>
            <a:pathLst>
              <a:path w="3888519" h="3840481">
                <a:moveTo>
                  <a:pt x="0" y="0"/>
                </a:moveTo>
                <a:lnTo>
                  <a:pt x="3888519" y="0"/>
                </a:lnTo>
                <a:lnTo>
                  <a:pt x="3888519" y="3840481"/>
                </a:lnTo>
                <a:lnTo>
                  <a:pt x="0" y="3840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5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589880"/>
            <a:ext cx="12336400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Modeling and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33152" y="4013463"/>
            <a:ext cx="7463896" cy="39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395" spc="285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To model and predict Netflix stock prices, various machine learning techniques can be employed. Key steps include:</a:t>
            </a:r>
          </a:p>
          <a:p>
            <a:pPr marL="517133" lvl="1" indent="-258567" algn="l">
              <a:lnSpc>
                <a:spcPts val="3353"/>
              </a:lnSpc>
              <a:buFont typeface="Arial"/>
              <a:buChar char="•"/>
            </a:pPr>
            <a:r>
              <a:rPr lang="en-US" sz="2395" spc="285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Data collection using libraries to fetch historical stock data; </a:t>
            </a:r>
          </a:p>
          <a:p>
            <a:pPr marL="517133" lvl="1" indent="-258567" algn="l">
              <a:lnSpc>
                <a:spcPts val="3353"/>
              </a:lnSpc>
              <a:buFont typeface="Arial"/>
              <a:buChar char="•"/>
            </a:pPr>
            <a:r>
              <a:rPr lang="en-US" sz="2395" spc="285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Analyzing factors influencing stock prices, such as market trends; </a:t>
            </a:r>
          </a:p>
          <a:p>
            <a:pPr marL="517133" lvl="1" indent="-258567" algn="l">
              <a:lnSpc>
                <a:spcPts val="3353"/>
              </a:lnSpc>
              <a:buFont typeface="Arial"/>
              <a:buChar char="•"/>
            </a:pPr>
            <a:r>
              <a:rPr lang="en-US" sz="2395" spc="285" dirty="0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Implementing algorithms and evaluating performance using metrics.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365185" y="8434995"/>
            <a:ext cx="2879231" cy="823305"/>
            <a:chOff x="0" y="0"/>
            <a:chExt cx="1584993" cy="4532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365185" y="8657913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16" name="10">
            <a:hlinkClick r:id="" action="ppaction://media"/>
            <a:extLst>
              <a:ext uri="{FF2B5EF4-FFF2-40B4-BE49-F238E27FC236}">
                <a16:creationId xmlns:a16="http://schemas.microsoft.com/office/drawing/2014/main" id="{F52AD3C3-2605-68C7-83EC-4E9AE94CF2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651616" y="8072604"/>
            <a:ext cx="1426967" cy="1426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7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53476" y="3153196"/>
            <a:ext cx="2050229" cy="0"/>
          </a:xfrm>
          <a:prstGeom prst="line">
            <a:avLst/>
          </a:prstGeom>
          <a:ln w="85725" cap="flat">
            <a:solidFill>
              <a:srgbClr val="36567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1589880"/>
            <a:ext cx="12336400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167">
                <a:solidFill>
                  <a:srgbClr val="3656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Expected outcome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552136" y="0"/>
            <a:ext cx="13380588" cy="11610081"/>
            <a:chOff x="0" y="0"/>
            <a:chExt cx="853424" cy="740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1925099" y="-823150"/>
            <a:ext cx="13380588" cy="11610081"/>
            <a:chOff x="0" y="0"/>
            <a:chExt cx="853424" cy="740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424" cy="740500"/>
            </a:xfrm>
            <a:custGeom>
              <a:avLst/>
              <a:gdLst/>
              <a:ahLst/>
              <a:cxnLst/>
              <a:rect l="l" t="t" r="r" b="b"/>
              <a:pathLst>
                <a:path w="853424" h="740500">
                  <a:moveTo>
                    <a:pt x="203200" y="0"/>
                  </a:moveTo>
                  <a:lnTo>
                    <a:pt x="853424" y="0"/>
                  </a:lnTo>
                  <a:lnTo>
                    <a:pt x="650224" y="740500"/>
                  </a:lnTo>
                  <a:lnTo>
                    <a:pt x="0" y="7405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66675"/>
              <a:ext cx="650224" cy="80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138130" y="6390149"/>
            <a:ext cx="2768473" cy="1962155"/>
          </a:xfrm>
          <a:custGeom>
            <a:avLst/>
            <a:gdLst/>
            <a:ahLst/>
            <a:cxnLst/>
            <a:rect l="l" t="t" r="r" b="b"/>
            <a:pathLst>
              <a:path w="2768473" h="1962155">
                <a:moveTo>
                  <a:pt x="0" y="0"/>
                </a:moveTo>
                <a:lnTo>
                  <a:pt x="2768472" y="0"/>
                </a:lnTo>
                <a:lnTo>
                  <a:pt x="2768472" y="1962155"/>
                </a:lnTo>
                <a:lnTo>
                  <a:pt x="0" y="1962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428672" y="2974302"/>
            <a:ext cx="2187389" cy="2830738"/>
          </a:xfrm>
          <a:custGeom>
            <a:avLst/>
            <a:gdLst/>
            <a:ahLst/>
            <a:cxnLst/>
            <a:rect l="l" t="t" r="r" b="b"/>
            <a:pathLst>
              <a:path w="2187389" h="2830738">
                <a:moveTo>
                  <a:pt x="0" y="0"/>
                </a:moveTo>
                <a:lnTo>
                  <a:pt x="2187388" y="0"/>
                </a:lnTo>
                <a:lnTo>
                  <a:pt x="2187388" y="2830738"/>
                </a:lnTo>
                <a:lnTo>
                  <a:pt x="0" y="2830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3336035"/>
            <a:ext cx="3712753" cy="51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3016" b="1">
                <a:solidFill>
                  <a:srgbClr val="1220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Performance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939708"/>
            <a:ext cx="4029436" cy="51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3016" b="1">
                <a:solidFill>
                  <a:srgbClr val="1220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Forecasting Accuracy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995418"/>
            <a:ext cx="7294498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26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The model achieved high accuracy, with linear regression yielding a mean absolute error close to zero and an R-squared value of 1.00, indicating excellent fit to the data.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599011"/>
            <a:ext cx="7463896" cy="150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261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The project aims to provide insights useful for investors, suggesting that ML algorithms can effectively predict stock price movements based on past performance.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8434995"/>
            <a:ext cx="2879231" cy="823305"/>
            <a:chOff x="0" y="0"/>
            <a:chExt cx="1584993" cy="4532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84993" cy="453222"/>
            </a:xfrm>
            <a:custGeom>
              <a:avLst/>
              <a:gdLst/>
              <a:ahLst/>
              <a:cxnLst/>
              <a:rect l="l" t="t" r="r" b="b"/>
              <a:pathLst>
                <a:path w="1584993" h="453222">
                  <a:moveTo>
                    <a:pt x="1381793" y="0"/>
                  </a:moveTo>
                  <a:cubicBezTo>
                    <a:pt x="1494017" y="0"/>
                    <a:pt x="1584993" y="101457"/>
                    <a:pt x="1584993" y="226611"/>
                  </a:cubicBezTo>
                  <a:cubicBezTo>
                    <a:pt x="1584993" y="351765"/>
                    <a:pt x="1494017" y="453222"/>
                    <a:pt x="1381793" y="453222"/>
                  </a:cubicBezTo>
                  <a:lnTo>
                    <a:pt x="203200" y="453222"/>
                  </a:lnTo>
                  <a:cubicBezTo>
                    <a:pt x="90976" y="453222"/>
                    <a:pt x="0" y="351765"/>
                    <a:pt x="0" y="226611"/>
                  </a:cubicBezTo>
                  <a:cubicBezTo>
                    <a:pt x="0" y="10145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584993" cy="5198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8657913"/>
            <a:ext cx="2871424" cy="40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3"/>
              </a:lnSpc>
            </a:pPr>
            <a:r>
              <a:rPr lang="en-US" sz="2525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CONTINUE</a:t>
            </a:r>
          </a:p>
        </p:txBody>
      </p:sp>
      <p:pic>
        <p:nvPicPr>
          <p:cNvPr id="20" name="11">
            <a:hlinkClick r:id="" action="ppaction://media"/>
            <a:extLst>
              <a:ext uri="{FF2B5EF4-FFF2-40B4-BE49-F238E27FC236}">
                <a16:creationId xmlns:a16="http://schemas.microsoft.com/office/drawing/2014/main" id="{CF62D18F-B7A8-64BE-4306-A747B32832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132259" y="8105342"/>
            <a:ext cx="1238605" cy="1238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0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569083"/>
            <a:chOff x="0" y="0"/>
            <a:chExt cx="4816593" cy="14667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466754"/>
            </a:xfrm>
            <a:custGeom>
              <a:avLst/>
              <a:gdLst/>
              <a:ahLst/>
              <a:cxnLst/>
              <a:rect l="l" t="t" r="r" b="b"/>
              <a:pathLst>
                <a:path w="4816592" h="1466754">
                  <a:moveTo>
                    <a:pt x="0" y="0"/>
                  </a:moveTo>
                  <a:lnTo>
                    <a:pt x="4816592" y="0"/>
                  </a:lnTo>
                  <a:lnTo>
                    <a:pt x="4816592" y="1466754"/>
                  </a:lnTo>
                  <a:lnTo>
                    <a:pt x="0" y="1466754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1533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81611" y="-266556"/>
            <a:ext cx="9534940" cy="5835639"/>
            <a:chOff x="0" y="0"/>
            <a:chExt cx="1477212" cy="9040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7212" cy="904093"/>
            </a:xfrm>
            <a:custGeom>
              <a:avLst/>
              <a:gdLst/>
              <a:ahLst/>
              <a:cxnLst/>
              <a:rect l="l" t="t" r="r" b="b"/>
              <a:pathLst>
                <a:path w="1477212" h="904093">
                  <a:moveTo>
                    <a:pt x="18675" y="0"/>
                  </a:moveTo>
                  <a:lnTo>
                    <a:pt x="1458537" y="0"/>
                  </a:lnTo>
                  <a:cubicBezTo>
                    <a:pt x="1463490" y="0"/>
                    <a:pt x="1468240" y="1968"/>
                    <a:pt x="1471742" y="5470"/>
                  </a:cubicBezTo>
                  <a:cubicBezTo>
                    <a:pt x="1475244" y="8972"/>
                    <a:pt x="1477212" y="13722"/>
                    <a:pt x="1477212" y="18675"/>
                  </a:cubicBezTo>
                  <a:lnTo>
                    <a:pt x="1477212" y="885418"/>
                  </a:lnTo>
                  <a:cubicBezTo>
                    <a:pt x="1477212" y="895732"/>
                    <a:pt x="1468851" y="904093"/>
                    <a:pt x="1458537" y="904093"/>
                  </a:cubicBezTo>
                  <a:lnTo>
                    <a:pt x="18675" y="904093"/>
                  </a:lnTo>
                  <a:cubicBezTo>
                    <a:pt x="13722" y="904093"/>
                    <a:pt x="8972" y="902126"/>
                    <a:pt x="5470" y="898624"/>
                  </a:cubicBezTo>
                  <a:cubicBezTo>
                    <a:pt x="1968" y="895121"/>
                    <a:pt x="0" y="890371"/>
                    <a:pt x="0" y="885418"/>
                  </a:cubicBezTo>
                  <a:lnTo>
                    <a:pt x="0" y="18675"/>
                  </a:lnTo>
                  <a:cubicBezTo>
                    <a:pt x="0" y="13722"/>
                    <a:pt x="1968" y="8972"/>
                    <a:pt x="5470" y="5470"/>
                  </a:cubicBezTo>
                  <a:cubicBezTo>
                    <a:pt x="8972" y="1968"/>
                    <a:pt x="13722" y="0"/>
                    <a:pt x="18675" y="0"/>
                  </a:cubicBezTo>
                  <a:close/>
                </a:path>
              </a:pathLst>
            </a:custGeom>
            <a:blipFill>
              <a:blip r:embed="rId4"/>
              <a:stretch>
                <a:fillRect t="-11197" b="-11197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028700" y="4825576"/>
            <a:ext cx="2050229" cy="0"/>
          </a:xfrm>
          <a:prstGeom prst="line">
            <a:avLst/>
          </a:prstGeom>
          <a:ln w="85725" cap="flat">
            <a:solidFill>
              <a:srgbClr val="86B4C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668435" y="6204937"/>
            <a:ext cx="7590865" cy="3249786"/>
            <a:chOff x="0" y="0"/>
            <a:chExt cx="1999240" cy="855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240" cy="855911"/>
            </a:xfrm>
            <a:custGeom>
              <a:avLst/>
              <a:gdLst/>
              <a:ahLst/>
              <a:cxnLst/>
              <a:rect l="l" t="t" r="r" b="b"/>
              <a:pathLst>
                <a:path w="1999240" h="855911">
                  <a:moveTo>
                    <a:pt x="50995" y="0"/>
                  </a:moveTo>
                  <a:lnTo>
                    <a:pt x="1948245" y="0"/>
                  </a:lnTo>
                  <a:cubicBezTo>
                    <a:pt x="1961770" y="0"/>
                    <a:pt x="1974741" y="5373"/>
                    <a:pt x="1984304" y="14936"/>
                  </a:cubicBezTo>
                  <a:cubicBezTo>
                    <a:pt x="1993868" y="24499"/>
                    <a:pt x="1999240" y="37470"/>
                    <a:pt x="1999240" y="50995"/>
                  </a:cubicBezTo>
                  <a:lnTo>
                    <a:pt x="1999240" y="804916"/>
                  </a:lnTo>
                  <a:cubicBezTo>
                    <a:pt x="1999240" y="818440"/>
                    <a:pt x="1993868" y="831411"/>
                    <a:pt x="1984304" y="840975"/>
                  </a:cubicBezTo>
                  <a:cubicBezTo>
                    <a:pt x="1974741" y="850538"/>
                    <a:pt x="1961770" y="855911"/>
                    <a:pt x="1948245" y="855911"/>
                  </a:cubicBezTo>
                  <a:lnTo>
                    <a:pt x="50995" y="855911"/>
                  </a:lnTo>
                  <a:cubicBezTo>
                    <a:pt x="37470" y="855911"/>
                    <a:pt x="24499" y="850538"/>
                    <a:pt x="14936" y="840975"/>
                  </a:cubicBezTo>
                  <a:cubicBezTo>
                    <a:pt x="5373" y="831411"/>
                    <a:pt x="0" y="818440"/>
                    <a:pt x="0" y="804916"/>
                  </a:cubicBezTo>
                  <a:lnTo>
                    <a:pt x="0" y="50995"/>
                  </a:lnTo>
                  <a:cubicBezTo>
                    <a:pt x="0" y="37470"/>
                    <a:pt x="5373" y="24499"/>
                    <a:pt x="14936" y="14936"/>
                  </a:cubicBezTo>
                  <a:cubicBezTo>
                    <a:pt x="24499" y="5373"/>
                    <a:pt x="37470" y="0"/>
                    <a:pt x="50995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999240" cy="922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204937"/>
            <a:ext cx="7590865" cy="3249786"/>
            <a:chOff x="0" y="0"/>
            <a:chExt cx="1999240" cy="8559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240" cy="855911"/>
            </a:xfrm>
            <a:custGeom>
              <a:avLst/>
              <a:gdLst/>
              <a:ahLst/>
              <a:cxnLst/>
              <a:rect l="l" t="t" r="r" b="b"/>
              <a:pathLst>
                <a:path w="1999240" h="855911">
                  <a:moveTo>
                    <a:pt x="50995" y="0"/>
                  </a:moveTo>
                  <a:lnTo>
                    <a:pt x="1948245" y="0"/>
                  </a:lnTo>
                  <a:cubicBezTo>
                    <a:pt x="1961770" y="0"/>
                    <a:pt x="1974741" y="5373"/>
                    <a:pt x="1984304" y="14936"/>
                  </a:cubicBezTo>
                  <a:cubicBezTo>
                    <a:pt x="1993868" y="24499"/>
                    <a:pt x="1999240" y="37470"/>
                    <a:pt x="1999240" y="50995"/>
                  </a:cubicBezTo>
                  <a:lnTo>
                    <a:pt x="1999240" y="804916"/>
                  </a:lnTo>
                  <a:cubicBezTo>
                    <a:pt x="1999240" y="818440"/>
                    <a:pt x="1993868" y="831411"/>
                    <a:pt x="1984304" y="840975"/>
                  </a:cubicBezTo>
                  <a:cubicBezTo>
                    <a:pt x="1974741" y="850538"/>
                    <a:pt x="1961770" y="855911"/>
                    <a:pt x="1948245" y="855911"/>
                  </a:cubicBezTo>
                  <a:lnTo>
                    <a:pt x="50995" y="855911"/>
                  </a:lnTo>
                  <a:cubicBezTo>
                    <a:pt x="37470" y="855911"/>
                    <a:pt x="24499" y="850538"/>
                    <a:pt x="14936" y="840975"/>
                  </a:cubicBezTo>
                  <a:cubicBezTo>
                    <a:pt x="5373" y="831411"/>
                    <a:pt x="0" y="818440"/>
                    <a:pt x="0" y="804916"/>
                  </a:cubicBezTo>
                  <a:lnTo>
                    <a:pt x="0" y="50995"/>
                  </a:lnTo>
                  <a:cubicBezTo>
                    <a:pt x="0" y="37470"/>
                    <a:pt x="5373" y="24499"/>
                    <a:pt x="14936" y="14936"/>
                  </a:cubicBezTo>
                  <a:cubicBezTo>
                    <a:pt x="24499" y="5373"/>
                    <a:pt x="37470" y="0"/>
                    <a:pt x="50995" y="0"/>
                  </a:cubicBez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999240" cy="922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2542289"/>
            <a:ext cx="7110246" cy="105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6"/>
              </a:lnSpc>
            </a:pPr>
            <a:r>
              <a:rPr lang="en-US" sz="6505" spc="15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526453"/>
            <a:ext cx="8639735" cy="105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6"/>
              </a:lnSpc>
            </a:pPr>
            <a:r>
              <a:rPr lang="en-US" sz="6505" spc="156">
                <a:solidFill>
                  <a:srgbClr val="86B4C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Exchange students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3888" y="6687616"/>
            <a:ext cx="318037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7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Sofia </a:t>
            </a:r>
            <a:r>
              <a:rPr lang="en-US" sz="3000" spc="72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狄</a:t>
            </a:r>
            <a:r>
              <a:rPr lang="en-US" sz="3000" b="1" spc="72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苏菲</a:t>
            </a:r>
            <a:endParaRPr lang="en-US" sz="3000" b="1" spc="72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04176" y="7354362"/>
            <a:ext cx="6650202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Moscow Aviation Institute, Moscow, Russia.</a:t>
            </a:r>
          </a:p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C#, C++, Python, Git.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33622" y="6687616"/>
            <a:ext cx="318037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Kristina 伯汀娜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43910" y="7354362"/>
            <a:ext cx="6650202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Moscow Aviation Institute, Moscow, Russia.</a:t>
            </a:r>
          </a:p>
          <a:p>
            <a:pPr algn="l">
              <a:lnSpc>
                <a:spcPts val="3080"/>
              </a:lnSpc>
            </a:pPr>
            <a:r>
              <a:rPr lang="en-US" sz="2200" spc="2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C/C++, Python, Go, Git.</a:t>
            </a:r>
          </a:p>
        </p:txBody>
      </p:sp>
      <p:pic>
        <p:nvPicPr>
          <p:cNvPr id="20" name="12">
            <a:hlinkClick r:id="" action="ppaction://media"/>
            <a:extLst>
              <a:ext uri="{FF2B5EF4-FFF2-40B4-BE49-F238E27FC236}">
                <a16:creationId xmlns:a16="http://schemas.microsoft.com/office/drawing/2014/main" id="{F6E9D22D-8004-033D-3BF4-F018DD277F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277218" y="8538295"/>
            <a:ext cx="982082" cy="9820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8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05917" y="2610316"/>
            <a:ext cx="16074978" cy="7991215"/>
            <a:chOff x="0" y="0"/>
            <a:chExt cx="952591" cy="473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591" cy="473553"/>
            </a:xfrm>
            <a:custGeom>
              <a:avLst/>
              <a:gdLst/>
              <a:ahLst/>
              <a:cxnLst/>
              <a:rect l="l" t="t" r="r" b="b"/>
              <a:pathLst>
                <a:path w="952591" h="473553">
                  <a:moveTo>
                    <a:pt x="203200" y="0"/>
                  </a:moveTo>
                  <a:lnTo>
                    <a:pt x="952591" y="0"/>
                  </a:lnTo>
                  <a:lnTo>
                    <a:pt x="749391" y="473553"/>
                  </a:lnTo>
                  <a:lnTo>
                    <a:pt x="0" y="47355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B485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66675"/>
              <a:ext cx="749391" cy="540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9845" y="0"/>
            <a:ext cx="11123371" cy="10287000"/>
            <a:chOff x="0" y="0"/>
            <a:chExt cx="1292476" cy="11952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2476" cy="1195294"/>
            </a:xfrm>
            <a:custGeom>
              <a:avLst/>
              <a:gdLst/>
              <a:ahLst/>
              <a:cxnLst/>
              <a:rect l="l" t="t" r="r" b="b"/>
              <a:pathLst>
                <a:path w="1292476" h="1195294">
                  <a:moveTo>
                    <a:pt x="203200" y="0"/>
                  </a:moveTo>
                  <a:lnTo>
                    <a:pt x="1292476" y="0"/>
                  </a:lnTo>
                  <a:lnTo>
                    <a:pt x="1089276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t="-22086" b="-22086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1732613" y="5156506"/>
            <a:ext cx="2050229" cy="0"/>
          </a:xfrm>
          <a:prstGeom prst="line">
            <a:avLst/>
          </a:prstGeom>
          <a:ln w="857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624750" y="5156506"/>
            <a:ext cx="5694244" cy="4505571"/>
          </a:xfrm>
          <a:custGeom>
            <a:avLst/>
            <a:gdLst/>
            <a:ahLst/>
            <a:cxnLst/>
            <a:rect l="l" t="t" r="r" b="b"/>
            <a:pathLst>
              <a:path w="5694244" h="4505571">
                <a:moveTo>
                  <a:pt x="0" y="0"/>
                </a:moveTo>
                <a:lnTo>
                  <a:pt x="5694245" y="0"/>
                </a:lnTo>
                <a:lnTo>
                  <a:pt x="5694245" y="4505571"/>
                </a:lnTo>
                <a:lnTo>
                  <a:pt x="0" y="4505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24750" y="3683833"/>
            <a:ext cx="6573548" cy="1136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0"/>
              </a:lnSpc>
            </a:pPr>
            <a:r>
              <a:rPr lang="en-US" sz="7069" spc="16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pic>
        <p:nvPicPr>
          <p:cNvPr id="10" name="13">
            <a:hlinkClick r:id="" action="ppaction://media"/>
            <a:extLst>
              <a:ext uri="{FF2B5EF4-FFF2-40B4-BE49-F238E27FC236}">
                <a16:creationId xmlns:a16="http://schemas.microsoft.com/office/drawing/2014/main" id="{E9C9D1D8-2A9E-D3B9-38FD-B7B86542B8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99525" y="8953500"/>
            <a:ext cx="935635" cy="935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8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420</Words>
  <Application>Microsoft Office PowerPoint</Application>
  <PresentationFormat>Произвольный</PresentationFormat>
  <Paragraphs>78</Paragraphs>
  <Slides>13</Slides>
  <Notes>0</Notes>
  <HiddenSlides>0</HiddenSlides>
  <MMClips>13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Inter</vt:lpstr>
      <vt:lpstr>Calibri</vt:lpstr>
      <vt:lpstr>Canva Sans Bold</vt:lpstr>
      <vt:lpstr>Helios</vt:lpstr>
      <vt:lpstr>League Spartan</vt:lpstr>
      <vt:lpstr>Cloud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Proposal</dc:title>
  <dc:creator>kristina0</dc:creator>
  <cp:lastModifiedBy>Кристина Былькова</cp:lastModifiedBy>
  <cp:revision>2</cp:revision>
  <dcterms:created xsi:type="dcterms:W3CDTF">2006-08-16T00:00:00Z</dcterms:created>
  <dcterms:modified xsi:type="dcterms:W3CDTF">2024-09-29T15:11:17Z</dcterms:modified>
  <dc:identifier>DAGSD93ZEMk</dc:identifier>
</cp:coreProperties>
</file>