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4300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456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10/22/2024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75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339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9988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584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84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834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23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80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0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87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62" r:id="rId4"/>
    <p:sldLayoutId id="2147483663" r:id="rId5"/>
    <p:sldLayoutId id="2147483668" r:id="rId6"/>
    <p:sldLayoutId id="2147483664" r:id="rId7"/>
    <p:sldLayoutId id="2147483665" r:id="rId8"/>
    <p:sldLayoutId id="2147483666" r:id="rId9"/>
    <p:sldLayoutId id="2147483667" r:id="rId10"/>
    <p:sldLayoutId id="2147483669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BE32DD-FA01-E402-C9D8-4FAD1D8355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744" b="-2"/>
          <a:stretch/>
        </p:blipFill>
        <p:spPr>
          <a:xfrm>
            <a:off x="4487333" y="1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D36D47-40B7-494B-B249-3CBA333D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03AD0D1C-F8BA-4CD1-BC4D-BE1823F3E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7283242" cy="6858000"/>
          </a:xfrm>
          <a:custGeom>
            <a:avLst/>
            <a:gdLst>
              <a:gd name="connsiteX0" fmla="*/ 0 w 7163694"/>
              <a:gd name="connsiteY0" fmla="*/ 0 h 6858000"/>
              <a:gd name="connsiteX1" fmla="*/ 5525402 w 7163694"/>
              <a:gd name="connsiteY1" fmla="*/ 0 h 6858000"/>
              <a:gd name="connsiteX2" fmla="*/ 5541001 w 7163694"/>
              <a:gd name="connsiteY2" fmla="*/ 10445 h 6858000"/>
              <a:gd name="connsiteX3" fmla="*/ 7163694 w 7163694"/>
              <a:gd name="connsiteY3" fmla="*/ 3621913 h 6858000"/>
              <a:gd name="connsiteX4" fmla="*/ 5263827 w 7163694"/>
              <a:gd name="connsiteY4" fmla="*/ 6378742 h 6858000"/>
              <a:gd name="connsiteX5" fmla="*/ 4740144 w 7163694"/>
              <a:gd name="connsiteY5" fmla="*/ 6785068 h 6858000"/>
              <a:gd name="connsiteX6" fmla="*/ 4633550 w 7163694"/>
              <a:gd name="connsiteY6" fmla="*/ 6858000 h 6858000"/>
              <a:gd name="connsiteX7" fmla="*/ 0 w 716369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63694" h="6858000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B4926-7F9E-A28D-C9C7-3FAEF30C3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31" y="1346268"/>
            <a:ext cx="5274860" cy="3066706"/>
          </a:xfrm>
        </p:spPr>
        <p:txBody>
          <a:bodyPr anchor="b">
            <a:normAutofit/>
          </a:bodyPr>
          <a:lstStyle/>
          <a:p>
            <a:r>
              <a:rPr lang="en-US" sz="6000" b="0" i="0" dirty="0">
                <a:effectLst/>
                <a:latin typeface="Arial" panose="020B0604020202020204" pitchFamily="34" charset="0"/>
              </a:rPr>
              <a:t>Association mining</a:t>
            </a:r>
            <a:endParaRPr lang="ru-RU" sz="6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12BC0A-6CF2-A1EF-3FDF-BD335774D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212" y="4412974"/>
            <a:ext cx="4162357" cy="1576188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Sofia Denisenko </a:t>
            </a:r>
            <a:br>
              <a:rPr lang="ja-JP" altLang="en-US" dirty="0">
                <a:solidFill>
                  <a:srgbClr val="545251"/>
                </a:solidFill>
                <a:latin typeface="Arial" panose="020B0604020202020204" pitchFamily="34" charset="0"/>
              </a:rPr>
            </a:br>
            <a:r>
              <a:rPr lang="ja-JP" altLang="en-US" dirty="0"/>
              <a:t>狄</a:t>
            </a:r>
            <a:r>
              <a:rPr lang="ja-JP" altLang="en-US" b="1" dirty="0"/>
              <a:t>苏</a:t>
            </a:r>
            <a:r>
              <a:rPr lang="ja-JP" altLang="en-US" dirty="0"/>
              <a:t>菲</a:t>
            </a:r>
            <a:r>
              <a:rPr lang="ja-JP" altLang="en-US" b="1" dirty="0"/>
              <a:t> </a:t>
            </a:r>
            <a:r>
              <a:rPr lang="en-US" dirty="0"/>
              <a:t>1820249051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971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77430-D03F-DEF2-C902-CC672832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39" y="656229"/>
            <a:ext cx="8770571" cy="1345269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TELCO Dataset</a:t>
            </a:r>
            <a:r>
              <a:rPr lang="en-US" dirty="0"/>
              <a:t> </a:t>
            </a:r>
            <a:r>
              <a:rPr lang="en-US" b="0" dirty="0"/>
              <a:t>(cleaned in previous assignment)</a:t>
            </a:r>
            <a:endParaRPr lang="ru-RU" b="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1B71B6C-B8B6-56F2-33CF-350ABDD50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2973" y="2225439"/>
            <a:ext cx="8105104" cy="4262910"/>
          </a:xfrm>
        </p:spPr>
      </p:pic>
    </p:spTree>
    <p:extLst>
      <p:ext uri="{BB962C8B-B14F-4D97-AF65-F5344CB8AC3E}">
        <p14:creationId xmlns:p14="http://schemas.microsoft.com/office/powerpoint/2010/main" val="4096821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F2E49-22C6-85C8-06A9-D1A97CD67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Libraries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CC9E5C-5D07-5547-5A1B-B64642B97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5515" y="2312276"/>
            <a:ext cx="2441642" cy="3651504"/>
          </a:xfrm>
        </p:spPr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  <a:latin typeface="-apple-system"/>
              </a:rPr>
              <a:t>Pandas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 (for data manipulation and analysis)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  <a:latin typeface="-apple-system"/>
              </a:rPr>
              <a:t>Matplotlib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 (for creating charts and graphs)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529"/>
                </a:solidFill>
                <a:effectLst/>
                <a:latin typeface="-apple-system"/>
              </a:rPr>
              <a:t>Seaborn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 (for statistical visualization)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212529"/>
                </a:solidFill>
                <a:effectLst/>
                <a:latin typeface="-apple-system"/>
              </a:rPr>
              <a:t>mlxtend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 (for association rule mining algorithms)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A04AB1A-E914-37E8-EBA6-84224906B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96" y="3229285"/>
            <a:ext cx="5601482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95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B0D968-EC63-A382-B224-33757B29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870056"/>
          </a:xfrm>
        </p:spPr>
        <p:txBody>
          <a:bodyPr>
            <a:noAutofit/>
          </a:bodyPr>
          <a:lstStyle/>
          <a:p>
            <a:r>
              <a:rPr lang="en-US" sz="3600" dirty="0"/>
              <a:t>Loading dataset and creating a heatmap using numerical columns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723224-A5F1-04C9-D6D5-92309E7D8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94ADD4-F006-5926-4EDA-B4DE04512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535" y="2312276"/>
            <a:ext cx="8964276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7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738AA2-29D7-D7FF-F269-F53432E6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Result</a:t>
            </a:r>
            <a:endParaRPr lang="ru-RU" sz="4000" dirty="0"/>
          </a:p>
        </p:txBody>
      </p:sp>
      <p:pic>
        <p:nvPicPr>
          <p:cNvPr id="5" name="Объект 4" descr="Изображение выглядит как текст, снимок экрана, диаграмма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14196726-0DDE-7F44-F95C-D988DAA25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525" y="2297603"/>
            <a:ext cx="7359999" cy="3651250"/>
          </a:xfrm>
        </p:spPr>
      </p:pic>
    </p:spTree>
    <p:extLst>
      <p:ext uri="{BB962C8B-B14F-4D97-AF65-F5344CB8AC3E}">
        <p14:creationId xmlns:p14="http://schemas.microsoft.com/office/powerpoint/2010/main" val="3948850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05E476-9F62-5447-71A4-1BE210478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Overview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8265EB-DADC-DA28-0D8E-63AC61480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460" y="2312276"/>
            <a:ext cx="8915351" cy="4195204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en-US" sz="3600" b="1" i="0" dirty="0">
                <a:solidFill>
                  <a:srgbClr val="212529"/>
                </a:solidFill>
                <a:effectLst/>
              </a:rPr>
              <a:t>	</a:t>
            </a:r>
            <a:r>
              <a:rPr lang="en-US" sz="4000" b="1" i="0" dirty="0">
                <a:solidFill>
                  <a:srgbClr val="212529"/>
                </a:solidFill>
                <a:effectLst/>
              </a:rPr>
              <a:t>Strong Positive Correlations:</a:t>
            </a:r>
            <a:endParaRPr lang="en-US" sz="4000" b="0" i="0" dirty="0">
              <a:solidFill>
                <a:srgbClr val="212529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600" i="0" dirty="0">
                <a:solidFill>
                  <a:srgbClr val="212529"/>
                </a:solidFill>
                <a:effectLst/>
              </a:rPr>
              <a:t>Zip Code and Latitude/Longitude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600" i="0" dirty="0">
                <a:solidFill>
                  <a:srgbClr val="212529"/>
                </a:solidFill>
                <a:effectLst/>
              </a:rPr>
              <a:t>Number of Referrals and Tenure in Months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600" i="0" dirty="0">
                <a:solidFill>
                  <a:srgbClr val="212529"/>
                </a:solidFill>
                <a:effectLst/>
              </a:rPr>
              <a:t>Monthly Charges and Total Charges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600" i="0" dirty="0">
                <a:solidFill>
                  <a:srgbClr val="212529"/>
                </a:solidFill>
                <a:effectLst/>
              </a:rPr>
              <a:t>Total Charges and Total Revenue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600" i="0" dirty="0">
                <a:solidFill>
                  <a:srgbClr val="212529"/>
                </a:solidFill>
                <a:effectLst/>
              </a:rPr>
              <a:t>Monthly Charges and Total Extra Data Charges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600" i="0" dirty="0">
                <a:solidFill>
                  <a:srgbClr val="212529"/>
                </a:solidFill>
                <a:effectLst/>
              </a:rPr>
              <a:t>Monthly Charges and Total Revenue</a:t>
            </a:r>
          </a:p>
          <a:p>
            <a:pPr marL="457200" lvl="1" algn="l"/>
            <a:r>
              <a:rPr lang="en-US" sz="3600" b="1" i="0" dirty="0">
                <a:solidFill>
                  <a:srgbClr val="212529"/>
                </a:solidFill>
                <a:effectLst/>
              </a:rPr>
              <a:t>	</a:t>
            </a:r>
            <a:r>
              <a:rPr lang="en-US" sz="4000" b="1" i="0" dirty="0">
                <a:solidFill>
                  <a:srgbClr val="212529"/>
                </a:solidFill>
                <a:effectLst/>
              </a:rPr>
              <a:t>Strong Negative Correlations: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600" i="0" dirty="0">
                <a:solidFill>
                  <a:srgbClr val="212529"/>
                </a:solidFill>
                <a:effectLst/>
              </a:rPr>
              <a:t>Zip Code and Population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600" i="0" dirty="0">
                <a:solidFill>
                  <a:srgbClr val="212529"/>
                </a:solidFill>
                <a:effectLst/>
              </a:rPr>
              <a:t>Latitude and Longitude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600" i="0" dirty="0">
                <a:solidFill>
                  <a:srgbClr val="212529"/>
                </a:solidFill>
                <a:effectLst/>
              </a:rPr>
              <a:t>Monthly Long Distance Charges and Average Monthly GB Download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0794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41940-208D-5F91-17DB-D05F739F8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704867"/>
            <a:ext cx="8770571" cy="1345269"/>
          </a:xfrm>
        </p:spPr>
        <p:txBody>
          <a:bodyPr>
            <a:noAutofit/>
          </a:bodyPr>
          <a:lstStyle/>
          <a:p>
            <a:r>
              <a:rPr lang="en-US" sz="4000" dirty="0"/>
              <a:t>Finding the associations using </a:t>
            </a:r>
            <a:r>
              <a:rPr lang="en-US" sz="4000" dirty="0" err="1"/>
              <a:t>apriori</a:t>
            </a:r>
            <a:r>
              <a:rPr lang="en-US" sz="4000" dirty="0"/>
              <a:t> function</a:t>
            </a:r>
            <a:endParaRPr lang="ru-RU" sz="40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8168C10-3E9D-9D57-D634-BC05E42EA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1753" y="2312988"/>
            <a:ext cx="5908494" cy="4102792"/>
          </a:xfrm>
        </p:spPr>
      </p:pic>
    </p:spTree>
    <p:extLst>
      <p:ext uri="{BB962C8B-B14F-4D97-AF65-F5344CB8AC3E}">
        <p14:creationId xmlns:p14="http://schemas.microsoft.com/office/powerpoint/2010/main" val="218390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95C199-B993-F16F-6C7C-38716A345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Results</a:t>
            </a:r>
            <a:endParaRPr lang="ru-RU" sz="40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30F492E-1D9D-AA3C-26B6-9CD8A58A9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3921" y="2257022"/>
            <a:ext cx="5284158" cy="4142118"/>
          </a:xfrm>
        </p:spPr>
      </p:pic>
    </p:spTree>
    <p:extLst>
      <p:ext uri="{BB962C8B-B14F-4D97-AF65-F5344CB8AC3E}">
        <p14:creationId xmlns:p14="http://schemas.microsoft.com/office/powerpoint/2010/main" val="387551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09284-2E0D-447D-4756-16BD68AD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Overview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C01A40-6E01-BAEB-3AB8-107B6E470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110902"/>
            <a:ext cx="8770571" cy="4747098"/>
          </a:xfrm>
        </p:spPr>
        <p:txBody>
          <a:bodyPr>
            <a:normAutofit fontScale="92500" lnSpcReduction="20000"/>
          </a:bodyPr>
          <a:lstStyle/>
          <a:p>
            <a:r>
              <a:rPr lang="en-US" sz="1050" b="1" dirty="0"/>
              <a:t>For the task I </a:t>
            </a:r>
            <a:r>
              <a:rPr lang="en-US" sz="1050" b="1" dirty="0" err="1"/>
              <a:t>chosed</a:t>
            </a:r>
            <a:r>
              <a:rPr lang="en-US" sz="1050" b="1" dirty="0"/>
              <a:t> 4 columns 'Internet Service', 'Contract', 'Payment Method', 'Customer Status’ and got 6 rules.</a:t>
            </a:r>
          </a:p>
          <a:p>
            <a:r>
              <a:rPr lang="en-US" sz="1050" b="1" dirty="0"/>
              <a:t>Rule 0&amp;1:</a:t>
            </a:r>
          </a:p>
          <a:p>
            <a:pPr>
              <a:lnSpc>
                <a:spcPct val="50000"/>
              </a:lnSpc>
            </a:pPr>
            <a:r>
              <a:rPr lang="en-US" sz="1050" dirty="0"/>
              <a:t>antecedents: </a:t>
            </a:r>
            <a:r>
              <a:rPr lang="en-US" sz="1050" b="1" dirty="0"/>
              <a:t>(Internet </a:t>
            </a:r>
            <a:r>
              <a:rPr lang="en-US" sz="1050" b="1" dirty="0" err="1"/>
              <a:t>Service_Yes</a:t>
            </a:r>
            <a:r>
              <a:rPr lang="en-US" sz="1050" b="1" dirty="0"/>
              <a:t>)</a:t>
            </a:r>
          </a:p>
          <a:p>
            <a:pPr>
              <a:lnSpc>
                <a:spcPct val="50000"/>
              </a:lnSpc>
            </a:pPr>
            <a:r>
              <a:rPr lang="en-US" sz="1050" dirty="0"/>
              <a:t>consequents: </a:t>
            </a:r>
            <a:r>
              <a:rPr lang="en-US" sz="1050" b="1" dirty="0"/>
              <a:t>(Payment </a:t>
            </a:r>
            <a:r>
              <a:rPr lang="en-US" sz="1050" b="1" dirty="0" err="1"/>
              <a:t>Method_Bank</a:t>
            </a:r>
            <a:r>
              <a:rPr lang="en-US" sz="1050" b="1" dirty="0"/>
              <a:t> Withdrawal)</a:t>
            </a:r>
          </a:p>
          <a:p>
            <a:pPr>
              <a:lnSpc>
                <a:spcPct val="50000"/>
              </a:lnSpc>
            </a:pPr>
            <a:r>
              <a:rPr lang="en-US" sz="1050" dirty="0"/>
              <a:t>confidence: 0.626246 and 0.883858</a:t>
            </a:r>
          </a:p>
          <a:p>
            <a:pPr>
              <a:lnSpc>
                <a:spcPct val="50000"/>
              </a:lnSpc>
            </a:pPr>
            <a:r>
              <a:rPr lang="en-US" sz="1050" dirty="0"/>
              <a:t>lift: 1.128332 (the same for both)</a:t>
            </a:r>
          </a:p>
          <a:p>
            <a:pPr>
              <a:lnSpc>
                <a:spcPct val="50000"/>
              </a:lnSpc>
            </a:pPr>
            <a:r>
              <a:rPr lang="en-US" sz="1050" b="1" dirty="0"/>
              <a:t>Customers with any type of internet service are slightly more likely to use Bank Withdrawal as </a:t>
            </a:r>
          </a:p>
          <a:p>
            <a:pPr>
              <a:lnSpc>
                <a:spcPct val="50000"/>
              </a:lnSpc>
            </a:pPr>
            <a:r>
              <a:rPr lang="en-US" sz="1050" b="1" dirty="0"/>
              <a:t>their payment method</a:t>
            </a:r>
            <a:r>
              <a:rPr lang="en-US" sz="1050" dirty="0"/>
              <a:t>. </a:t>
            </a:r>
            <a:r>
              <a:rPr lang="en-US" sz="1050" b="1" dirty="0"/>
              <a:t>The lift is slightly above 1, indicating a very weak positive association.</a:t>
            </a:r>
            <a:endParaRPr lang="en-US" sz="1050" dirty="0"/>
          </a:p>
          <a:p>
            <a:pPr>
              <a:lnSpc>
                <a:spcPct val="50000"/>
              </a:lnSpc>
            </a:pPr>
            <a:endParaRPr lang="en-US" sz="1050" b="1" dirty="0"/>
          </a:p>
          <a:p>
            <a:pPr>
              <a:lnSpc>
                <a:spcPct val="50000"/>
              </a:lnSpc>
            </a:pPr>
            <a:r>
              <a:rPr lang="en-US" sz="1050" b="1" dirty="0"/>
              <a:t>Rule 2&amp;3:</a:t>
            </a:r>
          </a:p>
          <a:p>
            <a:pPr>
              <a:lnSpc>
                <a:spcPct val="50000"/>
              </a:lnSpc>
            </a:pPr>
            <a:r>
              <a:rPr lang="en-US" sz="1050" dirty="0"/>
              <a:t>antecedents: </a:t>
            </a:r>
            <a:r>
              <a:rPr lang="en-US" sz="1050" b="1" dirty="0"/>
              <a:t>(Internet </a:t>
            </a:r>
            <a:r>
              <a:rPr lang="en-US" sz="1050" b="1" dirty="0" err="1"/>
              <a:t>Service_Yes</a:t>
            </a:r>
            <a:r>
              <a:rPr lang="en-US" sz="1050" b="1" dirty="0"/>
              <a:t>)</a:t>
            </a:r>
          </a:p>
          <a:p>
            <a:pPr>
              <a:lnSpc>
                <a:spcPct val="50000"/>
              </a:lnSpc>
            </a:pPr>
            <a:r>
              <a:rPr lang="en-US" sz="1050" dirty="0"/>
              <a:t>consequents: </a:t>
            </a:r>
            <a:r>
              <a:rPr lang="en-US" sz="1050" b="1" dirty="0"/>
              <a:t>(</a:t>
            </a:r>
            <a:r>
              <a:rPr lang="en-US" sz="1050" b="1" dirty="0" err="1"/>
              <a:t>Contract_Month</a:t>
            </a:r>
            <a:r>
              <a:rPr lang="en-US" sz="1050" b="1" dirty="0"/>
              <a:t>-to-Month)</a:t>
            </a:r>
          </a:p>
          <a:p>
            <a:pPr>
              <a:lnSpc>
                <a:spcPct val="50000"/>
              </a:lnSpc>
            </a:pPr>
            <a:r>
              <a:rPr lang="en-US" sz="1050" dirty="0"/>
              <a:t>confidence: 0.560450 and 0.856510</a:t>
            </a:r>
          </a:p>
          <a:p>
            <a:pPr>
              <a:lnSpc>
                <a:spcPct val="50000"/>
              </a:lnSpc>
            </a:pPr>
            <a:r>
              <a:rPr lang="en-US" sz="1050" dirty="0"/>
              <a:t>lift: 1.093420 (the same for both)</a:t>
            </a:r>
          </a:p>
          <a:p>
            <a:pPr>
              <a:lnSpc>
                <a:spcPct val="50000"/>
              </a:lnSpc>
            </a:pPr>
            <a:r>
              <a:rPr lang="en-US" sz="1050" b="1" dirty="0"/>
              <a:t>Customers with any type of internet service are slightly more likely to have a Month-to-Month</a:t>
            </a:r>
          </a:p>
          <a:p>
            <a:pPr>
              <a:lnSpc>
                <a:spcPct val="50000"/>
              </a:lnSpc>
            </a:pPr>
            <a:r>
              <a:rPr lang="en-US" sz="1050" b="1" dirty="0"/>
              <a:t>contract. The lift is slightly above 1, indicating a very weak positive association.</a:t>
            </a:r>
          </a:p>
          <a:p>
            <a:pPr>
              <a:lnSpc>
                <a:spcPct val="50000"/>
              </a:lnSpc>
            </a:pPr>
            <a:endParaRPr lang="en-US" sz="1050" b="1" dirty="0"/>
          </a:p>
          <a:p>
            <a:pPr>
              <a:lnSpc>
                <a:spcPct val="50000"/>
              </a:lnSpc>
            </a:pPr>
            <a:r>
              <a:rPr lang="en-US" sz="1050" b="1" dirty="0"/>
              <a:t>Rule 4&amp;5:</a:t>
            </a:r>
          </a:p>
          <a:p>
            <a:pPr>
              <a:lnSpc>
                <a:spcPct val="50000"/>
              </a:lnSpc>
            </a:pPr>
            <a:r>
              <a:rPr lang="en-US" sz="1100" dirty="0"/>
              <a:t>antecedents: </a:t>
            </a:r>
            <a:r>
              <a:rPr lang="en-US" sz="1100" b="1" dirty="0"/>
              <a:t>(Internet </a:t>
            </a:r>
            <a:r>
              <a:rPr lang="en-US" sz="1100" b="1" dirty="0" err="1"/>
              <a:t>Service_Yes</a:t>
            </a:r>
            <a:r>
              <a:rPr lang="en-US" sz="1100" b="1" dirty="0"/>
              <a:t>)</a:t>
            </a:r>
          </a:p>
          <a:p>
            <a:pPr>
              <a:lnSpc>
                <a:spcPct val="50000"/>
              </a:lnSpc>
            </a:pPr>
            <a:r>
              <a:rPr lang="en-US" sz="1100" dirty="0"/>
              <a:t>consequents: </a:t>
            </a:r>
            <a:r>
              <a:rPr lang="en-US" sz="1100" b="1" dirty="0"/>
              <a:t>(Customer </a:t>
            </a:r>
            <a:r>
              <a:rPr lang="en-US" sz="1100" b="1" dirty="0" err="1"/>
              <a:t>Status_Stayed</a:t>
            </a:r>
            <a:r>
              <a:rPr lang="en-US" sz="1100" b="1" dirty="0"/>
              <a:t>)</a:t>
            </a:r>
          </a:p>
          <a:p>
            <a:pPr>
              <a:lnSpc>
                <a:spcPct val="50000"/>
              </a:lnSpc>
            </a:pPr>
            <a:r>
              <a:rPr lang="en-US" sz="1100" dirty="0"/>
              <a:t>confidence: 0.632409 and 0.739195</a:t>
            </a:r>
          </a:p>
          <a:p>
            <a:pPr>
              <a:lnSpc>
                <a:spcPct val="50000"/>
              </a:lnSpc>
            </a:pPr>
            <a:r>
              <a:rPr lang="en-US" sz="1100" dirty="0"/>
              <a:t>lift: 0.943656 (the same for both)</a:t>
            </a:r>
          </a:p>
          <a:p>
            <a:pPr>
              <a:lnSpc>
                <a:spcPct val="50000"/>
              </a:lnSpc>
            </a:pPr>
            <a:r>
              <a:rPr lang="en-US" sz="1100" b="1" dirty="0"/>
              <a:t>This rule shows a negative association, as the lift is less than 1. Customers with any type of </a:t>
            </a:r>
          </a:p>
          <a:p>
            <a:pPr>
              <a:lnSpc>
                <a:spcPct val="50000"/>
              </a:lnSpc>
            </a:pPr>
            <a:r>
              <a:rPr lang="en-US" sz="1100" b="1" dirty="0"/>
              <a:t>internet  service are less likely to have stayed with the service compared to customers without </a:t>
            </a:r>
          </a:p>
          <a:p>
            <a:pPr>
              <a:lnSpc>
                <a:spcPct val="50000"/>
              </a:lnSpc>
            </a:pPr>
            <a:r>
              <a:rPr lang="en-US" sz="1100" b="1" dirty="0"/>
              <a:t>internet.</a:t>
            </a:r>
          </a:p>
        </p:txBody>
      </p:sp>
    </p:spTree>
    <p:extLst>
      <p:ext uri="{BB962C8B-B14F-4D97-AF65-F5344CB8AC3E}">
        <p14:creationId xmlns:p14="http://schemas.microsoft.com/office/powerpoint/2010/main" val="320441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F9BE9-5EA8-9718-1032-479ABB919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Potential application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E03002-6850-DD6B-F069-7556B9B08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600" dirty="0"/>
              <a:t>The results can help the company identify customer segments based on their preferences for internet service, contract type, payment method, and churn likelihood. </a:t>
            </a:r>
          </a:p>
          <a:p>
            <a:pPr algn="l"/>
            <a:r>
              <a:rPr lang="en-US" sz="1600" dirty="0"/>
              <a:t>Also, company can customize communication based on individual customer profiles. </a:t>
            </a:r>
            <a:endParaRPr lang="ru-RU" sz="1600" dirty="0"/>
          </a:p>
        </p:txBody>
      </p:sp>
      <p:pic>
        <p:nvPicPr>
          <p:cNvPr id="7" name="Рисунок 6" descr="Изображение выглядит как символ, графическая вставка, логотип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B4EF2562-F5B5-AB12-BB9D-156081F4E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94" b="94740" l="5521" r="95469">
                        <a14:foregroundMark x1="48646" y1="5365" x2="38177" y2="6615"/>
                        <a14:foregroundMark x1="38177" y1="6615" x2="31667" y2="9688"/>
                        <a14:foregroundMark x1="31667" y1="9688" x2="25833" y2="14948"/>
                        <a14:foregroundMark x1="25833" y1="14948" x2="17865" y2="31927"/>
                        <a14:foregroundMark x1="17865" y1="31927" x2="16354" y2="54844"/>
                        <a14:foregroundMark x1="16354" y1="54844" x2="24323" y2="74167"/>
                        <a14:foregroundMark x1="24323" y1="74167" x2="34792" y2="84271"/>
                        <a14:foregroundMark x1="34792" y1="84271" x2="57708" y2="90833"/>
                        <a14:foregroundMark x1="57708" y1="90833" x2="72396" y2="83750"/>
                        <a14:foregroundMark x1="72396" y1="83750" x2="79948" y2="65208"/>
                        <a14:foregroundMark x1="79948" y1="65208" x2="75052" y2="39896"/>
                        <a14:foregroundMark x1="75052" y1="39896" x2="57188" y2="10677"/>
                        <a14:foregroundMark x1="57188" y1="10677" x2="45521" y2="6094"/>
                        <a14:foregroundMark x1="9635" y1="27240" x2="5521" y2="43542"/>
                        <a14:foregroundMark x1="92448" y1="45104" x2="91771" y2="56875"/>
                        <a14:foregroundMark x1="57969" y1="94740" x2="48490" y2="93906"/>
                        <a14:foregroundMark x1="95260" y1="51250" x2="95469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993" y="4138028"/>
            <a:ext cx="2244818" cy="224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02416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AnalogousFromLightSeedRightStep">
      <a:dk1>
        <a:srgbClr val="000000"/>
      </a:dk1>
      <a:lt1>
        <a:srgbClr val="FFFFFF"/>
      </a:lt1>
      <a:dk2>
        <a:srgbClr val="242E41"/>
      </a:dk2>
      <a:lt2>
        <a:srgbClr val="E8E2E3"/>
      </a:lt2>
      <a:accent1>
        <a:srgbClr val="80A9A3"/>
      </a:accent1>
      <a:accent2>
        <a:srgbClr val="7BA9B8"/>
      </a:accent2>
      <a:accent3>
        <a:srgbClr val="90A1C3"/>
      </a:accent3>
      <a:accent4>
        <a:srgbClr val="847FBA"/>
      </a:accent4>
      <a:accent5>
        <a:srgbClr val="AE96C6"/>
      </a:accent5>
      <a:accent6>
        <a:srgbClr val="B57FBA"/>
      </a:accent6>
      <a:hlink>
        <a:srgbClr val="AE6975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394</Words>
  <Application>Microsoft Office PowerPoint</Application>
  <PresentationFormat>Широкоэкранный</PresentationFormat>
  <Paragraphs>53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Meiryo</vt:lpstr>
      <vt:lpstr>-apple-system</vt:lpstr>
      <vt:lpstr>Arial</vt:lpstr>
      <vt:lpstr>Corbel</vt:lpstr>
      <vt:lpstr>SketchLinesVTI</vt:lpstr>
      <vt:lpstr>Association mining</vt:lpstr>
      <vt:lpstr>TELCO Dataset (cleaned in previous assignment)</vt:lpstr>
      <vt:lpstr>Libraries</vt:lpstr>
      <vt:lpstr>Loading dataset and creating a heatmap using numerical columns</vt:lpstr>
      <vt:lpstr>Result</vt:lpstr>
      <vt:lpstr>Overview</vt:lpstr>
      <vt:lpstr>Finding the associations using apriori function</vt:lpstr>
      <vt:lpstr>Results</vt:lpstr>
      <vt:lpstr>Overview</vt:lpstr>
      <vt:lpstr>Potential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София Денисенко</dc:creator>
  <cp:lastModifiedBy>София Денисенко</cp:lastModifiedBy>
  <cp:revision>1</cp:revision>
  <dcterms:created xsi:type="dcterms:W3CDTF">2024-10-22T11:38:07Z</dcterms:created>
  <dcterms:modified xsi:type="dcterms:W3CDTF">2024-10-23T09:47:15Z</dcterms:modified>
</cp:coreProperties>
</file>