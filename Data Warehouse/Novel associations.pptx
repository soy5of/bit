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68" r:id="rId5"/>
    <p:sldId id="259" r:id="rId6"/>
    <p:sldId id="260" r:id="rId7"/>
    <p:sldId id="261" r:id="rId8"/>
    <p:sldId id="264" r:id="rId9"/>
    <p:sldId id="262" r:id="rId10"/>
    <p:sldId id="263" r:id="rId11"/>
    <p:sldId id="265" r:id="rId12"/>
    <p:sldId id="266" r:id="rId13"/>
    <p:sldId id="269" r:id="rId14"/>
    <p:sldId id="270"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11/20/2024</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662352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11/20/2024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289369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11/20/2024</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512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11/20/2024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146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11/20/2024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041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11/20/2024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502752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11/20/2024</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743612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11/20/2024</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0764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11/20/2024</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3279652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11/20/2024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346676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11/20/2024</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53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11/20/2024</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549340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hyperlink" Target="https://lexue.bit.edu.cn/pluginfile.php/690907/mod_assign/introattachment/0/Reshef.SOM.v2.pdf?forcedownload=1" TargetMode="External"/><Relationship Id="rId4" Type="http://schemas.openxmlformats.org/officeDocument/2006/relationships/hyperlink" Target="https://www.exploredata.net/Downloads/Gene-Expression-Data-S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Видео 3" descr="Серверы компьютеров">
            <a:extLst>
              <a:ext uri="{FF2B5EF4-FFF2-40B4-BE49-F238E27FC236}">
                <a16:creationId xmlns:a16="http://schemas.microsoft.com/office/drawing/2014/main" id="{6BD30B5C-C9EB-6840-F1E1-3748526AEC3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60"/>
          <a:stretch/>
        </p:blipFill>
        <p:spPr>
          <a:xfrm>
            <a:off x="11253" y="9738"/>
            <a:ext cx="12188950" cy="6857990"/>
          </a:xfrm>
          <a:prstGeom prst="rect">
            <a:avLst/>
          </a:prstGeom>
        </p:spPr>
      </p:pic>
      <p:sp>
        <p:nvSpPr>
          <p:cNvPr id="11" name="Rectangle 10">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1868" y="1095508"/>
            <a:ext cx="4640132"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D8C82C9-EAD7-829F-76C8-63E941FC8463}"/>
              </a:ext>
            </a:extLst>
          </p:cNvPr>
          <p:cNvSpPr>
            <a:spLocks noGrp="1"/>
          </p:cNvSpPr>
          <p:nvPr>
            <p:ph type="ctrTitle"/>
          </p:nvPr>
        </p:nvSpPr>
        <p:spPr>
          <a:xfrm>
            <a:off x="7973503" y="1709530"/>
            <a:ext cx="3754671" cy="2528515"/>
          </a:xfrm>
        </p:spPr>
        <p:txBody>
          <a:bodyPr anchor="b">
            <a:normAutofit/>
          </a:bodyPr>
          <a:lstStyle/>
          <a:p>
            <a:pPr>
              <a:lnSpc>
                <a:spcPct val="115000"/>
              </a:lnSpc>
            </a:pPr>
            <a:r>
              <a:rPr lang="en-US" sz="2800" b="0" i="0">
                <a:solidFill>
                  <a:schemeClr val="bg1"/>
                </a:solidFill>
                <a:effectLst/>
                <a:latin typeface="Arial" panose="020B0604020202020204" pitchFamily="34" charset="0"/>
              </a:rPr>
              <a:t>Detecting novel associations in large data sets</a:t>
            </a:r>
            <a:endParaRPr lang="ru-RU" sz="2800">
              <a:solidFill>
                <a:schemeClr val="bg1"/>
              </a:solidFill>
            </a:endParaRPr>
          </a:p>
        </p:txBody>
      </p:sp>
      <p:sp>
        <p:nvSpPr>
          <p:cNvPr id="3" name="Подзаголовок 2">
            <a:extLst>
              <a:ext uri="{FF2B5EF4-FFF2-40B4-BE49-F238E27FC236}">
                <a16:creationId xmlns:a16="http://schemas.microsoft.com/office/drawing/2014/main" id="{FBF4FFE5-E968-A8D5-9D53-BF4DF9E59E5C}"/>
              </a:ext>
            </a:extLst>
          </p:cNvPr>
          <p:cNvSpPr>
            <a:spLocks noGrp="1"/>
          </p:cNvSpPr>
          <p:nvPr>
            <p:ph type="subTitle" idx="1"/>
          </p:nvPr>
        </p:nvSpPr>
        <p:spPr>
          <a:xfrm>
            <a:off x="7976914" y="4238046"/>
            <a:ext cx="3806919" cy="1741404"/>
          </a:xfrm>
        </p:spPr>
        <p:txBody>
          <a:bodyPr anchor="t">
            <a:normAutofit/>
          </a:bodyPr>
          <a:lstStyle/>
          <a:p>
            <a:r>
              <a:rPr lang="en-US" sz="2000">
                <a:solidFill>
                  <a:schemeClr val="bg1"/>
                </a:solidFill>
              </a:rPr>
              <a:t>Sofiia Denisenko </a:t>
            </a:r>
            <a:br>
              <a:rPr lang="ja-JP" altLang="en-US" sz="2000">
                <a:solidFill>
                  <a:schemeClr val="bg1"/>
                </a:solidFill>
                <a:latin typeface="Arial" panose="020B0604020202020204" pitchFamily="34" charset="0"/>
              </a:rPr>
            </a:br>
            <a:r>
              <a:rPr lang="ja-JP" altLang="en-US" sz="2000" b="1">
                <a:solidFill>
                  <a:schemeClr val="bg1"/>
                </a:solidFill>
              </a:rPr>
              <a:t>狄苏菲 </a:t>
            </a:r>
            <a:r>
              <a:rPr lang="en-US" sz="2000" b="1">
                <a:solidFill>
                  <a:schemeClr val="bg1"/>
                </a:solidFill>
              </a:rPr>
              <a:t>1820249051 </a:t>
            </a:r>
            <a:endParaRPr lang="ru-RU" sz="2000" b="1">
              <a:solidFill>
                <a:schemeClr val="bg1"/>
              </a:solidFill>
            </a:endParaRPr>
          </a:p>
        </p:txBody>
      </p:sp>
      <p:sp>
        <p:nvSpPr>
          <p:cNvPr id="13" name="Rectangle 12">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990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C95BA48-0AD3-9345-119F-251AC54CF022}"/>
              </a:ext>
            </a:extLst>
          </p:cNvPr>
          <p:cNvSpPr>
            <a:spLocks noGrp="1"/>
          </p:cNvSpPr>
          <p:nvPr>
            <p:ph type="title"/>
          </p:nvPr>
        </p:nvSpPr>
        <p:spPr>
          <a:xfrm>
            <a:off x="1535371" y="1044054"/>
            <a:ext cx="10013709" cy="1030360"/>
          </a:xfrm>
        </p:spPr>
        <p:txBody>
          <a:bodyPr>
            <a:normAutofit/>
          </a:bodyPr>
          <a:lstStyle/>
          <a:p>
            <a:r>
              <a:rPr lang="en-US" dirty="0">
                <a:solidFill>
                  <a:schemeClr val="bg1"/>
                </a:solidFill>
              </a:rPr>
              <a:t>TASK</a:t>
            </a:r>
            <a:endParaRPr lang="ru-RU" dirty="0">
              <a:solidFill>
                <a:schemeClr val="bg1"/>
              </a:solidFill>
            </a:endParaRPr>
          </a:p>
        </p:txBody>
      </p:sp>
      <p:sp>
        <p:nvSpPr>
          <p:cNvPr id="14" name="Rectangle 13">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Объект 2">
            <a:extLst>
              <a:ext uri="{FF2B5EF4-FFF2-40B4-BE49-F238E27FC236}">
                <a16:creationId xmlns:a16="http://schemas.microsoft.com/office/drawing/2014/main" id="{B3DCF7CE-A646-0CCB-FE0B-8705DF1CA5B3}"/>
              </a:ext>
            </a:extLst>
          </p:cNvPr>
          <p:cNvSpPr>
            <a:spLocks noGrp="1"/>
          </p:cNvSpPr>
          <p:nvPr>
            <p:ph idx="1"/>
          </p:nvPr>
        </p:nvSpPr>
        <p:spPr>
          <a:xfrm>
            <a:off x="1535371" y="2300161"/>
            <a:ext cx="9935571" cy="4612943"/>
          </a:xfrm>
        </p:spPr>
        <p:txBody>
          <a:bodyPr anchor="t">
            <a:noAutofit/>
          </a:bodyPr>
          <a:lstStyle/>
          <a:p>
            <a:pPr algn="l"/>
            <a:r>
              <a:rPr lang="en-US" sz="1400" b="0" i="0" dirty="0">
                <a:solidFill>
                  <a:srgbClr val="545251"/>
                </a:solidFill>
                <a:effectLst/>
                <a:latin typeface="Arial" panose="020B0604020202020204" pitchFamily="34" charset="0"/>
              </a:rPr>
              <a:t>Detecting Novel Associations in Large Data </a:t>
            </a:r>
            <a:r>
              <a:rPr lang="en-US" sz="1400" b="0" i="0" dirty="0" err="1">
                <a:solidFill>
                  <a:srgbClr val="545251"/>
                </a:solidFill>
                <a:effectLst/>
                <a:latin typeface="Arial" panose="020B0604020202020204" pitchFamily="34" charset="0"/>
              </a:rPr>
              <a:t>Sets,David</a:t>
            </a:r>
            <a:r>
              <a:rPr lang="en-US" sz="1400" b="0" i="0" dirty="0">
                <a:solidFill>
                  <a:srgbClr val="545251"/>
                </a:solidFill>
                <a:effectLst/>
                <a:latin typeface="Arial" panose="020B0604020202020204" pitchFamily="34" charset="0"/>
              </a:rPr>
              <a:t> N. </a:t>
            </a:r>
            <a:r>
              <a:rPr lang="en-US" sz="1400" b="0" i="0" dirty="0" err="1">
                <a:solidFill>
                  <a:srgbClr val="545251"/>
                </a:solidFill>
                <a:effectLst/>
                <a:latin typeface="Arial" panose="020B0604020202020204" pitchFamily="34" charset="0"/>
              </a:rPr>
              <a:t>Reshef</a:t>
            </a:r>
            <a:r>
              <a:rPr lang="en-US" sz="1400" b="0" i="0" dirty="0">
                <a:solidFill>
                  <a:srgbClr val="545251"/>
                </a:solidFill>
                <a:effectLst/>
                <a:latin typeface="Arial" panose="020B0604020202020204" pitchFamily="34" charset="0"/>
              </a:rPr>
              <a:t> et </a:t>
            </a:r>
            <a:r>
              <a:rPr lang="en-US" sz="1400" b="0" i="0" dirty="0" err="1">
                <a:solidFill>
                  <a:srgbClr val="545251"/>
                </a:solidFill>
                <a:effectLst/>
                <a:latin typeface="Arial" panose="020B0604020202020204" pitchFamily="34" charset="0"/>
              </a:rPr>
              <a:t>al.,Science</a:t>
            </a:r>
            <a:r>
              <a:rPr lang="en-US" sz="1400" b="0" i="0" dirty="0">
                <a:solidFill>
                  <a:srgbClr val="545251"/>
                </a:solidFill>
                <a:effectLst/>
                <a:latin typeface="Arial" panose="020B0604020202020204" pitchFamily="34" charset="0"/>
              </a:rPr>
              <a:t> 334, 1518 (2011);</a:t>
            </a:r>
          </a:p>
          <a:p>
            <a:pPr algn="l"/>
            <a:r>
              <a:rPr lang="en-US" sz="1400" b="0" i="0" dirty="0">
                <a:solidFill>
                  <a:srgbClr val="545251"/>
                </a:solidFill>
                <a:effectLst/>
                <a:latin typeface="Arial" panose="020B0604020202020204" pitchFamily="34" charset="0"/>
              </a:rPr>
              <a:t>Identifying interesting relationships between pairs of variables in large data sets is increasingly important. Here, we present a measure of dependence for two-variable relationships: the maximal information coefficient (MIC). MIC captures a wide range of associations both functional and not, and for functional relationships provides a score that roughly equals the coefficient of determination (R2 ) of the data relative to the regression function. MIC belongs to a larger class of maximal information-based nonparametric exploration (MINE) statistics for identifying and classifying relationships. We apply MIC and MINE to data sets in global health, gene expression, major-league baseball, and the human gut microbiota and identify known and novel relationships.</a:t>
            </a:r>
          </a:p>
          <a:p>
            <a:pPr algn="l" rtl="0"/>
            <a:r>
              <a:rPr lang="en-US" sz="1400" b="1" i="0" dirty="0">
                <a:solidFill>
                  <a:srgbClr val="545251"/>
                </a:solidFill>
                <a:effectLst/>
                <a:latin typeface="Arial" panose="020B0604020202020204" pitchFamily="34" charset="0"/>
              </a:rPr>
              <a:t>Assignment: Read the paper; Redo the experiment; Present your mastering contents in a ppt file.</a:t>
            </a:r>
            <a:endParaRPr lang="en-US" sz="1400" b="0" i="0" dirty="0">
              <a:solidFill>
                <a:srgbClr val="545251"/>
              </a:solidFill>
              <a:effectLst/>
              <a:latin typeface="Arial" panose="020B0604020202020204" pitchFamily="34" charset="0"/>
            </a:endParaRPr>
          </a:p>
          <a:p>
            <a:endParaRPr lang="ru-RU" sz="1400" dirty="0"/>
          </a:p>
        </p:txBody>
      </p:sp>
    </p:spTree>
    <p:extLst>
      <p:ext uri="{BB962C8B-B14F-4D97-AF65-F5344CB8AC3E}">
        <p14:creationId xmlns:p14="http://schemas.microsoft.com/office/powerpoint/2010/main" val="1963994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6072" cy="1804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Строка индикатора Зигзаг">
            <a:extLst>
              <a:ext uri="{FF2B5EF4-FFF2-40B4-BE49-F238E27FC236}">
                <a16:creationId xmlns:a16="http://schemas.microsoft.com/office/drawing/2014/main" id="{B5BD9775-B796-0133-BF24-833C35B1B9EB}"/>
              </a:ext>
            </a:extLst>
          </p:cNvPr>
          <p:cNvPicPr>
            <a:picLocks noChangeAspect="1"/>
          </p:cNvPicPr>
          <p:nvPr/>
        </p:nvPicPr>
        <p:blipFill>
          <a:blip r:embed="rId2"/>
          <a:srcRect l="13371" r="18216" b="-2"/>
          <a:stretch/>
        </p:blipFill>
        <p:spPr>
          <a:xfrm>
            <a:off x="20" y="1804072"/>
            <a:ext cx="4458058" cy="4349801"/>
          </a:xfrm>
          <a:prstGeom prst="rect">
            <a:avLst/>
          </a:prstGeom>
        </p:spPr>
      </p:pic>
      <p:sp>
        <p:nvSpPr>
          <p:cNvPr id="13" name="Rectangle 12">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0"/>
            <a:ext cx="7765922" cy="616761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40221E2-A3E0-322C-C025-DA4507616F02}"/>
              </a:ext>
            </a:extLst>
          </p:cNvPr>
          <p:cNvSpPr>
            <a:spLocks noGrp="1"/>
          </p:cNvSpPr>
          <p:nvPr>
            <p:ph type="title"/>
          </p:nvPr>
        </p:nvSpPr>
        <p:spPr>
          <a:xfrm>
            <a:off x="4794634" y="332450"/>
            <a:ext cx="6754447" cy="1471622"/>
          </a:xfrm>
        </p:spPr>
        <p:txBody>
          <a:bodyPr anchor="b">
            <a:normAutofit fontScale="90000"/>
          </a:bodyPr>
          <a:lstStyle/>
          <a:p>
            <a:pPr>
              <a:lnSpc>
                <a:spcPct val="140000"/>
              </a:lnSpc>
            </a:pPr>
            <a:r>
              <a:rPr lang="en-US" sz="2800" b="1" i="0" dirty="0">
                <a:effectLst/>
              </a:rPr>
              <a:t>MINE (Maximal Information-based Nonparametric Exploration)</a:t>
            </a:r>
            <a:endParaRPr lang="ru-RU" sz="2800" dirty="0"/>
          </a:p>
        </p:txBody>
      </p:sp>
      <p:sp>
        <p:nvSpPr>
          <p:cNvPr id="15" name="Rectangle 14">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753806"/>
            <a:ext cx="4425696"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Объект 2">
            <a:extLst>
              <a:ext uri="{FF2B5EF4-FFF2-40B4-BE49-F238E27FC236}">
                <a16:creationId xmlns:a16="http://schemas.microsoft.com/office/drawing/2014/main" id="{E7B3A680-EF56-477E-9A3A-7FF3F23EC1F8}"/>
              </a:ext>
            </a:extLst>
          </p:cNvPr>
          <p:cNvSpPr>
            <a:spLocks noGrp="1"/>
          </p:cNvSpPr>
          <p:nvPr>
            <p:ph idx="1"/>
          </p:nvPr>
        </p:nvSpPr>
        <p:spPr>
          <a:xfrm>
            <a:off x="4794637" y="1940001"/>
            <a:ext cx="6754446" cy="3834594"/>
          </a:xfrm>
        </p:spPr>
        <p:txBody>
          <a:bodyPr anchor="t">
            <a:normAutofit/>
          </a:bodyPr>
          <a:lstStyle/>
          <a:p>
            <a:pPr>
              <a:lnSpc>
                <a:spcPct val="130000"/>
              </a:lnSpc>
            </a:pPr>
            <a:r>
              <a:rPr lang="en-US" sz="1400" i="0" dirty="0">
                <a:effectLst/>
              </a:rPr>
              <a:t>MINE is a </a:t>
            </a:r>
            <a:r>
              <a:rPr lang="en-US" sz="1400" i="1" dirty="0">
                <a:effectLst/>
              </a:rPr>
              <a:t>statistical framework</a:t>
            </a:r>
            <a:r>
              <a:rPr lang="en-US" sz="1400" i="0" dirty="0">
                <a:effectLst/>
              </a:rPr>
              <a:t> or a </a:t>
            </a:r>
            <a:r>
              <a:rPr lang="en-US" sz="1400" i="1" dirty="0">
                <a:effectLst/>
              </a:rPr>
              <a:t>family of methods</a:t>
            </a:r>
            <a:r>
              <a:rPr lang="en-US" sz="1400" i="0" dirty="0">
                <a:effectLst/>
              </a:rPr>
              <a:t> designed to discover and characterize relationships between variables, especially in high-dimensional data (lots of variables). It’s “nonparametric,” meaning it doesn’t assume any particular type of relationship (like linear or exponential) between the variables beforehand. This is a key advantage because real-world relationships are often complex and not easily captured by simple models. Instead of fitting specific models, MINE explores the data to find the best possible description of the relationship. MIC is one of the key statistics produced by MINE.</a:t>
            </a:r>
            <a:endParaRPr lang="ru-RU" sz="1400" dirty="0"/>
          </a:p>
        </p:txBody>
      </p:sp>
      <p:sp>
        <p:nvSpPr>
          <p:cNvPr id="17" name="Rectangle 16">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49" y="6167615"/>
            <a:ext cx="12192001"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5097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Bar chart">
            <a:extLst>
              <a:ext uri="{FF2B5EF4-FFF2-40B4-BE49-F238E27FC236}">
                <a16:creationId xmlns:a16="http://schemas.microsoft.com/office/drawing/2014/main" id="{72AE2D57-15A2-C581-9993-D310889B8A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622" y="2749634"/>
            <a:ext cx="3328786" cy="3328786"/>
          </a:xfrm>
          <a:prstGeom prst="rect">
            <a:avLst/>
          </a:prstGeom>
        </p:spPr>
      </p:pic>
      <p:sp>
        <p:nvSpPr>
          <p:cNvPr id="59" name="Rectangle 58">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717F1E2-ECFD-1AA6-8C5D-D7ADADECCB8D}"/>
              </a:ext>
            </a:extLst>
          </p:cNvPr>
          <p:cNvSpPr>
            <a:spLocks noGrp="1"/>
          </p:cNvSpPr>
          <p:nvPr>
            <p:ph type="title"/>
          </p:nvPr>
        </p:nvSpPr>
        <p:spPr>
          <a:xfrm>
            <a:off x="532663" y="1144042"/>
            <a:ext cx="3328745" cy="1323586"/>
          </a:xfrm>
        </p:spPr>
        <p:txBody>
          <a:bodyPr>
            <a:normAutofit fontScale="90000"/>
          </a:bodyPr>
          <a:lstStyle/>
          <a:p>
            <a:pPr>
              <a:lnSpc>
                <a:spcPct val="140000"/>
              </a:lnSpc>
            </a:pPr>
            <a:r>
              <a:rPr lang="en-US" sz="2800" dirty="0"/>
              <a:t>MIC (Maximal Information </a:t>
            </a:r>
            <a:br>
              <a:rPr lang="en-US" sz="2800" dirty="0"/>
            </a:br>
            <a:r>
              <a:rPr lang="en-US" sz="2800" dirty="0"/>
              <a:t>Coefficient)</a:t>
            </a:r>
            <a:endParaRPr lang="ru-RU" sz="2800" dirty="0"/>
          </a:p>
        </p:txBody>
      </p:sp>
      <p:sp>
        <p:nvSpPr>
          <p:cNvPr id="63" name="Rectangle 62">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Объект 2">
            <a:extLst>
              <a:ext uri="{FF2B5EF4-FFF2-40B4-BE49-F238E27FC236}">
                <a16:creationId xmlns:a16="http://schemas.microsoft.com/office/drawing/2014/main" id="{A40C45D9-FB7D-C56E-F350-4FDA1E030C44}"/>
              </a:ext>
            </a:extLst>
          </p:cNvPr>
          <p:cNvSpPr>
            <a:spLocks noGrp="1"/>
          </p:cNvSpPr>
          <p:nvPr>
            <p:ph idx="1"/>
          </p:nvPr>
        </p:nvSpPr>
        <p:spPr>
          <a:xfrm>
            <a:off x="4724281" y="1090131"/>
            <a:ext cx="7086235" cy="4780677"/>
          </a:xfrm>
        </p:spPr>
        <p:txBody>
          <a:bodyPr anchor="t">
            <a:normAutofit fontScale="92500" lnSpcReduction="10000"/>
          </a:bodyPr>
          <a:lstStyle/>
          <a:p>
            <a:pPr>
              <a:lnSpc>
                <a:spcPct val="130000"/>
              </a:lnSpc>
            </a:pPr>
            <a:r>
              <a:rPr lang="en-US" sz="1400" dirty="0"/>
              <a:t>MIC is a specific statistic produced by the MINE framework. It’s a measure of the strength of association between two variables and also:</a:t>
            </a:r>
          </a:p>
          <a:p>
            <a:pPr marL="171450" indent="-171450">
              <a:lnSpc>
                <a:spcPct val="130000"/>
              </a:lnSpc>
              <a:buFont typeface="Arial" panose="020B0604020202020204" pitchFamily="34" charset="0"/>
              <a:buChar char="•"/>
            </a:pPr>
            <a:r>
              <a:rPr lang="en-US" sz="1400" dirty="0"/>
              <a:t>Non-parametric: Like MINE, MIC doesn’t assume any specific type of relationship (linear, non-linear, etc.). It can detect a wide variety of relationships.</a:t>
            </a:r>
          </a:p>
          <a:p>
            <a:pPr marL="171450" indent="-171450">
              <a:lnSpc>
                <a:spcPct val="130000"/>
              </a:lnSpc>
              <a:buFont typeface="Arial" panose="020B0604020202020204" pitchFamily="34" charset="0"/>
              <a:buChar char="•"/>
            </a:pPr>
            <a:r>
              <a:rPr lang="en-US" sz="1400" dirty="0"/>
              <a:t>Scale-invariant: The value of MIC doesn’t change if you change the units or scale of your variables.</a:t>
            </a:r>
          </a:p>
          <a:p>
            <a:pPr marL="171450" indent="-171450">
              <a:lnSpc>
                <a:spcPct val="130000"/>
              </a:lnSpc>
              <a:buFont typeface="Arial" panose="020B0604020202020204" pitchFamily="34" charset="0"/>
              <a:buChar char="•"/>
            </a:pPr>
            <a:r>
              <a:rPr lang="en-US" sz="1400" dirty="0"/>
              <a:t>Interpretable: In the case of functional relationships (where one variable can be expressed as a function of the other), the MIC score is approximately equal to R-squared (R²), a familiar measure of how well a regression line fits the data. This provides a useful benchmark.</a:t>
            </a:r>
          </a:p>
          <a:p>
            <a:pPr>
              <a:lnSpc>
                <a:spcPct val="130000"/>
              </a:lnSpc>
            </a:pPr>
            <a:r>
              <a:rPr lang="en-US" sz="1400" dirty="0"/>
              <a:t>So, basically MINE is the overall framework, while MIC is a specific, powerful tool within that framework used to quantify the strength of association between two variables regardless of the nature of the relationship. </a:t>
            </a:r>
            <a:endParaRPr lang="ru-RU" sz="1400" dirty="0"/>
          </a:p>
        </p:txBody>
      </p:sp>
      <p:sp>
        <p:nvSpPr>
          <p:cNvPr id="65" name="Rectangle 64">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0177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186DD79-F4CA-4DD7-9C78-AC180665F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495508"/>
            <a:ext cx="4426072" cy="43680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C39B94B-6569-D49D-251E-C85105BD6BA9}"/>
              </a:ext>
            </a:extLst>
          </p:cNvPr>
          <p:cNvSpPr>
            <a:spLocks noGrp="1"/>
          </p:cNvSpPr>
          <p:nvPr>
            <p:ph type="title"/>
          </p:nvPr>
        </p:nvSpPr>
        <p:spPr>
          <a:xfrm>
            <a:off x="301558" y="1952825"/>
            <a:ext cx="3753334" cy="3635693"/>
          </a:xfrm>
        </p:spPr>
        <p:txBody>
          <a:bodyPr>
            <a:normAutofit/>
          </a:bodyPr>
          <a:lstStyle/>
          <a:p>
            <a:r>
              <a:rPr lang="en-US" dirty="0">
                <a:solidFill>
                  <a:schemeClr val="bg1"/>
                </a:solidFill>
              </a:rPr>
              <a:t>Configuring JAVA</a:t>
            </a:r>
            <a:endParaRPr lang="ru-RU" dirty="0">
              <a:solidFill>
                <a:schemeClr val="bg1"/>
              </a:solidFill>
            </a:endParaRPr>
          </a:p>
        </p:txBody>
      </p:sp>
      <p:sp>
        <p:nvSpPr>
          <p:cNvPr id="12" name="Rectangle 11">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4426072" cy="151447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1514475"/>
            <a:ext cx="7765922" cy="435699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501324"/>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51" y="5863306"/>
            <a:ext cx="12192001" cy="994694"/>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580746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Объект 2">
            <a:extLst>
              <a:ext uri="{FF2B5EF4-FFF2-40B4-BE49-F238E27FC236}">
                <a16:creationId xmlns:a16="http://schemas.microsoft.com/office/drawing/2014/main" id="{EC6D55B2-2AA5-097E-2FDC-8D015F894625}"/>
              </a:ext>
            </a:extLst>
          </p:cNvPr>
          <p:cNvSpPr>
            <a:spLocks noGrp="1"/>
          </p:cNvSpPr>
          <p:nvPr>
            <p:ph idx="1"/>
          </p:nvPr>
        </p:nvSpPr>
        <p:spPr>
          <a:xfrm>
            <a:off x="4805436" y="1720063"/>
            <a:ext cx="6431173" cy="1327803"/>
          </a:xfrm>
        </p:spPr>
        <p:txBody>
          <a:bodyPr>
            <a:normAutofit/>
          </a:bodyPr>
          <a:lstStyle/>
          <a:p>
            <a:pPr algn="l" fontAlgn="base">
              <a:spcAft>
                <a:spcPts val="750"/>
              </a:spcAft>
            </a:pPr>
            <a:r>
              <a:rPr lang="en-US" b="0" i="0" dirty="0">
                <a:solidFill>
                  <a:srgbClr val="000000"/>
                </a:solidFill>
                <a:effectLst/>
                <a:latin typeface="Calibri" panose="020F0502020204030204" pitchFamily="34" charset="0"/>
              </a:rPr>
              <a:t>To run MINE in Java the Java needs to be configured. So f</a:t>
            </a:r>
            <a:r>
              <a:rPr lang="en-US" b="0" i="0" dirty="0">
                <a:solidFill>
                  <a:srgbClr val="333333"/>
                </a:solidFill>
                <a:effectLst/>
                <a:latin typeface="Calibri" panose="020F0502020204030204" pitchFamily="34" charset="0"/>
              </a:rPr>
              <a:t>irst, making sure Java is installed. Then</a:t>
            </a:r>
            <a:r>
              <a:rPr lang="en-US" b="0" dirty="0">
                <a:solidFill>
                  <a:srgbClr val="0066CC"/>
                </a:solidFill>
                <a:latin typeface="inherit"/>
              </a:rPr>
              <a:t> </a:t>
            </a:r>
            <a:r>
              <a:rPr lang="en-US" b="0" dirty="0">
                <a:solidFill>
                  <a:schemeClr val="tx1"/>
                </a:solidFill>
                <a:latin typeface="inherit"/>
              </a:rPr>
              <a:t> downloading </a:t>
            </a:r>
            <a:r>
              <a:rPr lang="en-US" b="0" i="0" dirty="0">
                <a:solidFill>
                  <a:srgbClr val="333333"/>
                </a:solidFill>
                <a:effectLst/>
                <a:latin typeface="Calibri" panose="020F0502020204030204" pitchFamily="34" charset="0"/>
              </a:rPr>
              <a:t>MINEv2.jar and opening a command prompt.</a:t>
            </a:r>
          </a:p>
        </p:txBody>
      </p:sp>
      <p:pic>
        <p:nvPicPr>
          <p:cNvPr id="5" name="Рисунок 4" descr="Изображение выглядит как текст, Шрифт, снимок экрана, черный&#10;&#10;Автоматически созданное описание">
            <a:extLst>
              <a:ext uri="{FF2B5EF4-FFF2-40B4-BE49-F238E27FC236}">
                <a16:creationId xmlns:a16="http://schemas.microsoft.com/office/drawing/2014/main" id="{68158C1A-DD1C-7FC6-D880-C24C327FC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5250" y="3307424"/>
            <a:ext cx="6880435" cy="1513510"/>
          </a:xfrm>
          <a:prstGeom prst="rect">
            <a:avLst/>
          </a:prstGeom>
        </p:spPr>
      </p:pic>
    </p:spTree>
    <p:extLst>
      <p:ext uri="{BB962C8B-B14F-4D97-AF65-F5344CB8AC3E}">
        <p14:creationId xmlns:p14="http://schemas.microsoft.com/office/powerpoint/2010/main" val="1611493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EE865D-5A59-4DD1-A94D-A8DBE4A9E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465BEC9-9A64-4330-A094-2323D0EE1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891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B1DA58A-A755-4FCE-9BED-1E4AD6C95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611461"/>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Объект 4">
            <a:extLst>
              <a:ext uri="{FF2B5EF4-FFF2-40B4-BE49-F238E27FC236}">
                <a16:creationId xmlns:a16="http://schemas.microsoft.com/office/drawing/2014/main" id="{80729D54-CCF3-2AD5-20AF-FACFC3A3156C}"/>
              </a:ext>
            </a:extLst>
          </p:cNvPr>
          <p:cNvPicPr>
            <a:picLocks noGrp="1" noChangeAspect="1"/>
          </p:cNvPicPr>
          <p:nvPr>
            <p:ph idx="1"/>
          </p:nvPr>
        </p:nvPicPr>
        <p:blipFill>
          <a:blip r:embed="rId2"/>
          <a:stretch>
            <a:fillRect/>
          </a:stretch>
        </p:blipFill>
        <p:spPr>
          <a:xfrm>
            <a:off x="1708191" y="1702847"/>
            <a:ext cx="8775618" cy="4256175"/>
          </a:xfrm>
          <a:prstGeom prst="rect">
            <a:avLst/>
          </a:prstGeom>
        </p:spPr>
      </p:pic>
      <p:sp>
        <p:nvSpPr>
          <p:cNvPr id="16" name="Rectangle 15">
            <a:extLst>
              <a:ext uri="{FF2B5EF4-FFF2-40B4-BE49-F238E27FC236}">
                <a16:creationId xmlns:a16="http://schemas.microsoft.com/office/drawing/2014/main" id="{2E23EFB5-5855-497F-AC57-6C1941487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6184551"/>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414EFBA-DEC5-4782-9B45-CEF1661DB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21586"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C5CC85-382A-A85B-4529-4737436FF14A}"/>
              </a:ext>
            </a:extLst>
          </p:cNvPr>
          <p:cNvSpPr txBox="1"/>
          <p:nvPr/>
        </p:nvSpPr>
        <p:spPr>
          <a:xfrm>
            <a:off x="3125892" y="963764"/>
            <a:ext cx="6094104" cy="646331"/>
          </a:xfrm>
          <a:prstGeom prst="rect">
            <a:avLst/>
          </a:prstGeom>
          <a:noFill/>
        </p:spPr>
        <p:txBody>
          <a:bodyPr wrap="none" rtlCol="0">
            <a:spAutoFit/>
          </a:bodyPr>
          <a:lstStyle/>
          <a:p>
            <a:r>
              <a:rPr lang="en-US" sz="3600" b="1" dirty="0">
                <a:latin typeface="+mj-lt"/>
              </a:rPr>
              <a:t>Dataset “Spellman.csv”</a:t>
            </a:r>
            <a:endParaRPr lang="ru-RU" sz="3600" b="1" dirty="0">
              <a:latin typeface="+mj-lt"/>
            </a:endParaRPr>
          </a:p>
        </p:txBody>
      </p:sp>
      <p:sp>
        <p:nvSpPr>
          <p:cNvPr id="7" name="TextBox 6">
            <a:extLst>
              <a:ext uri="{FF2B5EF4-FFF2-40B4-BE49-F238E27FC236}">
                <a16:creationId xmlns:a16="http://schemas.microsoft.com/office/drawing/2014/main" id="{056D0782-9161-6033-1CCF-1F0F94A9AEE0}"/>
              </a:ext>
            </a:extLst>
          </p:cNvPr>
          <p:cNvSpPr txBox="1"/>
          <p:nvPr/>
        </p:nvSpPr>
        <p:spPr>
          <a:xfrm>
            <a:off x="5674034" y="1425429"/>
            <a:ext cx="5844549" cy="369332"/>
          </a:xfrm>
          <a:prstGeom prst="rect">
            <a:avLst/>
          </a:prstGeom>
          <a:noFill/>
        </p:spPr>
        <p:txBody>
          <a:bodyPr wrap="none" rtlCol="0">
            <a:spAutoFit/>
          </a:bodyPr>
          <a:lstStyle/>
          <a:p>
            <a:r>
              <a:rPr lang="en-US" b="0" i="0" dirty="0">
                <a:solidFill>
                  <a:srgbClr val="333333"/>
                </a:solidFill>
                <a:effectLst/>
                <a:latin typeface="Calibri" panose="020F0502020204030204" pitchFamily="34" charset="0"/>
              </a:rPr>
              <a:t>- the CDC15 yeast gene expression data set of Spellman </a:t>
            </a:r>
            <a:r>
              <a:rPr lang="en-US" b="0" i="1" dirty="0">
                <a:solidFill>
                  <a:srgbClr val="333333"/>
                </a:solidFill>
                <a:effectLst/>
                <a:latin typeface="Calibri" panose="020F0502020204030204" pitchFamily="34" charset="0"/>
              </a:rPr>
              <a:t>et al.</a:t>
            </a:r>
            <a:endParaRPr lang="ru-RU" dirty="0"/>
          </a:p>
        </p:txBody>
      </p:sp>
    </p:spTree>
    <p:extLst>
      <p:ext uri="{BB962C8B-B14F-4D97-AF65-F5344CB8AC3E}">
        <p14:creationId xmlns:p14="http://schemas.microsoft.com/office/powerpoint/2010/main" val="393812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35" y="758246"/>
            <a:ext cx="4658480" cy="53863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5EFB1C1-AAB1-16BC-47E6-39431CC72D84}"/>
              </a:ext>
            </a:extLst>
          </p:cNvPr>
          <p:cNvSpPr>
            <a:spLocks noGrp="1"/>
          </p:cNvSpPr>
          <p:nvPr>
            <p:ph type="title"/>
          </p:nvPr>
        </p:nvSpPr>
        <p:spPr>
          <a:xfrm>
            <a:off x="642918" y="1072110"/>
            <a:ext cx="3611029" cy="1862345"/>
          </a:xfrm>
        </p:spPr>
        <p:txBody>
          <a:bodyPr>
            <a:normAutofit/>
          </a:bodyPr>
          <a:lstStyle/>
          <a:p>
            <a:r>
              <a:rPr lang="en-US" dirty="0"/>
              <a:t>Running the code</a:t>
            </a:r>
            <a:endParaRPr lang="ru-RU" dirty="0"/>
          </a:p>
        </p:txBody>
      </p:sp>
      <p:sp>
        <p:nvSpPr>
          <p:cNvPr id="35" name="Rectangle 34">
            <a:extLst>
              <a:ext uri="{FF2B5EF4-FFF2-40B4-BE49-F238E27FC236}">
                <a16:creationId xmlns:a16="http://schemas.microsoft.com/office/drawing/2014/main" id="{2060C0F7-61A6-4E64-A77E-AFBD8112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84060" y="0"/>
            <a:ext cx="7507940" cy="7652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Объект 9">
            <a:extLst>
              <a:ext uri="{FF2B5EF4-FFF2-40B4-BE49-F238E27FC236}">
                <a16:creationId xmlns:a16="http://schemas.microsoft.com/office/drawing/2014/main" id="{240A200E-5E84-00DD-C5AC-BA3D1C5C94AF}"/>
              </a:ext>
            </a:extLst>
          </p:cNvPr>
          <p:cNvPicPr>
            <a:picLocks noGrp="1" noChangeAspect="1"/>
          </p:cNvPicPr>
          <p:nvPr>
            <p:ph idx="1"/>
          </p:nvPr>
        </p:nvPicPr>
        <p:blipFill>
          <a:blip r:embed="rId2"/>
          <a:stretch>
            <a:fillRect/>
          </a:stretch>
        </p:blipFill>
        <p:spPr>
          <a:xfrm>
            <a:off x="638175" y="3918289"/>
            <a:ext cx="3616325" cy="872446"/>
          </a:xfrm>
        </p:spPr>
      </p:pic>
      <p:pic>
        <p:nvPicPr>
          <p:cNvPr id="7" name="Рисунок 6">
            <a:extLst>
              <a:ext uri="{FF2B5EF4-FFF2-40B4-BE49-F238E27FC236}">
                <a16:creationId xmlns:a16="http://schemas.microsoft.com/office/drawing/2014/main" id="{AA5A03EF-3588-ED07-2633-83A2159EED1E}"/>
              </a:ext>
            </a:extLst>
          </p:cNvPr>
          <p:cNvPicPr>
            <a:picLocks noChangeAspect="1"/>
          </p:cNvPicPr>
          <p:nvPr/>
        </p:nvPicPr>
        <p:blipFill>
          <a:blip r:embed="rId3"/>
          <a:stretch>
            <a:fillRect/>
          </a:stretch>
        </p:blipFill>
        <p:spPr>
          <a:xfrm>
            <a:off x="5188714" y="1319941"/>
            <a:ext cx="6514470" cy="4218118"/>
          </a:xfrm>
          <a:prstGeom prst="rect">
            <a:avLst/>
          </a:prstGeom>
        </p:spPr>
      </p:pic>
      <p:sp>
        <p:nvSpPr>
          <p:cNvPr id="37" name="Rectangle 36">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 y="6144564"/>
            <a:ext cx="4656246" cy="7134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15122" y="6167615"/>
            <a:ext cx="747382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624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71343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8329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9E22FF-7924-A88A-25AA-AEBAD8D750A3}"/>
              </a:ext>
            </a:extLst>
          </p:cNvPr>
          <p:cNvSpPr>
            <a:spLocks noGrp="1"/>
          </p:cNvSpPr>
          <p:nvPr>
            <p:ph type="title"/>
          </p:nvPr>
        </p:nvSpPr>
        <p:spPr/>
        <p:txBody>
          <a:bodyPr/>
          <a:lstStyle/>
          <a:p>
            <a:r>
              <a:rPr lang="en-US" dirty="0"/>
              <a:t>Input explanation</a:t>
            </a:r>
            <a:endParaRPr lang="ru-RU" dirty="0"/>
          </a:p>
        </p:txBody>
      </p:sp>
      <p:sp>
        <p:nvSpPr>
          <p:cNvPr id="3" name="Объект 2">
            <a:extLst>
              <a:ext uri="{FF2B5EF4-FFF2-40B4-BE49-F238E27FC236}">
                <a16:creationId xmlns:a16="http://schemas.microsoft.com/office/drawing/2014/main" id="{408ACC48-ACDD-ABB1-D0A3-E77C2C7B8F0B}"/>
              </a:ext>
            </a:extLst>
          </p:cNvPr>
          <p:cNvSpPr>
            <a:spLocks noGrp="1"/>
          </p:cNvSpPr>
          <p:nvPr>
            <p:ph idx="1"/>
          </p:nvPr>
        </p:nvSpPr>
        <p:spPr/>
        <p:txBody>
          <a:bodyPr>
            <a:normAutofit fontScale="62500" lnSpcReduction="20000"/>
          </a:bodyPr>
          <a:lstStyle/>
          <a:p>
            <a:r>
              <a:rPr lang="en-US" dirty="0"/>
              <a:t>I executed this line in terminal </a:t>
            </a:r>
            <a:r>
              <a:rPr lang="en-US" sz="1900" dirty="0"/>
              <a:t>“</a:t>
            </a:r>
            <a:r>
              <a:rPr lang="en-US" sz="1900" i="1" dirty="0"/>
              <a:t>java -jar MINEv2.jar “path to Spellman.csv" 0 cv=0.1 exp=0.6 c=10 </a:t>
            </a:r>
            <a:r>
              <a:rPr lang="en-US" sz="1900" i="1" dirty="0" err="1"/>
              <a:t>fewBoxes</a:t>
            </a:r>
            <a:r>
              <a:rPr lang="en-US" sz="1900" i="1" dirty="0"/>
              <a:t>”</a:t>
            </a:r>
            <a:r>
              <a:rPr lang="en-US" i="1" dirty="0"/>
              <a:t>, with this parameters:</a:t>
            </a:r>
          </a:p>
          <a:p>
            <a:r>
              <a:rPr lang="en-US" sz="1900" dirty="0"/>
              <a:t>mv=0</a:t>
            </a:r>
            <a:r>
              <a:rPr lang="en-US" dirty="0"/>
              <a:t>, meaning multivariate analysis is not being performed in this instance - it’s pairwise;</a:t>
            </a:r>
          </a:p>
          <a:p>
            <a:r>
              <a:rPr lang="en-US" sz="1900" dirty="0"/>
              <a:t>cv=0.1</a:t>
            </a:r>
            <a:r>
              <a:rPr lang="en-US" dirty="0"/>
              <a:t>: This sets the required common values fraction to 0.1. This means that MINE will only consider variable pairs that share at least 10% of their values (to avoid spurious correlations);</a:t>
            </a:r>
          </a:p>
          <a:p>
            <a:r>
              <a:rPr lang="en-US" sz="1900" dirty="0"/>
              <a:t>exp=0.6</a:t>
            </a:r>
            <a:r>
              <a:rPr lang="en-US" dirty="0"/>
              <a:t>: This sets the exponent used in calculating the number of bins (B) for the estimation of Mutual Information (B = n^0.6, where n is the number of data points). A smaller exponent leads to fewer bins. This parameter balances resolution and computational cost.</a:t>
            </a:r>
          </a:p>
          <a:p>
            <a:r>
              <a:rPr lang="en-US" sz="1900" dirty="0"/>
              <a:t>c=10</a:t>
            </a:r>
            <a:r>
              <a:rPr lang="en-US" dirty="0"/>
              <a:t>: This sets the </a:t>
            </a:r>
            <a:r>
              <a:rPr lang="en-US" dirty="0" err="1"/>
              <a:t>numClumpsFactor</a:t>
            </a:r>
            <a:r>
              <a:rPr lang="en-US" dirty="0"/>
              <a:t> to 10, which controls the complexity of the estimation of Mutual Information. It is related to the number of clusters used. Larger values can lead to more accurate but slower computations.</a:t>
            </a:r>
          </a:p>
          <a:p>
            <a:r>
              <a:rPr lang="en-US" sz="1900" dirty="0" err="1"/>
              <a:t>fewBoxes</a:t>
            </a:r>
            <a:r>
              <a:rPr lang="en-US" sz="1900" dirty="0"/>
              <a:t>: </a:t>
            </a:r>
            <a:r>
              <a:rPr lang="en-US" dirty="0"/>
              <a:t>This is an additional parameter that restricts the number of bins used for the calculation which will lead to a faster estimation of the mutual information.</a:t>
            </a:r>
          </a:p>
        </p:txBody>
      </p:sp>
    </p:spTree>
    <p:extLst>
      <p:ext uri="{BB962C8B-B14F-4D97-AF65-F5344CB8AC3E}">
        <p14:creationId xmlns:p14="http://schemas.microsoft.com/office/powerpoint/2010/main" val="4047459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EE865D-5A59-4DD1-A94D-A8DBE4A9E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465BEC9-9A64-4330-A094-2323D0EE1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891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B1DA58A-A755-4FCE-9BED-1E4AD6C95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611461"/>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Объект 4">
            <a:extLst>
              <a:ext uri="{FF2B5EF4-FFF2-40B4-BE49-F238E27FC236}">
                <a16:creationId xmlns:a16="http://schemas.microsoft.com/office/drawing/2014/main" id="{9169A151-D122-0696-998E-35E7EE75AE2E}"/>
              </a:ext>
            </a:extLst>
          </p:cNvPr>
          <p:cNvPicPr>
            <a:picLocks noGrp="1" noChangeAspect="1"/>
          </p:cNvPicPr>
          <p:nvPr>
            <p:ph idx="1"/>
          </p:nvPr>
        </p:nvPicPr>
        <p:blipFill>
          <a:blip r:embed="rId2"/>
          <a:stretch>
            <a:fillRect/>
          </a:stretch>
        </p:blipFill>
        <p:spPr>
          <a:xfrm>
            <a:off x="1316874" y="1835099"/>
            <a:ext cx="9558251" cy="3871090"/>
          </a:xfrm>
          <a:prstGeom prst="rect">
            <a:avLst/>
          </a:prstGeom>
        </p:spPr>
      </p:pic>
      <p:sp>
        <p:nvSpPr>
          <p:cNvPr id="16" name="Rectangle 15">
            <a:extLst>
              <a:ext uri="{FF2B5EF4-FFF2-40B4-BE49-F238E27FC236}">
                <a16:creationId xmlns:a16="http://schemas.microsoft.com/office/drawing/2014/main" id="{2E23EFB5-5855-497F-AC57-6C1941487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6184551"/>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414EFBA-DEC5-4782-9B45-CEF1661DB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21586"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87EE73F-4B8B-25C7-1298-1F802CB0B446}"/>
              </a:ext>
            </a:extLst>
          </p:cNvPr>
          <p:cNvSpPr txBox="1"/>
          <p:nvPr/>
        </p:nvSpPr>
        <p:spPr>
          <a:xfrm>
            <a:off x="1278215" y="1004100"/>
            <a:ext cx="8721716" cy="830997"/>
          </a:xfrm>
          <a:prstGeom prst="rect">
            <a:avLst/>
          </a:prstGeom>
          <a:noFill/>
        </p:spPr>
        <p:txBody>
          <a:bodyPr wrap="square" rtlCol="0">
            <a:spAutoFit/>
          </a:bodyPr>
          <a:lstStyle/>
          <a:p>
            <a:r>
              <a:rPr lang="en-US" sz="2400" b="1" dirty="0">
                <a:latin typeface="+mj-lt"/>
              </a:rPr>
              <a:t>“Spellman.csv, mv=0,B=n^0.6,c=10,B_tic=n^0,500,Results.csv”</a:t>
            </a:r>
            <a:endParaRPr lang="ru-RU" sz="2400" b="1" dirty="0">
              <a:latin typeface="+mj-lt"/>
            </a:endParaRPr>
          </a:p>
        </p:txBody>
      </p:sp>
    </p:spTree>
    <p:extLst>
      <p:ext uri="{BB962C8B-B14F-4D97-AF65-F5344CB8AC3E}">
        <p14:creationId xmlns:p14="http://schemas.microsoft.com/office/powerpoint/2010/main" val="3678598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BFF5C4-95AD-32F5-2A59-DE64CA9B6ACD}"/>
              </a:ext>
            </a:extLst>
          </p:cNvPr>
          <p:cNvSpPr>
            <a:spLocks noGrp="1"/>
          </p:cNvSpPr>
          <p:nvPr>
            <p:ph type="title"/>
          </p:nvPr>
        </p:nvSpPr>
        <p:spPr/>
        <p:txBody>
          <a:bodyPr/>
          <a:lstStyle/>
          <a:p>
            <a:r>
              <a:rPr lang="en-US" dirty="0"/>
              <a:t>Results explanation</a:t>
            </a:r>
            <a:endParaRPr lang="ru-RU" dirty="0"/>
          </a:p>
        </p:txBody>
      </p:sp>
      <p:sp>
        <p:nvSpPr>
          <p:cNvPr id="3" name="Объект 2">
            <a:extLst>
              <a:ext uri="{FF2B5EF4-FFF2-40B4-BE49-F238E27FC236}">
                <a16:creationId xmlns:a16="http://schemas.microsoft.com/office/drawing/2014/main" id="{3E2DA261-A2F8-0566-D227-F1EDB810176C}"/>
              </a:ext>
            </a:extLst>
          </p:cNvPr>
          <p:cNvSpPr>
            <a:spLocks noGrp="1"/>
          </p:cNvSpPr>
          <p:nvPr>
            <p:ph idx="1"/>
          </p:nvPr>
        </p:nvSpPr>
        <p:spPr/>
        <p:txBody>
          <a:bodyPr>
            <a:noAutofit/>
          </a:bodyPr>
          <a:lstStyle/>
          <a:p>
            <a:r>
              <a:rPr lang="en-US" sz="1100" dirty="0"/>
              <a:t>This table shows the results of a MINE analysis, providing various metrics to characterize the relationships between the “time” variable and other variables.</a:t>
            </a:r>
          </a:p>
          <a:p>
            <a:r>
              <a:rPr lang="en-US" sz="1200" dirty="0"/>
              <a:t>X var</a:t>
            </a:r>
            <a:r>
              <a:rPr lang="en-US" sz="1100" dirty="0"/>
              <a:t>: This column consistently shows “time,” indicating that this is the reference variable against which all other variables are compared.</a:t>
            </a:r>
          </a:p>
          <a:p>
            <a:r>
              <a:rPr lang="en-US" sz="1200" dirty="0"/>
              <a:t>Y var</a:t>
            </a:r>
            <a:r>
              <a:rPr lang="en-US" sz="1100" dirty="0"/>
              <a:t>: This column lists the names of the other variables in the dataset (e.g., YCR098C, YEL050C, etc.). These are gene identifiers.</a:t>
            </a:r>
          </a:p>
          <a:p>
            <a:r>
              <a:rPr lang="en-US" sz="1200" dirty="0"/>
              <a:t>n</a:t>
            </a:r>
            <a:r>
              <a:rPr lang="en-US" sz="1100" dirty="0"/>
              <a:t>: This column shows the sample size, which is 23 for all rows. This means the analysis was performed on 23 data points (observations).</a:t>
            </a:r>
            <a:endParaRPr lang="ru-RU" sz="1100" dirty="0"/>
          </a:p>
        </p:txBody>
      </p:sp>
      <p:pic>
        <p:nvPicPr>
          <p:cNvPr id="7" name="Рисунок 6">
            <a:extLst>
              <a:ext uri="{FF2B5EF4-FFF2-40B4-BE49-F238E27FC236}">
                <a16:creationId xmlns:a16="http://schemas.microsoft.com/office/drawing/2014/main" id="{B305DB5D-951A-3A93-2E82-280BFEB7EC7F}"/>
              </a:ext>
            </a:extLst>
          </p:cNvPr>
          <p:cNvPicPr>
            <a:picLocks noChangeAspect="1"/>
          </p:cNvPicPr>
          <p:nvPr/>
        </p:nvPicPr>
        <p:blipFill>
          <a:blip r:embed="rId2"/>
          <a:stretch>
            <a:fillRect/>
          </a:stretch>
        </p:blipFill>
        <p:spPr>
          <a:xfrm>
            <a:off x="964765" y="4198452"/>
            <a:ext cx="1943805" cy="1704158"/>
          </a:xfrm>
          <a:prstGeom prst="rect">
            <a:avLst/>
          </a:prstGeom>
        </p:spPr>
      </p:pic>
    </p:spTree>
    <p:extLst>
      <p:ext uri="{BB962C8B-B14F-4D97-AF65-F5344CB8AC3E}">
        <p14:creationId xmlns:p14="http://schemas.microsoft.com/office/powerpoint/2010/main" val="3465427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30DC-56F5-2036-FB75-A287132A72A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E6F699-87C7-1FAD-AFEB-C4B0DA4DDB11}"/>
              </a:ext>
            </a:extLst>
          </p:cNvPr>
          <p:cNvSpPr>
            <a:spLocks noGrp="1"/>
          </p:cNvSpPr>
          <p:nvPr>
            <p:ph type="title"/>
          </p:nvPr>
        </p:nvSpPr>
        <p:spPr/>
        <p:txBody>
          <a:bodyPr/>
          <a:lstStyle/>
          <a:p>
            <a:r>
              <a:rPr lang="en-US" dirty="0"/>
              <a:t>Results explanation</a:t>
            </a:r>
            <a:endParaRPr lang="ru-RU" dirty="0"/>
          </a:p>
        </p:txBody>
      </p:sp>
      <p:sp>
        <p:nvSpPr>
          <p:cNvPr id="3" name="Объект 2">
            <a:extLst>
              <a:ext uri="{FF2B5EF4-FFF2-40B4-BE49-F238E27FC236}">
                <a16:creationId xmlns:a16="http://schemas.microsoft.com/office/drawing/2014/main" id="{0FDAB96D-98FB-C6AC-60B8-AC14C567E615}"/>
              </a:ext>
            </a:extLst>
          </p:cNvPr>
          <p:cNvSpPr>
            <a:spLocks noGrp="1"/>
          </p:cNvSpPr>
          <p:nvPr>
            <p:ph idx="1"/>
          </p:nvPr>
        </p:nvSpPr>
        <p:spPr/>
        <p:txBody>
          <a:bodyPr>
            <a:noAutofit/>
          </a:bodyPr>
          <a:lstStyle/>
          <a:p>
            <a:r>
              <a:rPr lang="en-US" sz="1200" dirty="0" err="1"/>
              <a:t>MICe</a:t>
            </a:r>
            <a:r>
              <a:rPr lang="en-US" sz="1200" dirty="0"/>
              <a:t> (strength): </a:t>
            </a:r>
            <a:r>
              <a:rPr lang="en-US" sz="1100" dirty="0"/>
              <a:t>This is the Maximal Information Coefficient (</a:t>
            </a:r>
            <a:r>
              <a:rPr lang="en-US" sz="1100" dirty="0" err="1"/>
              <a:t>MICe</a:t>
            </a:r>
            <a:r>
              <a:rPr lang="en-US" sz="1100" dirty="0"/>
              <a:t>). It’s a measure of the strength of the association between the “time” variable and the Y var. It ranges from 0 (no association) to 1 (perfect association). </a:t>
            </a:r>
          </a:p>
          <a:p>
            <a:r>
              <a:rPr lang="en-US" sz="1200" dirty="0" err="1"/>
              <a:t>TICe</a:t>
            </a:r>
            <a:r>
              <a:rPr lang="en-US" sz="1200" dirty="0"/>
              <a:t> (presence of relationship): </a:t>
            </a:r>
            <a:r>
              <a:rPr lang="en-US" sz="1100" dirty="0"/>
              <a:t>This is the “Threshold Information Coefficient” (</a:t>
            </a:r>
            <a:r>
              <a:rPr lang="en-US" sz="1100" dirty="0" err="1"/>
              <a:t>TICe</a:t>
            </a:r>
            <a:r>
              <a:rPr lang="en-US" sz="1100" dirty="0"/>
              <a:t>). It’s a p-value that assesses the statistical significance of the relationship detected by </a:t>
            </a:r>
            <a:r>
              <a:rPr lang="en-US" sz="1100" dirty="0" err="1"/>
              <a:t>MICe</a:t>
            </a:r>
            <a:r>
              <a:rPr lang="en-US" sz="1100" dirty="0"/>
              <a:t>. This indicates the probability of observing such a strong association by chance alone if no real relationship exists. </a:t>
            </a:r>
          </a:p>
          <a:p>
            <a:r>
              <a:rPr lang="en-US" sz="1200" dirty="0"/>
              <a:t>MICe-p^2 (nonlinearity): </a:t>
            </a:r>
            <a:r>
              <a:rPr lang="en-US" sz="1100" dirty="0"/>
              <a:t>This metric appears to quantify the nonlinearity of the relationship. A high positive value suggests a highly nonlinear relationship, while a value near zero suggests a linear or nearly linear relationship. Negative values might indicate a weak or inverted relationship.</a:t>
            </a:r>
          </a:p>
        </p:txBody>
      </p:sp>
      <p:pic>
        <p:nvPicPr>
          <p:cNvPr id="5" name="Рисунок 4">
            <a:extLst>
              <a:ext uri="{FF2B5EF4-FFF2-40B4-BE49-F238E27FC236}">
                <a16:creationId xmlns:a16="http://schemas.microsoft.com/office/drawing/2014/main" id="{663AE353-6B58-B298-4F01-894E9DDCC30F}"/>
              </a:ext>
            </a:extLst>
          </p:cNvPr>
          <p:cNvPicPr>
            <a:picLocks noChangeAspect="1"/>
          </p:cNvPicPr>
          <p:nvPr/>
        </p:nvPicPr>
        <p:blipFill>
          <a:blip r:embed="rId2"/>
          <a:srcRect l="579" r="55907"/>
          <a:stretch/>
        </p:blipFill>
        <p:spPr>
          <a:xfrm>
            <a:off x="552659" y="4317375"/>
            <a:ext cx="3424734" cy="1585235"/>
          </a:xfrm>
          <a:prstGeom prst="rect">
            <a:avLst/>
          </a:prstGeom>
        </p:spPr>
      </p:pic>
    </p:spTree>
    <p:extLst>
      <p:ext uri="{BB962C8B-B14F-4D97-AF65-F5344CB8AC3E}">
        <p14:creationId xmlns:p14="http://schemas.microsoft.com/office/powerpoint/2010/main" val="3200918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BE54A-17A8-97E0-4991-05992DBA282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1ACB50-8365-EDD5-8BA4-00DC4B7DF729}"/>
              </a:ext>
            </a:extLst>
          </p:cNvPr>
          <p:cNvSpPr>
            <a:spLocks noGrp="1"/>
          </p:cNvSpPr>
          <p:nvPr>
            <p:ph type="title"/>
          </p:nvPr>
        </p:nvSpPr>
        <p:spPr/>
        <p:txBody>
          <a:bodyPr/>
          <a:lstStyle/>
          <a:p>
            <a:r>
              <a:rPr lang="en-US" dirty="0"/>
              <a:t>Results explanation</a:t>
            </a:r>
            <a:endParaRPr lang="ru-RU" dirty="0"/>
          </a:p>
        </p:txBody>
      </p:sp>
      <p:sp>
        <p:nvSpPr>
          <p:cNvPr id="3" name="Объект 2">
            <a:extLst>
              <a:ext uri="{FF2B5EF4-FFF2-40B4-BE49-F238E27FC236}">
                <a16:creationId xmlns:a16="http://schemas.microsoft.com/office/drawing/2014/main" id="{A0247A64-F873-8614-F19F-335827380701}"/>
              </a:ext>
            </a:extLst>
          </p:cNvPr>
          <p:cNvSpPr>
            <a:spLocks noGrp="1"/>
          </p:cNvSpPr>
          <p:nvPr>
            <p:ph idx="1"/>
          </p:nvPr>
        </p:nvSpPr>
        <p:spPr/>
        <p:txBody>
          <a:bodyPr>
            <a:noAutofit/>
          </a:bodyPr>
          <a:lstStyle/>
          <a:p>
            <a:r>
              <a:rPr lang="en-US" sz="1200" dirty="0" err="1"/>
              <a:t>MASe</a:t>
            </a:r>
            <a:r>
              <a:rPr lang="en-US" sz="1200" dirty="0"/>
              <a:t> (non-monotonicity): </a:t>
            </a:r>
            <a:r>
              <a:rPr lang="en-US" sz="1100" dirty="0"/>
              <a:t>This measures the degree of non-monotonicity in the relationship. A monotonic relationship is one where as one variable increases, the other either consistently increases or consistently decreases. </a:t>
            </a:r>
          </a:p>
          <a:p>
            <a:r>
              <a:rPr lang="en-US" sz="1200" dirty="0" err="1"/>
              <a:t>MEVe</a:t>
            </a:r>
            <a:r>
              <a:rPr lang="en-US" sz="1200" dirty="0"/>
              <a:t> (functionality): </a:t>
            </a:r>
            <a:r>
              <a:rPr lang="en-US" sz="1100" dirty="0"/>
              <a:t>This assesses the functionality of the relationship. A high value means that the relationship can be well-approximated by a function.</a:t>
            </a:r>
          </a:p>
          <a:p>
            <a:r>
              <a:rPr lang="en-US" sz="1200" dirty="0" err="1"/>
              <a:t>MCNe</a:t>
            </a:r>
            <a:r>
              <a:rPr lang="en-US" sz="1200" dirty="0"/>
              <a:t> (complexity): </a:t>
            </a:r>
            <a:r>
              <a:rPr lang="en-US" sz="1100" dirty="0"/>
              <a:t>This might represent the complexity of the relationship as estimated by MINE. </a:t>
            </a:r>
          </a:p>
          <a:p>
            <a:r>
              <a:rPr lang="en-US" sz="1200" dirty="0"/>
              <a:t>Linear regression (p): </a:t>
            </a:r>
            <a:r>
              <a:rPr lang="en-US" sz="1100" dirty="0"/>
              <a:t>This is the p-value from a linear regression model fitted to the data. This represents the statistical significance of a linear relationship between “time” and the Y var.</a:t>
            </a:r>
            <a:endParaRPr lang="ru-RU" sz="1100" dirty="0"/>
          </a:p>
        </p:txBody>
      </p:sp>
      <p:pic>
        <p:nvPicPr>
          <p:cNvPr id="5" name="Рисунок 4">
            <a:extLst>
              <a:ext uri="{FF2B5EF4-FFF2-40B4-BE49-F238E27FC236}">
                <a16:creationId xmlns:a16="http://schemas.microsoft.com/office/drawing/2014/main" id="{6859FE45-4E4D-E9F2-31AC-C08C547C271F}"/>
              </a:ext>
            </a:extLst>
          </p:cNvPr>
          <p:cNvPicPr>
            <a:picLocks noChangeAspect="1"/>
          </p:cNvPicPr>
          <p:nvPr/>
        </p:nvPicPr>
        <p:blipFill>
          <a:blip r:embed="rId2"/>
          <a:srcRect l="59156"/>
          <a:stretch/>
        </p:blipFill>
        <p:spPr>
          <a:xfrm>
            <a:off x="642917" y="4333244"/>
            <a:ext cx="3182468" cy="1569366"/>
          </a:xfrm>
          <a:prstGeom prst="rect">
            <a:avLst/>
          </a:prstGeom>
        </p:spPr>
      </p:pic>
    </p:spTree>
    <p:extLst>
      <p:ext uri="{BB962C8B-B14F-4D97-AF65-F5344CB8AC3E}">
        <p14:creationId xmlns:p14="http://schemas.microsoft.com/office/powerpoint/2010/main" val="3710411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A1A465D-0F5F-B220-3E33-BCEEADFD3BA0}"/>
              </a:ext>
            </a:extLst>
          </p:cNvPr>
          <p:cNvSpPr>
            <a:spLocks noGrp="1"/>
          </p:cNvSpPr>
          <p:nvPr>
            <p:ph type="title"/>
          </p:nvPr>
        </p:nvSpPr>
        <p:spPr>
          <a:xfrm>
            <a:off x="1535371" y="1044054"/>
            <a:ext cx="10013709" cy="1030360"/>
          </a:xfrm>
        </p:spPr>
        <p:txBody>
          <a:bodyPr>
            <a:normAutofit/>
          </a:bodyPr>
          <a:lstStyle/>
          <a:p>
            <a:r>
              <a:rPr lang="en-US">
                <a:solidFill>
                  <a:schemeClr val="bg1"/>
                </a:solidFill>
              </a:rPr>
              <a:t>Conclusion</a:t>
            </a:r>
            <a:endParaRPr lang="ru-RU">
              <a:solidFill>
                <a:schemeClr val="bg1"/>
              </a:solidFill>
            </a:endParaRPr>
          </a:p>
        </p:txBody>
      </p:sp>
      <p:sp>
        <p:nvSpPr>
          <p:cNvPr id="14" name="Rectangle 13">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Объект 2">
            <a:extLst>
              <a:ext uri="{FF2B5EF4-FFF2-40B4-BE49-F238E27FC236}">
                <a16:creationId xmlns:a16="http://schemas.microsoft.com/office/drawing/2014/main" id="{7A781678-A6D9-B12B-B1FA-CC9FCE2C7251}"/>
              </a:ext>
            </a:extLst>
          </p:cNvPr>
          <p:cNvSpPr>
            <a:spLocks noGrp="1"/>
          </p:cNvSpPr>
          <p:nvPr>
            <p:ph idx="1"/>
          </p:nvPr>
        </p:nvSpPr>
        <p:spPr>
          <a:xfrm>
            <a:off x="1535371" y="2184757"/>
            <a:ext cx="9935571" cy="4522034"/>
          </a:xfrm>
        </p:spPr>
        <p:txBody>
          <a:bodyPr anchor="t">
            <a:noAutofit/>
          </a:bodyPr>
          <a:lstStyle/>
          <a:p>
            <a:r>
              <a:rPr lang="en-US" sz="1200" dirty="0"/>
              <a:t>The analysis of the provided code and its output reveals a comprehensive investigation into the relationships between a time variable and many other variables, representing gene expression levels over time. </a:t>
            </a:r>
          </a:p>
          <a:p>
            <a:r>
              <a:rPr lang="en-US" sz="1200" dirty="0"/>
              <a:t>The use of the MINE algorithm, along with its associated metrics (</a:t>
            </a:r>
            <a:r>
              <a:rPr lang="en-US" sz="1200" dirty="0" err="1"/>
              <a:t>MICe</a:t>
            </a:r>
            <a:r>
              <a:rPr lang="en-US" sz="1200" dirty="0"/>
              <a:t>, </a:t>
            </a:r>
            <a:r>
              <a:rPr lang="en-US" sz="1200" dirty="0" err="1"/>
              <a:t>TICe</a:t>
            </a:r>
            <a:r>
              <a:rPr lang="en-US" sz="1200" dirty="0"/>
              <a:t>, </a:t>
            </a:r>
            <a:r>
              <a:rPr lang="en-US" sz="1200" dirty="0" err="1"/>
              <a:t>MASe</a:t>
            </a:r>
            <a:r>
              <a:rPr lang="en-US" sz="1200" dirty="0"/>
              <a:t>, </a:t>
            </a:r>
            <a:r>
              <a:rPr lang="en-US" sz="1200" dirty="0" err="1"/>
              <a:t>MEVe</a:t>
            </a:r>
            <a:r>
              <a:rPr lang="en-US" sz="1200" dirty="0"/>
              <a:t>), allowed for the detection of both linear and non-linear relationships, surpassing the limitations of traditional linear regression approaches. </a:t>
            </a:r>
          </a:p>
          <a:p>
            <a:r>
              <a:rPr lang="en-US" sz="1200" dirty="0"/>
              <a:t>The results, displayed in the detailed table, demonstrate the presence of several strong and statistically significant associations between the time variable and numerous genes. The high </a:t>
            </a:r>
            <a:r>
              <a:rPr lang="en-US" sz="1200" dirty="0" err="1"/>
              <a:t>MICe</a:t>
            </a:r>
            <a:r>
              <a:rPr lang="en-US" sz="1200" dirty="0"/>
              <a:t> values paired with low </a:t>
            </a:r>
            <a:r>
              <a:rPr lang="en-US" sz="1200" dirty="0" err="1"/>
              <a:t>TICe</a:t>
            </a:r>
            <a:r>
              <a:rPr lang="en-US" sz="1200" dirty="0"/>
              <a:t> values strongly indicate the existence of true relationships, not just random chance. The additional metrics provide valuable insights into the nature of these associations, revealing varying degrees of nonlinearity, monotonicity, and functional complexity. Although the consistent value in the </a:t>
            </a:r>
            <a:r>
              <a:rPr lang="en-US" sz="1200" dirty="0" err="1"/>
              <a:t>MCNe</a:t>
            </a:r>
            <a:r>
              <a:rPr lang="en-US" sz="1200" dirty="0"/>
              <a:t> column suggests a limitation in its informative power for this dataset. </a:t>
            </a:r>
          </a:p>
          <a:p>
            <a:r>
              <a:rPr lang="en-US" sz="1200" dirty="0"/>
              <a:t>Overall, this analysis successfully identifies and characterizes a rich set of dynamic relationships within the dataset, providing a valuable resource for further biological interpretation and investigation.</a:t>
            </a:r>
            <a:endParaRPr lang="ru-RU" sz="1200" dirty="0"/>
          </a:p>
        </p:txBody>
      </p:sp>
    </p:spTree>
    <p:extLst>
      <p:ext uri="{BB962C8B-B14F-4D97-AF65-F5344CB8AC3E}">
        <p14:creationId xmlns:p14="http://schemas.microsoft.com/office/powerpoint/2010/main" val="839339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Книги">
            <a:extLst>
              <a:ext uri="{FF2B5EF4-FFF2-40B4-BE49-F238E27FC236}">
                <a16:creationId xmlns:a16="http://schemas.microsoft.com/office/drawing/2014/main" id="{5FDA0643-A957-8313-8C29-178CD338F1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369" y="2393614"/>
            <a:ext cx="3328786" cy="3328786"/>
          </a:xfrm>
          <a:prstGeom prst="rect">
            <a:avLst/>
          </a:prstGeom>
        </p:spPr>
      </p:pic>
      <p:sp>
        <p:nvSpPr>
          <p:cNvPr id="14" name="Rectangle 13">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91D4E76-DAAD-158F-8B8B-9EEEDB45A566}"/>
              </a:ext>
            </a:extLst>
          </p:cNvPr>
          <p:cNvSpPr>
            <a:spLocks noGrp="1"/>
          </p:cNvSpPr>
          <p:nvPr>
            <p:ph type="title"/>
          </p:nvPr>
        </p:nvSpPr>
        <p:spPr>
          <a:xfrm>
            <a:off x="437542" y="1171573"/>
            <a:ext cx="3328786" cy="1154102"/>
          </a:xfrm>
        </p:spPr>
        <p:txBody>
          <a:bodyPr>
            <a:normAutofit/>
          </a:bodyPr>
          <a:lstStyle/>
          <a:p>
            <a:r>
              <a:rPr lang="en-US" dirty="0"/>
              <a:t>References</a:t>
            </a:r>
            <a:endParaRPr lang="ru-RU" dirty="0"/>
          </a:p>
        </p:txBody>
      </p:sp>
      <p:sp>
        <p:nvSpPr>
          <p:cNvPr id="18" name="Rectangle 17">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Объект 2">
            <a:extLst>
              <a:ext uri="{FF2B5EF4-FFF2-40B4-BE49-F238E27FC236}">
                <a16:creationId xmlns:a16="http://schemas.microsoft.com/office/drawing/2014/main" id="{7BEC3652-2D4B-9382-79A2-EC691CE0BE52}"/>
              </a:ext>
            </a:extLst>
          </p:cNvPr>
          <p:cNvSpPr>
            <a:spLocks noGrp="1"/>
          </p:cNvSpPr>
          <p:nvPr>
            <p:ph idx="1"/>
          </p:nvPr>
        </p:nvSpPr>
        <p:spPr>
          <a:xfrm>
            <a:off x="4921856" y="1575881"/>
            <a:ext cx="7033437" cy="4198713"/>
          </a:xfrm>
        </p:spPr>
        <p:txBody>
          <a:bodyPr anchor="t">
            <a:normAutofit/>
          </a:bodyPr>
          <a:lstStyle/>
          <a:p>
            <a:r>
              <a:rPr lang="en-US" dirty="0">
                <a:hlinkClick r:id="rId4"/>
              </a:rPr>
              <a:t>https://www.exploredata.net/Downloads/Gene-Expression-Data-Set</a:t>
            </a:r>
            <a:r>
              <a:rPr lang="en-US" dirty="0"/>
              <a:t> - dataset</a:t>
            </a:r>
          </a:p>
          <a:p>
            <a:r>
              <a:rPr lang="en-US" dirty="0">
                <a:hlinkClick r:id="rId5"/>
              </a:rPr>
              <a:t>https://lexue.bit.edu.cn/pluginfile.php/690907/mod_assign/introattachment/0/Reshef.SOM.v2.pdf?forcedownload=1</a:t>
            </a:r>
            <a:r>
              <a:rPr lang="en-US" dirty="0"/>
              <a:t> – “Detecting Novel Associations in Large Data Sets”, David N. </a:t>
            </a:r>
            <a:r>
              <a:rPr lang="en-US" dirty="0" err="1"/>
              <a:t>Reshef</a:t>
            </a:r>
            <a:r>
              <a:rPr lang="en-US" dirty="0"/>
              <a:t>,* </a:t>
            </a:r>
            <a:r>
              <a:rPr lang="en-US" dirty="0" err="1"/>
              <a:t>Yakir</a:t>
            </a:r>
            <a:r>
              <a:rPr lang="en-US" dirty="0"/>
              <a:t> A. </a:t>
            </a:r>
            <a:r>
              <a:rPr lang="en-US" dirty="0" err="1"/>
              <a:t>Reshef</a:t>
            </a:r>
            <a:r>
              <a:rPr lang="en-US" dirty="0"/>
              <a:t>,* Hilary K. Finucane, Sharon R. Grossman, </a:t>
            </a:r>
            <a:r>
              <a:rPr lang="en-US" dirty="0" err="1"/>
              <a:t>Gilean</a:t>
            </a:r>
            <a:r>
              <a:rPr lang="en-US" dirty="0"/>
              <a:t> McVean, Peter J. </a:t>
            </a:r>
            <a:r>
              <a:rPr lang="en-US" dirty="0" err="1"/>
              <a:t>Turnbaugh</a:t>
            </a:r>
            <a:r>
              <a:rPr lang="en-US" dirty="0"/>
              <a:t>, Eric S. Lander, Michael </a:t>
            </a:r>
            <a:r>
              <a:rPr lang="en-US" dirty="0" err="1"/>
              <a:t>Mitzenmacher</a:t>
            </a:r>
            <a:r>
              <a:rPr lang="en-US" dirty="0"/>
              <a:t>, Pardis C. Sabeti </a:t>
            </a:r>
            <a:endParaRPr lang="ru-RU" dirty="0"/>
          </a:p>
        </p:txBody>
      </p:sp>
      <p:sp>
        <p:nvSpPr>
          <p:cNvPr id="20" name="Rectangle 19">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5747923"/>
      </p:ext>
    </p:extLst>
  </p:cSld>
  <p:clrMapOvr>
    <a:masterClrMapping/>
  </p:clrMapOvr>
</p:sld>
</file>

<file path=ppt/theme/theme1.xml><?xml version="1.0" encoding="utf-8"?>
<a:theme xmlns:a="http://schemas.openxmlformats.org/drawingml/2006/main" name="ShojiVTI">
  <a:themeElements>
    <a:clrScheme name="AnalogousFromLightSeedRightStep">
      <a:dk1>
        <a:srgbClr val="000000"/>
      </a:dk1>
      <a:lt1>
        <a:srgbClr val="FFFFFF"/>
      </a:lt1>
      <a:dk2>
        <a:srgbClr val="242841"/>
      </a:dk2>
      <a:lt2>
        <a:srgbClr val="E8E4E2"/>
      </a:lt2>
      <a:accent1>
        <a:srgbClr val="45A9EA"/>
      </a:accent1>
      <a:accent2>
        <a:srgbClr val="4E6CEB"/>
      </a:accent2>
      <a:accent3>
        <a:srgbClr val="8B6EEE"/>
      </a:accent3>
      <a:accent4>
        <a:srgbClr val="B34EEB"/>
      </a:accent4>
      <a:accent5>
        <a:srgbClr val="EE6EE7"/>
      </a:accent5>
      <a:accent6>
        <a:srgbClr val="EB4EA0"/>
      </a:accent6>
      <a:hlink>
        <a:srgbClr val="A67759"/>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docProps/app.xml><?xml version="1.0" encoding="utf-8"?>
<Properties xmlns="http://schemas.openxmlformats.org/officeDocument/2006/extended-properties" xmlns:vt="http://schemas.openxmlformats.org/officeDocument/2006/docPropsVTypes">
  <TotalTime>260</TotalTime>
  <Words>1442</Words>
  <Application>Microsoft Office PowerPoint</Application>
  <PresentationFormat>Широкоэкранный</PresentationFormat>
  <Paragraphs>49</Paragraphs>
  <Slides>14</Slides>
  <Notes>0</Notes>
  <HiddenSlides>0</HiddenSlides>
  <MMClips>1</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14</vt:i4>
      </vt:variant>
    </vt:vector>
  </HeadingPairs>
  <TitlesOfParts>
    <vt:vector size="20" baseType="lpstr">
      <vt:lpstr>inherit</vt:lpstr>
      <vt:lpstr>Meiryo</vt:lpstr>
      <vt:lpstr>Arial</vt:lpstr>
      <vt:lpstr>Calibri</vt:lpstr>
      <vt:lpstr>Corbel</vt:lpstr>
      <vt:lpstr>ShojiVTI</vt:lpstr>
      <vt:lpstr>Detecting novel associations in large data sets</vt:lpstr>
      <vt:lpstr>TASK</vt:lpstr>
      <vt:lpstr>MINE (Maximal Information-based Nonparametric Exploration)</vt:lpstr>
      <vt:lpstr>MIC (Maximal Information  Coefficient)</vt:lpstr>
      <vt:lpstr>Configuring JAVA</vt:lpstr>
      <vt:lpstr>Презентация PowerPoint</vt:lpstr>
      <vt:lpstr>Running the code</vt:lpstr>
      <vt:lpstr>Input explanation</vt:lpstr>
      <vt:lpstr>Презентация PowerPoint</vt:lpstr>
      <vt:lpstr>Results explanation</vt:lpstr>
      <vt:lpstr>Results explanation</vt:lpstr>
      <vt:lpstr>Results explanation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София Денисенко</dc:creator>
  <cp:lastModifiedBy>София Денисенко</cp:lastModifiedBy>
  <cp:revision>1</cp:revision>
  <dcterms:created xsi:type="dcterms:W3CDTF">2024-11-20T11:20:50Z</dcterms:created>
  <dcterms:modified xsi:type="dcterms:W3CDTF">2024-11-20T15:41:10Z</dcterms:modified>
</cp:coreProperties>
</file>