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5" r:id="rId3"/>
    <p:sldId id="266" r:id="rId4"/>
    <p:sldId id="268" r:id="rId5"/>
    <p:sldId id="257" r:id="rId6"/>
    <p:sldId id="261" r:id="rId7"/>
    <p:sldId id="263" r:id="rId8"/>
    <p:sldId id="264" r:id="rId9"/>
    <p:sldId id="267" r:id="rId10"/>
    <p:sldId id="269" r:id="rId1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8BBEED-3971-472C-9FD6-4891977EB631}" type="datetimeFigureOut">
              <a:rPr lang="ru-RU" smtClean="0"/>
              <a:t>31.10.2024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377C91-51EF-49DC-8430-4B4F0184ED37}" type="slidenum">
              <a:rPr lang="ru-RU" smtClean="0"/>
              <a:t>‹#›</a:t>
            </a:fld>
            <a:endParaRPr lang="ru-RU"/>
          </a:p>
        </p:txBody>
      </p:sp>
    </p:spTree>
    <p:extLst>
      <p:ext uri="{BB962C8B-B14F-4D97-AF65-F5344CB8AC3E}">
        <p14:creationId xmlns:p14="http://schemas.microsoft.com/office/powerpoint/2010/main" val="3929427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18377C91-51EF-49DC-8430-4B4F0184ED37}" type="slidenum">
              <a:rPr lang="ru-RU" smtClean="0"/>
              <a:t>1</a:t>
            </a:fld>
            <a:endParaRPr lang="ru-RU"/>
          </a:p>
        </p:txBody>
      </p:sp>
    </p:spTree>
    <p:extLst>
      <p:ext uri="{BB962C8B-B14F-4D97-AF65-F5344CB8AC3E}">
        <p14:creationId xmlns:p14="http://schemas.microsoft.com/office/powerpoint/2010/main" val="2208705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84FF00-036F-88E3-A6F3-ED4C10B79F2A}"/>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83431780-349A-10CA-A9A6-45BCE46803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723A4851-2732-29CE-C910-79609B016471}"/>
              </a:ext>
            </a:extLst>
          </p:cNvPr>
          <p:cNvSpPr>
            <a:spLocks noGrp="1"/>
          </p:cNvSpPr>
          <p:nvPr>
            <p:ph type="dt" sz="half" idx="10"/>
          </p:nvPr>
        </p:nvSpPr>
        <p:spPr/>
        <p:txBody>
          <a:bodyPr/>
          <a:lstStyle/>
          <a:p>
            <a:fld id="{DDA3D7E1-C42D-48AC-96BA-F6016F7015E2}" type="datetimeFigureOut">
              <a:rPr lang="ru-RU" smtClean="0"/>
              <a:t>31.10.2024</a:t>
            </a:fld>
            <a:endParaRPr lang="ru-RU"/>
          </a:p>
        </p:txBody>
      </p:sp>
      <p:sp>
        <p:nvSpPr>
          <p:cNvPr id="5" name="Нижний колонтитул 4">
            <a:extLst>
              <a:ext uri="{FF2B5EF4-FFF2-40B4-BE49-F238E27FC236}">
                <a16:creationId xmlns:a16="http://schemas.microsoft.com/office/drawing/2014/main" id="{3BEB85FF-924A-9033-F1BD-C16F245B1E5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30C6E0A-23D9-B4CB-207C-CF0A6482DE9C}"/>
              </a:ext>
            </a:extLst>
          </p:cNvPr>
          <p:cNvSpPr>
            <a:spLocks noGrp="1"/>
          </p:cNvSpPr>
          <p:nvPr>
            <p:ph type="sldNum" sz="quarter" idx="12"/>
          </p:nvPr>
        </p:nvSpPr>
        <p:spPr/>
        <p:txBody>
          <a:bodyPr/>
          <a:lstStyle/>
          <a:p>
            <a:fld id="{79EF036C-CC04-40E6-A3B2-4879752BCB13}" type="slidenum">
              <a:rPr lang="ru-RU" smtClean="0"/>
              <a:t>‹#›</a:t>
            </a:fld>
            <a:endParaRPr lang="ru-RU"/>
          </a:p>
        </p:txBody>
      </p:sp>
    </p:spTree>
    <p:extLst>
      <p:ext uri="{BB962C8B-B14F-4D97-AF65-F5344CB8AC3E}">
        <p14:creationId xmlns:p14="http://schemas.microsoft.com/office/powerpoint/2010/main" val="3449961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DA2240-D76C-A891-A056-9790B516613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8A3B57A-3858-E2A7-439A-6B86591EABC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0CEAA4D-079A-CAA5-04DC-39B9396D4779}"/>
              </a:ext>
            </a:extLst>
          </p:cNvPr>
          <p:cNvSpPr>
            <a:spLocks noGrp="1"/>
          </p:cNvSpPr>
          <p:nvPr>
            <p:ph type="dt" sz="half" idx="10"/>
          </p:nvPr>
        </p:nvSpPr>
        <p:spPr/>
        <p:txBody>
          <a:bodyPr/>
          <a:lstStyle/>
          <a:p>
            <a:fld id="{DDA3D7E1-C42D-48AC-96BA-F6016F7015E2}" type="datetimeFigureOut">
              <a:rPr lang="ru-RU" smtClean="0"/>
              <a:t>31.10.2024</a:t>
            </a:fld>
            <a:endParaRPr lang="ru-RU"/>
          </a:p>
        </p:txBody>
      </p:sp>
      <p:sp>
        <p:nvSpPr>
          <p:cNvPr id="5" name="Нижний колонтитул 4">
            <a:extLst>
              <a:ext uri="{FF2B5EF4-FFF2-40B4-BE49-F238E27FC236}">
                <a16:creationId xmlns:a16="http://schemas.microsoft.com/office/drawing/2014/main" id="{1F2F6A1E-B49D-556D-5D78-4994AFE8DD4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8C44347-0DFA-5BAE-1356-B40B3D862A05}"/>
              </a:ext>
            </a:extLst>
          </p:cNvPr>
          <p:cNvSpPr>
            <a:spLocks noGrp="1"/>
          </p:cNvSpPr>
          <p:nvPr>
            <p:ph type="sldNum" sz="quarter" idx="12"/>
          </p:nvPr>
        </p:nvSpPr>
        <p:spPr/>
        <p:txBody>
          <a:bodyPr/>
          <a:lstStyle/>
          <a:p>
            <a:fld id="{79EF036C-CC04-40E6-A3B2-4879752BCB13}" type="slidenum">
              <a:rPr lang="ru-RU" smtClean="0"/>
              <a:t>‹#›</a:t>
            </a:fld>
            <a:endParaRPr lang="ru-RU"/>
          </a:p>
        </p:txBody>
      </p:sp>
    </p:spTree>
    <p:extLst>
      <p:ext uri="{BB962C8B-B14F-4D97-AF65-F5344CB8AC3E}">
        <p14:creationId xmlns:p14="http://schemas.microsoft.com/office/powerpoint/2010/main" val="155566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FF505C-C2EF-E507-331F-10CDBED7F76E}"/>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03588E3C-4B2E-BFB0-A5E0-B9C293BBD3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32E5099-C87B-7B27-2B1F-72C52286A8B0}"/>
              </a:ext>
            </a:extLst>
          </p:cNvPr>
          <p:cNvSpPr>
            <a:spLocks noGrp="1"/>
          </p:cNvSpPr>
          <p:nvPr>
            <p:ph type="dt" sz="half" idx="10"/>
          </p:nvPr>
        </p:nvSpPr>
        <p:spPr/>
        <p:txBody>
          <a:bodyPr/>
          <a:lstStyle/>
          <a:p>
            <a:fld id="{DDA3D7E1-C42D-48AC-96BA-F6016F7015E2}" type="datetimeFigureOut">
              <a:rPr lang="ru-RU" smtClean="0"/>
              <a:t>31.10.2024</a:t>
            </a:fld>
            <a:endParaRPr lang="ru-RU"/>
          </a:p>
        </p:txBody>
      </p:sp>
      <p:sp>
        <p:nvSpPr>
          <p:cNvPr id="5" name="Нижний колонтитул 4">
            <a:extLst>
              <a:ext uri="{FF2B5EF4-FFF2-40B4-BE49-F238E27FC236}">
                <a16:creationId xmlns:a16="http://schemas.microsoft.com/office/drawing/2014/main" id="{55F8C42B-7BFF-3A41-528A-870CEF87ACF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C2FEA14-AE51-A5DA-75FA-20FD26B76798}"/>
              </a:ext>
            </a:extLst>
          </p:cNvPr>
          <p:cNvSpPr>
            <a:spLocks noGrp="1"/>
          </p:cNvSpPr>
          <p:nvPr>
            <p:ph type="sldNum" sz="quarter" idx="12"/>
          </p:nvPr>
        </p:nvSpPr>
        <p:spPr/>
        <p:txBody>
          <a:bodyPr/>
          <a:lstStyle/>
          <a:p>
            <a:fld id="{79EF036C-CC04-40E6-A3B2-4879752BCB13}" type="slidenum">
              <a:rPr lang="ru-RU" smtClean="0"/>
              <a:t>‹#›</a:t>
            </a:fld>
            <a:endParaRPr lang="ru-RU"/>
          </a:p>
        </p:txBody>
      </p:sp>
    </p:spTree>
    <p:extLst>
      <p:ext uri="{BB962C8B-B14F-4D97-AF65-F5344CB8AC3E}">
        <p14:creationId xmlns:p14="http://schemas.microsoft.com/office/powerpoint/2010/main" val="123736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96112B-3BAB-A018-C627-971F087C258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7DAFAD8-D06C-FFEE-444F-317B3C3ADB5C}"/>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2E7FED10-BB23-887E-6A7C-8F3A700E27AC}"/>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FC9E1F01-78FE-6A03-1BE0-89C8CD764A78}"/>
              </a:ext>
            </a:extLst>
          </p:cNvPr>
          <p:cNvSpPr>
            <a:spLocks noGrp="1"/>
          </p:cNvSpPr>
          <p:nvPr>
            <p:ph type="dt" sz="half" idx="10"/>
          </p:nvPr>
        </p:nvSpPr>
        <p:spPr/>
        <p:txBody>
          <a:bodyPr/>
          <a:lstStyle/>
          <a:p>
            <a:fld id="{DDA3D7E1-C42D-48AC-96BA-F6016F7015E2}" type="datetimeFigureOut">
              <a:rPr lang="ru-RU" smtClean="0"/>
              <a:t>31.10.2024</a:t>
            </a:fld>
            <a:endParaRPr lang="ru-RU"/>
          </a:p>
        </p:txBody>
      </p:sp>
      <p:sp>
        <p:nvSpPr>
          <p:cNvPr id="6" name="Нижний колонтитул 5">
            <a:extLst>
              <a:ext uri="{FF2B5EF4-FFF2-40B4-BE49-F238E27FC236}">
                <a16:creationId xmlns:a16="http://schemas.microsoft.com/office/drawing/2014/main" id="{4ED50AA2-D6A6-0121-6C0D-6B58C3A33C6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4C7F8F9-5968-D75A-4280-B2F4EB19012C}"/>
              </a:ext>
            </a:extLst>
          </p:cNvPr>
          <p:cNvSpPr>
            <a:spLocks noGrp="1"/>
          </p:cNvSpPr>
          <p:nvPr>
            <p:ph type="sldNum" sz="quarter" idx="12"/>
          </p:nvPr>
        </p:nvSpPr>
        <p:spPr/>
        <p:txBody>
          <a:bodyPr/>
          <a:lstStyle/>
          <a:p>
            <a:fld id="{79EF036C-CC04-40E6-A3B2-4879752BCB13}" type="slidenum">
              <a:rPr lang="ru-RU" smtClean="0"/>
              <a:t>‹#›</a:t>
            </a:fld>
            <a:endParaRPr lang="ru-RU"/>
          </a:p>
        </p:txBody>
      </p:sp>
    </p:spTree>
    <p:extLst>
      <p:ext uri="{BB962C8B-B14F-4D97-AF65-F5344CB8AC3E}">
        <p14:creationId xmlns:p14="http://schemas.microsoft.com/office/powerpoint/2010/main" val="731087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94EE86-1D7F-B45D-FE7D-9E96D0943735}"/>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1134A54F-7EC5-DB69-E656-A1321CC821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AA28761-4090-56AA-D012-CEAEDA43D5EC}"/>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07F276B8-93D2-86B9-0EFD-BC53BCFB6B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2B6D415A-DE11-3159-7388-1371B04CD3D0}"/>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146C838E-91FC-486D-8635-0A4171036D9C}"/>
              </a:ext>
            </a:extLst>
          </p:cNvPr>
          <p:cNvSpPr>
            <a:spLocks noGrp="1"/>
          </p:cNvSpPr>
          <p:nvPr>
            <p:ph type="dt" sz="half" idx="10"/>
          </p:nvPr>
        </p:nvSpPr>
        <p:spPr/>
        <p:txBody>
          <a:bodyPr/>
          <a:lstStyle/>
          <a:p>
            <a:fld id="{DDA3D7E1-C42D-48AC-96BA-F6016F7015E2}" type="datetimeFigureOut">
              <a:rPr lang="ru-RU" smtClean="0"/>
              <a:t>31.10.2024</a:t>
            </a:fld>
            <a:endParaRPr lang="ru-RU"/>
          </a:p>
        </p:txBody>
      </p:sp>
      <p:sp>
        <p:nvSpPr>
          <p:cNvPr id="8" name="Нижний колонтитул 7">
            <a:extLst>
              <a:ext uri="{FF2B5EF4-FFF2-40B4-BE49-F238E27FC236}">
                <a16:creationId xmlns:a16="http://schemas.microsoft.com/office/drawing/2014/main" id="{866D0564-7F5A-2B74-00C9-28E9F63B2FD1}"/>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F9B41D9E-31E4-C6BA-8512-326010CC1DC1}"/>
              </a:ext>
            </a:extLst>
          </p:cNvPr>
          <p:cNvSpPr>
            <a:spLocks noGrp="1"/>
          </p:cNvSpPr>
          <p:nvPr>
            <p:ph type="sldNum" sz="quarter" idx="12"/>
          </p:nvPr>
        </p:nvSpPr>
        <p:spPr/>
        <p:txBody>
          <a:bodyPr/>
          <a:lstStyle/>
          <a:p>
            <a:fld id="{79EF036C-CC04-40E6-A3B2-4879752BCB13}" type="slidenum">
              <a:rPr lang="ru-RU" smtClean="0"/>
              <a:t>‹#›</a:t>
            </a:fld>
            <a:endParaRPr lang="ru-RU"/>
          </a:p>
        </p:txBody>
      </p:sp>
    </p:spTree>
    <p:extLst>
      <p:ext uri="{BB962C8B-B14F-4D97-AF65-F5344CB8AC3E}">
        <p14:creationId xmlns:p14="http://schemas.microsoft.com/office/powerpoint/2010/main" val="506167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CF206D-51FD-A3C6-0F7F-CCBF2B25E454}"/>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BA91CCE3-7106-A668-D973-58AA50660ED2}"/>
              </a:ext>
            </a:extLst>
          </p:cNvPr>
          <p:cNvSpPr>
            <a:spLocks noGrp="1"/>
          </p:cNvSpPr>
          <p:nvPr>
            <p:ph type="dt" sz="half" idx="10"/>
          </p:nvPr>
        </p:nvSpPr>
        <p:spPr/>
        <p:txBody>
          <a:bodyPr/>
          <a:lstStyle/>
          <a:p>
            <a:fld id="{DDA3D7E1-C42D-48AC-96BA-F6016F7015E2}" type="datetimeFigureOut">
              <a:rPr lang="ru-RU" smtClean="0"/>
              <a:t>31.10.2024</a:t>
            </a:fld>
            <a:endParaRPr lang="ru-RU"/>
          </a:p>
        </p:txBody>
      </p:sp>
      <p:sp>
        <p:nvSpPr>
          <p:cNvPr id="4" name="Нижний колонтитул 3">
            <a:extLst>
              <a:ext uri="{FF2B5EF4-FFF2-40B4-BE49-F238E27FC236}">
                <a16:creationId xmlns:a16="http://schemas.microsoft.com/office/drawing/2014/main" id="{4A0FBD7E-9065-725F-8220-67328EC902C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A5DCFF6-D79D-D691-878F-6F9114010DFB}"/>
              </a:ext>
            </a:extLst>
          </p:cNvPr>
          <p:cNvSpPr>
            <a:spLocks noGrp="1"/>
          </p:cNvSpPr>
          <p:nvPr>
            <p:ph type="sldNum" sz="quarter" idx="12"/>
          </p:nvPr>
        </p:nvSpPr>
        <p:spPr/>
        <p:txBody>
          <a:bodyPr/>
          <a:lstStyle/>
          <a:p>
            <a:fld id="{79EF036C-CC04-40E6-A3B2-4879752BCB13}" type="slidenum">
              <a:rPr lang="ru-RU" smtClean="0"/>
              <a:t>‹#›</a:t>
            </a:fld>
            <a:endParaRPr lang="ru-RU"/>
          </a:p>
        </p:txBody>
      </p:sp>
    </p:spTree>
    <p:extLst>
      <p:ext uri="{BB962C8B-B14F-4D97-AF65-F5344CB8AC3E}">
        <p14:creationId xmlns:p14="http://schemas.microsoft.com/office/powerpoint/2010/main" val="314774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9893DED0-3FBA-B74E-F3A6-8143AB502937}"/>
              </a:ext>
            </a:extLst>
          </p:cNvPr>
          <p:cNvSpPr>
            <a:spLocks noGrp="1"/>
          </p:cNvSpPr>
          <p:nvPr>
            <p:ph type="dt" sz="half" idx="10"/>
          </p:nvPr>
        </p:nvSpPr>
        <p:spPr/>
        <p:txBody>
          <a:bodyPr/>
          <a:lstStyle/>
          <a:p>
            <a:fld id="{DDA3D7E1-C42D-48AC-96BA-F6016F7015E2}" type="datetimeFigureOut">
              <a:rPr lang="ru-RU" smtClean="0"/>
              <a:t>31.10.2024</a:t>
            </a:fld>
            <a:endParaRPr lang="ru-RU"/>
          </a:p>
        </p:txBody>
      </p:sp>
      <p:sp>
        <p:nvSpPr>
          <p:cNvPr id="3" name="Нижний колонтитул 2">
            <a:extLst>
              <a:ext uri="{FF2B5EF4-FFF2-40B4-BE49-F238E27FC236}">
                <a16:creationId xmlns:a16="http://schemas.microsoft.com/office/drawing/2014/main" id="{945343AB-4672-BB64-CBAF-52591B139DF2}"/>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26231523-B41B-6CE3-1E5C-39C558978B6D}"/>
              </a:ext>
            </a:extLst>
          </p:cNvPr>
          <p:cNvSpPr>
            <a:spLocks noGrp="1"/>
          </p:cNvSpPr>
          <p:nvPr>
            <p:ph type="sldNum" sz="quarter" idx="12"/>
          </p:nvPr>
        </p:nvSpPr>
        <p:spPr/>
        <p:txBody>
          <a:bodyPr/>
          <a:lstStyle/>
          <a:p>
            <a:fld id="{79EF036C-CC04-40E6-A3B2-4879752BCB13}" type="slidenum">
              <a:rPr lang="ru-RU" smtClean="0"/>
              <a:t>‹#›</a:t>
            </a:fld>
            <a:endParaRPr lang="ru-RU"/>
          </a:p>
        </p:txBody>
      </p:sp>
    </p:spTree>
    <p:extLst>
      <p:ext uri="{BB962C8B-B14F-4D97-AF65-F5344CB8AC3E}">
        <p14:creationId xmlns:p14="http://schemas.microsoft.com/office/powerpoint/2010/main" val="946550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B8A754-23FD-0535-E54B-E6EEDE36AB3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B394C6F5-4DB2-4690-5F1C-997EDA0DE8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00779A60-DE7E-379D-8594-0AC1AC547D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B819FD7-7312-66A3-D9D2-21A97514BB2B}"/>
              </a:ext>
            </a:extLst>
          </p:cNvPr>
          <p:cNvSpPr>
            <a:spLocks noGrp="1"/>
          </p:cNvSpPr>
          <p:nvPr>
            <p:ph type="dt" sz="half" idx="10"/>
          </p:nvPr>
        </p:nvSpPr>
        <p:spPr/>
        <p:txBody>
          <a:bodyPr/>
          <a:lstStyle/>
          <a:p>
            <a:fld id="{DDA3D7E1-C42D-48AC-96BA-F6016F7015E2}" type="datetimeFigureOut">
              <a:rPr lang="ru-RU" smtClean="0"/>
              <a:t>31.10.2024</a:t>
            </a:fld>
            <a:endParaRPr lang="ru-RU"/>
          </a:p>
        </p:txBody>
      </p:sp>
      <p:sp>
        <p:nvSpPr>
          <p:cNvPr id="6" name="Нижний колонтитул 5">
            <a:extLst>
              <a:ext uri="{FF2B5EF4-FFF2-40B4-BE49-F238E27FC236}">
                <a16:creationId xmlns:a16="http://schemas.microsoft.com/office/drawing/2014/main" id="{4D2315A8-5703-209D-ED3A-9D38C071233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F9078E6-3ADD-FF23-5886-E078F2881DD3}"/>
              </a:ext>
            </a:extLst>
          </p:cNvPr>
          <p:cNvSpPr>
            <a:spLocks noGrp="1"/>
          </p:cNvSpPr>
          <p:nvPr>
            <p:ph type="sldNum" sz="quarter" idx="12"/>
          </p:nvPr>
        </p:nvSpPr>
        <p:spPr/>
        <p:txBody>
          <a:bodyPr/>
          <a:lstStyle/>
          <a:p>
            <a:fld id="{79EF036C-CC04-40E6-A3B2-4879752BCB13}" type="slidenum">
              <a:rPr lang="ru-RU" smtClean="0"/>
              <a:t>‹#›</a:t>
            </a:fld>
            <a:endParaRPr lang="ru-RU"/>
          </a:p>
        </p:txBody>
      </p:sp>
    </p:spTree>
    <p:extLst>
      <p:ext uri="{BB962C8B-B14F-4D97-AF65-F5344CB8AC3E}">
        <p14:creationId xmlns:p14="http://schemas.microsoft.com/office/powerpoint/2010/main" val="554387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A96A62-FB95-F5F9-0D8E-E6F40AF71C2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9DC10C35-1CEC-B610-FE05-DCFE82CEF7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3FFB59DA-4C52-51BD-23B8-FFCB677580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6A2335F-A470-1A90-BF77-228D9BF1E17F}"/>
              </a:ext>
            </a:extLst>
          </p:cNvPr>
          <p:cNvSpPr>
            <a:spLocks noGrp="1"/>
          </p:cNvSpPr>
          <p:nvPr>
            <p:ph type="dt" sz="half" idx="10"/>
          </p:nvPr>
        </p:nvSpPr>
        <p:spPr/>
        <p:txBody>
          <a:bodyPr/>
          <a:lstStyle/>
          <a:p>
            <a:fld id="{DDA3D7E1-C42D-48AC-96BA-F6016F7015E2}" type="datetimeFigureOut">
              <a:rPr lang="ru-RU" smtClean="0"/>
              <a:t>31.10.2024</a:t>
            </a:fld>
            <a:endParaRPr lang="ru-RU"/>
          </a:p>
        </p:txBody>
      </p:sp>
      <p:sp>
        <p:nvSpPr>
          <p:cNvPr id="6" name="Нижний колонтитул 5">
            <a:extLst>
              <a:ext uri="{FF2B5EF4-FFF2-40B4-BE49-F238E27FC236}">
                <a16:creationId xmlns:a16="http://schemas.microsoft.com/office/drawing/2014/main" id="{82CECF68-FD30-1831-ECE2-F0C9341AA44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E86C307-480E-234B-6C8A-246D542E733A}"/>
              </a:ext>
            </a:extLst>
          </p:cNvPr>
          <p:cNvSpPr>
            <a:spLocks noGrp="1"/>
          </p:cNvSpPr>
          <p:nvPr>
            <p:ph type="sldNum" sz="quarter" idx="12"/>
          </p:nvPr>
        </p:nvSpPr>
        <p:spPr/>
        <p:txBody>
          <a:bodyPr/>
          <a:lstStyle/>
          <a:p>
            <a:fld id="{79EF036C-CC04-40E6-A3B2-4879752BCB13}" type="slidenum">
              <a:rPr lang="ru-RU" smtClean="0"/>
              <a:t>‹#›</a:t>
            </a:fld>
            <a:endParaRPr lang="ru-RU"/>
          </a:p>
        </p:txBody>
      </p:sp>
    </p:spTree>
    <p:extLst>
      <p:ext uri="{BB962C8B-B14F-4D97-AF65-F5344CB8AC3E}">
        <p14:creationId xmlns:p14="http://schemas.microsoft.com/office/powerpoint/2010/main" val="1188800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C57BFD-BD3C-6012-B068-A1326C37FEE1}"/>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166F7AF0-0F41-7B4C-92B5-9BD72B7E7A6A}"/>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E53E206-6E5F-F076-BE55-058587B0E910}"/>
              </a:ext>
            </a:extLst>
          </p:cNvPr>
          <p:cNvSpPr>
            <a:spLocks noGrp="1"/>
          </p:cNvSpPr>
          <p:nvPr>
            <p:ph type="dt" sz="half" idx="10"/>
          </p:nvPr>
        </p:nvSpPr>
        <p:spPr/>
        <p:txBody>
          <a:bodyPr/>
          <a:lstStyle/>
          <a:p>
            <a:fld id="{DDA3D7E1-C42D-48AC-96BA-F6016F7015E2}" type="datetimeFigureOut">
              <a:rPr lang="ru-RU" smtClean="0"/>
              <a:t>31.10.2024</a:t>
            </a:fld>
            <a:endParaRPr lang="ru-RU"/>
          </a:p>
        </p:txBody>
      </p:sp>
      <p:sp>
        <p:nvSpPr>
          <p:cNvPr id="5" name="Нижний колонтитул 4">
            <a:extLst>
              <a:ext uri="{FF2B5EF4-FFF2-40B4-BE49-F238E27FC236}">
                <a16:creationId xmlns:a16="http://schemas.microsoft.com/office/drawing/2014/main" id="{51B67C88-0C92-117E-51CE-1A384F68A71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2E0CA6B-7B5A-6D49-033D-67A3594FB58E}"/>
              </a:ext>
            </a:extLst>
          </p:cNvPr>
          <p:cNvSpPr>
            <a:spLocks noGrp="1"/>
          </p:cNvSpPr>
          <p:nvPr>
            <p:ph type="sldNum" sz="quarter" idx="12"/>
          </p:nvPr>
        </p:nvSpPr>
        <p:spPr/>
        <p:txBody>
          <a:bodyPr/>
          <a:lstStyle/>
          <a:p>
            <a:fld id="{79EF036C-CC04-40E6-A3B2-4879752BCB13}" type="slidenum">
              <a:rPr lang="ru-RU" smtClean="0"/>
              <a:t>‹#›</a:t>
            </a:fld>
            <a:endParaRPr lang="ru-RU"/>
          </a:p>
        </p:txBody>
      </p:sp>
    </p:spTree>
    <p:extLst>
      <p:ext uri="{BB962C8B-B14F-4D97-AF65-F5344CB8AC3E}">
        <p14:creationId xmlns:p14="http://schemas.microsoft.com/office/powerpoint/2010/main" val="3820581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6F4E2B86-B608-6DCE-1018-1273835F249E}"/>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EDB3094F-A64B-A20B-6D64-F004ED81BCF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4554F2B-F604-1435-B62F-7523B5A88732}"/>
              </a:ext>
            </a:extLst>
          </p:cNvPr>
          <p:cNvSpPr>
            <a:spLocks noGrp="1"/>
          </p:cNvSpPr>
          <p:nvPr>
            <p:ph type="dt" sz="half" idx="10"/>
          </p:nvPr>
        </p:nvSpPr>
        <p:spPr/>
        <p:txBody>
          <a:bodyPr/>
          <a:lstStyle/>
          <a:p>
            <a:fld id="{DDA3D7E1-C42D-48AC-96BA-F6016F7015E2}" type="datetimeFigureOut">
              <a:rPr lang="ru-RU" smtClean="0"/>
              <a:t>31.10.2024</a:t>
            </a:fld>
            <a:endParaRPr lang="ru-RU"/>
          </a:p>
        </p:txBody>
      </p:sp>
      <p:sp>
        <p:nvSpPr>
          <p:cNvPr id="5" name="Нижний колонтитул 4">
            <a:extLst>
              <a:ext uri="{FF2B5EF4-FFF2-40B4-BE49-F238E27FC236}">
                <a16:creationId xmlns:a16="http://schemas.microsoft.com/office/drawing/2014/main" id="{CCD75E19-C1C8-022F-2173-B45F5034D2A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4A6E86A-2C9C-C889-83D3-DB4DD29AEFBF}"/>
              </a:ext>
            </a:extLst>
          </p:cNvPr>
          <p:cNvSpPr>
            <a:spLocks noGrp="1"/>
          </p:cNvSpPr>
          <p:nvPr>
            <p:ph type="sldNum" sz="quarter" idx="12"/>
          </p:nvPr>
        </p:nvSpPr>
        <p:spPr/>
        <p:txBody>
          <a:bodyPr/>
          <a:lstStyle/>
          <a:p>
            <a:fld id="{79EF036C-CC04-40E6-A3B2-4879752BCB13}" type="slidenum">
              <a:rPr lang="ru-RU" smtClean="0"/>
              <a:t>‹#›</a:t>
            </a:fld>
            <a:endParaRPr lang="ru-RU"/>
          </a:p>
        </p:txBody>
      </p:sp>
    </p:spTree>
    <p:extLst>
      <p:ext uri="{BB962C8B-B14F-4D97-AF65-F5344CB8AC3E}">
        <p14:creationId xmlns:p14="http://schemas.microsoft.com/office/powerpoint/2010/main" val="2562513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B2B1D7-8095-D9FE-B736-638B3892F8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D492233-1D8A-26A6-FD25-E9CA3FD56F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249542A-03F1-4406-BC77-ECCCD3A62B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A3D7E1-C42D-48AC-96BA-F6016F7015E2}" type="datetimeFigureOut">
              <a:rPr lang="ru-RU" smtClean="0"/>
              <a:t>31.10.2024</a:t>
            </a:fld>
            <a:endParaRPr lang="ru-RU"/>
          </a:p>
        </p:txBody>
      </p:sp>
      <p:sp>
        <p:nvSpPr>
          <p:cNvPr id="5" name="Нижний колонтитул 4">
            <a:extLst>
              <a:ext uri="{FF2B5EF4-FFF2-40B4-BE49-F238E27FC236}">
                <a16:creationId xmlns:a16="http://schemas.microsoft.com/office/drawing/2014/main" id="{BB284CD4-92C1-DB2D-3943-BE90AEAF21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9D215FB4-9143-5E80-1A4C-FDF43BCDC2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EF036C-CC04-40E6-A3B2-4879752BCB13}" type="slidenum">
              <a:rPr lang="ru-RU" smtClean="0"/>
              <a:t>‹#›</a:t>
            </a:fld>
            <a:endParaRPr lang="ru-RU"/>
          </a:p>
        </p:txBody>
      </p:sp>
    </p:spTree>
    <p:extLst>
      <p:ext uri="{BB962C8B-B14F-4D97-AF65-F5344CB8AC3E}">
        <p14:creationId xmlns:p14="http://schemas.microsoft.com/office/powerpoint/2010/main" val="2919131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qiqi12/HIAC" TargetMode="External"/><Relationship Id="rId2" Type="http://schemas.openxmlformats.org/officeDocument/2006/relationships/hyperlink" Target="https://lexue.bit.edu.cn/pluginfile.php/690911/mod_assign/introattachment/0/how%20to%20improve%20the%20accuracy%20of%20clustering%20algorithms.pdf?forcedownload=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15">
            <a:extLst>
              <a:ext uri="{FF2B5EF4-FFF2-40B4-BE49-F238E27FC236}">
                <a16:creationId xmlns:a16="http://schemas.microsoft.com/office/drawing/2014/main" id="{94714483-7072-431F-9DBE-87F44E4D4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17">
            <a:extLst>
              <a:ext uri="{FF2B5EF4-FFF2-40B4-BE49-F238E27FC236}">
                <a16:creationId xmlns:a16="http://schemas.microsoft.com/office/drawing/2014/main" id="{495892E1-F4A5-4991-AC52-4F417B14A2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19">
            <a:extLst>
              <a:ext uri="{FF2B5EF4-FFF2-40B4-BE49-F238E27FC236}">
                <a16:creationId xmlns:a16="http://schemas.microsoft.com/office/drawing/2014/main" id="{ACF597F8-76AA-44FA-8E6A-06223B66C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1" name="Oval 20">
              <a:extLst>
                <a:ext uri="{FF2B5EF4-FFF2-40B4-BE49-F238E27FC236}">
                  <a16:creationId xmlns:a16="http://schemas.microsoft.com/office/drawing/2014/main" id="{A6E12753-0A63-43EE-B28A-C989D033EA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21">
              <a:extLst>
                <a:ext uri="{FF2B5EF4-FFF2-40B4-BE49-F238E27FC236}">
                  <a16:creationId xmlns:a16="http://schemas.microsoft.com/office/drawing/2014/main" id="{B26FA385-76DA-40E9-9257-AA3E07FF6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62D75CA-F374-4878-8106-3EA5E970D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23">
              <a:extLst>
                <a:ext uri="{FF2B5EF4-FFF2-40B4-BE49-F238E27FC236}">
                  <a16:creationId xmlns:a16="http://schemas.microsoft.com/office/drawing/2014/main" id="{938667A5-74E3-4EFD-8C45-F48F47427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31512EE2-F4CC-4E18-9CDA-B92C111224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25">
              <a:extLst>
                <a:ext uri="{FF2B5EF4-FFF2-40B4-BE49-F238E27FC236}">
                  <a16:creationId xmlns:a16="http://schemas.microsoft.com/office/drawing/2014/main" id="{B99E503B-9B4D-4EE3-A50F-15AC374F6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27">
            <a:extLst>
              <a:ext uri="{FF2B5EF4-FFF2-40B4-BE49-F238E27FC236}">
                <a16:creationId xmlns:a16="http://schemas.microsoft.com/office/drawing/2014/main" id="{E2683E3F-F855-4549-84F8-42064EC0F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8FC90B1E-0223-4440-AF22-8F32F6F0C7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1" name="Straight Connector 30">
              <a:extLst>
                <a:ext uri="{FF2B5EF4-FFF2-40B4-BE49-F238E27FC236}">
                  <a16:creationId xmlns:a16="http://schemas.microsoft.com/office/drawing/2014/main" id="{A2D2E879-0004-4D84-8137-1C09334038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BE75A2-0D83-4F8E-84CC-D3BCD565B1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90F7F49-1039-49EF-A9BD-153DB590B6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E85F508-9EA4-4B4D-8171-648670650E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6" name="Rectangle 35">
            <a:extLst>
              <a:ext uri="{FF2B5EF4-FFF2-40B4-BE49-F238E27FC236}">
                <a16:creationId xmlns:a16="http://schemas.microsoft.com/office/drawing/2014/main" id="{832F3179-0CD5-40C8-9939-D8355006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11CE155D-684B-4F5E-B835-C52765E310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9" name="Straight Connector 38">
              <a:extLst>
                <a:ext uri="{FF2B5EF4-FFF2-40B4-BE49-F238E27FC236}">
                  <a16:creationId xmlns:a16="http://schemas.microsoft.com/office/drawing/2014/main" id="{04F84AF8-E1A7-41D4-A102-8F87CAE37E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ED126F1-DB23-4314-B6C7-FE89E3C581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ACB2B6F-8883-4A00-88DD-98CDDD46B8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B9A2180-808A-4423-BB2B-6464B29000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Заголовок 1">
            <a:extLst>
              <a:ext uri="{FF2B5EF4-FFF2-40B4-BE49-F238E27FC236}">
                <a16:creationId xmlns:a16="http://schemas.microsoft.com/office/drawing/2014/main" id="{820C4ACC-BD04-8F8B-5DC3-F7B4EA023483}"/>
              </a:ext>
            </a:extLst>
          </p:cNvPr>
          <p:cNvSpPr>
            <a:spLocks noGrp="1"/>
          </p:cNvSpPr>
          <p:nvPr>
            <p:ph type="ctrTitle"/>
          </p:nvPr>
        </p:nvSpPr>
        <p:spPr>
          <a:xfrm>
            <a:off x="2626211" y="1739698"/>
            <a:ext cx="7315200" cy="2702018"/>
          </a:xfrm>
          <a:noFill/>
        </p:spPr>
        <p:txBody>
          <a:bodyPr anchor="b">
            <a:normAutofit/>
          </a:bodyPr>
          <a:lstStyle/>
          <a:p>
            <a:r>
              <a:rPr lang="en-US" sz="4400" b="1" i="0" dirty="0">
                <a:solidFill>
                  <a:schemeClr val="bg1"/>
                </a:solidFill>
                <a:effectLst>
                  <a:outerShdw blurRad="38100" dist="38100" dir="2700000" algn="tl">
                    <a:srgbClr val="000000">
                      <a:alpha val="43137"/>
                    </a:srgbClr>
                  </a:outerShdw>
                </a:effectLst>
                <a:latin typeface="Arial" panose="020B0604020202020204" pitchFamily="34" charset="0"/>
              </a:rPr>
              <a:t>How to improve the accuracy of clustering algorithms</a:t>
            </a:r>
            <a:br>
              <a:rPr lang="en-US" sz="4400" b="1" i="0" dirty="0">
                <a:solidFill>
                  <a:schemeClr val="bg1"/>
                </a:solidFill>
                <a:effectLst>
                  <a:outerShdw blurRad="38100" dist="38100" dir="2700000" algn="tl">
                    <a:srgbClr val="000000">
                      <a:alpha val="43137"/>
                    </a:srgbClr>
                  </a:outerShdw>
                </a:effectLst>
                <a:latin typeface="Arial" panose="020B0604020202020204" pitchFamily="34" charset="0"/>
              </a:rPr>
            </a:br>
            <a:endParaRPr lang="ru-RU" sz="4400" b="1" dirty="0">
              <a:solidFill>
                <a:schemeClr val="bg1"/>
              </a:solidFill>
              <a:effectLst>
                <a:outerShdw blurRad="38100" dist="38100" dir="2700000" algn="tl">
                  <a:srgbClr val="000000">
                    <a:alpha val="43137"/>
                  </a:srgbClr>
                </a:outerShdw>
              </a:effectLst>
            </a:endParaRPr>
          </a:p>
        </p:txBody>
      </p:sp>
      <p:sp>
        <p:nvSpPr>
          <p:cNvPr id="3" name="Подзаголовок 2">
            <a:extLst>
              <a:ext uri="{FF2B5EF4-FFF2-40B4-BE49-F238E27FC236}">
                <a16:creationId xmlns:a16="http://schemas.microsoft.com/office/drawing/2014/main" id="{4C2A3B0B-0DB5-76AD-5C56-4704D02462FB}"/>
              </a:ext>
            </a:extLst>
          </p:cNvPr>
          <p:cNvSpPr>
            <a:spLocks noGrp="1"/>
          </p:cNvSpPr>
          <p:nvPr>
            <p:ph type="subTitle" idx="1"/>
          </p:nvPr>
        </p:nvSpPr>
        <p:spPr>
          <a:xfrm>
            <a:off x="2613497" y="4917321"/>
            <a:ext cx="7315200" cy="2615906"/>
          </a:xfrm>
          <a:noFill/>
        </p:spPr>
        <p:txBody>
          <a:bodyPr anchor="t">
            <a:normAutofit/>
          </a:bodyPr>
          <a:lstStyle/>
          <a:p>
            <a:r>
              <a:rPr lang="en-US" dirty="0">
                <a:solidFill>
                  <a:schemeClr val="bg1"/>
                </a:solidFill>
              </a:rPr>
              <a:t>Denisenko Sofiia </a:t>
            </a:r>
            <a:r>
              <a:rPr lang="zh-CN" altLang="en-US" dirty="0">
                <a:solidFill>
                  <a:schemeClr val="bg1"/>
                </a:solidFill>
              </a:rPr>
              <a:t>狄 苏菲 </a:t>
            </a:r>
            <a:r>
              <a:rPr lang="en-US" dirty="0">
                <a:solidFill>
                  <a:schemeClr val="bg1"/>
                </a:solidFill>
              </a:rPr>
              <a:t>1820249051</a:t>
            </a:r>
          </a:p>
          <a:p>
            <a:endParaRPr lang="ru-RU" dirty="0">
              <a:solidFill>
                <a:schemeClr val="bg1"/>
              </a:solidFill>
            </a:endParaRPr>
          </a:p>
        </p:txBody>
      </p:sp>
    </p:spTree>
    <p:extLst>
      <p:ext uri="{BB962C8B-B14F-4D97-AF65-F5344CB8AC3E}">
        <p14:creationId xmlns:p14="http://schemas.microsoft.com/office/powerpoint/2010/main" val="4209889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DF22C8-4B59-3B9B-3695-C00246212AD2}"/>
              </a:ext>
            </a:extLst>
          </p:cNvPr>
          <p:cNvSpPr>
            <a:spLocks noGrp="1"/>
          </p:cNvSpPr>
          <p:nvPr>
            <p:ph type="title"/>
          </p:nvPr>
        </p:nvSpPr>
        <p:spPr/>
        <p:txBody>
          <a:bodyPr>
            <a:normAutofit/>
          </a:bodyPr>
          <a:lstStyle/>
          <a:p>
            <a:r>
              <a:rPr lang="en-US" sz="5400" b="1" dirty="0"/>
              <a:t>Task</a:t>
            </a:r>
            <a:endParaRPr lang="ru-RU" sz="5400" b="1" dirty="0"/>
          </a:p>
        </p:txBody>
      </p:sp>
      <p:sp>
        <p:nvSpPr>
          <p:cNvPr id="3" name="Объект 2">
            <a:extLst>
              <a:ext uri="{FF2B5EF4-FFF2-40B4-BE49-F238E27FC236}">
                <a16:creationId xmlns:a16="http://schemas.microsoft.com/office/drawing/2014/main" id="{05D189FC-81C1-814D-A8EF-6CF19B5B124A}"/>
              </a:ext>
            </a:extLst>
          </p:cNvPr>
          <p:cNvSpPr>
            <a:spLocks noGrp="1"/>
          </p:cNvSpPr>
          <p:nvPr>
            <p:ph idx="1"/>
          </p:nvPr>
        </p:nvSpPr>
        <p:spPr/>
        <p:txBody>
          <a:bodyPr>
            <a:normAutofit lnSpcReduction="10000"/>
          </a:bodyPr>
          <a:lstStyle/>
          <a:p>
            <a:pPr marL="0" indent="0">
              <a:buNone/>
            </a:pPr>
            <a:r>
              <a:rPr lang="en-US" dirty="0"/>
              <a:t>Clustering is an important data analysis technique. However, due to the diversity of datasets, each clustering algorithm is unable to produce satisfactory results on some particular datasets. In this paper, we propose a clustering optimization method called HIAC (Highly Improving the Accuracy of Clustering algorithms). By introducing gravitation, HIAC forces objects in the dataset to move towards similar objects, making the ameliorated dataset more friendly to clustering algorithms (i.e., clustering algorithms can produce more accurate results on the ameliorated dataset). </a:t>
            </a:r>
          </a:p>
          <a:p>
            <a:pPr marL="0" indent="0">
              <a:buNone/>
            </a:pPr>
            <a:r>
              <a:rPr lang="en-US" b="1" i="0" dirty="0">
                <a:solidFill>
                  <a:srgbClr val="545251"/>
                </a:solidFill>
                <a:effectLst/>
                <a:latin typeface="Arial" panose="020B0604020202020204" pitchFamily="34" charset="0"/>
              </a:rPr>
              <a:t>Assignment: Read the paper; Redo the experiment; Present your mastering contents in a ppt fil</a:t>
            </a:r>
            <a:r>
              <a:rPr lang="en-US" b="0" i="0" dirty="0">
                <a:solidFill>
                  <a:srgbClr val="545251"/>
                </a:solidFill>
                <a:effectLst/>
                <a:latin typeface="Arial" panose="020B0604020202020204" pitchFamily="34" charset="0"/>
              </a:rPr>
              <a:t>e.</a:t>
            </a:r>
            <a:endParaRPr lang="ru-RU" dirty="0"/>
          </a:p>
        </p:txBody>
      </p:sp>
    </p:spTree>
    <p:extLst>
      <p:ext uri="{BB962C8B-B14F-4D97-AF65-F5344CB8AC3E}">
        <p14:creationId xmlns:p14="http://schemas.microsoft.com/office/powerpoint/2010/main" val="1548664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BE3C0A-C7CD-7583-8F62-16DFC85155EF}"/>
              </a:ext>
            </a:extLst>
          </p:cNvPr>
          <p:cNvSpPr>
            <a:spLocks noGrp="1"/>
          </p:cNvSpPr>
          <p:nvPr>
            <p:ph type="title"/>
          </p:nvPr>
        </p:nvSpPr>
        <p:spPr/>
        <p:txBody>
          <a:bodyPr/>
          <a:lstStyle/>
          <a:p>
            <a:r>
              <a:rPr lang="en-US" b="1" dirty="0"/>
              <a:t>Running code in PyCharm</a:t>
            </a:r>
            <a:endParaRPr lang="ru-RU" b="1" dirty="0"/>
          </a:p>
        </p:txBody>
      </p:sp>
      <p:pic>
        <p:nvPicPr>
          <p:cNvPr id="5" name="Объект 4">
            <a:extLst>
              <a:ext uri="{FF2B5EF4-FFF2-40B4-BE49-F238E27FC236}">
                <a16:creationId xmlns:a16="http://schemas.microsoft.com/office/drawing/2014/main" id="{9F9CF692-F8AC-9396-30BE-1F68A5F6020D}"/>
              </a:ext>
            </a:extLst>
          </p:cNvPr>
          <p:cNvPicPr>
            <a:picLocks noGrp="1" noChangeAspect="1"/>
          </p:cNvPicPr>
          <p:nvPr>
            <p:ph idx="1"/>
          </p:nvPr>
        </p:nvPicPr>
        <p:blipFill>
          <a:blip r:embed="rId2"/>
          <a:stretch>
            <a:fillRect/>
          </a:stretch>
        </p:blipFill>
        <p:spPr>
          <a:xfrm>
            <a:off x="2232173" y="1825625"/>
            <a:ext cx="7727653" cy="4351338"/>
          </a:xfrm>
        </p:spPr>
      </p:pic>
    </p:spTree>
    <p:extLst>
      <p:ext uri="{BB962C8B-B14F-4D97-AF65-F5344CB8AC3E}">
        <p14:creationId xmlns:p14="http://schemas.microsoft.com/office/powerpoint/2010/main" val="975661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5E15A6-66FF-8668-F606-FC5FB816F9E6}"/>
              </a:ext>
            </a:extLst>
          </p:cNvPr>
          <p:cNvSpPr>
            <a:spLocks noGrp="1"/>
          </p:cNvSpPr>
          <p:nvPr>
            <p:ph type="title"/>
          </p:nvPr>
        </p:nvSpPr>
        <p:spPr/>
        <p:txBody>
          <a:bodyPr/>
          <a:lstStyle/>
          <a:p>
            <a:r>
              <a:rPr lang="en-US" b="1" dirty="0"/>
              <a:t>Code</a:t>
            </a:r>
            <a:endParaRPr lang="ru-RU" b="1" dirty="0"/>
          </a:p>
        </p:txBody>
      </p:sp>
      <p:sp>
        <p:nvSpPr>
          <p:cNvPr id="3" name="Объект 2">
            <a:extLst>
              <a:ext uri="{FF2B5EF4-FFF2-40B4-BE49-F238E27FC236}">
                <a16:creationId xmlns:a16="http://schemas.microsoft.com/office/drawing/2014/main" id="{53D3E9F9-615A-8B6A-1EFC-6C507A81CA39}"/>
              </a:ext>
            </a:extLst>
          </p:cNvPr>
          <p:cNvSpPr>
            <a:spLocks noGrp="1"/>
          </p:cNvSpPr>
          <p:nvPr>
            <p:ph idx="1"/>
          </p:nvPr>
        </p:nvSpPr>
        <p:spPr/>
        <p:txBody>
          <a:bodyPr/>
          <a:lstStyle/>
          <a:p>
            <a:pPr marL="0" indent="0" algn="l">
              <a:buNone/>
            </a:pPr>
            <a:r>
              <a:rPr lang="en-US" b="0" i="0" dirty="0">
                <a:solidFill>
                  <a:srgbClr val="212529"/>
                </a:solidFill>
                <a:effectLst/>
                <a:latin typeface="-apple-system"/>
              </a:rPr>
              <a:t>The code implements a two-step approach to clustering:</a:t>
            </a:r>
          </a:p>
          <a:p>
            <a:pPr algn="l">
              <a:buFont typeface="+mj-lt"/>
              <a:buAutoNum type="arabicPeriod"/>
            </a:pPr>
            <a:r>
              <a:rPr lang="en-US" b="1" i="0" dirty="0">
                <a:solidFill>
                  <a:srgbClr val="212529"/>
                </a:solidFill>
                <a:effectLst/>
                <a:latin typeface="-apple-system"/>
              </a:rPr>
              <a:t>HIAC:</a:t>
            </a:r>
            <a:r>
              <a:rPr lang="en-US" b="0" i="0" dirty="0">
                <a:solidFill>
                  <a:srgbClr val="212529"/>
                </a:solidFill>
                <a:effectLst/>
                <a:latin typeface="-apple-system"/>
              </a:rPr>
              <a:t> A hierarchical iterative approach for ameliorating the dataset by moving points closer to their neighbors.</a:t>
            </a:r>
          </a:p>
          <a:p>
            <a:pPr algn="l">
              <a:buFont typeface="+mj-lt"/>
              <a:buAutoNum type="arabicPeriod"/>
            </a:pPr>
            <a:r>
              <a:rPr lang="en-US" b="1" i="0" dirty="0">
                <a:solidFill>
                  <a:srgbClr val="212529"/>
                </a:solidFill>
                <a:effectLst/>
                <a:latin typeface="-apple-system"/>
              </a:rPr>
              <a:t>DPC:</a:t>
            </a:r>
            <a:r>
              <a:rPr lang="en-US" b="0" i="0" dirty="0">
                <a:solidFill>
                  <a:srgbClr val="212529"/>
                </a:solidFill>
                <a:effectLst/>
                <a:latin typeface="-apple-system"/>
              </a:rPr>
              <a:t> The DPC algorithm is used to perform the final clustering on the improved dataset.</a:t>
            </a:r>
          </a:p>
          <a:p>
            <a:pPr marL="0" indent="0" algn="l">
              <a:buNone/>
            </a:pPr>
            <a:r>
              <a:rPr lang="en-US" b="0" i="0" dirty="0">
                <a:solidFill>
                  <a:srgbClr val="212529"/>
                </a:solidFill>
                <a:effectLst/>
                <a:latin typeface="-apple-system"/>
              </a:rPr>
              <a:t>The NMI score is used to evaluate the clustering quality.</a:t>
            </a:r>
          </a:p>
          <a:p>
            <a:endParaRPr lang="ru-RU" dirty="0"/>
          </a:p>
        </p:txBody>
      </p:sp>
    </p:spTree>
    <p:extLst>
      <p:ext uri="{BB962C8B-B14F-4D97-AF65-F5344CB8AC3E}">
        <p14:creationId xmlns:p14="http://schemas.microsoft.com/office/powerpoint/2010/main" val="2424664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2732018-7D03-6852-3DD3-452A855195A9}"/>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dirty="0">
                <a:solidFill>
                  <a:srgbClr val="FFFFFF"/>
                </a:solidFill>
                <a:latin typeface="+mj-lt"/>
                <a:ea typeface="+mj-ea"/>
                <a:cs typeface="+mj-cs"/>
              </a:rPr>
              <a:t>Output</a:t>
            </a:r>
          </a:p>
        </p:txBody>
      </p:sp>
      <p:pic>
        <p:nvPicPr>
          <p:cNvPr id="5" name="Объект 4">
            <a:extLst>
              <a:ext uri="{FF2B5EF4-FFF2-40B4-BE49-F238E27FC236}">
                <a16:creationId xmlns:a16="http://schemas.microsoft.com/office/drawing/2014/main" id="{3CABB167-4700-6EBA-5C02-980F9032A9ED}"/>
              </a:ext>
            </a:extLst>
          </p:cNvPr>
          <p:cNvPicPr>
            <a:picLocks noGrp="1" noChangeAspect="1"/>
          </p:cNvPicPr>
          <p:nvPr>
            <p:ph idx="1"/>
          </p:nvPr>
        </p:nvPicPr>
        <p:blipFill>
          <a:blip r:embed="rId2"/>
          <a:stretch>
            <a:fillRect/>
          </a:stretch>
        </p:blipFill>
        <p:spPr>
          <a:xfrm>
            <a:off x="4901543" y="643466"/>
            <a:ext cx="6532246" cy="5568739"/>
          </a:xfrm>
          <a:prstGeom prst="rect">
            <a:avLst/>
          </a:prstGeom>
        </p:spPr>
      </p:pic>
    </p:spTree>
    <p:extLst>
      <p:ext uri="{BB962C8B-B14F-4D97-AF65-F5344CB8AC3E}">
        <p14:creationId xmlns:p14="http://schemas.microsoft.com/office/powerpoint/2010/main" val="2981313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B6E671-DC59-ABDB-B84F-4E49684E00E6}"/>
            </a:ext>
          </a:extLst>
        </p:cNvPr>
        <p:cNvGrpSpPr/>
        <p:nvPr/>
      </p:nvGrpSpPr>
      <p:grpSpPr>
        <a:xfrm>
          <a:off x="0" y="0"/>
          <a:ext cx="0" cy="0"/>
          <a:chOff x="0" y="0"/>
          <a:chExt cx="0" cy="0"/>
        </a:xfrm>
      </p:grpSpPr>
      <p:sp>
        <p:nvSpPr>
          <p:cNvPr id="10" name="Down Arrow 7">
            <a:extLst>
              <a:ext uri="{FF2B5EF4-FFF2-40B4-BE49-F238E27FC236}">
                <a16:creationId xmlns:a16="http://schemas.microsoft.com/office/drawing/2014/main" id="{EA40C25C-E8DC-B5C1-04E3-DE069DA5A1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0360F83-B203-B6C0-25DC-66842C8C79B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dirty="0">
                <a:solidFill>
                  <a:srgbClr val="FFFFFF"/>
                </a:solidFill>
                <a:latin typeface="+mj-lt"/>
                <a:ea typeface="+mj-ea"/>
                <a:cs typeface="+mj-cs"/>
              </a:rPr>
              <a:t>Output</a:t>
            </a:r>
          </a:p>
        </p:txBody>
      </p:sp>
      <p:pic>
        <p:nvPicPr>
          <p:cNvPr id="6" name="Объект 6">
            <a:extLst>
              <a:ext uri="{FF2B5EF4-FFF2-40B4-BE49-F238E27FC236}">
                <a16:creationId xmlns:a16="http://schemas.microsoft.com/office/drawing/2014/main" id="{8C98F18C-782C-FB74-F81B-A6E0BBCE1178}"/>
              </a:ext>
            </a:extLst>
          </p:cNvPr>
          <p:cNvPicPr>
            <a:picLocks noGrp="1" noChangeAspect="1"/>
          </p:cNvPicPr>
          <p:nvPr>
            <p:ph idx="1"/>
          </p:nvPr>
        </p:nvPicPr>
        <p:blipFill>
          <a:blip r:embed="rId2"/>
          <a:stretch>
            <a:fillRect/>
          </a:stretch>
        </p:blipFill>
        <p:spPr>
          <a:xfrm>
            <a:off x="5553794" y="794492"/>
            <a:ext cx="5479672" cy="4769727"/>
          </a:xfrm>
        </p:spPr>
      </p:pic>
    </p:spTree>
    <p:extLst>
      <p:ext uri="{BB962C8B-B14F-4D97-AF65-F5344CB8AC3E}">
        <p14:creationId xmlns:p14="http://schemas.microsoft.com/office/powerpoint/2010/main" val="3300506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2D8AF6-1D85-DB46-BFFF-0E23E376ABCB}"/>
            </a:ext>
          </a:extLst>
        </p:cNvPr>
        <p:cNvGrpSpPr/>
        <p:nvPr/>
      </p:nvGrpSpPr>
      <p:grpSpPr>
        <a:xfrm>
          <a:off x="0" y="0"/>
          <a:ext cx="0" cy="0"/>
          <a:chOff x="0" y="0"/>
          <a:chExt cx="0" cy="0"/>
        </a:xfrm>
      </p:grpSpPr>
      <p:sp>
        <p:nvSpPr>
          <p:cNvPr id="10" name="Down Arrow 7">
            <a:extLst>
              <a:ext uri="{FF2B5EF4-FFF2-40B4-BE49-F238E27FC236}">
                <a16:creationId xmlns:a16="http://schemas.microsoft.com/office/drawing/2014/main" id="{AA4A415A-BC77-6231-0990-30CB131CA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2B7820A7-6E62-70E3-287D-28FDCE610C1C}"/>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dirty="0">
                <a:solidFill>
                  <a:srgbClr val="FFFFFF"/>
                </a:solidFill>
                <a:latin typeface="+mj-lt"/>
                <a:ea typeface="+mj-ea"/>
                <a:cs typeface="+mj-cs"/>
              </a:rPr>
              <a:t>Output</a:t>
            </a:r>
          </a:p>
        </p:txBody>
      </p:sp>
      <p:pic>
        <p:nvPicPr>
          <p:cNvPr id="7" name="Объект 4">
            <a:extLst>
              <a:ext uri="{FF2B5EF4-FFF2-40B4-BE49-F238E27FC236}">
                <a16:creationId xmlns:a16="http://schemas.microsoft.com/office/drawing/2014/main" id="{52D36E01-17B2-A762-232F-04CD9EFA6672}"/>
              </a:ext>
            </a:extLst>
          </p:cNvPr>
          <p:cNvPicPr>
            <a:picLocks noGrp="1" noChangeAspect="1"/>
          </p:cNvPicPr>
          <p:nvPr>
            <p:ph idx="1"/>
          </p:nvPr>
        </p:nvPicPr>
        <p:blipFill>
          <a:blip r:embed="rId2"/>
          <a:stretch>
            <a:fillRect/>
          </a:stretch>
        </p:blipFill>
        <p:spPr>
          <a:xfrm>
            <a:off x="5157681" y="735170"/>
            <a:ext cx="5836621" cy="5015389"/>
          </a:xfrm>
        </p:spPr>
      </p:pic>
    </p:spTree>
    <p:extLst>
      <p:ext uri="{BB962C8B-B14F-4D97-AF65-F5344CB8AC3E}">
        <p14:creationId xmlns:p14="http://schemas.microsoft.com/office/powerpoint/2010/main" val="3776007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DC4AF9-4F30-BAE2-22B2-D6CFB630C4D9}"/>
            </a:ext>
          </a:extLst>
        </p:cNvPr>
        <p:cNvGrpSpPr/>
        <p:nvPr/>
      </p:nvGrpSpPr>
      <p:grpSpPr>
        <a:xfrm>
          <a:off x="0" y="0"/>
          <a:ext cx="0" cy="0"/>
          <a:chOff x="0" y="0"/>
          <a:chExt cx="0" cy="0"/>
        </a:xfrm>
      </p:grpSpPr>
      <p:sp>
        <p:nvSpPr>
          <p:cNvPr id="10" name="Down Arrow 7">
            <a:extLst>
              <a:ext uri="{FF2B5EF4-FFF2-40B4-BE49-F238E27FC236}">
                <a16:creationId xmlns:a16="http://schemas.microsoft.com/office/drawing/2014/main" id="{DF3F4D46-6474-308F-BDD8-0D9153664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3F95387-8403-8BAC-9F12-FCAA79E8741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dirty="0">
                <a:solidFill>
                  <a:srgbClr val="FFFFFF"/>
                </a:solidFill>
                <a:latin typeface="+mj-lt"/>
                <a:ea typeface="+mj-ea"/>
                <a:cs typeface="+mj-cs"/>
              </a:rPr>
              <a:t>Output</a:t>
            </a:r>
          </a:p>
        </p:txBody>
      </p:sp>
      <p:pic>
        <p:nvPicPr>
          <p:cNvPr id="5" name="Объект 4">
            <a:extLst>
              <a:ext uri="{FF2B5EF4-FFF2-40B4-BE49-F238E27FC236}">
                <a16:creationId xmlns:a16="http://schemas.microsoft.com/office/drawing/2014/main" id="{D0BB475A-12A6-BF42-79E6-60F9874E4140}"/>
              </a:ext>
            </a:extLst>
          </p:cNvPr>
          <p:cNvPicPr>
            <a:picLocks noGrp="1" noChangeAspect="1"/>
          </p:cNvPicPr>
          <p:nvPr>
            <p:ph idx="1"/>
          </p:nvPr>
        </p:nvPicPr>
        <p:blipFill>
          <a:blip r:embed="rId2"/>
          <a:stretch>
            <a:fillRect/>
          </a:stretch>
        </p:blipFill>
        <p:spPr>
          <a:xfrm>
            <a:off x="5881992" y="2626420"/>
            <a:ext cx="4971539" cy="1605160"/>
          </a:xfrm>
        </p:spPr>
      </p:pic>
    </p:spTree>
    <p:extLst>
      <p:ext uri="{BB962C8B-B14F-4D97-AF65-F5344CB8AC3E}">
        <p14:creationId xmlns:p14="http://schemas.microsoft.com/office/powerpoint/2010/main" val="561305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37BB64-C4D9-D171-551D-0722289FDA62}"/>
              </a:ext>
            </a:extLst>
          </p:cNvPr>
          <p:cNvSpPr>
            <a:spLocks noGrp="1"/>
          </p:cNvSpPr>
          <p:nvPr>
            <p:ph type="title"/>
          </p:nvPr>
        </p:nvSpPr>
        <p:spPr/>
        <p:txBody>
          <a:bodyPr/>
          <a:lstStyle/>
          <a:p>
            <a:r>
              <a:rPr lang="en-US" b="1" dirty="0"/>
              <a:t>Explanations</a:t>
            </a:r>
            <a:endParaRPr lang="ru-RU" b="1" dirty="0"/>
          </a:p>
        </p:txBody>
      </p:sp>
      <p:sp>
        <p:nvSpPr>
          <p:cNvPr id="3" name="Объект 2">
            <a:extLst>
              <a:ext uri="{FF2B5EF4-FFF2-40B4-BE49-F238E27FC236}">
                <a16:creationId xmlns:a16="http://schemas.microsoft.com/office/drawing/2014/main" id="{27FD4E94-C0D7-C6C0-C86D-3E607D4E51D9}"/>
              </a:ext>
            </a:extLst>
          </p:cNvPr>
          <p:cNvSpPr>
            <a:spLocks noGrp="1"/>
          </p:cNvSpPr>
          <p:nvPr>
            <p:ph idx="1"/>
          </p:nvPr>
        </p:nvSpPr>
        <p:spPr/>
        <p:txBody>
          <a:bodyPr/>
          <a:lstStyle/>
          <a:p>
            <a:r>
              <a:rPr lang="en-US" b="0" i="0" dirty="0">
                <a:solidFill>
                  <a:srgbClr val="212529"/>
                </a:solidFill>
                <a:effectLst/>
                <a:latin typeface="-apple-system"/>
              </a:rPr>
              <a:t>The decision graph visualizes the weight distribution of neighbors, helping to identify a suitable threshold for pruning.</a:t>
            </a:r>
          </a:p>
          <a:p>
            <a:r>
              <a:rPr lang="en-US" b="0" i="0" dirty="0">
                <a:solidFill>
                  <a:srgbClr val="212529"/>
                </a:solidFill>
                <a:effectLst/>
                <a:latin typeface="-apple-system"/>
              </a:rPr>
              <a:t>The plots show the original dataset, the dataset after PCA (if applicable), and the dataset after the HIAC amelioration process.</a:t>
            </a:r>
            <a:endParaRPr lang="en-US" dirty="0">
              <a:solidFill>
                <a:srgbClr val="212529"/>
              </a:solidFill>
              <a:latin typeface="-apple-system"/>
            </a:endParaRPr>
          </a:p>
          <a:p>
            <a:r>
              <a:rPr lang="en-US" b="0" i="0" dirty="0">
                <a:solidFill>
                  <a:srgbClr val="212529"/>
                </a:solidFill>
                <a:effectLst/>
                <a:latin typeface="-apple-system"/>
              </a:rPr>
              <a:t>The NMI score indicates how well the DPC clustering aligns with the ground truth labels. A higher NMI score generally indicates better clustering performance.</a:t>
            </a:r>
          </a:p>
          <a:p>
            <a:r>
              <a:rPr lang="en-US" b="1" i="0" dirty="0">
                <a:solidFill>
                  <a:srgbClr val="212529"/>
                </a:solidFill>
                <a:effectLst/>
                <a:latin typeface="-apple-system"/>
              </a:rPr>
              <a:t>Resulting NMI of 0.74 is closer to 1, suggesting a good level of agreement.</a:t>
            </a:r>
            <a:r>
              <a:rPr lang="en-US" b="0" i="0" dirty="0">
                <a:solidFill>
                  <a:srgbClr val="212529"/>
                </a:solidFill>
                <a:effectLst/>
                <a:latin typeface="-apple-system"/>
              </a:rPr>
              <a:t> This means the clustering algorithm has successfully identified clusters that are reasonably similar to the true clusters.</a:t>
            </a:r>
          </a:p>
          <a:p>
            <a:endParaRPr lang="ru-RU" dirty="0"/>
          </a:p>
        </p:txBody>
      </p:sp>
    </p:spTree>
    <p:extLst>
      <p:ext uri="{BB962C8B-B14F-4D97-AF65-F5344CB8AC3E}">
        <p14:creationId xmlns:p14="http://schemas.microsoft.com/office/powerpoint/2010/main" val="1003731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577478-B4DC-09A7-8C33-CE123614A23C}"/>
              </a:ext>
            </a:extLst>
          </p:cNvPr>
          <p:cNvSpPr>
            <a:spLocks noGrp="1"/>
          </p:cNvSpPr>
          <p:nvPr>
            <p:ph type="title"/>
          </p:nvPr>
        </p:nvSpPr>
        <p:spPr/>
        <p:txBody>
          <a:bodyPr/>
          <a:lstStyle/>
          <a:p>
            <a:r>
              <a:rPr lang="en-US" b="1" dirty="0"/>
              <a:t>References:</a:t>
            </a:r>
            <a:endParaRPr lang="ru-RU" b="1" dirty="0"/>
          </a:p>
        </p:txBody>
      </p:sp>
      <p:sp>
        <p:nvSpPr>
          <p:cNvPr id="3" name="Объект 2">
            <a:extLst>
              <a:ext uri="{FF2B5EF4-FFF2-40B4-BE49-F238E27FC236}">
                <a16:creationId xmlns:a16="http://schemas.microsoft.com/office/drawing/2014/main" id="{CF8D3504-7244-BB9C-567F-FA90D8EBCD83}"/>
              </a:ext>
            </a:extLst>
          </p:cNvPr>
          <p:cNvSpPr>
            <a:spLocks noGrp="1"/>
          </p:cNvSpPr>
          <p:nvPr>
            <p:ph idx="1"/>
          </p:nvPr>
        </p:nvSpPr>
        <p:spPr/>
        <p:txBody>
          <a:bodyPr/>
          <a:lstStyle/>
          <a:p>
            <a:r>
              <a:rPr lang="en-US" dirty="0">
                <a:hlinkClick r:id="rId2"/>
              </a:rPr>
              <a:t>https://lexue.bit.edu.cn/pluginfile.php/690911/mod_assign/introattachment/0/how%20to%20improve%20the%20accuracy%20of%20clustering%20algorithms.pdf?forcedownload=1</a:t>
            </a:r>
            <a:r>
              <a:rPr lang="en-US" dirty="0"/>
              <a:t> - </a:t>
            </a:r>
            <a:r>
              <a:rPr lang="en-US" b="1" dirty="0"/>
              <a:t>How to improve the accuracy of clustering algorithms </a:t>
            </a:r>
            <a:r>
              <a:rPr lang="en-US" dirty="0"/>
              <a:t>Qi Li , </a:t>
            </a:r>
            <a:r>
              <a:rPr lang="en-US" dirty="0" err="1"/>
              <a:t>Shuliang</a:t>
            </a:r>
            <a:r>
              <a:rPr lang="en-US" dirty="0"/>
              <a:t> Wang * , </a:t>
            </a:r>
            <a:r>
              <a:rPr lang="en-US" dirty="0" err="1"/>
              <a:t>Xianjun</a:t>
            </a:r>
            <a:r>
              <a:rPr lang="en-US" dirty="0"/>
              <a:t> Zeng , </a:t>
            </a:r>
            <a:r>
              <a:rPr lang="en-US" dirty="0" err="1"/>
              <a:t>Boxiang</a:t>
            </a:r>
            <a:r>
              <a:rPr lang="en-US" dirty="0"/>
              <a:t> Zhao , </a:t>
            </a:r>
            <a:r>
              <a:rPr lang="en-US" dirty="0" err="1"/>
              <a:t>Yingxu</a:t>
            </a:r>
            <a:r>
              <a:rPr lang="en-US" dirty="0"/>
              <a:t> Dang </a:t>
            </a:r>
          </a:p>
          <a:p>
            <a:r>
              <a:rPr lang="en-US" dirty="0">
                <a:hlinkClick r:id="rId3"/>
              </a:rPr>
              <a:t>https://github.com/qiqi12</a:t>
            </a:r>
            <a:r>
              <a:rPr lang="en-US">
                <a:hlinkClick r:id="rId3"/>
              </a:rPr>
              <a:t>/HIAC</a:t>
            </a:r>
            <a:r>
              <a:rPr lang="en-US"/>
              <a:t> - code</a:t>
            </a:r>
            <a:endParaRPr lang="ru-RU" dirty="0"/>
          </a:p>
        </p:txBody>
      </p:sp>
    </p:spTree>
    <p:extLst>
      <p:ext uri="{BB962C8B-B14F-4D97-AF65-F5344CB8AC3E}">
        <p14:creationId xmlns:p14="http://schemas.microsoft.com/office/powerpoint/2010/main" val="359173031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380</Words>
  <Application>Microsoft Office PowerPoint</Application>
  <PresentationFormat>Широкоэкранный</PresentationFormat>
  <Paragraphs>24</Paragraphs>
  <Slides>10</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10</vt:i4>
      </vt:variant>
    </vt:vector>
  </HeadingPairs>
  <TitlesOfParts>
    <vt:vector size="15" baseType="lpstr">
      <vt:lpstr>-apple-system</vt:lpstr>
      <vt:lpstr>Aptos</vt:lpstr>
      <vt:lpstr>Aptos Display</vt:lpstr>
      <vt:lpstr>Arial</vt:lpstr>
      <vt:lpstr>Тема Office</vt:lpstr>
      <vt:lpstr>How to improve the accuracy of clustering algorithms </vt:lpstr>
      <vt:lpstr>Task</vt:lpstr>
      <vt:lpstr>Running code in PyCharm</vt:lpstr>
      <vt:lpstr>Code</vt:lpstr>
      <vt:lpstr>Output</vt:lpstr>
      <vt:lpstr>Output</vt:lpstr>
      <vt:lpstr>Output</vt:lpstr>
      <vt:lpstr>Output</vt:lpstr>
      <vt:lpstr>Explanations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София Денисенко</dc:creator>
  <cp:lastModifiedBy>София Денисенко</cp:lastModifiedBy>
  <cp:revision>1</cp:revision>
  <dcterms:created xsi:type="dcterms:W3CDTF">2024-10-31T03:08:45Z</dcterms:created>
  <dcterms:modified xsi:type="dcterms:W3CDTF">2024-10-31T03:32:02Z</dcterms:modified>
</cp:coreProperties>
</file>