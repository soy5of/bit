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IBM Plex Sans" charset="1" panose="020B0503050203000203"/>
      <p:regular r:id="rId18"/>
    </p:embeddedFont>
    <p:embeddedFont>
      <p:font typeface="IBM Plex Sans Bold" charset="1" panose="020B08030502030002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slide9.xml" Type="http://schemas.openxmlformats.org/officeDocument/2006/relationships/slide"/><Relationship Id="rId11" Target="slide12.xml" Type="http://schemas.openxmlformats.org/officeDocument/2006/relationships/slide"/><Relationship Id="rId2" Target="slide3.xml" Type="http://schemas.openxmlformats.org/officeDocument/2006/relationships/slide"/><Relationship Id="rId3" Target="slide4.xml" Type="http://schemas.openxmlformats.org/officeDocument/2006/relationships/slide"/><Relationship Id="rId4" Target="slide11.xml" Type="http://schemas.openxmlformats.org/officeDocument/2006/relationships/slide"/><Relationship Id="rId5" Target="../media/image3.png" Type="http://schemas.openxmlformats.org/officeDocument/2006/relationships/image"/><Relationship Id="rId6" Target="../media/image4.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slide5.xml" Type="http://schemas.openxmlformats.org/officeDocument/2006/relationship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0.jpeg" Type="http://schemas.openxmlformats.org/officeDocument/2006/relationships/image"/><Relationship Id="rId7" Target="../media/image2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0.jpeg" Type="http://schemas.openxmlformats.org/officeDocument/2006/relationships/image"/><Relationship Id="rId7" Target="../media/image21.jpeg" Type="http://schemas.openxmlformats.org/officeDocument/2006/relationships/image"/><Relationship Id="rId8" Target="../media/image2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svg" Type="http://schemas.openxmlformats.org/officeDocument/2006/relationships/image"/><Relationship Id="rId11" Target="../media/image26.pn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https://colab.research.google.com/drive/1vIa3FDP-lZ04DYuzTyRLPwiq2Aohx6y7?hl=ru" TargetMode="External" Type="http://schemas.openxmlformats.org/officeDocument/2006/relationships/hyperlink"/><Relationship Id="rId7" Target="../media/image24.png" Type="http://schemas.openxmlformats.org/officeDocument/2006/relationships/image"/><Relationship Id="rId8" Target="../media/image25.svg" Type="http://schemas.openxmlformats.org/officeDocument/2006/relationships/image"/><Relationship Id="rId9"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5266163" y="7820398"/>
            <a:ext cx="965724" cy="965724"/>
          </a:xfrm>
          <a:custGeom>
            <a:avLst/>
            <a:gdLst/>
            <a:ahLst/>
            <a:cxnLst/>
            <a:rect r="r" b="b" t="t" l="l"/>
            <a:pathLst>
              <a:path h="965724" w="965724">
                <a:moveTo>
                  <a:pt x="0" y="0"/>
                </a:moveTo>
                <a:lnTo>
                  <a:pt x="965725" y="0"/>
                </a:lnTo>
                <a:lnTo>
                  <a:pt x="965725" y="965724"/>
                </a:lnTo>
                <a:lnTo>
                  <a:pt x="0" y="9657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1127332"/>
            <a:ext cx="3516876" cy="431386"/>
            <a:chOff x="0" y="0"/>
            <a:chExt cx="4689168" cy="575182"/>
          </a:xfrm>
        </p:grpSpPr>
        <p:sp>
          <p:nvSpPr>
            <p:cNvPr name="Freeform 4" id="4"/>
            <p:cNvSpPr/>
            <p:nvPr/>
          </p:nvSpPr>
          <p:spPr>
            <a:xfrm flipH="false" flipV="false" rot="0">
              <a:off x="0" y="0"/>
              <a:ext cx="564724" cy="575182"/>
            </a:xfrm>
            <a:custGeom>
              <a:avLst/>
              <a:gdLst/>
              <a:ahLst/>
              <a:cxnLst/>
              <a:rect r="r" b="b" t="t" l="l"/>
              <a:pathLst>
                <a:path h="575182" w="564724">
                  <a:moveTo>
                    <a:pt x="0" y="0"/>
                  </a:moveTo>
                  <a:lnTo>
                    <a:pt x="564724" y="0"/>
                  </a:lnTo>
                  <a:lnTo>
                    <a:pt x="564724" y="575182"/>
                  </a:lnTo>
                  <a:lnTo>
                    <a:pt x="0" y="5751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102795" y="68516"/>
              <a:ext cx="3586372" cy="428625"/>
            </a:xfrm>
            <a:prstGeom prst="rect">
              <a:avLst/>
            </a:prstGeom>
          </p:spPr>
          <p:txBody>
            <a:bodyPr anchor="t" rtlCol="false" tIns="0" lIns="0" bIns="0" rIns="0">
              <a:spAutoFit/>
            </a:bodyPr>
            <a:lstStyle/>
            <a:p>
              <a:pPr algn="l" marL="0" indent="0" lvl="0">
                <a:lnSpc>
                  <a:spcPts val="2520"/>
                </a:lnSpc>
                <a:spcBef>
                  <a:spcPct val="0"/>
                </a:spcBef>
              </a:pPr>
              <a:r>
                <a:rPr lang="en-US" sz="2100">
                  <a:solidFill>
                    <a:srgbClr val="000000"/>
                  </a:solidFill>
                  <a:latin typeface="IBM Plex Sans"/>
                  <a:ea typeface="IBM Plex Sans"/>
                  <a:cs typeface="IBM Plex Sans"/>
                  <a:sym typeface="IBM Plex Sans"/>
                </a:rPr>
                <a:t>SamANTa</a:t>
              </a:r>
            </a:p>
          </p:txBody>
        </p:sp>
      </p:grpSp>
      <p:sp>
        <p:nvSpPr>
          <p:cNvPr name="TextBox 6" id="6"/>
          <p:cNvSpPr txBox="true"/>
          <p:nvPr/>
        </p:nvSpPr>
        <p:spPr>
          <a:xfrm rot="0">
            <a:off x="3012106" y="7291071"/>
            <a:ext cx="12263788" cy="1967229"/>
          </a:xfrm>
          <a:prstGeom prst="rect">
            <a:avLst/>
          </a:prstGeom>
        </p:spPr>
        <p:txBody>
          <a:bodyPr anchor="t" rtlCol="false" tIns="0" lIns="0" bIns="0" rIns="0">
            <a:spAutoFit/>
          </a:bodyPr>
          <a:lstStyle/>
          <a:p>
            <a:pPr algn="ctr">
              <a:lnSpc>
                <a:spcPts val="3920"/>
              </a:lnSpc>
            </a:pPr>
            <a:r>
              <a:rPr lang="en-US" sz="2800" b="true">
                <a:solidFill>
                  <a:srgbClr val="000000"/>
                </a:solidFill>
                <a:latin typeface="IBM Plex Sans Bold"/>
                <a:ea typeface="IBM Plex Sans Bold"/>
                <a:cs typeface="IBM Plex Sans Bold"/>
                <a:sym typeface="IBM Plex Sans Bold"/>
              </a:rPr>
              <a:t>D</a:t>
            </a:r>
            <a:r>
              <a:rPr lang="en-US" sz="2800">
                <a:solidFill>
                  <a:srgbClr val="000000"/>
                </a:solidFill>
                <a:latin typeface="IBM Plex Sans"/>
                <a:ea typeface="IBM Plex Sans"/>
                <a:cs typeface="IBM Plex Sans"/>
                <a:sym typeface="IBM Plex Sans"/>
              </a:rPr>
              <a:t>enisenko Sofia 1820249051</a:t>
            </a:r>
          </a:p>
          <a:p>
            <a:pPr algn="ctr">
              <a:lnSpc>
                <a:spcPts val="3920"/>
              </a:lnSpc>
            </a:pPr>
            <a:r>
              <a:rPr lang="en-US" sz="2800" b="true">
                <a:solidFill>
                  <a:srgbClr val="000000"/>
                </a:solidFill>
                <a:latin typeface="IBM Plex Sans Bold"/>
                <a:ea typeface="IBM Plex Sans Bold"/>
                <a:cs typeface="IBM Plex Sans Bold"/>
                <a:sym typeface="IBM Plex Sans Bold"/>
              </a:rPr>
              <a:t>A</a:t>
            </a:r>
            <a:r>
              <a:rPr lang="en-US" sz="2800">
                <a:solidFill>
                  <a:srgbClr val="000000"/>
                </a:solidFill>
                <a:latin typeface="IBM Plex Sans"/>
                <a:ea typeface="IBM Plex Sans"/>
                <a:cs typeface="IBM Plex Sans"/>
                <a:sym typeface="IBM Plex Sans"/>
              </a:rPr>
              <a:t>ntipov Aleksei 1820249061</a:t>
            </a:r>
          </a:p>
          <a:p>
            <a:pPr algn="ctr">
              <a:lnSpc>
                <a:spcPts val="3920"/>
              </a:lnSpc>
            </a:pPr>
            <a:r>
              <a:rPr lang="en-US" sz="2800" b="true">
                <a:solidFill>
                  <a:srgbClr val="000000"/>
                </a:solidFill>
                <a:latin typeface="IBM Plex Sans Bold"/>
                <a:ea typeface="IBM Plex Sans Bold"/>
                <a:cs typeface="IBM Plex Sans Bold"/>
                <a:sym typeface="IBM Plex Sans Bold"/>
              </a:rPr>
              <a:t>M</a:t>
            </a:r>
            <a:r>
              <a:rPr lang="en-US" sz="2800">
                <a:solidFill>
                  <a:srgbClr val="000000"/>
                </a:solidFill>
                <a:latin typeface="IBM Plex Sans"/>
                <a:ea typeface="IBM Plex Sans"/>
                <a:cs typeface="IBM Plex Sans"/>
                <a:sym typeface="IBM Plex Sans"/>
              </a:rPr>
              <a:t>akarov Pavel 1820249064</a:t>
            </a:r>
          </a:p>
          <a:p>
            <a:pPr algn="ctr">
              <a:lnSpc>
                <a:spcPts val="3920"/>
              </a:lnSpc>
            </a:pPr>
            <a:r>
              <a:rPr lang="en-US" sz="2800" b="true">
                <a:solidFill>
                  <a:srgbClr val="000000"/>
                </a:solidFill>
                <a:latin typeface="IBM Plex Sans Bold"/>
                <a:ea typeface="IBM Plex Sans Bold"/>
                <a:cs typeface="IBM Plex Sans Bold"/>
                <a:sym typeface="IBM Plex Sans Bold"/>
              </a:rPr>
              <a:t>B</a:t>
            </a:r>
            <a:r>
              <a:rPr lang="en-US" sz="2800">
                <a:solidFill>
                  <a:srgbClr val="000000"/>
                </a:solidFill>
                <a:latin typeface="IBM Plex Sans"/>
                <a:ea typeface="IBM Plex Sans"/>
                <a:cs typeface="IBM Plex Sans"/>
                <a:sym typeface="IBM Plex Sans"/>
              </a:rPr>
              <a:t>ylkova Kristina 1820249049</a:t>
            </a:r>
          </a:p>
        </p:txBody>
      </p:sp>
      <p:sp>
        <p:nvSpPr>
          <p:cNvPr name="TextBox 7" id="7"/>
          <p:cNvSpPr txBox="true"/>
          <p:nvPr/>
        </p:nvSpPr>
        <p:spPr>
          <a:xfrm rot="0">
            <a:off x="2276967" y="2755466"/>
            <a:ext cx="13734066" cy="4068209"/>
          </a:xfrm>
          <a:prstGeom prst="rect">
            <a:avLst/>
          </a:prstGeom>
        </p:spPr>
        <p:txBody>
          <a:bodyPr anchor="t" rtlCol="false" tIns="0" lIns="0" bIns="0" rIns="0">
            <a:spAutoFit/>
          </a:bodyPr>
          <a:lstStyle/>
          <a:p>
            <a:pPr algn="ctr">
              <a:lnSpc>
                <a:spcPts val="10540"/>
              </a:lnSpc>
            </a:pPr>
            <a:r>
              <a:rPr lang="en-US" sz="10540" b="true">
                <a:solidFill>
                  <a:srgbClr val="000000"/>
                </a:solidFill>
                <a:latin typeface="IBM Plex Sans Bold"/>
                <a:ea typeface="IBM Plex Sans Bold"/>
                <a:cs typeface="IBM Plex Sans Bold"/>
                <a:sym typeface="IBM Plex Sans Bold"/>
              </a:rPr>
              <a:t>A</a:t>
            </a:r>
            <a:r>
              <a:rPr lang="en-US" sz="10540">
                <a:solidFill>
                  <a:srgbClr val="000000"/>
                </a:solidFill>
                <a:latin typeface="IBM Plex Sans"/>
                <a:ea typeface="IBM Plex Sans"/>
                <a:cs typeface="IBM Plex Sans"/>
                <a:sym typeface="IBM Plex Sans"/>
              </a:rPr>
              <a:t>nt </a:t>
            </a:r>
            <a:r>
              <a:rPr lang="en-US" sz="10540" b="true">
                <a:solidFill>
                  <a:srgbClr val="000000"/>
                </a:solidFill>
                <a:latin typeface="IBM Plex Sans Bold"/>
                <a:ea typeface="IBM Plex Sans Bold"/>
                <a:cs typeface="IBM Plex Sans Bold"/>
                <a:sym typeface="IBM Plex Sans Bold"/>
              </a:rPr>
              <a:t>C</a:t>
            </a:r>
            <a:r>
              <a:rPr lang="en-US" sz="10540">
                <a:solidFill>
                  <a:srgbClr val="000000"/>
                </a:solidFill>
                <a:latin typeface="IBM Plex Sans"/>
                <a:ea typeface="IBM Plex Sans"/>
                <a:cs typeface="IBM Plex Sans"/>
                <a:sym typeface="IBM Plex Sans"/>
              </a:rPr>
              <a:t>olony </a:t>
            </a:r>
            <a:r>
              <a:rPr lang="en-US" sz="10540" b="true">
                <a:solidFill>
                  <a:srgbClr val="000000"/>
                </a:solidFill>
                <a:latin typeface="IBM Plex Sans Bold"/>
                <a:ea typeface="IBM Plex Sans Bold"/>
                <a:cs typeface="IBM Plex Sans Bold"/>
                <a:sym typeface="IBM Plex Sans Bold"/>
              </a:rPr>
              <a:t>O</a:t>
            </a:r>
            <a:r>
              <a:rPr lang="en-US" sz="10540">
                <a:solidFill>
                  <a:srgbClr val="000000"/>
                </a:solidFill>
                <a:latin typeface="IBM Plex Sans"/>
                <a:ea typeface="IBM Plex Sans"/>
                <a:cs typeface="IBM Plex Sans"/>
                <a:sym typeface="IBM Plex Sans"/>
              </a:rPr>
              <a:t>ptimization</a:t>
            </a:r>
          </a:p>
          <a:p>
            <a:pPr algn="ctr">
              <a:lnSpc>
                <a:spcPts val="10540"/>
              </a:lnSpc>
            </a:pPr>
            <a:r>
              <a:rPr lang="en-US" sz="10540" b="true">
                <a:solidFill>
                  <a:srgbClr val="000000"/>
                </a:solidFill>
                <a:latin typeface="IBM Plex Sans Bold"/>
                <a:ea typeface="IBM Plex Sans Bold"/>
                <a:cs typeface="IBM Plex Sans Bold"/>
                <a:sym typeface="IBM Plex Sans Bold"/>
              </a:rPr>
              <a:t>(ACO)</a:t>
            </a:r>
          </a:p>
        </p:txBody>
      </p:sp>
      <p:sp>
        <p:nvSpPr>
          <p:cNvPr name="Freeform 8" id="8"/>
          <p:cNvSpPr/>
          <p:nvPr/>
        </p:nvSpPr>
        <p:spPr>
          <a:xfrm flipH="false" flipV="false" rot="7286867">
            <a:off x="13787431" y="969111"/>
            <a:ext cx="10565815" cy="8030020"/>
          </a:xfrm>
          <a:custGeom>
            <a:avLst/>
            <a:gdLst/>
            <a:ahLst/>
            <a:cxnLst/>
            <a:rect r="r" b="b" t="t" l="l"/>
            <a:pathLst>
              <a:path h="8030020" w="10565815">
                <a:moveTo>
                  <a:pt x="0" y="0"/>
                </a:moveTo>
                <a:lnTo>
                  <a:pt x="10565815" y="0"/>
                </a:lnTo>
                <a:lnTo>
                  <a:pt x="10565815" y="8030020"/>
                </a:lnTo>
                <a:lnTo>
                  <a:pt x="0" y="80300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6422757">
            <a:off x="-3518081" y="6224076"/>
            <a:ext cx="7984799" cy="6068448"/>
          </a:xfrm>
          <a:custGeom>
            <a:avLst/>
            <a:gdLst/>
            <a:ahLst/>
            <a:cxnLst/>
            <a:rect r="r" b="b" t="t" l="l"/>
            <a:pathLst>
              <a:path h="6068448" w="7984799">
                <a:moveTo>
                  <a:pt x="0" y="0"/>
                </a:moveTo>
                <a:lnTo>
                  <a:pt x="7984800" y="0"/>
                </a:lnTo>
                <a:lnTo>
                  <a:pt x="7984800" y="6068448"/>
                </a:lnTo>
                <a:lnTo>
                  <a:pt x="0" y="60684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AutoShape 2" id="2"/>
          <p:cNvSpPr/>
          <p:nvPr/>
        </p:nvSpPr>
        <p:spPr>
          <a:xfrm rot="0">
            <a:off x="0" y="10104444"/>
            <a:ext cx="18288000" cy="182556"/>
          </a:xfrm>
          <a:prstGeom prst="rect">
            <a:avLst/>
          </a:prstGeom>
          <a:solidFill>
            <a:srgbClr val="9600F2"/>
          </a:solidFill>
        </p:spPr>
      </p:sp>
      <p:sp>
        <p:nvSpPr>
          <p:cNvPr name="TextBox 3" id="3"/>
          <p:cNvSpPr txBox="true"/>
          <p:nvPr/>
        </p:nvSpPr>
        <p:spPr>
          <a:xfrm rot="0">
            <a:off x="1028700" y="3709790"/>
            <a:ext cx="5446590" cy="467995"/>
          </a:xfrm>
          <a:prstGeom prst="rect">
            <a:avLst/>
          </a:prstGeom>
        </p:spPr>
        <p:txBody>
          <a:bodyPr anchor="t" rtlCol="false" tIns="0" lIns="0" bIns="0" rIns="0">
            <a:spAutoFit/>
          </a:bodyPr>
          <a:lstStyle/>
          <a:p>
            <a:pPr algn="l" marL="626109" indent="-313054" lvl="1">
              <a:lnSpc>
                <a:spcPts val="3769"/>
              </a:lnSpc>
              <a:buFont typeface="Arial"/>
              <a:buChar char="•"/>
            </a:pPr>
            <a:r>
              <a:rPr lang="en-US" sz="2899" u="sng">
                <a:solidFill>
                  <a:srgbClr val="000000"/>
                </a:solidFill>
                <a:latin typeface="IBM Plex Sans"/>
                <a:ea typeface="IBM Plex Sans"/>
                <a:cs typeface="IBM Plex Sans"/>
                <a:sym typeface="IBM Plex Sans"/>
                <a:hlinkClick r:id="rId2" action="ppaction://hlinksldjump"/>
              </a:rPr>
              <a:t>What is ACO?</a:t>
            </a:r>
          </a:p>
        </p:txBody>
      </p:sp>
      <p:sp>
        <p:nvSpPr>
          <p:cNvPr name="TextBox 4" id="4"/>
          <p:cNvSpPr txBox="true"/>
          <p:nvPr/>
        </p:nvSpPr>
        <p:spPr>
          <a:xfrm rot="0">
            <a:off x="1028700" y="5422712"/>
            <a:ext cx="5446590" cy="467995"/>
          </a:xfrm>
          <a:prstGeom prst="rect">
            <a:avLst/>
          </a:prstGeom>
        </p:spPr>
        <p:txBody>
          <a:bodyPr anchor="t" rtlCol="false" tIns="0" lIns="0" bIns="0" rIns="0">
            <a:spAutoFit/>
          </a:bodyPr>
          <a:lstStyle/>
          <a:p>
            <a:pPr algn="l" marL="626109" indent="-313054" lvl="1">
              <a:lnSpc>
                <a:spcPts val="3769"/>
              </a:lnSpc>
              <a:buFont typeface="Arial"/>
              <a:buChar char="•"/>
            </a:pPr>
            <a:r>
              <a:rPr lang="en-US" sz="2899" u="sng">
                <a:solidFill>
                  <a:srgbClr val="000000"/>
                </a:solidFill>
                <a:latin typeface="IBM Plex Sans"/>
                <a:ea typeface="IBM Plex Sans"/>
                <a:cs typeface="IBM Plex Sans"/>
                <a:sym typeface="IBM Plex Sans"/>
                <a:hlinkClick r:id="rId3" action="ppaction://hlinksldjump"/>
              </a:rPr>
              <a:t>Concept</a:t>
            </a:r>
          </a:p>
        </p:txBody>
      </p:sp>
      <p:sp>
        <p:nvSpPr>
          <p:cNvPr name="TextBox 5" id="5"/>
          <p:cNvSpPr txBox="true"/>
          <p:nvPr/>
        </p:nvSpPr>
        <p:spPr>
          <a:xfrm rot="0">
            <a:off x="7191629" y="4566251"/>
            <a:ext cx="5446590" cy="467995"/>
          </a:xfrm>
          <a:prstGeom prst="rect">
            <a:avLst/>
          </a:prstGeom>
        </p:spPr>
        <p:txBody>
          <a:bodyPr anchor="t" rtlCol="false" tIns="0" lIns="0" bIns="0" rIns="0">
            <a:spAutoFit/>
          </a:bodyPr>
          <a:lstStyle/>
          <a:p>
            <a:pPr algn="l" marL="626109" indent="-313054" lvl="1">
              <a:lnSpc>
                <a:spcPts val="3769"/>
              </a:lnSpc>
              <a:buFont typeface="Arial"/>
              <a:buChar char="•"/>
            </a:pPr>
            <a:r>
              <a:rPr lang="en-US" sz="2899" u="sng">
                <a:solidFill>
                  <a:srgbClr val="000000"/>
                </a:solidFill>
                <a:latin typeface="IBM Plex Sans"/>
                <a:ea typeface="IBM Plex Sans"/>
                <a:cs typeface="IBM Plex Sans"/>
                <a:sym typeface="IBM Plex Sans"/>
                <a:hlinkClick r:id="rId4" action="ppaction://hlinksldjump"/>
              </a:rPr>
              <a:t>Pheromone Update</a:t>
            </a:r>
          </a:p>
        </p:txBody>
      </p:sp>
      <p:sp>
        <p:nvSpPr>
          <p:cNvPr name="TextBox 6" id="6"/>
          <p:cNvSpPr txBox="true"/>
          <p:nvPr/>
        </p:nvSpPr>
        <p:spPr>
          <a:xfrm rot="0">
            <a:off x="9914924" y="1127332"/>
            <a:ext cx="6016228" cy="1295400"/>
          </a:xfrm>
          <a:prstGeom prst="rect">
            <a:avLst/>
          </a:prstGeom>
        </p:spPr>
        <p:txBody>
          <a:bodyPr anchor="t" rtlCol="false" tIns="0" lIns="0" bIns="0" rIns="0">
            <a:spAutoFit/>
          </a:bodyPr>
          <a:lstStyle/>
          <a:p>
            <a:pPr algn="r" marL="0" indent="0" lvl="0">
              <a:lnSpc>
                <a:spcPts val="10200"/>
              </a:lnSpc>
              <a:spcBef>
                <a:spcPct val="0"/>
              </a:spcBef>
            </a:pPr>
            <a:r>
              <a:rPr lang="en-US" b="true" sz="8500">
                <a:solidFill>
                  <a:srgbClr val="000000"/>
                </a:solidFill>
                <a:latin typeface="IBM Plex Sans Bold"/>
                <a:ea typeface="IBM Plex Sans Bold"/>
                <a:cs typeface="IBM Plex Sans Bold"/>
                <a:sym typeface="IBM Plex Sans Bold"/>
              </a:rPr>
              <a:t>Outline</a:t>
            </a:r>
          </a:p>
        </p:txBody>
      </p:sp>
      <p:grpSp>
        <p:nvGrpSpPr>
          <p:cNvPr name="Group 7" id="7"/>
          <p:cNvGrpSpPr/>
          <p:nvPr/>
        </p:nvGrpSpPr>
        <p:grpSpPr>
          <a:xfrm rot="0">
            <a:off x="1028700" y="1127332"/>
            <a:ext cx="3516876" cy="431386"/>
            <a:chOff x="0" y="0"/>
            <a:chExt cx="4689168" cy="575182"/>
          </a:xfrm>
        </p:grpSpPr>
        <p:sp>
          <p:nvSpPr>
            <p:cNvPr name="Freeform 8" id="8"/>
            <p:cNvSpPr/>
            <p:nvPr/>
          </p:nvSpPr>
          <p:spPr>
            <a:xfrm flipH="false" flipV="false" rot="0">
              <a:off x="0" y="0"/>
              <a:ext cx="564724" cy="575182"/>
            </a:xfrm>
            <a:custGeom>
              <a:avLst/>
              <a:gdLst/>
              <a:ahLst/>
              <a:cxnLst/>
              <a:rect r="r" b="b" t="t" l="l"/>
              <a:pathLst>
                <a:path h="575182" w="564724">
                  <a:moveTo>
                    <a:pt x="0" y="0"/>
                  </a:moveTo>
                  <a:lnTo>
                    <a:pt x="564724" y="0"/>
                  </a:lnTo>
                  <a:lnTo>
                    <a:pt x="564724" y="575182"/>
                  </a:lnTo>
                  <a:lnTo>
                    <a:pt x="0" y="57518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102795" y="68516"/>
              <a:ext cx="3586372" cy="428625"/>
            </a:xfrm>
            <a:prstGeom prst="rect">
              <a:avLst/>
            </a:prstGeom>
          </p:spPr>
          <p:txBody>
            <a:bodyPr anchor="t" rtlCol="false" tIns="0" lIns="0" bIns="0" rIns="0">
              <a:spAutoFit/>
            </a:bodyPr>
            <a:lstStyle/>
            <a:p>
              <a:pPr algn="l" marL="0" indent="0" lvl="0">
                <a:lnSpc>
                  <a:spcPts val="2520"/>
                </a:lnSpc>
                <a:spcBef>
                  <a:spcPct val="0"/>
                </a:spcBef>
              </a:pPr>
              <a:r>
                <a:rPr lang="en-US" sz="2100">
                  <a:solidFill>
                    <a:srgbClr val="000000"/>
                  </a:solidFill>
                  <a:latin typeface="IBM Plex Sans"/>
                  <a:ea typeface="IBM Plex Sans"/>
                  <a:cs typeface="IBM Plex Sans"/>
                  <a:sym typeface="IBM Plex Sans"/>
                </a:rPr>
                <a:t>SamANTa</a:t>
              </a:r>
            </a:p>
          </p:txBody>
        </p:sp>
      </p:grpSp>
      <p:sp>
        <p:nvSpPr>
          <p:cNvPr name="Freeform 10" id="10"/>
          <p:cNvSpPr/>
          <p:nvPr/>
        </p:nvSpPr>
        <p:spPr>
          <a:xfrm flipH="false" flipV="false" rot="7162578">
            <a:off x="9851803" y="1871410"/>
            <a:ext cx="16714891" cy="11396517"/>
          </a:xfrm>
          <a:custGeom>
            <a:avLst/>
            <a:gdLst/>
            <a:ahLst/>
            <a:cxnLst/>
            <a:rect r="r" b="b" t="t" l="l"/>
            <a:pathLst>
              <a:path h="11396517" w="16714891">
                <a:moveTo>
                  <a:pt x="0" y="0"/>
                </a:moveTo>
                <a:lnTo>
                  <a:pt x="16714891" y="0"/>
                </a:lnTo>
                <a:lnTo>
                  <a:pt x="16714891" y="11396516"/>
                </a:lnTo>
                <a:lnTo>
                  <a:pt x="0" y="113965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1028700" y="4566251"/>
            <a:ext cx="7571628" cy="467995"/>
          </a:xfrm>
          <a:prstGeom prst="rect">
            <a:avLst/>
          </a:prstGeom>
        </p:spPr>
        <p:txBody>
          <a:bodyPr anchor="t" rtlCol="false" tIns="0" lIns="0" bIns="0" rIns="0">
            <a:spAutoFit/>
          </a:bodyPr>
          <a:lstStyle/>
          <a:p>
            <a:pPr algn="l" marL="626109" indent="-313054" lvl="1">
              <a:lnSpc>
                <a:spcPts val="3769"/>
              </a:lnSpc>
              <a:buFont typeface="Arial"/>
              <a:buChar char="•"/>
            </a:pPr>
            <a:r>
              <a:rPr lang="en-US" sz="2899" u="sng">
                <a:solidFill>
                  <a:srgbClr val="000000"/>
                </a:solidFill>
                <a:latin typeface="IBM Plex Sans"/>
                <a:ea typeface="IBM Plex Sans"/>
                <a:cs typeface="IBM Plex Sans"/>
                <a:sym typeface="IBM Plex Sans"/>
                <a:hlinkClick r:id="rId9" action="ppaction://hlinksldjump"/>
              </a:rPr>
              <a:t>Applications of ACO</a:t>
            </a:r>
          </a:p>
        </p:txBody>
      </p:sp>
      <p:sp>
        <p:nvSpPr>
          <p:cNvPr name="TextBox 12" id="12"/>
          <p:cNvSpPr txBox="true"/>
          <p:nvPr/>
        </p:nvSpPr>
        <p:spPr>
          <a:xfrm rot="0">
            <a:off x="1028700" y="6281232"/>
            <a:ext cx="5446590" cy="467995"/>
          </a:xfrm>
          <a:prstGeom prst="rect">
            <a:avLst/>
          </a:prstGeom>
        </p:spPr>
        <p:txBody>
          <a:bodyPr anchor="t" rtlCol="false" tIns="0" lIns="0" bIns="0" rIns="0">
            <a:spAutoFit/>
          </a:bodyPr>
          <a:lstStyle/>
          <a:p>
            <a:pPr algn="l" marL="626109" indent="-313054" lvl="1">
              <a:lnSpc>
                <a:spcPts val="3769"/>
              </a:lnSpc>
              <a:buFont typeface="Arial"/>
              <a:buChar char="•"/>
            </a:pPr>
            <a:r>
              <a:rPr lang="en-US" sz="2899" u="sng">
                <a:solidFill>
                  <a:srgbClr val="000000"/>
                </a:solidFill>
                <a:latin typeface="IBM Plex Sans"/>
                <a:ea typeface="IBM Plex Sans"/>
                <a:cs typeface="IBM Plex Sans"/>
                <a:sym typeface="IBM Plex Sans"/>
                <a:hlinkClick r:id="rId10" action="ppaction://hlinksldjump"/>
              </a:rPr>
              <a:t>Principle</a:t>
            </a:r>
          </a:p>
        </p:txBody>
      </p:sp>
      <p:sp>
        <p:nvSpPr>
          <p:cNvPr name="TextBox 13" id="13"/>
          <p:cNvSpPr txBox="true"/>
          <p:nvPr/>
        </p:nvSpPr>
        <p:spPr>
          <a:xfrm rot="0">
            <a:off x="1028700" y="7139752"/>
            <a:ext cx="5446590" cy="467995"/>
          </a:xfrm>
          <a:prstGeom prst="rect">
            <a:avLst/>
          </a:prstGeom>
        </p:spPr>
        <p:txBody>
          <a:bodyPr anchor="t" rtlCol="false" tIns="0" lIns="0" bIns="0" rIns="0">
            <a:spAutoFit/>
          </a:bodyPr>
          <a:lstStyle/>
          <a:p>
            <a:pPr algn="l" marL="626109" indent="-313054" lvl="1">
              <a:lnSpc>
                <a:spcPts val="3769"/>
              </a:lnSpc>
              <a:buFont typeface="Arial"/>
              <a:buChar char="•"/>
            </a:pPr>
            <a:r>
              <a:rPr lang="en-US" sz="2899" u="sng">
                <a:solidFill>
                  <a:srgbClr val="000000"/>
                </a:solidFill>
                <a:latin typeface="IBM Plex Sans"/>
                <a:ea typeface="IBM Plex Sans"/>
                <a:cs typeface="IBM Plex Sans"/>
                <a:sym typeface="IBM Plex Sans"/>
              </a:rPr>
              <a:t>Algorithm Workflow</a:t>
            </a:r>
          </a:p>
        </p:txBody>
      </p:sp>
      <p:sp>
        <p:nvSpPr>
          <p:cNvPr name="TextBox 14" id="14"/>
          <p:cNvSpPr txBox="true"/>
          <p:nvPr/>
        </p:nvSpPr>
        <p:spPr>
          <a:xfrm rot="0">
            <a:off x="7191629" y="5422712"/>
            <a:ext cx="5446590" cy="467995"/>
          </a:xfrm>
          <a:prstGeom prst="rect">
            <a:avLst/>
          </a:prstGeom>
        </p:spPr>
        <p:txBody>
          <a:bodyPr anchor="t" rtlCol="false" tIns="0" lIns="0" bIns="0" rIns="0">
            <a:spAutoFit/>
          </a:bodyPr>
          <a:lstStyle/>
          <a:p>
            <a:pPr algn="l" marL="626109" indent="-313054" lvl="1">
              <a:lnSpc>
                <a:spcPts val="3769"/>
              </a:lnSpc>
              <a:buFont typeface="Arial"/>
              <a:buChar char="•"/>
            </a:pPr>
            <a:r>
              <a:rPr lang="en-US" sz="2899" u="sng">
                <a:solidFill>
                  <a:srgbClr val="000000"/>
                </a:solidFill>
                <a:latin typeface="IBM Plex Sans"/>
                <a:ea typeface="IBM Plex Sans"/>
                <a:cs typeface="IBM Plex Sans"/>
                <a:sym typeface="IBM Plex Sans"/>
                <a:hlinkClick r:id="rId11" action="ppaction://hlinksldjump"/>
              </a:rPr>
              <a:t>Ant Movement</a:t>
            </a:r>
          </a:p>
        </p:txBody>
      </p:sp>
      <p:sp>
        <p:nvSpPr>
          <p:cNvPr name="TextBox 15" id="15"/>
          <p:cNvSpPr txBox="true"/>
          <p:nvPr/>
        </p:nvSpPr>
        <p:spPr>
          <a:xfrm rot="0">
            <a:off x="7191629" y="3709790"/>
            <a:ext cx="5446590" cy="467995"/>
          </a:xfrm>
          <a:prstGeom prst="rect">
            <a:avLst/>
          </a:prstGeom>
        </p:spPr>
        <p:txBody>
          <a:bodyPr anchor="t" rtlCol="false" tIns="0" lIns="0" bIns="0" rIns="0">
            <a:spAutoFit/>
          </a:bodyPr>
          <a:lstStyle/>
          <a:p>
            <a:pPr algn="l" marL="626109" indent="-313054" lvl="1">
              <a:lnSpc>
                <a:spcPts val="3769"/>
              </a:lnSpc>
              <a:buFont typeface="Arial"/>
              <a:buChar char="•"/>
            </a:pPr>
            <a:r>
              <a:rPr lang="en-US" sz="2899" u="sng">
                <a:solidFill>
                  <a:srgbClr val="000000"/>
                </a:solidFill>
                <a:latin typeface="IBM Plex Sans"/>
                <a:ea typeface="IBM Plex Sans"/>
                <a:cs typeface="IBM Plex Sans"/>
                <a:sym typeface="IBM Plex Sans"/>
              </a:rPr>
              <a:t>Initialization</a:t>
            </a:r>
          </a:p>
        </p:txBody>
      </p:sp>
      <p:sp>
        <p:nvSpPr>
          <p:cNvPr name="TextBox 16" id="16"/>
          <p:cNvSpPr txBox="true"/>
          <p:nvPr/>
        </p:nvSpPr>
        <p:spPr>
          <a:xfrm rot="0">
            <a:off x="7191629" y="6281232"/>
            <a:ext cx="5446590" cy="467995"/>
          </a:xfrm>
          <a:prstGeom prst="rect">
            <a:avLst/>
          </a:prstGeom>
        </p:spPr>
        <p:txBody>
          <a:bodyPr anchor="t" rtlCol="false" tIns="0" lIns="0" bIns="0" rIns="0">
            <a:spAutoFit/>
          </a:bodyPr>
          <a:lstStyle/>
          <a:p>
            <a:pPr algn="l" marL="626109" indent="-313054" lvl="1">
              <a:lnSpc>
                <a:spcPts val="3769"/>
              </a:lnSpc>
              <a:buFont typeface="Arial"/>
              <a:buChar char="•"/>
            </a:pPr>
            <a:r>
              <a:rPr lang="en-US" sz="2899" u="sng">
                <a:solidFill>
                  <a:srgbClr val="000000"/>
                </a:solidFill>
                <a:latin typeface="IBM Plex Sans"/>
                <a:ea typeface="IBM Plex Sans"/>
                <a:cs typeface="IBM Plex Sans"/>
                <a:sym typeface="IBM Plex Sans"/>
              </a:rPr>
              <a:t>Demonstration</a:t>
            </a:r>
          </a:p>
        </p:txBody>
      </p:sp>
      <p:sp>
        <p:nvSpPr>
          <p:cNvPr name="TextBox 17" id="17"/>
          <p:cNvSpPr txBox="true"/>
          <p:nvPr/>
        </p:nvSpPr>
        <p:spPr>
          <a:xfrm rot="0">
            <a:off x="7191629" y="7139752"/>
            <a:ext cx="5446590" cy="467995"/>
          </a:xfrm>
          <a:prstGeom prst="rect">
            <a:avLst/>
          </a:prstGeom>
        </p:spPr>
        <p:txBody>
          <a:bodyPr anchor="t" rtlCol="false" tIns="0" lIns="0" bIns="0" rIns="0">
            <a:spAutoFit/>
          </a:bodyPr>
          <a:lstStyle/>
          <a:p>
            <a:pPr algn="l" marL="626109" indent="-313054" lvl="1">
              <a:lnSpc>
                <a:spcPts val="3769"/>
              </a:lnSpc>
              <a:buFont typeface="Arial"/>
              <a:buChar char="•"/>
            </a:pPr>
            <a:r>
              <a:rPr lang="en-US" sz="2899" u="sng">
                <a:solidFill>
                  <a:srgbClr val="000000"/>
                </a:solidFill>
                <a:latin typeface="IBM Plex Sans"/>
                <a:ea typeface="IBM Plex Sans"/>
                <a:cs typeface="IBM Plex Sans"/>
                <a:sym typeface="IBM Plex Sans"/>
              </a:rPr>
              <a:t>Q&amp;A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563191" y="3543696"/>
            <a:ext cx="12277201" cy="3926503"/>
            <a:chOff x="0" y="0"/>
            <a:chExt cx="16369602" cy="5235337"/>
          </a:xfrm>
        </p:grpSpPr>
        <p:sp>
          <p:nvSpPr>
            <p:cNvPr name="TextBox 3" id="3"/>
            <p:cNvSpPr txBox="true"/>
            <p:nvPr/>
          </p:nvSpPr>
          <p:spPr>
            <a:xfrm rot="0">
              <a:off x="0" y="-11"/>
              <a:ext cx="16369602" cy="1727200"/>
            </a:xfrm>
            <a:prstGeom prst="rect">
              <a:avLst/>
            </a:prstGeom>
          </p:spPr>
          <p:txBody>
            <a:bodyPr anchor="t" rtlCol="false" tIns="0" lIns="0" bIns="0" rIns="0">
              <a:spAutoFit/>
            </a:bodyPr>
            <a:lstStyle/>
            <a:p>
              <a:pPr algn="ctr" marL="0" indent="0" lvl="0">
                <a:lnSpc>
                  <a:spcPts val="10200"/>
                </a:lnSpc>
                <a:spcBef>
                  <a:spcPct val="0"/>
                </a:spcBef>
              </a:pPr>
              <a:r>
                <a:rPr lang="en-US" sz="8500">
                  <a:solidFill>
                    <a:srgbClr val="000000"/>
                  </a:solidFill>
                  <a:latin typeface="IBM Plex Sans"/>
                  <a:ea typeface="IBM Plex Sans"/>
                  <a:cs typeface="IBM Plex Sans"/>
                  <a:sym typeface="IBM Plex Sans"/>
                </a:rPr>
                <a:t>What </a:t>
              </a:r>
              <a:r>
                <a:rPr lang="en-US" sz="8500" u="none">
                  <a:solidFill>
                    <a:srgbClr val="000000"/>
                  </a:solidFill>
                  <a:latin typeface="IBM Plex Sans"/>
                  <a:ea typeface="IBM Plex Sans"/>
                  <a:cs typeface="IBM Plex Sans"/>
                  <a:sym typeface="IBM Plex Sans"/>
                </a:rPr>
                <a:t>is </a:t>
              </a:r>
              <a:r>
                <a:rPr lang="en-US" b="true" sz="8500" u="none">
                  <a:solidFill>
                    <a:srgbClr val="000000"/>
                  </a:solidFill>
                  <a:latin typeface="IBM Plex Sans Bold"/>
                  <a:ea typeface="IBM Plex Sans Bold"/>
                  <a:cs typeface="IBM Plex Sans Bold"/>
                  <a:sym typeface="IBM Plex Sans Bold"/>
                </a:rPr>
                <a:t>ACO?</a:t>
              </a:r>
            </a:p>
          </p:txBody>
        </p:sp>
        <p:sp>
          <p:nvSpPr>
            <p:cNvPr name="TextBox 4" id="4"/>
            <p:cNvSpPr txBox="true"/>
            <p:nvPr/>
          </p:nvSpPr>
          <p:spPr>
            <a:xfrm rot="0">
              <a:off x="0" y="2308432"/>
              <a:ext cx="16369602" cy="2926927"/>
            </a:xfrm>
            <a:prstGeom prst="rect">
              <a:avLst/>
            </a:prstGeom>
          </p:spPr>
          <p:txBody>
            <a:bodyPr anchor="t" rtlCol="false" tIns="0" lIns="0" bIns="0" rIns="0">
              <a:spAutoFit/>
            </a:bodyPr>
            <a:lstStyle/>
            <a:p>
              <a:pPr algn="l">
                <a:lnSpc>
                  <a:spcPts val="4419"/>
                </a:lnSpc>
              </a:pPr>
              <a:r>
                <a:rPr lang="en-US" sz="3399">
                  <a:solidFill>
                    <a:srgbClr val="000000"/>
                  </a:solidFill>
                  <a:latin typeface="IBM Plex Sans"/>
                  <a:ea typeface="IBM Plex Sans"/>
                  <a:cs typeface="IBM Plex Sans"/>
                  <a:sym typeface="IBM Plex Sans"/>
                </a:rPr>
                <a:t>The </a:t>
              </a:r>
              <a:r>
                <a:rPr lang="en-US" sz="3399" b="true">
                  <a:solidFill>
                    <a:srgbClr val="000000"/>
                  </a:solidFill>
                  <a:latin typeface="IBM Plex Sans Bold"/>
                  <a:ea typeface="IBM Plex Sans Bold"/>
                  <a:cs typeface="IBM Plex Sans Bold"/>
                  <a:sym typeface="IBM Plex Sans Bold"/>
                </a:rPr>
                <a:t>Ant Colony Optimization (ACO)</a:t>
              </a:r>
              <a:r>
                <a:rPr lang="en-US" sz="3399">
                  <a:solidFill>
                    <a:srgbClr val="000000"/>
                  </a:solidFill>
                  <a:latin typeface="IBM Plex Sans"/>
                  <a:ea typeface="IBM Plex Sans"/>
                  <a:cs typeface="IBM Plex Sans"/>
                  <a:sym typeface="IBM Plex Sans"/>
                </a:rPr>
                <a:t> algorithm is a probabilistic technique used for solving computational problems that can be reduced to finding good paths through graphs. It is inspired by the behavior of ant colonies, while they are searching food.</a:t>
              </a:r>
            </a:p>
          </p:txBody>
        </p:sp>
      </p:grpSp>
      <p:grpSp>
        <p:nvGrpSpPr>
          <p:cNvPr name="Group 5" id="5"/>
          <p:cNvGrpSpPr/>
          <p:nvPr/>
        </p:nvGrpSpPr>
        <p:grpSpPr>
          <a:xfrm rot="0">
            <a:off x="14125158" y="8774301"/>
            <a:ext cx="3134142" cy="483999"/>
            <a:chOff x="0" y="0"/>
            <a:chExt cx="4178856" cy="645332"/>
          </a:xfrm>
        </p:grpSpPr>
        <p:sp>
          <p:nvSpPr>
            <p:cNvPr name="AutoShape 6" id="6"/>
            <p:cNvSpPr/>
            <p:nvPr/>
          </p:nvSpPr>
          <p:spPr>
            <a:xfrm rot="0">
              <a:off x="0" y="0"/>
              <a:ext cx="4178856" cy="645332"/>
            </a:xfrm>
            <a:prstGeom prst="rect">
              <a:avLst/>
            </a:prstGeom>
            <a:solidFill>
              <a:srgbClr val="9600F2"/>
            </a:solidFill>
          </p:spPr>
        </p:sp>
        <p:sp>
          <p:nvSpPr>
            <p:cNvPr name="TextBox 7" id="7"/>
            <p:cNvSpPr txBox="true"/>
            <p:nvPr/>
          </p:nvSpPr>
          <p:spPr>
            <a:xfrm rot="0">
              <a:off x="291683" y="126018"/>
              <a:ext cx="3716088" cy="364700"/>
            </a:xfrm>
            <a:prstGeom prst="rect">
              <a:avLst/>
            </a:prstGeom>
          </p:spPr>
          <p:txBody>
            <a:bodyPr anchor="t" rtlCol="false" tIns="0" lIns="0" bIns="0" rIns="0">
              <a:spAutoFit/>
            </a:bodyPr>
            <a:lstStyle/>
            <a:p>
              <a:pPr algn="ctr">
                <a:lnSpc>
                  <a:spcPts val="2380"/>
                </a:lnSpc>
                <a:spcBef>
                  <a:spcPct val="0"/>
                </a:spcBef>
              </a:pPr>
              <a:r>
                <a:rPr lang="en-US" sz="1700">
                  <a:solidFill>
                    <a:srgbClr val="FFFFFF"/>
                  </a:solidFill>
                  <a:latin typeface="IBM Plex Sans"/>
                  <a:ea typeface="IBM Plex Sans"/>
                  <a:cs typeface="IBM Plex Sans"/>
                  <a:sym typeface="IBM Plex Sans"/>
                </a:rPr>
                <a:t>CONTINUE</a:t>
              </a:r>
            </a:p>
          </p:txBody>
        </p:sp>
      </p:grpSp>
      <p:grpSp>
        <p:nvGrpSpPr>
          <p:cNvPr name="Group 8" id="8"/>
          <p:cNvGrpSpPr/>
          <p:nvPr/>
        </p:nvGrpSpPr>
        <p:grpSpPr>
          <a:xfrm rot="0">
            <a:off x="1028700" y="1127332"/>
            <a:ext cx="3516876" cy="431386"/>
            <a:chOff x="0" y="0"/>
            <a:chExt cx="4689168" cy="575182"/>
          </a:xfrm>
        </p:grpSpPr>
        <p:sp>
          <p:nvSpPr>
            <p:cNvPr name="Freeform 9" id="9"/>
            <p:cNvSpPr/>
            <p:nvPr/>
          </p:nvSpPr>
          <p:spPr>
            <a:xfrm flipH="false" flipV="false" rot="0">
              <a:off x="0" y="0"/>
              <a:ext cx="564724" cy="575182"/>
            </a:xfrm>
            <a:custGeom>
              <a:avLst/>
              <a:gdLst/>
              <a:ahLst/>
              <a:cxnLst/>
              <a:rect r="r" b="b" t="t" l="l"/>
              <a:pathLst>
                <a:path h="575182" w="564724">
                  <a:moveTo>
                    <a:pt x="0" y="0"/>
                  </a:moveTo>
                  <a:lnTo>
                    <a:pt x="564724" y="0"/>
                  </a:lnTo>
                  <a:lnTo>
                    <a:pt x="564724" y="575182"/>
                  </a:lnTo>
                  <a:lnTo>
                    <a:pt x="0" y="5751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1102795" y="68516"/>
              <a:ext cx="3586372" cy="428625"/>
            </a:xfrm>
            <a:prstGeom prst="rect">
              <a:avLst/>
            </a:prstGeom>
          </p:spPr>
          <p:txBody>
            <a:bodyPr anchor="t" rtlCol="false" tIns="0" lIns="0" bIns="0" rIns="0">
              <a:spAutoFit/>
            </a:bodyPr>
            <a:lstStyle/>
            <a:p>
              <a:pPr algn="l" marL="0" indent="0" lvl="0">
                <a:lnSpc>
                  <a:spcPts val="2520"/>
                </a:lnSpc>
                <a:spcBef>
                  <a:spcPct val="0"/>
                </a:spcBef>
              </a:pPr>
              <a:r>
                <a:rPr lang="en-US" sz="2100">
                  <a:solidFill>
                    <a:srgbClr val="000000"/>
                  </a:solidFill>
                  <a:latin typeface="IBM Plex Sans"/>
                  <a:ea typeface="IBM Plex Sans"/>
                  <a:cs typeface="IBM Plex Sans"/>
                  <a:sym typeface="IBM Plex Sans"/>
                </a:rPr>
                <a:t>SamANTa</a:t>
              </a:r>
            </a:p>
          </p:txBody>
        </p:sp>
      </p:grpSp>
      <p:sp>
        <p:nvSpPr>
          <p:cNvPr name="Freeform 11" id="11"/>
          <p:cNvSpPr/>
          <p:nvPr/>
        </p:nvSpPr>
        <p:spPr>
          <a:xfrm flipH="false" flipV="false" rot="0">
            <a:off x="11857953" y="-3715579"/>
            <a:ext cx="11277931" cy="8222637"/>
          </a:xfrm>
          <a:custGeom>
            <a:avLst/>
            <a:gdLst/>
            <a:ahLst/>
            <a:cxnLst/>
            <a:rect r="r" b="b" t="t" l="l"/>
            <a:pathLst>
              <a:path h="8222637" w="11277931">
                <a:moveTo>
                  <a:pt x="0" y="0"/>
                </a:moveTo>
                <a:lnTo>
                  <a:pt x="11277931" y="0"/>
                </a:lnTo>
                <a:lnTo>
                  <a:pt x="11277931" y="8222637"/>
                </a:lnTo>
                <a:lnTo>
                  <a:pt x="0" y="82226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585382" y="984597"/>
            <a:ext cx="10673918" cy="1295400"/>
          </a:xfrm>
          <a:prstGeom prst="rect">
            <a:avLst/>
          </a:prstGeom>
        </p:spPr>
        <p:txBody>
          <a:bodyPr anchor="t" rtlCol="false" tIns="0" lIns="0" bIns="0" rIns="0">
            <a:spAutoFit/>
          </a:bodyPr>
          <a:lstStyle/>
          <a:p>
            <a:pPr algn="r" marL="0" indent="0" lvl="0">
              <a:lnSpc>
                <a:spcPts val="10200"/>
              </a:lnSpc>
              <a:spcBef>
                <a:spcPct val="0"/>
              </a:spcBef>
            </a:pPr>
            <a:r>
              <a:rPr lang="en-US" b="true" sz="8500">
                <a:solidFill>
                  <a:srgbClr val="000000"/>
                </a:solidFill>
                <a:latin typeface="IBM Plex Sans Bold"/>
                <a:ea typeface="IBM Plex Sans Bold"/>
                <a:cs typeface="IBM Plex Sans Bold"/>
                <a:sym typeface="IBM Plex Sans Bold"/>
              </a:rPr>
              <a:t>Applications</a:t>
            </a:r>
            <a:r>
              <a:rPr lang="en-US" sz="8500">
                <a:solidFill>
                  <a:srgbClr val="000000"/>
                </a:solidFill>
                <a:latin typeface="IBM Plex Sans"/>
                <a:ea typeface="IBM Plex Sans"/>
                <a:cs typeface="IBM Plex Sans"/>
                <a:sym typeface="IBM Plex Sans"/>
              </a:rPr>
              <a:t> of ACO</a:t>
            </a:r>
          </a:p>
        </p:txBody>
      </p:sp>
      <p:grpSp>
        <p:nvGrpSpPr>
          <p:cNvPr name="Group 3" id="3"/>
          <p:cNvGrpSpPr/>
          <p:nvPr/>
        </p:nvGrpSpPr>
        <p:grpSpPr>
          <a:xfrm rot="0">
            <a:off x="1028700" y="1127332"/>
            <a:ext cx="3516876" cy="431386"/>
            <a:chOff x="0" y="0"/>
            <a:chExt cx="4689168" cy="575182"/>
          </a:xfrm>
        </p:grpSpPr>
        <p:sp>
          <p:nvSpPr>
            <p:cNvPr name="Freeform 4" id="4"/>
            <p:cNvSpPr/>
            <p:nvPr/>
          </p:nvSpPr>
          <p:spPr>
            <a:xfrm flipH="false" flipV="false" rot="0">
              <a:off x="0" y="0"/>
              <a:ext cx="564724" cy="575182"/>
            </a:xfrm>
            <a:custGeom>
              <a:avLst/>
              <a:gdLst/>
              <a:ahLst/>
              <a:cxnLst/>
              <a:rect r="r" b="b" t="t" l="l"/>
              <a:pathLst>
                <a:path h="575182" w="564724">
                  <a:moveTo>
                    <a:pt x="0" y="0"/>
                  </a:moveTo>
                  <a:lnTo>
                    <a:pt x="564724" y="0"/>
                  </a:lnTo>
                  <a:lnTo>
                    <a:pt x="564724" y="575182"/>
                  </a:lnTo>
                  <a:lnTo>
                    <a:pt x="0" y="5751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102795" y="68516"/>
              <a:ext cx="3586372" cy="428625"/>
            </a:xfrm>
            <a:prstGeom prst="rect">
              <a:avLst/>
            </a:prstGeom>
          </p:spPr>
          <p:txBody>
            <a:bodyPr anchor="t" rtlCol="false" tIns="0" lIns="0" bIns="0" rIns="0">
              <a:spAutoFit/>
            </a:bodyPr>
            <a:lstStyle/>
            <a:p>
              <a:pPr algn="l" marL="0" indent="0" lvl="0">
                <a:lnSpc>
                  <a:spcPts val="2520"/>
                </a:lnSpc>
                <a:spcBef>
                  <a:spcPct val="0"/>
                </a:spcBef>
              </a:pPr>
              <a:r>
                <a:rPr lang="en-US" sz="2100">
                  <a:solidFill>
                    <a:srgbClr val="000000"/>
                  </a:solidFill>
                  <a:latin typeface="IBM Plex Sans"/>
                  <a:ea typeface="IBM Plex Sans"/>
                  <a:cs typeface="IBM Plex Sans"/>
                  <a:sym typeface="IBM Plex Sans"/>
                </a:rPr>
                <a:t>SamANTa</a:t>
              </a:r>
            </a:p>
          </p:txBody>
        </p:sp>
      </p:grpSp>
      <p:grpSp>
        <p:nvGrpSpPr>
          <p:cNvPr name="Group 6" id="6"/>
          <p:cNvGrpSpPr/>
          <p:nvPr/>
        </p:nvGrpSpPr>
        <p:grpSpPr>
          <a:xfrm rot="0">
            <a:off x="13974616" y="8774301"/>
            <a:ext cx="3134142" cy="483999"/>
            <a:chOff x="0" y="0"/>
            <a:chExt cx="4178856" cy="645332"/>
          </a:xfrm>
        </p:grpSpPr>
        <p:sp>
          <p:nvSpPr>
            <p:cNvPr name="AutoShape 7" id="7"/>
            <p:cNvSpPr/>
            <p:nvPr/>
          </p:nvSpPr>
          <p:spPr>
            <a:xfrm rot="0">
              <a:off x="0" y="0"/>
              <a:ext cx="4178856" cy="645332"/>
            </a:xfrm>
            <a:prstGeom prst="rect">
              <a:avLst/>
            </a:prstGeom>
            <a:solidFill>
              <a:srgbClr val="9600F2"/>
            </a:solidFill>
          </p:spPr>
        </p:sp>
        <p:sp>
          <p:nvSpPr>
            <p:cNvPr name="TextBox 8" id="8"/>
            <p:cNvSpPr txBox="true"/>
            <p:nvPr/>
          </p:nvSpPr>
          <p:spPr>
            <a:xfrm rot="0">
              <a:off x="291683" y="126018"/>
              <a:ext cx="3716088" cy="364700"/>
            </a:xfrm>
            <a:prstGeom prst="rect">
              <a:avLst/>
            </a:prstGeom>
          </p:spPr>
          <p:txBody>
            <a:bodyPr anchor="t" rtlCol="false" tIns="0" lIns="0" bIns="0" rIns="0">
              <a:spAutoFit/>
            </a:bodyPr>
            <a:lstStyle/>
            <a:p>
              <a:pPr algn="ctr">
                <a:lnSpc>
                  <a:spcPts val="2380"/>
                </a:lnSpc>
                <a:spcBef>
                  <a:spcPct val="0"/>
                </a:spcBef>
              </a:pPr>
              <a:r>
                <a:rPr lang="en-US" sz="1700">
                  <a:solidFill>
                    <a:srgbClr val="FFFFFF"/>
                  </a:solidFill>
                  <a:latin typeface="IBM Plex Sans"/>
                  <a:ea typeface="IBM Plex Sans"/>
                  <a:cs typeface="IBM Plex Sans"/>
                  <a:sym typeface="IBM Plex Sans"/>
                </a:rPr>
                <a:t>CONTINUE</a:t>
              </a:r>
            </a:p>
          </p:txBody>
        </p:sp>
      </p:grpSp>
      <p:sp>
        <p:nvSpPr>
          <p:cNvPr name="Freeform 9" id="9"/>
          <p:cNvSpPr/>
          <p:nvPr/>
        </p:nvSpPr>
        <p:spPr>
          <a:xfrm flipH="false" flipV="false" rot="0">
            <a:off x="3315497" y="6229779"/>
            <a:ext cx="1137137" cy="1182978"/>
          </a:xfrm>
          <a:custGeom>
            <a:avLst/>
            <a:gdLst/>
            <a:ahLst/>
            <a:cxnLst/>
            <a:rect r="r" b="b" t="t" l="l"/>
            <a:pathLst>
              <a:path h="1182978" w="1137137">
                <a:moveTo>
                  <a:pt x="0" y="0"/>
                </a:moveTo>
                <a:lnTo>
                  <a:pt x="1137138" y="0"/>
                </a:lnTo>
                <a:lnTo>
                  <a:pt x="1137138" y="1182978"/>
                </a:lnTo>
                <a:lnTo>
                  <a:pt x="0" y="11829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771772" y="3876648"/>
            <a:ext cx="6231285" cy="1694580"/>
          </a:xfrm>
          <a:prstGeom prst="rect">
            <a:avLst/>
          </a:prstGeom>
        </p:spPr>
        <p:txBody>
          <a:bodyPr anchor="t" rtlCol="false" tIns="0" lIns="0" bIns="0" rIns="0">
            <a:spAutoFit/>
          </a:bodyPr>
          <a:lstStyle/>
          <a:p>
            <a:pPr algn="ctr">
              <a:lnSpc>
                <a:spcPts val="4528"/>
              </a:lnSpc>
              <a:spcBef>
                <a:spcPct val="0"/>
              </a:spcBef>
            </a:pPr>
            <a:r>
              <a:rPr lang="en-US" sz="3773">
                <a:solidFill>
                  <a:srgbClr val="000000"/>
                </a:solidFill>
                <a:latin typeface="IBM Plex Sans"/>
                <a:ea typeface="IBM Plex Sans"/>
                <a:cs typeface="IBM Plex Sans"/>
                <a:sym typeface="IBM Plex Sans"/>
              </a:rPr>
              <a:t>Routing in telecommunication networks </a:t>
            </a:r>
          </a:p>
        </p:txBody>
      </p:sp>
      <p:sp>
        <p:nvSpPr>
          <p:cNvPr name="TextBox 11" id="11"/>
          <p:cNvSpPr txBox="true"/>
          <p:nvPr/>
        </p:nvSpPr>
        <p:spPr>
          <a:xfrm rot="0">
            <a:off x="4220297" y="6821268"/>
            <a:ext cx="3214138" cy="564860"/>
          </a:xfrm>
          <a:prstGeom prst="rect">
            <a:avLst/>
          </a:prstGeom>
        </p:spPr>
        <p:txBody>
          <a:bodyPr anchor="t" rtlCol="false" tIns="0" lIns="0" bIns="0" rIns="0">
            <a:spAutoFit/>
          </a:bodyPr>
          <a:lstStyle/>
          <a:p>
            <a:pPr algn="ctr">
              <a:lnSpc>
                <a:spcPts val="4528"/>
              </a:lnSpc>
              <a:spcBef>
                <a:spcPct val="0"/>
              </a:spcBef>
            </a:pPr>
            <a:r>
              <a:rPr lang="en-US" sz="3773">
                <a:solidFill>
                  <a:srgbClr val="000000"/>
                </a:solidFill>
                <a:latin typeface="IBM Plex Sans"/>
                <a:ea typeface="IBM Plex Sans"/>
                <a:cs typeface="IBM Plex Sans"/>
                <a:sym typeface="IBM Plex Sans"/>
              </a:rPr>
              <a:t>Graph Coloring</a:t>
            </a:r>
          </a:p>
        </p:txBody>
      </p:sp>
      <p:sp>
        <p:nvSpPr>
          <p:cNvPr name="Freeform 12" id="12"/>
          <p:cNvSpPr/>
          <p:nvPr/>
        </p:nvSpPr>
        <p:spPr>
          <a:xfrm flipH="false" flipV="false" rot="0">
            <a:off x="7011193" y="4132449"/>
            <a:ext cx="1137137" cy="1182978"/>
          </a:xfrm>
          <a:custGeom>
            <a:avLst/>
            <a:gdLst/>
            <a:ahLst/>
            <a:cxnLst/>
            <a:rect r="r" b="b" t="t" l="l"/>
            <a:pathLst>
              <a:path h="1182978" w="1137137">
                <a:moveTo>
                  <a:pt x="0" y="0"/>
                </a:moveTo>
                <a:lnTo>
                  <a:pt x="1137138" y="0"/>
                </a:lnTo>
                <a:lnTo>
                  <a:pt x="1137138" y="1182978"/>
                </a:lnTo>
                <a:lnTo>
                  <a:pt x="0" y="11829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7886539" y="4578640"/>
            <a:ext cx="4201359" cy="564860"/>
          </a:xfrm>
          <a:prstGeom prst="rect">
            <a:avLst/>
          </a:prstGeom>
        </p:spPr>
        <p:txBody>
          <a:bodyPr anchor="t" rtlCol="false" tIns="0" lIns="0" bIns="0" rIns="0">
            <a:spAutoFit/>
          </a:bodyPr>
          <a:lstStyle/>
          <a:p>
            <a:pPr algn="ctr">
              <a:lnSpc>
                <a:spcPts val="4528"/>
              </a:lnSpc>
              <a:spcBef>
                <a:spcPct val="0"/>
              </a:spcBef>
            </a:pPr>
            <a:r>
              <a:rPr lang="en-US" sz="3773">
                <a:solidFill>
                  <a:srgbClr val="000000"/>
                </a:solidFill>
                <a:latin typeface="IBM Plex Sans"/>
                <a:ea typeface="IBM Plex Sans"/>
                <a:cs typeface="IBM Plex Sans"/>
                <a:sym typeface="IBM Plex Sans"/>
              </a:rPr>
              <a:t>Traveling Salesman</a:t>
            </a:r>
          </a:p>
        </p:txBody>
      </p:sp>
      <p:sp>
        <p:nvSpPr>
          <p:cNvPr name="Freeform 14" id="14"/>
          <p:cNvSpPr/>
          <p:nvPr/>
        </p:nvSpPr>
        <p:spPr>
          <a:xfrm flipH="false" flipV="false" rot="0">
            <a:off x="10367660" y="6203150"/>
            <a:ext cx="1137137" cy="1182978"/>
          </a:xfrm>
          <a:custGeom>
            <a:avLst/>
            <a:gdLst/>
            <a:ahLst/>
            <a:cxnLst/>
            <a:rect r="r" b="b" t="t" l="l"/>
            <a:pathLst>
              <a:path h="1182978" w="1137137">
                <a:moveTo>
                  <a:pt x="0" y="0"/>
                </a:moveTo>
                <a:lnTo>
                  <a:pt x="1137137" y="0"/>
                </a:lnTo>
                <a:lnTo>
                  <a:pt x="1137137" y="1182978"/>
                </a:lnTo>
                <a:lnTo>
                  <a:pt x="0" y="11829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11292148" y="6821268"/>
            <a:ext cx="4881973" cy="564860"/>
          </a:xfrm>
          <a:prstGeom prst="rect">
            <a:avLst/>
          </a:prstGeom>
        </p:spPr>
        <p:txBody>
          <a:bodyPr anchor="t" rtlCol="false" tIns="0" lIns="0" bIns="0" rIns="0">
            <a:spAutoFit/>
          </a:bodyPr>
          <a:lstStyle/>
          <a:p>
            <a:pPr algn="ctr">
              <a:lnSpc>
                <a:spcPts val="4528"/>
              </a:lnSpc>
              <a:spcBef>
                <a:spcPct val="0"/>
              </a:spcBef>
            </a:pPr>
            <a:r>
              <a:rPr lang="en-US" sz="3773">
                <a:solidFill>
                  <a:srgbClr val="000000"/>
                </a:solidFill>
                <a:latin typeface="IBM Plex Sans"/>
                <a:ea typeface="IBM Plex Sans"/>
                <a:cs typeface="IBM Plex Sans"/>
                <a:sym typeface="IBM Plex Sans"/>
              </a:rPr>
              <a:t>Constraint Satisfaction</a:t>
            </a:r>
          </a:p>
        </p:txBody>
      </p:sp>
      <p:sp>
        <p:nvSpPr>
          <p:cNvPr name="Freeform 16" id="16"/>
          <p:cNvSpPr/>
          <p:nvPr/>
        </p:nvSpPr>
        <p:spPr>
          <a:xfrm flipH="false" flipV="false" rot="0">
            <a:off x="771772" y="3960522"/>
            <a:ext cx="1137137" cy="1182978"/>
          </a:xfrm>
          <a:custGeom>
            <a:avLst/>
            <a:gdLst/>
            <a:ahLst/>
            <a:cxnLst/>
            <a:rect r="r" b="b" t="t" l="l"/>
            <a:pathLst>
              <a:path h="1182978" w="1137137">
                <a:moveTo>
                  <a:pt x="0" y="0"/>
                </a:moveTo>
                <a:lnTo>
                  <a:pt x="1137138" y="0"/>
                </a:lnTo>
                <a:lnTo>
                  <a:pt x="1137138" y="1182978"/>
                </a:lnTo>
                <a:lnTo>
                  <a:pt x="0" y="11829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2345101">
            <a:off x="-3447682" y="6985392"/>
            <a:ext cx="10713183" cy="6603216"/>
          </a:xfrm>
          <a:custGeom>
            <a:avLst/>
            <a:gdLst/>
            <a:ahLst/>
            <a:cxnLst/>
            <a:rect r="r" b="b" t="t" l="l"/>
            <a:pathLst>
              <a:path h="6603216" w="10713183">
                <a:moveTo>
                  <a:pt x="0" y="0"/>
                </a:moveTo>
                <a:lnTo>
                  <a:pt x="10713183" y="0"/>
                </a:lnTo>
                <a:lnTo>
                  <a:pt x="10713183" y="6603216"/>
                </a:lnTo>
                <a:lnTo>
                  <a:pt x="0" y="66032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17416474" y="599024"/>
            <a:ext cx="15334674" cy="11208253"/>
          </a:xfrm>
          <a:custGeom>
            <a:avLst/>
            <a:gdLst/>
            <a:ahLst/>
            <a:cxnLst/>
            <a:rect r="r" b="b" t="t" l="l"/>
            <a:pathLst>
              <a:path h="11208253" w="15334674">
                <a:moveTo>
                  <a:pt x="0" y="0"/>
                </a:moveTo>
                <a:lnTo>
                  <a:pt x="15334674" y="0"/>
                </a:lnTo>
                <a:lnTo>
                  <a:pt x="15334674" y="11208253"/>
                </a:lnTo>
                <a:lnTo>
                  <a:pt x="0" y="1120825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13406048" y="4132449"/>
            <a:ext cx="1137137" cy="1182978"/>
          </a:xfrm>
          <a:custGeom>
            <a:avLst/>
            <a:gdLst/>
            <a:ahLst/>
            <a:cxnLst/>
            <a:rect r="r" b="b" t="t" l="l"/>
            <a:pathLst>
              <a:path h="1182978" w="1137137">
                <a:moveTo>
                  <a:pt x="0" y="0"/>
                </a:moveTo>
                <a:lnTo>
                  <a:pt x="1137137" y="0"/>
                </a:lnTo>
                <a:lnTo>
                  <a:pt x="1137137" y="1182978"/>
                </a:lnTo>
                <a:lnTo>
                  <a:pt x="0" y="11829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0" id="20"/>
          <p:cNvSpPr txBox="true"/>
          <p:nvPr/>
        </p:nvSpPr>
        <p:spPr>
          <a:xfrm rot="0">
            <a:off x="14294716" y="4578640"/>
            <a:ext cx="2493942" cy="564860"/>
          </a:xfrm>
          <a:prstGeom prst="rect">
            <a:avLst/>
          </a:prstGeom>
        </p:spPr>
        <p:txBody>
          <a:bodyPr anchor="t" rtlCol="false" tIns="0" lIns="0" bIns="0" rIns="0">
            <a:spAutoFit/>
          </a:bodyPr>
          <a:lstStyle/>
          <a:p>
            <a:pPr algn="ctr">
              <a:lnSpc>
                <a:spcPts val="4528"/>
              </a:lnSpc>
              <a:spcBef>
                <a:spcPct val="0"/>
              </a:spcBef>
            </a:pPr>
            <a:r>
              <a:rPr lang="en-US" sz="3773">
                <a:solidFill>
                  <a:srgbClr val="000000"/>
                </a:solidFill>
                <a:latin typeface="IBM Plex Sans"/>
                <a:ea typeface="IBM Plex Sans"/>
                <a:cs typeface="IBM Plex Sans"/>
                <a:sym typeface="IBM Plex Sans"/>
              </a:rPr>
              <a:t>Scheduling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127332"/>
            <a:ext cx="3516876" cy="431386"/>
            <a:chOff x="0" y="0"/>
            <a:chExt cx="4689168" cy="575182"/>
          </a:xfrm>
        </p:grpSpPr>
        <p:sp>
          <p:nvSpPr>
            <p:cNvPr name="Freeform 3" id="3"/>
            <p:cNvSpPr/>
            <p:nvPr/>
          </p:nvSpPr>
          <p:spPr>
            <a:xfrm flipH="false" flipV="false" rot="0">
              <a:off x="0" y="0"/>
              <a:ext cx="564724" cy="575182"/>
            </a:xfrm>
            <a:custGeom>
              <a:avLst/>
              <a:gdLst/>
              <a:ahLst/>
              <a:cxnLst/>
              <a:rect r="r" b="b" t="t" l="l"/>
              <a:pathLst>
                <a:path h="575182" w="564724">
                  <a:moveTo>
                    <a:pt x="0" y="0"/>
                  </a:moveTo>
                  <a:lnTo>
                    <a:pt x="564724" y="0"/>
                  </a:lnTo>
                  <a:lnTo>
                    <a:pt x="564724" y="575182"/>
                  </a:lnTo>
                  <a:lnTo>
                    <a:pt x="0" y="5751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102795" y="68516"/>
              <a:ext cx="3586372" cy="428625"/>
            </a:xfrm>
            <a:prstGeom prst="rect">
              <a:avLst/>
            </a:prstGeom>
          </p:spPr>
          <p:txBody>
            <a:bodyPr anchor="t" rtlCol="false" tIns="0" lIns="0" bIns="0" rIns="0">
              <a:spAutoFit/>
            </a:bodyPr>
            <a:lstStyle/>
            <a:p>
              <a:pPr algn="l" marL="0" indent="0" lvl="0">
                <a:lnSpc>
                  <a:spcPts val="2520"/>
                </a:lnSpc>
                <a:spcBef>
                  <a:spcPct val="0"/>
                </a:spcBef>
              </a:pPr>
              <a:r>
                <a:rPr lang="en-US" sz="2100">
                  <a:solidFill>
                    <a:srgbClr val="000000"/>
                  </a:solidFill>
                  <a:latin typeface="IBM Plex Sans"/>
                  <a:ea typeface="IBM Plex Sans"/>
                  <a:cs typeface="IBM Plex Sans"/>
                  <a:sym typeface="IBM Plex Sans"/>
                </a:rPr>
                <a:t>SamANTa</a:t>
              </a:r>
            </a:p>
          </p:txBody>
        </p:sp>
      </p:grpSp>
      <p:grpSp>
        <p:nvGrpSpPr>
          <p:cNvPr name="Group 5" id="5"/>
          <p:cNvGrpSpPr/>
          <p:nvPr/>
        </p:nvGrpSpPr>
        <p:grpSpPr>
          <a:xfrm rot="0">
            <a:off x="14125158" y="8774301"/>
            <a:ext cx="3134142" cy="483999"/>
            <a:chOff x="0" y="0"/>
            <a:chExt cx="4178856" cy="645332"/>
          </a:xfrm>
        </p:grpSpPr>
        <p:sp>
          <p:nvSpPr>
            <p:cNvPr name="AutoShape 6" id="6"/>
            <p:cNvSpPr/>
            <p:nvPr/>
          </p:nvSpPr>
          <p:spPr>
            <a:xfrm rot="0">
              <a:off x="0" y="0"/>
              <a:ext cx="4178856" cy="645332"/>
            </a:xfrm>
            <a:prstGeom prst="rect">
              <a:avLst/>
            </a:prstGeom>
            <a:solidFill>
              <a:srgbClr val="9600F2"/>
            </a:solidFill>
          </p:spPr>
        </p:sp>
        <p:sp>
          <p:nvSpPr>
            <p:cNvPr name="TextBox 7" id="7"/>
            <p:cNvSpPr txBox="true"/>
            <p:nvPr/>
          </p:nvSpPr>
          <p:spPr>
            <a:xfrm rot="0">
              <a:off x="291683" y="126018"/>
              <a:ext cx="3716088" cy="364700"/>
            </a:xfrm>
            <a:prstGeom prst="rect">
              <a:avLst/>
            </a:prstGeom>
          </p:spPr>
          <p:txBody>
            <a:bodyPr anchor="t" rtlCol="false" tIns="0" lIns="0" bIns="0" rIns="0">
              <a:spAutoFit/>
            </a:bodyPr>
            <a:lstStyle/>
            <a:p>
              <a:pPr algn="ctr">
                <a:lnSpc>
                  <a:spcPts val="2380"/>
                </a:lnSpc>
                <a:spcBef>
                  <a:spcPct val="0"/>
                </a:spcBef>
              </a:pPr>
              <a:r>
                <a:rPr lang="en-US" sz="1700">
                  <a:solidFill>
                    <a:srgbClr val="FFFFFF"/>
                  </a:solidFill>
                  <a:latin typeface="IBM Plex Sans"/>
                  <a:ea typeface="IBM Plex Sans"/>
                  <a:cs typeface="IBM Plex Sans"/>
                  <a:sym typeface="IBM Plex Sans"/>
                </a:rPr>
                <a:t>CONTINUE</a:t>
              </a:r>
            </a:p>
          </p:txBody>
        </p:sp>
      </p:grpSp>
      <p:sp>
        <p:nvSpPr>
          <p:cNvPr name="Freeform 8" id="8"/>
          <p:cNvSpPr/>
          <p:nvPr/>
        </p:nvSpPr>
        <p:spPr>
          <a:xfrm flipH="false" flipV="false" rot="-8274206">
            <a:off x="-9816042" y="6246503"/>
            <a:ext cx="22683057" cy="7681748"/>
          </a:xfrm>
          <a:custGeom>
            <a:avLst/>
            <a:gdLst/>
            <a:ahLst/>
            <a:cxnLst/>
            <a:rect r="r" b="b" t="t" l="l"/>
            <a:pathLst>
              <a:path h="7681748" w="22683057">
                <a:moveTo>
                  <a:pt x="22683056" y="5088157"/>
                </a:moveTo>
                <a:lnTo>
                  <a:pt x="597522" y="7681749"/>
                </a:lnTo>
                <a:lnTo>
                  <a:pt x="0" y="2593592"/>
                </a:lnTo>
                <a:lnTo>
                  <a:pt x="22085534" y="0"/>
                </a:lnTo>
                <a:lnTo>
                  <a:pt x="22683056" y="5088157"/>
                </a:lnTo>
                <a:close/>
              </a:path>
            </a:pathLst>
          </a:custGeom>
          <a:blipFill>
            <a:blip r:embed="rId4">
              <a:extLst>
                <a:ext uri="{96DAC541-7B7A-43D3-8B79-37D633B846F1}">
                  <asvg:svgBlip xmlns:asvg="http://schemas.microsoft.com/office/drawing/2016/SVG/main" r:embed="rId5"/>
                </a:ext>
              </a:extLst>
            </a:blip>
            <a:stretch>
              <a:fillRect l="-9574" t="-214022" r="-35954" b="-68"/>
            </a:stretch>
          </a:blipFill>
        </p:spPr>
      </p:sp>
      <p:grpSp>
        <p:nvGrpSpPr>
          <p:cNvPr name="Group 9" id="9"/>
          <p:cNvGrpSpPr/>
          <p:nvPr/>
        </p:nvGrpSpPr>
        <p:grpSpPr>
          <a:xfrm rot="0">
            <a:off x="3447608" y="2627799"/>
            <a:ext cx="11392785" cy="5031403"/>
            <a:chOff x="0" y="0"/>
            <a:chExt cx="15190380" cy="6708537"/>
          </a:xfrm>
        </p:grpSpPr>
        <p:sp>
          <p:nvSpPr>
            <p:cNvPr name="TextBox 10" id="10"/>
            <p:cNvSpPr txBox="true"/>
            <p:nvPr/>
          </p:nvSpPr>
          <p:spPr>
            <a:xfrm rot="0">
              <a:off x="0" y="-11"/>
              <a:ext cx="15190380" cy="1727200"/>
            </a:xfrm>
            <a:prstGeom prst="rect">
              <a:avLst/>
            </a:prstGeom>
          </p:spPr>
          <p:txBody>
            <a:bodyPr anchor="t" rtlCol="false" tIns="0" lIns="0" bIns="0" rIns="0">
              <a:spAutoFit/>
            </a:bodyPr>
            <a:lstStyle/>
            <a:p>
              <a:pPr algn="ctr" marL="0" indent="0" lvl="0">
                <a:lnSpc>
                  <a:spcPts val="10200"/>
                </a:lnSpc>
                <a:spcBef>
                  <a:spcPct val="0"/>
                </a:spcBef>
              </a:pPr>
              <a:r>
                <a:rPr lang="en-US" b="true" sz="8500">
                  <a:solidFill>
                    <a:srgbClr val="000000"/>
                  </a:solidFill>
                  <a:latin typeface="IBM Plex Sans Bold"/>
                  <a:ea typeface="IBM Plex Sans Bold"/>
                  <a:cs typeface="IBM Plex Sans Bold"/>
                  <a:sym typeface="IBM Plex Sans Bold"/>
                </a:rPr>
                <a:t>Concept</a:t>
              </a:r>
            </a:p>
          </p:txBody>
        </p:sp>
        <p:sp>
          <p:nvSpPr>
            <p:cNvPr name="TextBox 11" id="11"/>
            <p:cNvSpPr txBox="true"/>
            <p:nvPr/>
          </p:nvSpPr>
          <p:spPr>
            <a:xfrm rot="0">
              <a:off x="0" y="2308432"/>
              <a:ext cx="15190380" cy="4400127"/>
            </a:xfrm>
            <a:prstGeom prst="rect">
              <a:avLst/>
            </a:prstGeom>
          </p:spPr>
          <p:txBody>
            <a:bodyPr anchor="t" rtlCol="false" tIns="0" lIns="0" bIns="0" rIns="0">
              <a:spAutoFit/>
            </a:bodyPr>
            <a:lstStyle/>
            <a:p>
              <a:pPr algn="l" marL="734059" indent="-367030" lvl="1">
                <a:lnSpc>
                  <a:spcPts val="4419"/>
                </a:lnSpc>
                <a:buFont typeface="Arial"/>
                <a:buChar char="•"/>
              </a:pPr>
              <a:r>
                <a:rPr lang="en-US" sz="3399">
                  <a:solidFill>
                    <a:srgbClr val="000000"/>
                  </a:solidFill>
                  <a:latin typeface="IBM Plex Sans"/>
                  <a:ea typeface="IBM Plex Sans"/>
                  <a:cs typeface="IBM Plex Sans"/>
                  <a:sym typeface="IBM Plex Sans"/>
                </a:rPr>
                <a:t>Ants move from home to food source (Ants are blind);</a:t>
              </a:r>
            </a:p>
            <a:p>
              <a:pPr algn="l" marL="734059" indent="-367030" lvl="1">
                <a:lnSpc>
                  <a:spcPts val="4419"/>
                </a:lnSpc>
                <a:buFont typeface="Arial"/>
                <a:buChar char="•"/>
              </a:pPr>
              <a:r>
                <a:rPr lang="en-US" sz="3399">
                  <a:solidFill>
                    <a:srgbClr val="000000"/>
                  </a:solidFill>
                  <a:latin typeface="IBM Plex Sans"/>
                  <a:ea typeface="IBM Plex Sans"/>
                  <a:cs typeface="IBM Plex Sans"/>
                  <a:sym typeface="IBM Plex Sans"/>
                </a:rPr>
                <a:t>Each ant moves at random;</a:t>
              </a:r>
            </a:p>
            <a:p>
              <a:pPr algn="l" marL="734059" indent="-367030" lvl="1">
                <a:lnSpc>
                  <a:spcPts val="4419"/>
                </a:lnSpc>
                <a:buFont typeface="Arial"/>
                <a:buChar char="•"/>
              </a:pPr>
              <a:r>
                <a:rPr lang="en-US" sz="3399">
                  <a:solidFill>
                    <a:srgbClr val="000000"/>
                  </a:solidFill>
                  <a:latin typeface="IBM Plex Sans"/>
                  <a:ea typeface="IBM Plex Sans"/>
                  <a:cs typeface="IBM Plex Sans"/>
                  <a:sym typeface="IBM Plex Sans"/>
                </a:rPr>
                <a:t>Ants use pheromones to find the shortest path;</a:t>
              </a:r>
            </a:p>
            <a:p>
              <a:pPr algn="l" marL="734059" indent="-367030" lvl="1">
                <a:lnSpc>
                  <a:spcPts val="4419"/>
                </a:lnSpc>
                <a:buFont typeface="Arial"/>
                <a:buChar char="•"/>
              </a:pPr>
              <a:r>
                <a:rPr lang="en-US" sz="3399">
                  <a:solidFill>
                    <a:srgbClr val="000000"/>
                  </a:solidFill>
                  <a:latin typeface="IBM Plex Sans"/>
                  <a:ea typeface="IBM Plex Sans"/>
                  <a:cs typeface="IBM Plex Sans"/>
                  <a:sym typeface="IBM Plex Sans"/>
                </a:rPr>
                <a:t>Pheromones evaporate quickly;</a:t>
              </a:r>
            </a:p>
            <a:p>
              <a:pPr algn="l" marL="734059" indent="-367030" lvl="1">
                <a:lnSpc>
                  <a:spcPts val="4419"/>
                </a:lnSpc>
                <a:buFont typeface="Arial"/>
                <a:buChar char="•"/>
              </a:pPr>
              <a:r>
                <a:rPr lang="en-US" sz="3399">
                  <a:solidFill>
                    <a:srgbClr val="000000"/>
                  </a:solidFill>
                  <a:latin typeface="IBM Plex Sans"/>
                  <a:ea typeface="IBM Plex Sans"/>
                  <a:cs typeface="IBM Plex Sans"/>
                  <a:sym typeface="IBM Plex Sans"/>
                </a:rPr>
                <a:t>Ants prefer to use shorter paths with a denser pheromone.</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127332"/>
            <a:ext cx="3516876" cy="431386"/>
            <a:chOff x="0" y="0"/>
            <a:chExt cx="4689168" cy="575182"/>
          </a:xfrm>
        </p:grpSpPr>
        <p:sp>
          <p:nvSpPr>
            <p:cNvPr name="Freeform 3" id="3"/>
            <p:cNvSpPr/>
            <p:nvPr/>
          </p:nvSpPr>
          <p:spPr>
            <a:xfrm flipH="false" flipV="false" rot="0">
              <a:off x="0" y="0"/>
              <a:ext cx="564724" cy="575182"/>
            </a:xfrm>
            <a:custGeom>
              <a:avLst/>
              <a:gdLst/>
              <a:ahLst/>
              <a:cxnLst/>
              <a:rect r="r" b="b" t="t" l="l"/>
              <a:pathLst>
                <a:path h="575182" w="564724">
                  <a:moveTo>
                    <a:pt x="0" y="0"/>
                  </a:moveTo>
                  <a:lnTo>
                    <a:pt x="564724" y="0"/>
                  </a:lnTo>
                  <a:lnTo>
                    <a:pt x="564724" y="575182"/>
                  </a:lnTo>
                  <a:lnTo>
                    <a:pt x="0" y="5751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102795" y="68516"/>
              <a:ext cx="3586372" cy="428625"/>
            </a:xfrm>
            <a:prstGeom prst="rect">
              <a:avLst/>
            </a:prstGeom>
          </p:spPr>
          <p:txBody>
            <a:bodyPr anchor="t" rtlCol="false" tIns="0" lIns="0" bIns="0" rIns="0">
              <a:spAutoFit/>
            </a:bodyPr>
            <a:lstStyle/>
            <a:p>
              <a:pPr algn="l" marL="0" indent="0" lvl="0">
                <a:lnSpc>
                  <a:spcPts val="2520"/>
                </a:lnSpc>
                <a:spcBef>
                  <a:spcPct val="0"/>
                </a:spcBef>
              </a:pPr>
              <a:r>
                <a:rPr lang="en-US" sz="2100">
                  <a:solidFill>
                    <a:srgbClr val="000000"/>
                  </a:solidFill>
                  <a:latin typeface="IBM Plex Sans"/>
                  <a:ea typeface="IBM Plex Sans"/>
                  <a:cs typeface="IBM Plex Sans"/>
                  <a:sym typeface="IBM Plex Sans"/>
                </a:rPr>
                <a:t>SamANTa</a:t>
              </a:r>
            </a:p>
          </p:txBody>
        </p:sp>
      </p:grpSp>
      <p:grpSp>
        <p:nvGrpSpPr>
          <p:cNvPr name="Group 5" id="5"/>
          <p:cNvGrpSpPr/>
          <p:nvPr/>
        </p:nvGrpSpPr>
        <p:grpSpPr>
          <a:xfrm rot="0">
            <a:off x="14125158" y="8774301"/>
            <a:ext cx="3134142" cy="483999"/>
            <a:chOff x="0" y="0"/>
            <a:chExt cx="4178856" cy="645332"/>
          </a:xfrm>
        </p:grpSpPr>
        <p:sp>
          <p:nvSpPr>
            <p:cNvPr name="AutoShape 6" id="6"/>
            <p:cNvSpPr/>
            <p:nvPr/>
          </p:nvSpPr>
          <p:spPr>
            <a:xfrm rot="0">
              <a:off x="0" y="0"/>
              <a:ext cx="4178856" cy="645332"/>
            </a:xfrm>
            <a:prstGeom prst="rect">
              <a:avLst/>
            </a:prstGeom>
            <a:solidFill>
              <a:srgbClr val="9600F2"/>
            </a:solidFill>
          </p:spPr>
        </p:sp>
        <p:sp>
          <p:nvSpPr>
            <p:cNvPr name="TextBox 7" id="7"/>
            <p:cNvSpPr txBox="true"/>
            <p:nvPr/>
          </p:nvSpPr>
          <p:spPr>
            <a:xfrm rot="0">
              <a:off x="291683" y="126018"/>
              <a:ext cx="3716088" cy="364700"/>
            </a:xfrm>
            <a:prstGeom prst="rect">
              <a:avLst/>
            </a:prstGeom>
          </p:spPr>
          <p:txBody>
            <a:bodyPr anchor="t" rtlCol="false" tIns="0" lIns="0" bIns="0" rIns="0">
              <a:spAutoFit/>
            </a:bodyPr>
            <a:lstStyle/>
            <a:p>
              <a:pPr algn="ctr">
                <a:lnSpc>
                  <a:spcPts val="2380"/>
                </a:lnSpc>
                <a:spcBef>
                  <a:spcPct val="0"/>
                </a:spcBef>
              </a:pPr>
              <a:r>
                <a:rPr lang="en-US" sz="1700">
                  <a:solidFill>
                    <a:srgbClr val="FFFFFF"/>
                  </a:solidFill>
                  <a:latin typeface="IBM Plex Sans"/>
                  <a:ea typeface="IBM Plex Sans"/>
                  <a:cs typeface="IBM Plex Sans"/>
                  <a:sym typeface="IBM Plex Sans"/>
                </a:rPr>
                <a:t>CONTINUE</a:t>
              </a:r>
            </a:p>
          </p:txBody>
        </p:sp>
      </p:grpSp>
      <p:sp>
        <p:nvSpPr>
          <p:cNvPr name="Freeform 8" id="8"/>
          <p:cNvSpPr/>
          <p:nvPr/>
        </p:nvSpPr>
        <p:spPr>
          <a:xfrm flipH="false" flipV="false" rot="-8274206">
            <a:off x="-9816042" y="6246503"/>
            <a:ext cx="22683057" cy="7681748"/>
          </a:xfrm>
          <a:custGeom>
            <a:avLst/>
            <a:gdLst/>
            <a:ahLst/>
            <a:cxnLst/>
            <a:rect r="r" b="b" t="t" l="l"/>
            <a:pathLst>
              <a:path h="7681748" w="22683057">
                <a:moveTo>
                  <a:pt x="22683056" y="5088157"/>
                </a:moveTo>
                <a:lnTo>
                  <a:pt x="597522" y="7681749"/>
                </a:lnTo>
                <a:lnTo>
                  <a:pt x="0" y="2593592"/>
                </a:lnTo>
                <a:lnTo>
                  <a:pt x="22085534" y="0"/>
                </a:lnTo>
                <a:lnTo>
                  <a:pt x="22683056" y="5088157"/>
                </a:lnTo>
                <a:close/>
              </a:path>
            </a:pathLst>
          </a:custGeom>
          <a:blipFill>
            <a:blip r:embed="rId4">
              <a:extLst>
                <a:ext uri="{96DAC541-7B7A-43D3-8B79-37D633B846F1}">
                  <asvg:svgBlip xmlns:asvg="http://schemas.microsoft.com/office/drawing/2016/SVG/main" r:embed="rId5"/>
                </a:ext>
              </a:extLst>
            </a:blip>
            <a:stretch>
              <a:fillRect l="-9574" t="-214022" r="-35954" b="-68"/>
            </a:stretch>
          </a:blipFill>
        </p:spPr>
      </p:sp>
      <p:sp>
        <p:nvSpPr>
          <p:cNvPr name="Freeform 9" id="9"/>
          <p:cNvSpPr/>
          <p:nvPr/>
        </p:nvSpPr>
        <p:spPr>
          <a:xfrm flipH="false" flipV="false" rot="0">
            <a:off x="4133258" y="3064080"/>
            <a:ext cx="10021483" cy="5710221"/>
          </a:xfrm>
          <a:custGeom>
            <a:avLst/>
            <a:gdLst/>
            <a:ahLst/>
            <a:cxnLst/>
            <a:rect r="r" b="b" t="t" l="l"/>
            <a:pathLst>
              <a:path h="5710221" w="10021483">
                <a:moveTo>
                  <a:pt x="0" y="0"/>
                </a:moveTo>
                <a:lnTo>
                  <a:pt x="10021484" y="0"/>
                </a:lnTo>
                <a:lnTo>
                  <a:pt x="10021484" y="5710221"/>
                </a:lnTo>
                <a:lnTo>
                  <a:pt x="0" y="5710221"/>
                </a:lnTo>
                <a:lnTo>
                  <a:pt x="0" y="0"/>
                </a:lnTo>
                <a:close/>
              </a:path>
            </a:pathLst>
          </a:custGeom>
          <a:blipFill>
            <a:blip r:embed="rId6"/>
            <a:stretch>
              <a:fillRect l="-5762" t="0" r="-4876" b="-3964"/>
            </a:stretch>
          </a:blipFill>
        </p:spPr>
      </p:sp>
      <p:sp>
        <p:nvSpPr>
          <p:cNvPr name="TextBox 10" id="10"/>
          <p:cNvSpPr txBox="true"/>
          <p:nvPr/>
        </p:nvSpPr>
        <p:spPr>
          <a:xfrm rot="0">
            <a:off x="1657319" y="1768680"/>
            <a:ext cx="14973363" cy="1295400"/>
          </a:xfrm>
          <a:prstGeom prst="rect">
            <a:avLst/>
          </a:prstGeom>
        </p:spPr>
        <p:txBody>
          <a:bodyPr anchor="t" rtlCol="false" tIns="0" lIns="0" bIns="0" rIns="0">
            <a:spAutoFit/>
          </a:bodyPr>
          <a:lstStyle/>
          <a:p>
            <a:pPr algn="ctr" marL="0" indent="0" lvl="0">
              <a:lnSpc>
                <a:spcPts val="10200"/>
              </a:lnSpc>
              <a:spcBef>
                <a:spcPct val="0"/>
              </a:spcBef>
            </a:pPr>
            <a:r>
              <a:rPr lang="en-US" b="true" sz="8500">
                <a:solidFill>
                  <a:srgbClr val="000000"/>
                </a:solidFill>
                <a:latin typeface="IBM Plex Sans Bold"/>
                <a:ea typeface="IBM Plex Sans Bold"/>
                <a:cs typeface="IBM Plex Sans Bold"/>
                <a:sym typeface="IBM Plex Sans Bold"/>
              </a:rPr>
              <a:t>Principle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2235391" y="-1482478"/>
            <a:ext cx="13770229" cy="10740778"/>
          </a:xfrm>
          <a:custGeom>
            <a:avLst/>
            <a:gdLst/>
            <a:ahLst/>
            <a:cxnLst/>
            <a:rect r="r" b="b" t="t" l="l"/>
            <a:pathLst>
              <a:path h="10740778" w="13770229">
                <a:moveTo>
                  <a:pt x="0" y="0"/>
                </a:moveTo>
                <a:lnTo>
                  <a:pt x="13770229" y="0"/>
                </a:lnTo>
                <a:lnTo>
                  <a:pt x="13770229" y="10740778"/>
                </a:lnTo>
                <a:lnTo>
                  <a:pt x="0" y="10740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3" id="3"/>
          <p:cNvGraphicFramePr>
            <a:graphicFrameLocks noGrp="true"/>
          </p:cNvGraphicFramePr>
          <p:nvPr/>
        </p:nvGraphicFramePr>
        <p:xfrm>
          <a:off x="7727189" y="2547905"/>
          <a:ext cx="9532111" cy="6710395"/>
        </p:xfrm>
        <a:graphic>
          <a:graphicData uri="http://schemas.openxmlformats.org/drawingml/2006/table">
            <a:tbl>
              <a:tblPr/>
              <a:tblGrid>
                <a:gridCol w="4766055"/>
                <a:gridCol w="4766055"/>
              </a:tblGrid>
              <a:tr h="2236798">
                <a:tc>
                  <a:txBody>
                    <a:bodyPr anchor="t" rtlCol="false"/>
                    <a:lstStyle/>
                    <a:p>
                      <a:pPr algn="ctr">
                        <a:lnSpc>
                          <a:spcPts val="3499"/>
                        </a:lnSpc>
                        <a:defRPr/>
                      </a:pPr>
                      <a:r>
                        <a:rPr lang="en-US" sz="2499" b="true">
                          <a:solidFill>
                            <a:srgbClr val="212529"/>
                          </a:solidFill>
                          <a:latin typeface="IBM Plex Sans Bold"/>
                          <a:ea typeface="IBM Plex Sans Bold"/>
                          <a:cs typeface="IBM Plex Sans Bold"/>
                          <a:sym typeface="IBM Plex Sans Bold"/>
                        </a:rPr>
                        <a:t>Initialization</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3079"/>
                        </a:lnSpc>
                        <a:defRPr/>
                      </a:pPr>
                      <a:r>
                        <a:rPr lang="en-US" sz="2199">
                          <a:solidFill>
                            <a:srgbClr val="000000"/>
                          </a:solidFill>
                          <a:latin typeface="IBM Plex Sans"/>
                          <a:ea typeface="IBM Plex Sans"/>
                          <a:cs typeface="IBM Plex Sans"/>
                          <a:sym typeface="IBM Plex Sans"/>
                        </a:rPr>
                        <a:t>Define the problem as a graph, initialize pheromones, and set parameters to guide the optimization process.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2236798">
                <a:tc>
                  <a:txBody>
                    <a:bodyPr anchor="t" rtlCol="false"/>
                    <a:lstStyle/>
                    <a:p>
                      <a:pPr algn="ctr">
                        <a:lnSpc>
                          <a:spcPts val="3499"/>
                        </a:lnSpc>
                        <a:defRPr/>
                      </a:pPr>
                      <a:r>
                        <a:rPr lang="en-US" b="true" sz="2499">
                          <a:solidFill>
                            <a:srgbClr val="000000"/>
                          </a:solidFill>
                          <a:latin typeface="IBM Plex Sans Bold"/>
                          <a:ea typeface="IBM Plex Sans Bold"/>
                          <a:cs typeface="IBM Plex Sans Bold"/>
                          <a:sym typeface="IBM Plex Sans Bold"/>
                        </a:rPr>
                        <a:t>Pheromone Update</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3079"/>
                        </a:lnSpc>
                        <a:defRPr/>
                      </a:pPr>
                      <a:r>
                        <a:rPr lang="en-US" sz="2199">
                          <a:solidFill>
                            <a:srgbClr val="000000"/>
                          </a:solidFill>
                          <a:latin typeface="IBM Plex Sans"/>
                          <a:ea typeface="IBM Plex Sans"/>
                          <a:cs typeface="IBM Plex Sans"/>
                          <a:sym typeface="IBM Plex Sans"/>
                        </a:rPr>
                        <a:t>Adjust pheromone levels by evaporating old trails and reinforcing edges used in better solutions.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r h="2236798">
                <a:tc>
                  <a:txBody>
                    <a:bodyPr anchor="t" rtlCol="false"/>
                    <a:lstStyle/>
                    <a:p>
                      <a:pPr algn="ctr">
                        <a:lnSpc>
                          <a:spcPts val="3499"/>
                        </a:lnSpc>
                        <a:defRPr/>
                      </a:pPr>
                      <a:r>
                        <a:rPr lang="en-US" sz="2499" b="true">
                          <a:solidFill>
                            <a:srgbClr val="000000"/>
                          </a:solidFill>
                          <a:latin typeface="IBM Plex Sans Bold"/>
                          <a:ea typeface="IBM Plex Sans Bold"/>
                          <a:cs typeface="IBM Plex Sans Bold"/>
                          <a:sym typeface="IBM Plex Sans Bold"/>
                        </a:rPr>
                        <a:t>Ant Movement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c>
                  <a:txBody>
                    <a:bodyPr anchor="t" rtlCol="false"/>
                    <a:lstStyle/>
                    <a:p>
                      <a:pPr algn="ctr">
                        <a:lnSpc>
                          <a:spcPts val="3079"/>
                        </a:lnSpc>
                        <a:defRPr/>
                      </a:pPr>
                      <a:r>
                        <a:rPr lang="en-US" sz="2199">
                          <a:solidFill>
                            <a:srgbClr val="000000"/>
                          </a:solidFill>
                          <a:latin typeface="IBM Plex Sans"/>
                          <a:ea typeface="IBM Plex Sans"/>
                          <a:cs typeface="IBM Plex Sans"/>
                          <a:sym typeface="IBM Plex Sans"/>
                        </a:rPr>
                        <a:t>Each ant constructs a solution by probabilistically choosing paths based on pheromone levels and heuristic values.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FFFFFF"/>
                    </a:solidFill>
                  </a:tcPr>
                </a:tc>
              </a:tr>
            </a:tbl>
          </a:graphicData>
        </a:graphic>
      </p:graphicFrame>
      <p:sp>
        <p:nvSpPr>
          <p:cNvPr name="TextBox 4" id="4"/>
          <p:cNvSpPr txBox="true"/>
          <p:nvPr/>
        </p:nvSpPr>
        <p:spPr>
          <a:xfrm rot="0">
            <a:off x="1028700" y="6667500"/>
            <a:ext cx="6417711" cy="2590800"/>
          </a:xfrm>
          <a:prstGeom prst="rect">
            <a:avLst/>
          </a:prstGeom>
        </p:spPr>
        <p:txBody>
          <a:bodyPr anchor="t" rtlCol="false" tIns="0" lIns="0" bIns="0" rIns="0">
            <a:spAutoFit/>
          </a:bodyPr>
          <a:lstStyle/>
          <a:p>
            <a:pPr algn="l" marL="0" indent="0" lvl="0">
              <a:lnSpc>
                <a:spcPts val="10200"/>
              </a:lnSpc>
              <a:spcBef>
                <a:spcPct val="0"/>
              </a:spcBef>
            </a:pPr>
            <a:r>
              <a:rPr lang="en-US" b="true" sz="8500">
                <a:solidFill>
                  <a:srgbClr val="000000"/>
                </a:solidFill>
                <a:latin typeface="IBM Plex Sans Bold"/>
                <a:ea typeface="IBM Plex Sans Bold"/>
                <a:cs typeface="IBM Plex Sans Bold"/>
                <a:sym typeface="IBM Plex Sans Bold"/>
              </a:rPr>
              <a:t>Algorithm Workflow</a:t>
            </a:r>
          </a:p>
        </p:txBody>
      </p:sp>
      <p:grpSp>
        <p:nvGrpSpPr>
          <p:cNvPr name="Group 5" id="5"/>
          <p:cNvGrpSpPr/>
          <p:nvPr/>
        </p:nvGrpSpPr>
        <p:grpSpPr>
          <a:xfrm rot="0">
            <a:off x="1028700" y="1127332"/>
            <a:ext cx="3516876" cy="431386"/>
            <a:chOff x="0" y="0"/>
            <a:chExt cx="4689168" cy="575182"/>
          </a:xfrm>
        </p:grpSpPr>
        <p:sp>
          <p:nvSpPr>
            <p:cNvPr name="Freeform 6" id="6"/>
            <p:cNvSpPr/>
            <p:nvPr/>
          </p:nvSpPr>
          <p:spPr>
            <a:xfrm flipH="false" flipV="false" rot="0">
              <a:off x="0" y="0"/>
              <a:ext cx="564724" cy="575182"/>
            </a:xfrm>
            <a:custGeom>
              <a:avLst/>
              <a:gdLst/>
              <a:ahLst/>
              <a:cxnLst/>
              <a:rect r="r" b="b" t="t" l="l"/>
              <a:pathLst>
                <a:path h="575182" w="564724">
                  <a:moveTo>
                    <a:pt x="0" y="0"/>
                  </a:moveTo>
                  <a:lnTo>
                    <a:pt x="564724" y="0"/>
                  </a:lnTo>
                  <a:lnTo>
                    <a:pt x="564724" y="575182"/>
                  </a:lnTo>
                  <a:lnTo>
                    <a:pt x="0" y="5751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102795" y="68516"/>
              <a:ext cx="3586372" cy="428625"/>
            </a:xfrm>
            <a:prstGeom prst="rect">
              <a:avLst/>
            </a:prstGeom>
          </p:spPr>
          <p:txBody>
            <a:bodyPr anchor="t" rtlCol="false" tIns="0" lIns="0" bIns="0" rIns="0">
              <a:spAutoFit/>
            </a:bodyPr>
            <a:lstStyle/>
            <a:p>
              <a:pPr algn="l" marL="0" indent="0" lvl="0">
                <a:lnSpc>
                  <a:spcPts val="2520"/>
                </a:lnSpc>
                <a:spcBef>
                  <a:spcPct val="0"/>
                </a:spcBef>
              </a:pPr>
              <a:r>
                <a:rPr lang="en-US" sz="2100">
                  <a:solidFill>
                    <a:srgbClr val="000000"/>
                  </a:solidFill>
                  <a:latin typeface="IBM Plex Sans"/>
                  <a:ea typeface="IBM Plex Sans"/>
                  <a:cs typeface="IBM Plex Sans"/>
                  <a:sym typeface="IBM Plex Sans"/>
                </a:rPr>
                <a:t>SamANTa</a:t>
              </a:r>
            </a:p>
          </p:txBody>
        </p:sp>
      </p:grpSp>
      <p:grpSp>
        <p:nvGrpSpPr>
          <p:cNvPr name="Group 8" id="8"/>
          <p:cNvGrpSpPr/>
          <p:nvPr/>
        </p:nvGrpSpPr>
        <p:grpSpPr>
          <a:xfrm rot="0">
            <a:off x="14125158" y="1028700"/>
            <a:ext cx="3134142" cy="483999"/>
            <a:chOff x="0" y="0"/>
            <a:chExt cx="4178856" cy="645332"/>
          </a:xfrm>
        </p:grpSpPr>
        <p:sp>
          <p:nvSpPr>
            <p:cNvPr name="AutoShape 9" id="9"/>
            <p:cNvSpPr/>
            <p:nvPr/>
          </p:nvSpPr>
          <p:spPr>
            <a:xfrm rot="0">
              <a:off x="0" y="0"/>
              <a:ext cx="4178856" cy="645332"/>
            </a:xfrm>
            <a:prstGeom prst="rect">
              <a:avLst/>
            </a:prstGeom>
            <a:solidFill>
              <a:srgbClr val="9600F2"/>
            </a:solidFill>
          </p:spPr>
        </p:sp>
        <p:sp>
          <p:nvSpPr>
            <p:cNvPr name="TextBox 10" id="10"/>
            <p:cNvSpPr txBox="true"/>
            <p:nvPr/>
          </p:nvSpPr>
          <p:spPr>
            <a:xfrm rot="0">
              <a:off x="291683" y="126018"/>
              <a:ext cx="3716088" cy="364700"/>
            </a:xfrm>
            <a:prstGeom prst="rect">
              <a:avLst/>
            </a:prstGeom>
          </p:spPr>
          <p:txBody>
            <a:bodyPr anchor="t" rtlCol="false" tIns="0" lIns="0" bIns="0" rIns="0">
              <a:spAutoFit/>
            </a:bodyPr>
            <a:lstStyle/>
            <a:p>
              <a:pPr algn="ctr">
                <a:lnSpc>
                  <a:spcPts val="2380"/>
                </a:lnSpc>
                <a:spcBef>
                  <a:spcPct val="0"/>
                </a:spcBef>
              </a:pPr>
              <a:r>
                <a:rPr lang="en-US" sz="1700">
                  <a:solidFill>
                    <a:srgbClr val="FFFFFF"/>
                  </a:solidFill>
                  <a:latin typeface="IBM Plex Sans"/>
                  <a:ea typeface="IBM Plex Sans"/>
                  <a:cs typeface="IBM Plex Sans"/>
                  <a:sym typeface="IBM Plex Sans"/>
                </a:rPr>
                <a:t>CONTINUE</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2235391" y="-1482478"/>
            <a:ext cx="13770229" cy="10740778"/>
          </a:xfrm>
          <a:custGeom>
            <a:avLst/>
            <a:gdLst/>
            <a:ahLst/>
            <a:cxnLst/>
            <a:rect r="r" b="b" t="t" l="l"/>
            <a:pathLst>
              <a:path h="10740778" w="13770229">
                <a:moveTo>
                  <a:pt x="0" y="0"/>
                </a:moveTo>
                <a:lnTo>
                  <a:pt x="13770229" y="0"/>
                </a:lnTo>
                <a:lnTo>
                  <a:pt x="13770229" y="10740778"/>
                </a:lnTo>
                <a:lnTo>
                  <a:pt x="0" y="10740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1127332"/>
            <a:ext cx="3516876" cy="431386"/>
            <a:chOff x="0" y="0"/>
            <a:chExt cx="4689168" cy="575182"/>
          </a:xfrm>
        </p:grpSpPr>
        <p:sp>
          <p:nvSpPr>
            <p:cNvPr name="Freeform 4" id="4"/>
            <p:cNvSpPr/>
            <p:nvPr/>
          </p:nvSpPr>
          <p:spPr>
            <a:xfrm flipH="false" flipV="false" rot="0">
              <a:off x="0" y="0"/>
              <a:ext cx="564724" cy="575182"/>
            </a:xfrm>
            <a:custGeom>
              <a:avLst/>
              <a:gdLst/>
              <a:ahLst/>
              <a:cxnLst/>
              <a:rect r="r" b="b" t="t" l="l"/>
              <a:pathLst>
                <a:path h="575182" w="564724">
                  <a:moveTo>
                    <a:pt x="0" y="0"/>
                  </a:moveTo>
                  <a:lnTo>
                    <a:pt x="564724" y="0"/>
                  </a:lnTo>
                  <a:lnTo>
                    <a:pt x="564724" y="575182"/>
                  </a:lnTo>
                  <a:lnTo>
                    <a:pt x="0" y="5751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102795" y="68516"/>
              <a:ext cx="3586372" cy="428625"/>
            </a:xfrm>
            <a:prstGeom prst="rect">
              <a:avLst/>
            </a:prstGeom>
          </p:spPr>
          <p:txBody>
            <a:bodyPr anchor="t" rtlCol="false" tIns="0" lIns="0" bIns="0" rIns="0">
              <a:spAutoFit/>
            </a:bodyPr>
            <a:lstStyle/>
            <a:p>
              <a:pPr algn="l" marL="0" indent="0" lvl="0">
                <a:lnSpc>
                  <a:spcPts val="2520"/>
                </a:lnSpc>
                <a:spcBef>
                  <a:spcPct val="0"/>
                </a:spcBef>
              </a:pPr>
              <a:r>
                <a:rPr lang="en-US" sz="2100">
                  <a:solidFill>
                    <a:srgbClr val="000000"/>
                  </a:solidFill>
                  <a:latin typeface="IBM Plex Sans"/>
                  <a:ea typeface="IBM Plex Sans"/>
                  <a:cs typeface="IBM Plex Sans"/>
                  <a:sym typeface="IBM Plex Sans"/>
                </a:rPr>
                <a:t>SamANTa</a:t>
              </a:r>
            </a:p>
          </p:txBody>
        </p:sp>
      </p:grpSp>
      <p:grpSp>
        <p:nvGrpSpPr>
          <p:cNvPr name="Group 6" id="6"/>
          <p:cNvGrpSpPr/>
          <p:nvPr/>
        </p:nvGrpSpPr>
        <p:grpSpPr>
          <a:xfrm rot="0">
            <a:off x="14125158" y="1028700"/>
            <a:ext cx="3134142" cy="483999"/>
            <a:chOff x="0" y="0"/>
            <a:chExt cx="4178856" cy="645332"/>
          </a:xfrm>
        </p:grpSpPr>
        <p:sp>
          <p:nvSpPr>
            <p:cNvPr name="AutoShape 7" id="7"/>
            <p:cNvSpPr/>
            <p:nvPr/>
          </p:nvSpPr>
          <p:spPr>
            <a:xfrm rot="0">
              <a:off x="0" y="0"/>
              <a:ext cx="4178856" cy="645332"/>
            </a:xfrm>
            <a:prstGeom prst="rect">
              <a:avLst/>
            </a:prstGeom>
            <a:solidFill>
              <a:srgbClr val="9600F2"/>
            </a:solidFill>
          </p:spPr>
        </p:sp>
        <p:sp>
          <p:nvSpPr>
            <p:cNvPr name="TextBox 8" id="8"/>
            <p:cNvSpPr txBox="true"/>
            <p:nvPr/>
          </p:nvSpPr>
          <p:spPr>
            <a:xfrm rot="0">
              <a:off x="291683" y="126018"/>
              <a:ext cx="3716088" cy="364700"/>
            </a:xfrm>
            <a:prstGeom prst="rect">
              <a:avLst/>
            </a:prstGeom>
          </p:spPr>
          <p:txBody>
            <a:bodyPr anchor="t" rtlCol="false" tIns="0" lIns="0" bIns="0" rIns="0">
              <a:spAutoFit/>
            </a:bodyPr>
            <a:lstStyle/>
            <a:p>
              <a:pPr algn="ctr">
                <a:lnSpc>
                  <a:spcPts val="2380"/>
                </a:lnSpc>
                <a:spcBef>
                  <a:spcPct val="0"/>
                </a:spcBef>
              </a:pPr>
              <a:r>
                <a:rPr lang="en-US" sz="1700">
                  <a:solidFill>
                    <a:srgbClr val="FFFFFF"/>
                  </a:solidFill>
                  <a:latin typeface="IBM Plex Sans"/>
                  <a:ea typeface="IBM Plex Sans"/>
                  <a:cs typeface="IBM Plex Sans"/>
                  <a:sym typeface="IBM Plex Sans"/>
                </a:rPr>
                <a:t>CONTINUE</a:t>
              </a:r>
            </a:p>
          </p:txBody>
        </p:sp>
      </p:grpSp>
      <p:sp>
        <p:nvSpPr>
          <p:cNvPr name="TextBox 9" id="9"/>
          <p:cNvSpPr txBox="true"/>
          <p:nvPr/>
        </p:nvSpPr>
        <p:spPr>
          <a:xfrm rot="0">
            <a:off x="5445079" y="1512699"/>
            <a:ext cx="6957417" cy="1295400"/>
          </a:xfrm>
          <a:prstGeom prst="rect">
            <a:avLst/>
          </a:prstGeom>
        </p:spPr>
        <p:txBody>
          <a:bodyPr anchor="t" rtlCol="false" tIns="0" lIns="0" bIns="0" rIns="0">
            <a:spAutoFit/>
          </a:bodyPr>
          <a:lstStyle/>
          <a:p>
            <a:pPr algn="l" marL="0" indent="0" lvl="0">
              <a:lnSpc>
                <a:spcPts val="10200"/>
              </a:lnSpc>
              <a:spcBef>
                <a:spcPct val="0"/>
              </a:spcBef>
            </a:pPr>
            <a:r>
              <a:rPr lang="en-US" b="true" sz="8500">
                <a:solidFill>
                  <a:srgbClr val="000000"/>
                </a:solidFill>
                <a:latin typeface="IBM Plex Sans Bold"/>
                <a:ea typeface="IBM Plex Sans Bold"/>
                <a:cs typeface="IBM Plex Sans Bold"/>
                <a:sym typeface="IBM Plex Sans Bold"/>
              </a:rPr>
              <a:t>Initialization</a:t>
            </a:r>
          </a:p>
        </p:txBody>
      </p:sp>
      <p:sp>
        <p:nvSpPr>
          <p:cNvPr name="TextBox 10" id="10"/>
          <p:cNvSpPr txBox="true"/>
          <p:nvPr/>
        </p:nvSpPr>
        <p:spPr>
          <a:xfrm rot="0">
            <a:off x="1746159" y="4676425"/>
            <a:ext cx="7397841" cy="2857500"/>
          </a:xfrm>
          <a:prstGeom prst="rect">
            <a:avLst/>
          </a:prstGeom>
        </p:spPr>
        <p:txBody>
          <a:bodyPr anchor="t" rtlCol="false" tIns="0" lIns="0" bIns="0" rIns="0">
            <a:spAutoFit/>
          </a:bodyPr>
          <a:lstStyle/>
          <a:p>
            <a:pPr algn="just" marL="681388" indent="-340694" lvl="1">
              <a:lnSpc>
                <a:spcPts val="3787"/>
              </a:lnSpc>
              <a:buFont typeface="Arial"/>
              <a:buChar char="•"/>
            </a:pPr>
            <a:r>
              <a:rPr lang="en-US" sz="3156">
                <a:solidFill>
                  <a:srgbClr val="000000"/>
                </a:solidFill>
                <a:latin typeface="IBM Plex Sans"/>
                <a:ea typeface="IBM Plex Sans"/>
                <a:cs typeface="IBM Plex Sans"/>
                <a:sym typeface="IBM Plex Sans"/>
              </a:rPr>
              <a:t>Represent the problem as a graph.</a:t>
            </a:r>
          </a:p>
          <a:p>
            <a:pPr algn="just" marL="681388" indent="-340694" lvl="1">
              <a:lnSpc>
                <a:spcPts val="3787"/>
              </a:lnSpc>
              <a:buFont typeface="Arial"/>
              <a:buChar char="•"/>
            </a:pPr>
            <a:r>
              <a:rPr lang="en-US" sz="3156">
                <a:solidFill>
                  <a:srgbClr val="000000"/>
                </a:solidFill>
                <a:latin typeface="IBM Plex Sans"/>
                <a:ea typeface="IBM Plex Sans"/>
                <a:cs typeface="IBM Plex Sans"/>
                <a:sym typeface="IBM Plex Sans"/>
              </a:rPr>
              <a:t>Initialize pheromone levels on all edges with a small constant value to ensure all paths are initially equally probable.</a:t>
            </a:r>
          </a:p>
          <a:p>
            <a:pPr algn="just" marL="681388" indent="-340694" lvl="1">
              <a:lnSpc>
                <a:spcPts val="3787"/>
              </a:lnSpc>
              <a:buFont typeface="Arial"/>
              <a:buChar char="•"/>
            </a:pPr>
            <a:r>
              <a:rPr lang="en-US" sz="3156">
                <a:solidFill>
                  <a:srgbClr val="000000"/>
                </a:solidFill>
                <a:latin typeface="IBM Plex Sans"/>
                <a:ea typeface="IBM Plex Sans"/>
                <a:cs typeface="IBM Plex Sans"/>
                <a:sym typeface="IBM Plex Sans"/>
              </a:rPr>
              <a:t>Define key parameters</a:t>
            </a:r>
          </a:p>
        </p:txBody>
      </p:sp>
      <p:grpSp>
        <p:nvGrpSpPr>
          <p:cNvPr name="Group 11" id="11"/>
          <p:cNvGrpSpPr>
            <a:grpSpLocks noChangeAspect="true"/>
          </p:cNvGrpSpPr>
          <p:nvPr/>
        </p:nvGrpSpPr>
        <p:grpSpPr>
          <a:xfrm rot="0">
            <a:off x="10502289" y="7330582"/>
            <a:ext cx="2318395" cy="2318386"/>
            <a:chOff x="0" y="0"/>
            <a:chExt cx="6350000" cy="6349975"/>
          </a:xfrm>
        </p:grpSpPr>
        <p:sp>
          <p:nvSpPr>
            <p:cNvPr name="Freeform 12" id="12"/>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6"/>
              <a:stretch>
                <a:fillRect l="-24906" t="0" r="-24906" b="0"/>
              </a:stretch>
            </a:blipFill>
          </p:spPr>
        </p:sp>
      </p:grpSp>
      <p:grpSp>
        <p:nvGrpSpPr>
          <p:cNvPr name="Group 13" id="13"/>
          <p:cNvGrpSpPr>
            <a:grpSpLocks noChangeAspect="true"/>
          </p:cNvGrpSpPr>
          <p:nvPr/>
        </p:nvGrpSpPr>
        <p:grpSpPr>
          <a:xfrm rot="0">
            <a:off x="14533031" y="7330582"/>
            <a:ext cx="2318395" cy="2318386"/>
            <a:chOff x="0" y="0"/>
            <a:chExt cx="6350000" cy="6349975"/>
          </a:xfrm>
        </p:grpSpPr>
        <p:sp>
          <p:nvSpPr>
            <p:cNvPr name="Freeform 14" id="14"/>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7"/>
              <a:stretch>
                <a:fillRect l="-55170" t="0" r="-55170"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7962901" cy="10287000"/>
          </a:xfrm>
          <a:prstGeom prst="rect">
            <a:avLst/>
          </a:prstGeom>
          <a:solidFill>
            <a:srgbClr val="F4F4F4"/>
          </a:solidFill>
        </p:spPr>
      </p:sp>
      <p:grpSp>
        <p:nvGrpSpPr>
          <p:cNvPr name="Group 3" id="3"/>
          <p:cNvGrpSpPr/>
          <p:nvPr/>
        </p:nvGrpSpPr>
        <p:grpSpPr>
          <a:xfrm rot="0">
            <a:off x="1028700" y="1127332"/>
            <a:ext cx="3516876" cy="431386"/>
            <a:chOff x="0" y="0"/>
            <a:chExt cx="4689168" cy="575182"/>
          </a:xfrm>
        </p:grpSpPr>
        <p:sp>
          <p:nvSpPr>
            <p:cNvPr name="Freeform 4" id="4"/>
            <p:cNvSpPr/>
            <p:nvPr/>
          </p:nvSpPr>
          <p:spPr>
            <a:xfrm flipH="false" flipV="false" rot="0">
              <a:off x="0" y="0"/>
              <a:ext cx="564724" cy="575182"/>
            </a:xfrm>
            <a:custGeom>
              <a:avLst/>
              <a:gdLst/>
              <a:ahLst/>
              <a:cxnLst/>
              <a:rect r="r" b="b" t="t" l="l"/>
              <a:pathLst>
                <a:path h="575182" w="564724">
                  <a:moveTo>
                    <a:pt x="0" y="0"/>
                  </a:moveTo>
                  <a:lnTo>
                    <a:pt x="564724" y="0"/>
                  </a:lnTo>
                  <a:lnTo>
                    <a:pt x="564724" y="575182"/>
                  </a:lnTo>
                  <a:lnTo>
                    <a:pt x="0" y="5751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102795" y="68516"/>
              <a:ext cx="3586372" cy="428625"/>
            </a:xfrm>
            <a:prstGeom prst="rect">
              <a:avLst/>
            </a:prstGeom>
          </p:spPr>
          <p:txBody>
            <a:bodyPr anchor="t" rtlCol="false" tIns="0" lIns="0" bIns="0" rIns="0">
              <a:spAutoFit/>
            </a:bodyPr>
            <a:lstStyle/>
            <a:p>
              <a:pPr algn="l" marL="0" indent="0" lvl="0">
                <a:lnSpc>
                  <a:spcPts val="2520"/>
                </a:lnSpc>
                <a:spcBef>
                  <a:spcPct val="0"/>
                </a:spcBef>
              </a:pPr>
              <a:r>
                <a:rPr lang="en-US" sz="2100">
                  <a:solidFill>
                    <a:srgbClr val="000000"/>
                  </a:solidFill>
                  <a:latin typeface="IBM Plex Sans"/>
                  <a:ea typeface="IBM Plex Sans"/>
                  <a:cs typeface="IBM Plex Sans"/>
                  <a:sym typeface="IBM Plex Sans"/>
                </a:rPr>
                <a:t>SamANTa</a:t>
              </a:r>
            </a:p>
          </p:txBody>
        </p:sp>
      </p:grpSp>
      <p:grpSp>
        <p:nvGrpSpPr>
          <p:cNvPr name="Group 6" id="6"/>
          <p:cNvGrpSpPr/>
          <p:nvPr/>
        </p:nvGrpSpPr>
        <p:grpSpPr>
          <a:xfrm rot="0">
            <a:off x="1028700" y="8774301"/>
            <a:ext cx="3134142" cy="483999"/>
            <a:chOff x="0" y="0"/>
            <a:chExt cx="4178856" cy="645332"/>
          </a:xfrm>
        </p:grpSpPr>
        <p:sp>
          <p:nvSpPr>
            <p:cNvPr name="AutoShape 7" id="7"/>
            <p:cNvSpPr/>
            <p:nvPr/>
          </p:nvSpPr>
          <p:spPr>
            <a:xfrm rot="0">
              <a:off x="0" y="0"/>
              <a:ext cx="4178856" cy="645332"/>
            </a:xfrm>
            <a:prstGeom prst="rect">
              <a:avLst/>
            </a:prstGeom>
            <a:solidFill>
              <a:srgbClr val="9600F2"/>
            </a:solidFill>
          </p:spPr>
        </p:sp>
        <p:sp>
          <p:nvSpPr>
            <p:cNvPr name="TextBox 8" id="8"/>
            <p:cNvSpPr txBox="true"/>
            <p:nvPr/>
          </p:nvSpPr>
          <p:spPr>
            <a:xfrm rot="0">
              <a:off x="291683" y="126018"/>
              <a:ext cx="3716088" cy="364700"/>
            </a:xfrm>
            <a:prstGeom prst="rect">
              <a:avLst/>
            </a:prstGeom>
          </p:spPr>
          <p:txBody>
            <a:bodyPr anchor="t" rtlCol="false" tIns="0" lIns="0" bIns="0" rIns="0">
              <a:spAutoFit/>
            </a:bodyPr>
            <a:lstStyle/>
            <a:p>
              <a:pPr algn="ctr">
                <a:lnSpc>
                  <a:spcPts val="2380"/>
                </a:lnSpc>
                <a:spcBef>
                  <a:spcPct val="0"/>
                </a:spcBef>
              </a:pPr>
              <a:r>
                <a:rPr lang="en-US" sz="1700">
                  <a:solidFill>
                    <a:srgbClr val="FFFFFF"/>
                  </a:solidFill>
                  <a:latin typeface="IBM Plex Sans"/>
                  <a:ea typeface="IBM Plex Sans"/>
                  <a:cs typeface="IBM Plex Sans"/>
                  <a:sym typeface="IBM Plex Sans"/>
                </a:rPr>
                <a:t>CONTINUE</a:t>
              </a:r>
            </a:p>
          </p:txBody>
        </p:sp>
      </p:grpSp>
      <p:sp>
        <p:nvSpPr>
          <p:cNvPr name="Freeform 9" id="9"/>
          <p:cNvSpPr/>
          <p:nvPr/>
        </p:nvSpPr>
        <p:spPr>
          <a:xfrm flipH="false" flipV="false" rot="0">
            <a:off x="8448744" y="2890906"/>
            <a:ext cx="9147274" cy="5174474"/>
          </a:xfrm>
          <a:custGeom>
            <a:avLst/>
            <a:gdLst/>
            <a:ahLst/>
            <a:cxnLst/>
            <a:rect r="r" b="b" t="t" l="l"/>
            <a:pathLst>
              <a:path h="5174474" w="9147274">
                <a:moveTo>
                  <a:pt x="0" y="0"/>
                </a:moveTo>
                <a:lnTo>
                  <a:pt x="9147274" y="0"/>
                </a:lnTo>
                <a:lnTo>
                  <a:pt x="9147274" y="5174474"/>
                </a:lnTo>
                <a:lnTo>
                  <a:pt x="0" y="5174474"/>
                </a:lnTo>
                <a:lnTo>
                  <a:pt x="0" y="0"/>
                </a:lnTo>
                <a:close/>
              </a:path>
            </a:pathLst>
          </a:custGeom>
          <a:blipFill>
            <a:blip r:embed="rId4"/>
            <a:stretch>
              <a:fillRect l="0" t="-8785" r="0" b="0"/>
            </a:stretch>
          </a:blipFill>
        </p:spPr>
      </p:sp>
      <p:sp>
        <p:nvSpPr>
          <p:cNvPr name="TextBox 10" id="10"/>
          <p:cNvSpPr txBox="true"/>
          <p:nvPr/>
        </p:nvSpPr>
        <p:spPr>
          <a:xfrm rot="0">
            <a:off x="944691" y="4182743"/>
            <a:ext cx="6073518" cy="2590800"/>
          </a:xfrm>
          <a:prstGeom prst="rect">
            <a:avLst/>
          </a:prstGeom>
        </p:spPr>
        <p:txBody>
          <a:bodyPr anchor="t" rtlCol="false" tIns="0" lIns="0" bIns="0" rIns="0">
            <a:spAutoFit/>
          </a:bodyPr>
          <a:lstStyle/>
          <a:p>
            <a:pPr algn="l" marL="0" indent="0" lvl="0">
              <a:lnSpc>
                <a:spcPts val="10200"/>
              </a:lnSpc>
              <a:spcBef>
                <a:spcPct val="0"/>
              </a:spcBef>
            </a:pPr>
            <a:r>
              <a:rPr lang="en-US" b="true" sz="8500">
                <a:solidFill>
                  <a:srgbClr val="000000"/>
                </a:solidFill>
                <a:latin typeface="IBM Plex Sans Bold"/>
                <a:ea typeface="IBM Plex Sans Bold"/>
                <a:cs typeface="IBM Plex Sans Bold"/>
                <a:sym typeface="IBM Plex Sans Bold"/>
              </a:rPr>
              <a:t>Pheromone Update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2235391" y="-1482478"/>
            <a:ext cx="13770229" cy="10740778"/>
          </a:xfrm>
          <a:custGeom>
            <a:avLst/>
            <a:gdLst/>
            <a:ahLst/>
            <a:cxnLst/>
            <a:rect r="r" b="b" t="t" l="l"/>
            <a:pathLst>
              <a:path h="10740778" w="13770229">
                <a:moveTo>
                  <a:pt x="0" y="0"/>
                </a:moveTo>
                <a:lnTo>
                  <a:pt x="13770229" y="0"/>
                </a:lnTo>
                <a:lnTo>
                  <a:pt x="13770229" y="10740778"/>
                </a:lnTo>
                <a:lnTo>
                  <a:pt x="0" y="107407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1127332"/>
            <a:ext cx="3516876" cy="431386"/>
            <a:chOff x="0" y="0"/>
            <a:chExt cx="4689168" cy="575182"/>
          </a:xfrm>
        </p:grpSpPr>
        <p:sp>
          <p:nvSpPr>
            <p:cNvPr name="Freeform 4" id="4"/>
            <p:cNvSpPr/>
            <p:nvPr/>
          </p:nvSpPr>
          <p:spPr>
            <a:xfrm flipH="false" flipV="false" rot="0">
              <a:off x="0" y="0"/>
              <a:ext cx="564724" cy="575182"/>
            </a:xfrm>
            <a:custGeom>
              <a:avLst/>
              <a:gdLst/>
              <a:ahLst/>
              <a:cxnLst/>
              <a:rect r="r" b="b" t="t" l="l"/>
              <a:pathLst>
                <a:path h="575182" w="564724">
                  <a:moveTo>
                    <a:pt x="0" y="0"/>
                  </a:moveTo>
                  <a:lnTo>
                    <a:pt x="564724" y="0"/>
                  </a:lnTo>
                  <a:lnTo>
                    <a:pt x="564724" y="575182"/>
                  </a:lnTo>
                  <a:lnTo>
                    <a:pt x="0" y="5751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102795" y="68516"/>
              <a:ext cx="3586372" cy="428625"/>
            </a:xfrm>
            <a:prstGeom prst="rect">
              <a:avLst/>
            </a:prstGeom>
          </p:spPr>
          <p:txBody>
            <a:bodyPr anchor="t" rtlCol="false" tIns="0" lIns="0" bIns="0" rIns="0">
              <a:spAutoFit/>
            </a:bodyPr>
            <a:lstStyle/>
            <a:p>
              <a:pPr algn="l" marL="0" indent="0" lvl="0">
                <a:lnSpc>
                  <a:spcPts val="2520"/>
                </a:lnSpc>
                <a:spcBef>
                  <a:spcPct val="0"/>
                </a:spcBef>
              </a:pPr>
              <a:r>
                <a:rPr lang="en-US" sz="2100">
                  <a:solidFill>
                    <a:srgbClr val="000000"/>
                  </a:solidFill>
                  <a:latin typeface="IBM Plex Sans"/>
                  <a:ea typeface="IBM Plex Sans"/>
                  <a:cs typeface="IBM Plex Sans"/>
                  <a:sym typeface="IBM Plex Sans"/>
                </a:rPr>
                <a:t>SamANTa</a:t>
              </a:r>
            </a:p>
          </p:txBody>
        </p:sp>
      </p:grpSp>
      <p:grpSp>
        <p:nvGrpSpPr>
          <p:cNvPr name="Group 6" id="6"/>
          <p:cNvGrpSpPr/>
          <p:nvPr/>
        </p:nvGrpSpPr>
        <p:grpSpPr>
          <a:xfrm rot="0">
            <a:off x="14125158" y="1028700"/>
            <a:ext cx="3134142" cy="483999"/>
            <a:chOff x="0" y="0"/>
            <a:chExt cx="4178856" cy="645332"/>
          </a:xfrm>
        </p:grpSpPr>
        <p:sp>
          <p:nvSpPr>
            <p:cNvPr name="AutoShape 7" id="7"/>
            <p:cNvSpPr/>
            <p:nvPr/>
          </p:nvSpPr>
          <p:spPr>
            <a:xfrm rot="0">
              <a:off x="0" y="0"/>
              <a:ext cx="4178856" cy="645332"/>
            </a:xfrm>
            <a:prstGeom prst="rect">
              <a:avLst/>
            </a:prstGeom>
            <a:solidFill>
              <a:srgbClr val="9600F2"/>
            </a:solidFill>
          </p:spPr>
        </p:sp>
        <p:sp>
          <p:nvSpPr>
            <p:cNvPr name="TextBox 8" id="8"/>
            <p:cNvSpPr txBox="true"/>
            <p:nvPr/>
          </p:nvSpPr>
          <p:spPr>
            <a:xfrm rot="0">
              <a:off x="291683" y="126018"/>
              <a:ext cx="3716088" cy="364700"/>
            </a:xfrm>
            <a:prstGeom prst="rect">
              <a:avLst/>
            </a:prstGeom>
          </p:spPr>
          <p:txBody>
            <a:bodyPr anchor="t" rtlCol="false" tIns="0" lIns="0" bIns="0" rIns="0">
              <a:spAutoFit/>
            </a:bodyPr>
            <a:lstStyle/>
            <a:p>
              <a:pPr algn="ctr">
                <a:lnSpc>
                  <a:spcPts val="2380"/>
                </a:lnSpc>
                <a:spcBef>
                  <a:spcPct val="0"/>
                </a:spcBef>
              </a:pPr>
              <a:r>
                <a:rPr lang="en-US" sz="1700">
                  <a:solidFill>
                    <a:srgbClr val="FFFFFF"/>
                  </a:solidFill>
                  <a:latin typeface="IBM Plex Sans"/>
                  <a:ea typeface="IBM Plex Sans"/>
                  <a:cs typeface="IBM Plex Sans"/>
                  <a:sym typeface="IBM Plex Sans"/>
                </a:rPr>
                <a:t>CONTINUE</a:t>
              </a:r>
            </a:p>
          </p:txBody>
        </p:sp>
      </p:grpSp>
      <p:grpSp>
        <p:nvGrpSpPr>
          <p:cNvPr name="Group 9" id="9"/>
          <p:cNvGrpSpPr>
            <a:grpSpLocks noChangeAspect="true"/>
          </p:cNvGrpSpPr>
          <p:nvPr/>
        </p:nvGrpSpPr>
        <p:grpSpPr>
          <a:xfrm rot="0">
            <a:off x="10502289" y="7330582"/>
            <a:ext cx="2318395" cy="2318386"/>
            <a:chOff x="0" y="0"/>
            <a:chExt cx="6350000" cy="6349975"/>
          </a:xfrm>
        </p:grpSpPr>
        <p:sp>
          <p:nvSpPr>
            <p:cNvPr name="Freeform 10" id="10"/>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6"/>
              <a:stretch>
                <a:fillRect l="-24906" t="0" r="-24906" b="0"/>
              </a:stretch>
            </a:blipFill>
          </p:spPr>
        </p:sp>
      </p:grpSp>
      <p:grpSp>
        <p:nvGrpSpPr>
          <p:cNvPr name="Group 11" id="11"/>
          <p:cNvGrpSpPr>
            <a:grpSpLocks noChangeAspect="true"/>
          </p:cNvGrpSpPr>
          <p:nvPr/>
        </p:nvGrpSpPr>
        <p:grpSpPr>
          <a:xfrm rot="0">
            <a:off x="14533031" y="7330582"/>
            <a:ext cx="2318395" cy="2318386"/>
            <a:chOff x="0" y="0"/>
            <a:chExt cx="6350000" cy="6349975"/>
          </a:xfrm>
        </p:grpSpPr>
        <p:sp>
          <p:nvSpPr>
            <p:cNvPr name="Freeform 12" id="12"/>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7"/>
              <a:stretch>
                <a:fillRect l="-55170" t="0" r="-55170" b="0"/>
              </a:stretch>
            </a:blipFill>
          </p:spPr>
        </p:sp>
      </p:grpSp>
      <p:sp>
        <p:nvSpPr>
          <p:cNvPr name="Freeform 13" id="13"/>
          <p:cNvSpPr/>
          <p:nvPr/>
        </p:nvSpPr>
        <p:spPr>
          <a:xfrm flipH="false" flipV="false" rot="0">
            <a:off x="1028700" y="3887911"/>
            <a:ext cx="11301259" cy="4633516"/>
          </a:xfrm>
          <a:custGeom>
            <a:avLst/>
            <a:gdLst/>
            <a:ahLst/>
            <a:cxnLst/>
            <a:rect r="r" b="b" t="t" l="l"/>
            <a:pathLst>
              <a:path h="4633516" w="11301259">
                <a:moveTo>
                  <a:pt x="0" y="0"/>
                </a:moveTo>
                <a:lnTo>
                  <a:pt x="11301259" y="0"/>
                </a:lnTo>
                <a:lnTo>
                  <a:pt x="11301259" y="4633516"/>
                </a:lnTo>
                <a:lnTo>
                  <a:pt x="0" y="4633516"/>
                </a:lnTo>
                <a:lnTo>
                  <a:pt x="0" y="0"/>
                </a:lnTo>
                <a:close/>
              </a:path>
            </a:pathLst>
          </a:custGeom>
          <a:blipFill>
            <a:blip r:embed="rId8"/>
            <a:stretch>
              <a:fillRect l="0" t="0" r="0" b="0"/>
            </a:stretch>
          </a:blipFill>
        </p:spPr>
      </p:sp>
      <p:sp>
        <p:nvSpPr>
          <p:cNvPr name="TextBox 14" id="14"/>
          <p:cNvSpPr txBox="true"/>
          <p:nvPr/>
        </p:nvSpPr>
        <p:spPr>
          <a:xfrm rot="0">
            <a:off x="3564182" y="1789267"/>
            <a:ext cx="7815949" cy="1295400"/>
          </a:xfrm>
          <a:prstGeom prst="rect">
            <a:avLst/>
          </a:prstGeom>
        </p:spPr>
        <p:txBody>
          <a:bodyPr anchor="t" rtlCol="false" tIns="0" lIns="0" bIns="0" rIns="0">
            <a:spAutoFit/>
          </a:bodyPr>
          <a:lstStyle/>
          <a:p>
            <a:pPr algn="l" marL="0" indent="0" lvl="0">
              <a:lnSpc>
                <a:spcPts val="10200"/>
              </a:lnSpc>
              <a:spcBef>
                <a:spcPct val="0"/>
              </a:spcBef>
            </a:pPr>
            <a:r>
              <a:rPr lang="en-US" b="true" sz="8500">
                <a:solidFill>
                  <a:srgbClr val="000000"/>
                </a:solidFill>
                <a:latin typeface="IBM Plex Sans Bold"/>
                <a:ea typeface="IBM Plex Sans Bold"/>
                <a:cs typeface="IBM Plex Sans Bold"/>
                <a:sym typeface="IBM Plex Sans Bold"/>
              </a:rPr>
              <a:t>Ant Movement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91492">
            <a:off x="7014836" y="7192293"/>
            <a:ext cx="12989428" cy="8006211"/>
          </a:xfrm>
          <a:custGeom>
            <a:avLst/>
            <a:gdLst/>
            <a:ahLst/>
            <a:cxnLst/>
            <a:rect r="r" b="b" t="t" l="l"/>
            <a:pathLst>
              <a:path h="8006211" w="12989428">
                <a:moveTo>
                  <a:pt x="0" y="0"/>
                </a:moveTo>
                <a:lnTo>
                  <a:pt x="12989428" y="0"/>
                </a:lnTo>
                <a:lnTo>
                  <a:pt x="12989428" y="8006211"/>
                </a:lnTo>
                <a:lnTo>
                  <a:pt x="0" y="80062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802040" y="-3040001"/>
            <a:ext cx="8000002" cy="6080002"/>
          </a:xfrm>
          <a:custGeom>
            <a:avLst/>
            <a:gdLst/>
            <a:ahLst/>
            <a:cxnLst/>
            <a:rect r="r" b="b" t="t" l="l"/>
            <a:pathLst>
              <a:path h="6080002" w="8000002">
                <a:moveTo>
                  <a:pt x="0" y="0"/>
                </a:moveTo>
                <a:lnTo>
                  <a:pt x="8000003" y="0"/>
                </a:lnTo>
                <a:lnTo>
                  <a:pt x="8000003" y="6080002"/>
                </a:lnTo>
                <a:lnTo>
                  <a:pt x="0" y="60800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4" id="4"/>
          <p:cNvSpPr/>
          <p:nvPr/>
        </p:nvSpPr>
        <p:spPr>
          <a:xfrm rot="0">
            <a:off x="0" y="0"/>
            <a:ext cx="8252368" cy="10287000"/>
          </a:xfrm>
          <a:prstGeom prst="rect">
            <a:avLst/>
          </a:prstGeom>
          <a:solidFill>
            <a:srgbClr val="F4F4F4"/>
          </a:solidFill>
        </p:spPr>
      </p:sp>
      <p:sp>
        <p:nvSpPr>
          <p:cNvPr name="TextBox 5" id="5"/>
          <p:cNvSpPr txBox="true"/>
          <p:nvPr/>
        </p:nvSpPr>
        <p:spPr>
          <a:xfrm rot="0">
            <a:off x="10486286" y="4169286"/>
            <a:ext cx="5451492" cy="1448430"/>
          </a:xfrm>
          <a:prstGeom prst="rect">
            <a:avLst/>
          </a:prstGeom>
        </p:spPr>
        <p:txBody>
          <a:bodyPr anchor="t" rtlCol="false" tIns="0" lIns="0" bIns="0" rIns="0">
            <a:spAutoFit/>
          </a:bodyPr>
          <a:lstStyle/>
          <a:p>
            <a:pPr algn="l">
              <a:lnSpc>
                <a:spcPts val="11635"/>
              </a:lnSpc>
            </a:pPr>
            <a:r>
              <a:rPr lang="en-US" sz="8950" u="sng">
                <a:solidFill>
                  <a:srgbClr val="000000"/>
                </a:solidFill>
                <a:latin typeface="IBM Plex Sans"/>
                <a:ea typeface="IBM Plex Sans"/>
                <a:cs typeface="IBM Plex Sans"/>
                <a:sym typeface="IBM Plex Sans"/>
                <a:hlinkClick r:id="rId6" tooltip="https://colab.research.google.com/drive/1vIa3FDP-lZ04DYuzTyRLPwiq2Aohx6y7?hl=ru"/>
              </a:rPr>
              <a:t>Click here!</a:t>
            </a:r>
          </a:p>
        </p:txBody>
      </p:sp>
      <p:sp>
        <p:nvSpPr>
          <p:cNvPr name="Freeform 6" id="6"/>
          <p:cNvSpPr/>
          <p:nvPr/>
        </p:nvSpPr>
        <p:spPr>
          <a:xfrm flipH="false" flipV="false" rot="2936797">
            <a:off x="14981643" y="-562652"/>
            <a:ext cx="10102510" cy="8835104"/>
          </a:xfrm>
          <a:custGeom>
            <a:avLst/>
            <a:gdLst/>
            <a:ahLst/>
            <a:cxnLst/>
            <a:rect r="r" b="b" t="t" l="l"/>
            <a:pathLst>
              <a:path h="8835104" w="10102510">
                <a:moveTo>
                  <a:pt x="0" y="0"/>
                </a:moveTo>
                <a:lnTo>
                  <a:pt x="10102509" y="0"/>
                </a:lnTo>
                <a:lnTo>
                  <a:pt x="10102509" y="8835104"/>
                </a:lnTo>
                <a:lnTo>
                  <a:pt x="0" y="883510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1028700" y="1179242"/>
            <a:ext cx="3516876" cy="431386"/>
            <a:chOff x="0" y="0"/>
            <a:chExt cx="4689168" cy="575182"/>
          </a:xfrm>
        </p:grpSpPr>
        <p:sp>
          <p:nvSpPr>
            <p:cNvPr name="Freeform 8" id="8"/>
            <p:cNvSpPr/>
            <p:nvPr/>
          </p:nvSpPr>
          <p:spPr>
            <a:xfrm flipH="false" flipV="false" rot="0">
              <a:off x="0" y="0"/>
              <a:ext cx="564724" cy="575182"/>
            </a:xfrm>
            <a:custGeom>
              <a:avLst/>
              <a:gdLst/>
              <a:ahLst/>
              <a:cxnLst/>
              <a:rect r="r" b="b" t="t" l="l"/>
              <a:pathLst>
                <a:path h="575182" w="564724">
                  <a:moveTo>
                    <a:pt x="0" y="0"/>
                  </a:moveTo>
                  <a:lnTo>
                    <a:pt x="564724" y="0"/>
                  </a:lnTo>
                  <a:lnTo>
                    <a:pt x="564724" y="575182"/>
                  </a:lnTo>
                  <a:lnTo>
                    <a:pt x="0" y="57518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9" id="9"/>
            <p:cNvSpPr txBox="true"/>
            <p:nvPr/>
          </p:nvSpPr>
          <p:spPr>
            <a:xfrm rot="0">
              <a:off x="1102795" y="68516"/>
              <a:ext cx="3586372" cy="428625"/>
            </a:xfrm>
            <a:prstGeom prst="rect">
              <a:avLst/>
            </a:prstGeom>
          </p:spPr>
          <p:txBody>
            <a:bodyPr anchor="t" rtlCol="false" tIns="0" lIns="0" bIns="0" rIns="0">
              <a:spAutoFit/>
            </a:bodyPr>
            <a:lstStyle/>
            <a:p>
              <a:pPr algn="l" marL="0" indent="0" lvl="0">
                <a:lnSpc>
                  <a:spcPts val="2520"/>
                </a:lnSpc>
                <a:spcBef>
                  <a:spcPct val="0"/>
                </a:spcBef>
              </a:pPr>
              <a:r>
                <a:rPr lang="en-US" sz="2100">
                  <a:solidFill>
                    <a:srgbClr val="000000"/>
                  </a:solidFill>
                  <a:latin typeface="IBM Plex Sans"/>
                  <a:ea typeface="IBM Plex Sans"/>
                  <a:cs typeface="IBM Plex Sans"/>
                  <a:sym typeface="IBM Plex Sans"/>
                </a:rPr>
                <a:t>SamANTa</a:t>
              </a:r>
            </a:p>
          </p:txBody>
        </p:sp>
      </p:grpSp>
      <p:sp>
        <p:nvSpPr>
          <p:cNvPr name="Freeform 10" id="10"/>
          <p:cNvSpPr/>
          <p:nvPr/>
        </p:nvSpPr>
        <p:spPr>
          <a:xfrm flipH="false" flipV="false" rot="0">
            <a:off x="1028700" y="3854900"/>
            <a:ext cx="6496050" cy="4855797"/>
          </a:xfrm>
          <a:custGeom>
            <a:avLst/>
            <a:gdLst/>
            <a:ahLst/>
            <a:cxnLst/>
            <a:rect r="r" b="b" t="t" l="l"/>
            <a:pathLst>
              <a:path h="4855797" w="6496050">
                <a:moveTo>
                  <a:pt x="0" y="0"/>
                </a:moveTo>
                <a:lnTo>
                  <a:pt x="6496050" y="0"/>
                </a:lnTo>
                <a:lnTo>
                  <a:pt x="6496050" y="4855798"/>
                </a:lnTo>
                <a:lnTo>
                  <a:pt x="0" y="4855798"/>
                </a:lnTo>
                <a:lnTo>
                  <a:pt x="0" y="0"/>
                </a:lnTo>
                <a:close/>
              </a:path>
            </a:pathLst>
          </a:custGeom>
          <a:blipFill>
            <a:blip r:embed="rId11"/>
            <a:stretch>
              <a:fillRect l="0" t="0" r="0" b="0"/>
            </a:stretch>
          </a:blipFill>
        </p:spPr>
      </p:sp>
      <p:sp>
        <p:nvSpPr>
          <p:cNvPr name="TextBox 11" id="11"/>
          <p:cNvSpPr txBox="true"/>
          <p:nvPr/>
        </p:nvSpPr>
        <p:spPr>
          <a:xfrm rot="0">
            <a:off x="1028700" y="2273965"/>
            <a:ext cx="6496050" cy="1104900"/>
          </a:xfrm>
          <a:prstGeom prst="rect">
            <a:avLst/>
          </a:prstGeom>
        </p:spPr>
        <p:txBody>
          <a:bodyPr anchor="t" rtlCol="false" tIns="0" lIns="0" bIns="0" rIns="0">
            <a:spAutoFit/>
          </a:bodyPr>
          <a:lstStyle/>
          <a:p>
            <a:pPr algn="l" marL="0" indent="0" lvl="0">
              <a:lnSpc>
                <a:spcPts val="8760"/>
              </a:lnSpc>
              <a:spcBef>
                <a:spcPct val="0"/>
              </a:spcBef>
            </a:pPr>
            <a:r>
              <a:rPr lang="en-US" b="true" sz="7300" u="none">
                <a:solidFill>
                  <a:srgbClr val="000000"/>
                </a:solidFill>
                <a:latin typeface="IBM Plex Sans Bold"/>
                <a:ea typeface="IBM Plex Sans Bold"/>
                <a:cs typeface="IBM Plex Sans Bold"/>
                <a:sym typeface="IBM Plex Sans Bold"/>
              </a:rPr>
              <a:t>Demonstration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9513368">
            <a:off x="-3401841" y="4114140"/>
            <a:ext cx="7436427" cy="8610600"/>
          </a:xfrm>
          <a:custGeom>
            <a:avLst/>
            <a:gdLst/>
            <a:ahLst/>
            <a:cxnLst/>
            <a:rect r="r" b="b" t="t" l="l"/>
            <a:pathLst>
              <a:path h="8610600" w="7436427">
                <a:moveTo>
                  <a:pt x="0" y="0"/>
                </a:moveTo>
                <a:lnTo>
                  <a:pt x="7436427" y="0"/>
                </a:lnTo>
                <a:lnTo>
                  <a:pt x="7436427" y="8610600"/>
                </a:lnTo>
                <a:lnTo>
                  <a:pt x="0" y="8610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6667500"/>
            <a:ext cx="7156595" cy="2590800"/>
          </a:xfrm>
          <a:prstGeom prst="rect">
            <a:avLst/>
          </a:prstGeom>
        </p:spPr>
        <p:txBody>
          <a:bodyPr anchor="t" rtlCol="false" tIns="0" lIns="0" bIns="0" rIns="0">
            <a:spAutoFit/>
          </a:bodyPr>
          <a:lstStyle/>
          <a:p>
            <a:pPr algn="l" marL="0" indent="0" lvl="0">
              <a:lnSpc>
                <a:spcPts val="10200"/>
              </a:lnSpc>
              <a:spcBef>
                <a:spcPct val="0"/>
              </a:spcBef>
            </a:pPr>
            <a:r>
              <a:rPr lang="en-US" b="true" sz="8500" u="none">
                <a:solidFill>
                  <a:srgbClr val="000000"/>
                </a:solidFill>
                <a:latin typeface="IBM Plex Sans Bold"/>
                <a:ea typeface="IBM Plex Sans Bold"/>
                <a:cs typeface="IBM Plex Sans Bold"/>
                <a:sym typeface="IBM Plex Sans Bold"/>
              </a:rPr>
              <a:t>Thank you</a:t>
            </a:r>
            <a:r>
              <a:rPr lang="en-US" sz="8500" u="none">
                <a:solidFill>
                  <a:srgbClr val="000000"/>
                </a:solidFill>
                <a:latin typeface="IBM Plex Sans"/>
                <a:ea typeface="IBM Plex Sans"/>
                <a:cs typeface="IBM Plex Sans"/>
                <a:sym typeface="IBM Plex Sans"/>
              </a:rPr>
              <a:t> for your attention!</a:t>
            </a:r>
          </a:p>
        </p:txBody>
      </p:sp>
      <p:sp>
        <p:nvSpPr>
          <p:cNvPr name="TextBox 4" id="4"/>
          <p:cNvSpPr txBox="true"/>
          <p:nvPr/>
        </p:nvSpPr>
        <p:spPr>
          <a:xfrm rot="0">
            <a:off x="10767060" y="4930181"/>
            <a:ext cx="5638263" cy="1635125"/>
          </a:xfrm>
          <a:prstGeom prst="rect">
            <a:avLst/>
          </a:prstGeom>
        </p:spPr>
        <p:txBody>
          <a:bodyPr anchor="t" rtlCol="false" tIns="0" lIns="0" bIns="0" rIns="0">
            <a:spAutoFit/>
          </a:bodyPr>
          <a:lstStyle/>
          <a:p>
            <a:pPr algn="l">
              <a:lnSpc>
                <a:spcPts val="3250"/>
              </a:lnSpc>
            </a:pPr>
            <a:r>
              <a:rPr lang="en-US" sz="2500">
                <a:solidFill>
                  <a:srgbClr val="000000"/>
                </a:solidFill>
                <a:latin typeface="IBM Plex Sans"/>
                <a:ea typeface="IBM Plex Sans"/>
                <a:cs typeface="IBM Plex Sans"/>
                <a:sym typeface="IBM Plex Sans"/>
              </a:rPr>
              <a:t>soffiyka</a:t>
            </a:r>
          </a:p>
          <a:p>
            <a:pPr algn="l">
              <a:lnSpc>
                <a:spcPts val="3250"/>
              </a:lnSpc>
            </a:pPr>
            <a:r>
              <a:rPr lang="en-US" sz="2500">
                <a:solidFill>
                  <a:srgbClr val="000000"/>
                </a:solidFill>
                <a:latin typeface="IBM Plex Sans"/>
                <a:ea typeface="IBM Plex Sans"/>
                <a:cs typeface="IBM Plex Sans"/>
                <a:sym typeface="IBM Plex Sans"/>
              </a:rPr>
              <a:t>kr1st1nab</a:t>
            </a:r>
          </a:p>
          <a:p>
            <a:pPr algn="l">
              <a:lnSpc>
                <a:spcPts val="3250"/>
              </a:lnSpc>
            </a:pPr>
            <a:r>
              <a:rPr lang="en-US" sz="2500">
                <a:solidFill>
                  <a:srgbClr val="000000"/>
                </a:solidFill>
                <a:latin typeface="IBM Plex Sans"/>
                <a:ea typeface="IBM Plex Sans"/>
                <a:cs typeface="IBM Plex Sans"/>
                <a:sym typeface="IBM Plex Sans"/>
              </a:rPr>
              <a:t>wxid_g3zdo77zmw5n22</a:t>
            </a:r>
          </a:p>
          <a:p>
            <a:pPr algn="l">
              <a:lnSpc>
                <a:spcPts val="3250"/>
              </a:lnSpc>
            </a:pPr>
            <a:r>
              <a:rPr lang="en-US" sz="2500">
                <a:solidFill>
                  <a:srgbClr val="000000"/>
                </a:solidFill>
                <a:latin typeface="IBM Plex Sans"/>
                <a:ea typeface="IBM Plex Sans"/>
                <a:cs typeface="IBM Plex Sans"/>
                <a:sym typeface="IBM Plex Sans"/>
              </a:rPr>
              <a:t>Enc0reMan</a:t>
            </a:r>
          </a:p>
        </p:txBody>
      </p:sp>
      <p:sp>
        <p:nvSpPr>
          <p:cNvPr name="TextBox 5" id="5"/>
          <p:cNvSpPr txBox="true"/>
          <p:nvPr/>
        </p:nvSpPr>
        <p:spPr>
          <a:xfrm rot="0">
            <a:off x="10767060" y="4085516"/>
            <a:ext cx="5638263" cy="450215"/>
          </a:xfrm>
          <a:prstGeom prst="rect">
            <a:avLst/>
          </a:prstGeom>
        </p:spPr>
        <p:txBody>
          <a:bodyPr anchor="t" rtlCol="false" tIns="0" lIns="0" bIns="0" rIns="0">
            <a:spAutoFit/>
          </a:bodyPr>
          <a:lstStyle/>
          <a:p>
            <a:pPr algn="l">
              <a:lnSpc>
                <a:spcPts val="3640"/>
              </a:lnSpc>
            </a:pPr>
            <a:r>
              <a:rPr lang="en-US" sz="2800" b="true">
                <a:solidFill>
                  <a:srgbClr val="9600F2"/>
                </a:solidFill>
                <a:latin typeface="IBM Plex Sans Bold"/>
                <a:ea typeface="IBM Plex Sans Bold"/>
                <a:cs typeface="IBM Plex Sans Bold"/>
                <a:sym typeface="IBM Plex Sans Bold"/>
              </a:rPr>
              <a:t>Our WEChats:</a:t>
            </a:r>
          </a:p>
        </p:txBody>
      </p:sp>
      <p:sp>
        <p:nvSpPr>
          <p:cNvPr name="TextBox 6" id="6"/>
          <p:cNvSpPr txBox="true"/>
          <p:nvPr/>
        </p:nvSpPr>
        <p:spPr>
          <a:xfrm rot="0">
            <a:off x="10767060" y="7561184"/>
            <a:ext cx="5638263" cy="406400"/>
          </a:xfrm>
          <a:prstGeom prst="rect">
            <a:avLst/>
          </a:prstGeom>
        </p:spPr>
        <p:txBody>
          <a:bodyPr anchor="t" rtlCol="false" tIns="0" lIns="0" bIns="0" rIns="0">
            <a:spAutoFit/>
          </a:bodyPr>
          <a:lstStyle/>
          <a:p>
            <a:pPr algn="l">
              <a:lnSpc>
                <a:spcPts val="3250"/>
              </a:lnSpc>
            </a:pPr>
            <a:r>
              <a:rPr lang="en-US" sz="2500">
                <a:solidFill>
                  <a:srgbClr val="000000"/>
                </a:solidFill>
                <a:latin typeface="IBM Plex Sans"/>
                <a:ea typeface="IBM Plex Sans"/>
                <a:cs typeface="IBM Plex Sans"/>
                <a:sym typeface="IBM Plex Sans"/>
              </a:rPr>
              <a:t>911</a:t>
            </a:r>
          </a:p>
        </p:txBody>
      </p:sp>
      <p:sp>
        <p:nvSpPr>
          <p:cNvPr name="TextBox 7" id="7"/>
          <p:cNvSpPr txBox="true"/>
          <p:nvPr/>
        </p:nvSpPr>
        <p:spPr>
          <a:xfrm rot="0">
            <a:off x="10767060" y="6955831"/>
            <a:ext cx="5638263" cy="450215"/>
          </a:xfrm>
          <a:prstGeom prst="rect">
            <a:avLst/>
          </a:prstGeom>
        </p:spPr>
        <p:txBody>
          <a:bodyPr anchor="t" rtlCol="false" tIns="0" lIns="0" bIns="0" rIns="0">
            <a:spAutoFit/>
          </a:bodyPr>
          <a:lstStyle/>
          <a:p>
            <a:pPr algn="l">
              <a:lnSpc>
                <a:spcPts val="3640"/>
              </a:lnSpc>
            </a:pPr>
            <a:r>
              <a:rPr lang="en-US" b="true" sz="2800">
                <a:solidFill>
                  <a:srgbClr val="9600F2"/>
                </a:solidFill>
                <a:latin typeface="IBM Plex Sans Bold"/>
                <a:ea typeface="IBM Plex Sans Bold"/>
                <a:cs typeface="IBM Plex Sans Bold"/>
                <a:sym typeface="IBM Plex Sans Bold"/>
              </a:rPr>
              <a:t>Call us</a:t>
            </a:r>
          </a:p>
        </p:txBody>
      </p:sp>
      <p:grpSp>
        <p:nvGrpSpPr>
          <p:cNvPr name="Group 8" id="8"/>
          <p:cNvGrpSpPr/>
          <p:nvPr/>
        </p:nvGrpSpPr>
        <p:grpSpPr>
          <a:xfrm rot="0">
            <a:off x="1028700" y="1127332"/>
            <a:ext cx="3516876" cy="431386"/>
            <a:chOff x="0" y="0"/>
            <a:chExt cx="4689168" cy="575182"/>
          </a:xfrm>
        </p:grpSpPr>
        <p:sp>
          <p:nvSpPr>
            <p:cNvPr name="Freeform 9" id="9"/>
            <p:cNvSpPr/>
            <p:nvPr/>
          </p:nvSpPr>
          <p:spPr>
            <a:xfrm flipH="false" flipV="false" rot="0">
              <a:off x="0" y="0"/>
              <a:ext cx="564724" cy="575182"/>
            </a:xfrm>
            <a:custGeom>
              <a:avLst/>
              <a:gdLst/>
              <a:ahLst/>
              <a:cxnLst/>
              <a:rect r="r" b="b" t="t" l="l"/>
              <a:pathLst>
                <a:path h="575182" w="564724">
                  <a:moveTo>
                    <a:pt x="0" y="0"/>
                  </a:moveTo>
                  <a:lnTo>
                    <a:pt x="564724" y="0"/>
                  </a:lnTo>
                  <a:lnTo>
                    <a:pt x="564724" y="575182"/>
                  </a:lnTo>
                  <a:lnTo>
                    <a:pt x="0" y="5751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102795" y="68516"/>
              <a:ext cx="3586372" cy="428625"/>
            </a:xfrm>
            <a:prstGeom prst="rect">
              <a:avLst/>
            </a:prstGeom>
          </p:spPr>
          <p:txBody>
            <a:bodyPr anchor="t" rtlCol="false" tIns="0" lIns="0" bIns="0" rIns="0">
              <a:spAutoFit/>
            </a:bodyPr>
            <a:lstStyle/>
            <a:p>
              <a:pPr algn="l" marL="0" indent="0" lvl="0">
                <a:lnSpc>
                  <a:spcPts val="2520"/>
                </a:lnSpc>
                <a:spcBef>
                  <a:spcPct val="0"/>
                </a:spcBef>
              </a:pPr>
              <a:r>
                <a:rPr lang="en-US" sz="2100">
                  <a:solidFill>
                    <a:srgbClr val="000000"/>
                  </a:solidFill>
                  <a:latin typeface="IBM Plex Sans"/>
                  <a:ea typeface="IBM Plex Sans"/>
                  <a:cs typeface="IBM Plex Sans"/>
                  <a:sym typeface="IBM Plex Sans"/>
                </a:rPr>
                <a:t>SamANTa</a:t>
              </a:r>
            </a:p>
          </p:txBody>
        </p:sp>
      </p:grpSp>
      <p:sp>
        <p:nvSpPr>
          <p:cNvPr name="Freeform 11" id="11"/>
          <p:cNvSpPr/>
          <p:nvPr/>
        </p:nvSpPr>
        <p:spPr>
          <a:xfrm flipH="false" flipV="false" rot="0">
            <a:off x="1524389" y="2161929"/>
            <a:ext cx="5694244" cy="4505571"/>
          </a:xfrm>
          <a:custGeom>
            <a:avLst/>
            <a:gdLst/>
            <a:ahLst/>
            <a:cxnLst/>
            <a:rect r="r" b="b" t="t" l="l"/>
            <a:pathLst>
              <a:path h="4505571" w="5694244">
                <a:moveTo>
                  <a:pt x="0" y="0"/>
                </a:moveTo>
                <a:lnTo>
                  <a:pt x="5694245" y="0"/>
                </a:lnTo>
                <a:lnTo>
                  <a:pt x="5694245" y="4505571"/>
                </a:lnTo>
                <a:lnTo>
                  <a:pt x="0" y="4505571"/>
                </a:lnTo>
                <a:lnTo>
                  <a:pt x="0" y="0"/>
                </a:lnTo>
                <a:close/>
              </a:path>
            </a:pathLst>
          </a:custGeom>
          <a:blipFill>
            <a:blip r:embed="rId6"/>
            <a:stretch>
              <a:fillRect l="0" t="0" r="0" b="0"/>
            </a:stretch>
          </a:blipFill>
        </p:spPr>
      </p:sp>
      <p:sp>
        <p:nvSpPr>
          <p:cNvPr name="TextBox 12" id="12"/>
          <p:cNvSpPr txBox="true"/>
          <p:nvPr/>
        </p:nvSpPr>
        <p:spPr>
          <a:xfrm rot="0">
            <a:off x="9144000" y="866529"/>
            <a:ext cx="9144000" cy="2590800"/>
          </a:xfrm>
          <a:prstGeom prst="rect">
            <a:avLst/>
          </a:prstGeom>
        </p:spPr>
        <p:txBody>
          <a:bodyPr anchor="t" rtlCol="false" tIns="0" lIns="0" bIns="0" rIns="0">
            <a:spAutoFit/>
          </a:bodyPr>
          <a:lstStyle/>
          <a:p>
            <a:pPr algn="l" marL="0" indent="0" lvl="0">
              <a:lnSpc>
                <a:spcPts val="10200"/>
              </a:lnSpc>
              <a:spcBef>
                <a:spcPct val="0"/>
              </a:spcBef>
            </a:pPr>
            <a:r>
              <a:rPr lang="en-US" sz="8500">
                <a:solidFill>
                  <a:srgbClr val="000000"/>
                </a:solidFill>
                <a:latin typeface="IBM Plex Sans"/>
                <a:ea typeface="IBM Plex Sans"/>
                <a:cs typeface="IBM Plex Sans"/>
                <a:sym typeface="IBM Plex Sans"/>
              </a:rPr>
              <a:t>Feel free to</a:t>
            </a:r>
            <a:r>
              <a:rPr lang="en-US" b="true" sz="8500">
                <a:solidFill>
                  <a:srgbClr val="000000"/>
                </a:solidFill>
                <a:latin typeface="IBM Plex Sans Bold"/>
                <a:ea typeface="IBM Plex Sans Bold"/>
                <a:cs typeface="IBM Plex Sans Bold"/>
                <a:sym typeface="IBM Plex Sans Bold"/>
              </a:rPr>
              <a:t> </a:t>
            </a:r>
            <a:r>
              <a:rPr lang="en-US" sz="8500">
                <a:solidFill>
                  <a:srgbClr val="000000"/>
                </a:solidFill>
                <a:latin typeface="IBM Plex Sans"/>
                <a:ea typeface="IBM Plex Sans"/>
                <a:cs typeface="IBM Plex Sans"/>
                <a:sym typeface="IBM Plex Sans"/>
              </a:rPr>
              <a:t>ask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DAGW0jhC1fY</dc:identifier>
  <dcterms:modified xsi:type="dcterms:W3CDTF">2011-08-01T06:04:30Z</dcterms:modified>
  <cp:revision>1</cp:revision>
  <dc:title>AntColonyOptimization</dc:title>
</cp:coreProperties>
</file>