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
      <p:font typeface="Lora" panose="020B0604020202020204" charset="-52"/>
      <p:regular r:id="rId17"/>
    </p:embeddedFont>
    <p:embeddedFont>
      <p:font typeface="Source Sans Pro" panose="020B0503030403020204" pitchFamily="34" charset="0"/>
      <p:regular r:id="rId18"/>
      <p:bold r:id="rId19"/>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8AC7"/>
    <a:srgbClr val="252833"/>
    <a:srgbClr val="FF99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522"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2019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4.gif"/></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350437" y="846415"/>
            <a:ext cx="7415927" cy="3006090"/>
          </a:xfrm>
          <a:prstGeom prst="rect">
            <a:avLst/>
          </a:prstGeom>
          <a:noFill/>
          <a:ln/>
        </p:spPr>
        <p:txBody>
          <a:bodyPr wrap="square" lIns="0" tIns="0" rIns="0" bIns="0" rtlCol="0" anchor="t"/>
          <a:lstStyle/>
          <a:p>
            <a:pPr marL="0" indent="0">
              <a:lnSpc>
                <a:spcPts val="7850"/>
              </a:lnSpc>
              <a:buNone/>
            </a:pPr>
            <a:r>
              <a:rPr lang="en-US" sz="6300" dirty="0">
                <a:solidFill>
                  <a:srgbClr val="F98AC7"/>
                </a:solidFill>
                <a:latin typeface="Lora" pitchFamily="34" charset="0"/>
                <a:ea typeface="Lora" pitchFamily="34" charset="-122"/>
                <a:cs typeface="Lora" pitchFamily="34" charset="-120"/>
              </a:rPr>
              <a:t>Understanding Maximum A Posteriori (MAP)</a:t>
            </a:r>
            <a:endParaRPr lang="en-US" sz="6300" dirty="0">
              <a:solidFill>
                <a:srgbClr val="F98AC7"/>
              </a:solidFill>
            </a:endParaRPr>
          </a:p>
        </p:txBody>
      </p:sp>
      <p:sp>
        <p:nvSpPr>
          <p:cNvPr id="4" name="Text 1"/>
          <p:cNvSpPr/>
          <p:nvPr/>
        </p:nvSpPr>
        <p:spPr>
          <a:xfrm>
            <a:off x="6350437" y="4222790"/>
            <a:ext cx="7415927" cy="3160395"/>
          </a:xfrm>
          <a:prstGeom prst="rect">
            <a:avLst/>
          </a:prstGeom>
          <a:noFill/>
          <a:ln/>
        </p:spPr>
        <p:txBody>
          <a:bodyPr wrap="square" lIns="0" tIns="0" rIns="0" bIns="0" rtlCol="0" anchor="t"/>
          <a:lstStyle/>
          <a:p>
            <a:pPr marL="0" indent="0">
              <a:lnSpc>
                <a:spcPts val="3100"/>
              </a:lnSpc>
              <a:buNone/>
            </a:pPr>
            <a:r>
              <a:rPr lang="en-US" sz="1900" b="1" dirty="0">
                <a:solidFill>
                  <a:srgbClr val="D6E5EF"/>
                </a:solidFill>
                <a:latin typeface="Source Sans Pro" pitchFamily="34" charset="0"/>
                <a:ea typeface="Source Sans Pro" pitchFamily="34" charset="-122"/>
                <a:cs typeface="Source Sans Pro" pitchFamily="34" charset="-120"/>
              </a:rPr>
              <a:t>Maximum a Posteriori (MAP) </a:t>
            </a:r>
            <a:r>
              <a:rPr lang="en-US" sz="1900" dirty="0">
                <a:solidFill>
                  <a:srgbClr val="D6E5EF"/>
                </a:solidFill>
                <a:latin typeface="Source Sans Pro" pitchFamily="34" charset="0"/>
                <a:ea typeface="Source Sans Pro" pitchFamily="34" charset="-122"/>
                <a:cs typeface="Source Sans Pro" pitchFamily="34" charset="-120"/>
              </a:rPr>
              <a:t>is a statistical method used to make the most likely decisions by combining </a:t>
            </a:r>
            <a:r>
              <a:rPr lang="en-US" sz="1900" i="1" dirty="0">
                <a:solidFill>
                  <a:srgbClr val="D6E5EF"/>
                </a:solidFill>
                <a:latin typeface="Source Sans Pro" pitchFamily="34" charset="0"/>
                <a:ea typeface="Source Sans Pro" pitchFamily="34" charset="-122"/>
                <a:cs typeface="Source Sans Pro" pitchFamily="34" charset="-120"/>
              </a:rPr>
              <a:t>past experience (prior data)</a:t>
            </a:r>
            <a:r>
              <a:rPr lang="en-US" sz="1900" dirty="0">
                <a:solidFill>
                  <a:srgbClr val="D6E5EF"/>
                </a:solidFill>
                <a:latin typeface="Source Sans Pro" pitchFamily="34" charset="0"/>
                <a:ea typeface="Source Sans Pro" pitchFamily="34" charset="-122"/>
                <a:cs typeface="Source Sans Pro" pitchFamily="34" charset="-120"/>
              </a:rPr>
              <a:t> with </a:t>
            </a:r>
            <a:r>
              <a:rPr lang="en-US" sz="1900" i="1" dirty="0">
                <a:solidFill>
                  <a:srgbClr val="D6E5EF"/>
                </a:solidFill>
                <a:latin typeface="Source Sans Pro" pitchFamily="34" charset="0"/>
                <a:ea typeface="Source Sans Pro" pitchFamily="34" charset="-122"/>
                <a:cs typeface="Source Sans Pro" pitchFamily="34" charset="-120"/>
              </a:rPr>
              <a:t>new observations.</a:t>
            </a:r>
            <a:r>
              <a:rPr lang="en-US" sz="1900" dirty="0">
                <a:solidFill>
                  <a:srgbClr val="D6E5EF"/>
                </a:solidFill>
                <a:latin typeface="Source Sans Pro" pitchFamily="34" charset="0"/>
                <a:ea typeface="Source Sans Pro" pitchFamily="34" charset="-122"/>
                <a:cs typeface="Source Sans Pro" pitchFamily="34" charset="-120"/>
              </a:rPr>
              <a:t> </a:t>
            </a:r>
          </a:p>
          <a:p>
            <a:pPr marL="0" indent="0">
              <a:lnSpc>
                <a:spcPts val="3100"/>
              </a:lnSpc>
              <a:buNone/>
            </a:pPr>
            <a:endParaRPr lang="en-US" sz="1900" dirty="0">
              <a:solidFill>
                <a:srgbClr val="D6E5EF"/>
              </a:solidFill>
              <a:latin typeface="Source Sans Pro" pitchFamily="34" charset="0"/>
              <a:ea typeface="Source Sans Pro" pitchFamily="34" charset="-122"/>
              <a:cs typeface="Source Sans Pro" pitchFamily="34" charset="-120"/>
            </a:endParaRPr>
          </a:p>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1820249062 KARSAKOV MIKHAIL</a:t>
            </a:r>
            <a:br>
              <a:rPr lang="en-US" sz="1900" dirty="0">
                <a:solidFill>
                  <a:srgbClr val="D6E5EF"/>
                </a:solidFill>
                <a:latin typeface="Source Sans Pro" pitchFamily="34" charset="0"/>
                <a:ea typeface="Source Sans Pro" pitchFamily="34" charset="-122"/>
                <a:cs typeface="Source Sans Pro" pitchFamily="34" charset="-120"/>
              </a:rPr>
            </a:br>
            <a:r>
              <a:rPr lang="en-US" sz="1900" dirty="0">
                <a:solidFill>
                  <a:srgbClr val="D6E5EF"/>
                </a:solidFill>
                <a:latin typeface="Source Sans Pro" pitchFamily="34" charset="0"/>
                <a:ea typeface="Source Sans Pro" pitchFamily="34" charset="-122"/>
                <a:cs typeface="Source Sans Pro" pitchFamily="34" charset="-120"/>
              </a:rPr>
              <a:t>1820249063 POLIANSKAIA POLINA</a:t>
            </a:r>
            <a:br>
              <a:rPr lang="en-US" sz="1900" dirty="0">
                <a:solidFill>
                  <a:srgbClr val="D6E5EF"/>
                </a:solidFill>
                <a:latin typeface="Source Sans Pro" pitchFamily="34" charset="0"/>
                <a:ea typeface="Source Sans Pro" pitchFamily="34" charset="-122"/>
                <a:cs typeface="Source Sans Pro" pitchFamily="34" charset="-120"/>
              </a:rPr>
            </a:br>
            <a:r>
              <a:rPr lang="en-US" sz="1900" dirty="0">
                <a:solidFill>
                  <a:srgbClr val="D6E5EF"/>
                </a:solidFill>
                <a:latin typeface="Source Sans Pro" pitchFamily="34" charset="0"/>
                <a:ea typeface="Source Sans Pro" pitchFamily="34" charset="-122"/>
                <a:cs typeface="Source Sans Pro" pitchFamily="34" charset="-120"/>
              </a:rPr>
              <a:t>1820249056 CHAIKO MARIA</a:t>
            </a:r>
          </a:p>
          <a:p>
            <a:pPr marL="0" indent="0">
              <a:lnSpc>
                <a:spcPts val="3100"/>
              </a:lnSpc>
              <a:buNone/>
            </a:pPr>
            <a:endParaRPr lang="en-US" sz="1900" dirty="0">
              <a:solidFill>
                <a:srgbClr val="D6E5EF"/>
              </a:solidFill>
              <a:latin typeface="Source Sans Pro" pitchFamily="34" charset="0"/>
              <a:ea typeface="Source Sans Pro" pitchFamily="34" charset="-122"/>
              <a:cs typeface="Source Sans Pro" pitchFamily="34" charset="-120"/>
            </a:endParaRPr>
          </a:p>
          <a:p>
            <a:pPr marL="0" indent="0">
              <a:lnSpc>
                <a:spcPts val="3100"/>
              </a:lnSpc>
              <a:buNone/>
            </a:pPr>
            <a:endParaRPr lang="en-US" sz="1900" dirty="0">
              <a:solidFill>
                <a:srgbClr val="D6E5EF"/>
              </a:solidFill>
              <a:latin typeface="Source Sans Pro" pitchFamily="34" charset="0"/>
              <a:ea typeface="Source Sans Pro" pitchFamily="34" charset="-122"/>
              <a:cs typeface="Source Sans Pro" pitchFamily="34" charset="-120"/>
            </a:endParaRPr>
          </a:p>
        </p:txBody>
      </p:sp>
      <p:sp>
        <p:nvSpPr>
          <p:cNvPr id="5" name="Прямоугольник 4">
            <a:extLst>
              <a:ext uri="{FF2B5EF4-FFF2-40B4-BE49-F238E27FC236}">
                <a16:creationId xmlns:a16="http://schemas.microsoft.com/office/drawing/2014/main" id="{DAA7EA69-861E-4F45-813C-D54EA4DF9463}"/>
              </a:ext>
            </a:extLst>
          </p:cNvPr>
          <p:cNvSpPr/>
          <p:nvPr/>
        </p:nvSpPr>
        <p:spPr>
          <a:xfrm>
            <a:off x="12801600" y="7673546"/>
            <a:ext cx="1828800" cy="556054"/>
          </a:xfrm>
          <a:prstGeom prst="rect">
            <a:avLst/>
          </a:prstGeom>
          <a:solidFill>
            <a:srgbClr val="252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a:extLst>
              <a:ext uri="{FF2B5EF4-FFF2-40B4-BE49-F238E27FC236}">
                <a16:creationId xmlns:a16="http://schemas.microsoft.com/office/drawing/2014/main" id="{90045763-9334-4C01-A597-88089243E40E}"/>
              </a:ext>
            </a:extLst>
          </p:cNvPr>
          <p:cNvPicPr>
            <a:picLocks noChangeAspect="1"/>
          </p:cNvPicPr>
          <p:nvPr/>
        </p:nvPicPr>
        <p:blipFill rotWithShape="1">
          <a:blip r:embed="rId3"/>
          <a:srcRect l="28829"/>
          <a:stretch/>
        </p:blipFill>
        <p:spPr>
          <a:xfrm>
            <a:off x="-1" y="0"/>
            <a:ext cx="5857103"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8513" y="857131"/>
            <a:ext cx="7719417" cy="598408"/>
          </a:xfrm>
          <a:prstGeom prst="rect">
            <a:avLst/>
          </a:prstGeom>
          <a:noFill/>
          <a:ln/>
        </p:spPr>
        <p:txBody>
          <a:bodyPr wrap="none" lIns="0" tIns="0" rIns="0" bIns="0" rtlCol="0" anchor="t"/>
          <a:lstStyle/>
          <a:p>
            <a:pPr marL="0" indent="0">
              <a:lnSpc>
                <a:spcPts val="4700"/>
              </a:lnSpc>
              <a:buNone/>
            </a:pPr>
            <a:r>
              <a:rPr lang="en-US" sz="3750" dirty="0">
                <a:solidFill>
                  <a:srgbClr val="F98AC7"/>
                </a:solidFill>
                <a:latin typeface="Lora" pitchFamily="34" charset="0"/>
                <a:ea typeface="Lora" pitchFamily="34" charset="-122"/>
                <a:cs typeface="Lora" pitchFamily="34" charset="-120"/>
              </a:rPr>
              <a:t>Importance in Statistical Inference</a:t>
            </a:r>
            <a:endParaRPr lang="en-US" sz="3750" dirty="0"/>
          </a:p>
        </p:txBody>
      </p:sp>
      <p:sp>
        <p:nvSpPr>
          <p:cNvPr id="4" name="Shape 1"/>
          <p:cNvSpPr/>
          <p:nvPr/>
        </p:nvSpPr>
        <p:spPr>
          <a:xfrm>
            <a:off x="6198513" y="1989534"/>
            <a:ext cx="457795" cy="457795"/>
          </a:xfrm>
          <a:prstGeom prst="roundRect">
            <a:avLst>
              <a:gd name="adj" fmla="val 6667"/>
            </a:avLst>
          </a:prstGeom>
          <a:solidFill>
            <a:srgbClr val="444752"/>
          </a:solidFill>
          <a:ln/>
        </p:spPr>
      </p:sp>
      <p:sp>
        <p:nvSpPr>
          <p:cNvPr id="5" name="Text 2"/>
          <p:cNvSpPr/>
          <p:nvPr/>
        </p:nvSpPr>
        <p:spPr>
          <a:xfrm>
            <a:off x="6375083" y="2074783"/>
            <a:ext cx="104537" cy="287298"/>
          </a:xfrm>
          <a:prstGeom prst="rect">
            <a:avLst/>
          </a:prstGeom>
          <a:noFill/>
          <a:ln/>
        </p:spPr>
        <p:txBody>
          <a:bodyPr wrap="none" lIns="0" tIns="0" rIns="0" bIns="0" rtlCol="0" anchor="t"/>
          <a:lstStyle/>
          <a:p>
            <a:pPr marL="0" indent="0" algn="ctr">
              <a:lnSpc>
                <a:spcPts val="2250"/>
              </a:lnSpc>
              <a:buNone/>
            </a:pPr>
            <a:r>
              <a:rPr lang="en-US" sz="2250" dirty="0">
                <a:solidFill>
                  <a:srgbClr val="D6E5EF"/>
                </a:solidFill>
                <a:latin typeface="Lora" pitchFamily="34" charset="0"/>
                <a:ea typeface="Lora" pitchFamily="34" charset="-122"/>
                <a:cs typeface="Lora" pitchFamily="34" charset="-120"/>
              </a:rPr>
              <a:t>1</a:t>
            </a:r>
            <a:endParaRPr lang="en-US" sz="2250" dirty="0"/>
          </a:p>
        </p:txBody>
      </p:sp>
      <p:sp>
        <p:nvSpPr>
          <p:cNvPr id="6" name="Text 3"/>
          <p:cNvSpPr/>
          <p:nvPr/>
        </p:nvSpPr>
        <p:spPr>
          <a:xfrm>
            <a:off x="6859667" y="1989534"/>
            <a:ext cx="3458408" cy="299085"/>
          </a:xfrm>
          <a:prstGeom prst="rect">
            <a:avLst/>
          </a:prstGeom>
          <a:noFill/>
          <a:ln/>
        </p:spPr>
        <p:txBody>
          <a:bodyPr wrap="none" lIns="0" tIns="0" rIns="0" bIns="0" rtlCol="0" anchor="t"/>
          <a:lstStyle/>
          <a:p>
            <a:pPr marL="0" indent="0">
              <a:lnSpc>
                <a:spcPts val="2350"/>
              </a:lnSpc>
              <a:buNone/>
            </a:pPr>
            <a:r>
              <a:rPr lang="en-US" sz="1850" b="1" dirty="0">
                <a:solidFill>
                  <a:srgbClr val="D6E5EF"/>
                </a:solidFill>
                <a:latin typeface="Lora" pitchFamily="34" charset="0"/>
                <a:ea typeface="Lora" pitchFamily="34" charset="-122"/>
                <a:cs typeface="Lora" pitchFamily="34" charset="-120"/>
              </a:rPr>
              <a:t>Incorporating Prior Knowledge</a:t>
            </a:r>
            <a:endParaRPr lang="en-US" sz="1850" b="1" dirty="0"/>
          </a:p>
        </p:txBody>
      </p:sp>
      <p:sp>
        <p:nvSpPr>
          <p:cNvPr id="7" name="Text 4"/>
          <p:cNvSpPr/>
          <p:nvPr/>
        </p:nvSpPr>
        <p:spPr>
          <a:xfrm>
            <a:off x="6859667" y="2410658"/>
            <a:ext cx="7058620" cy="976551"/>
          </a:xfrm>
          <a:prstGeom prst="rect">
            <a:avLst/>
          </a:prstGeom>
          <a:noFill/>
          <a:ln/>
        </p:spPr>
        <p:txBody>
          <a:bodyPr wrap="square" lIns="0" tIns="0" rIns="0" bIns="0" rtlCol="0" anchor="t"/>
          <a:lstStyle/>
          <a:p>
            <a:pPr marL="0" indent="0">
              <a:lnSpc>
                <a:spcPts val="2550"/>
              </a:lnSpc>
              <a:buNone/>
            </a:pPr>
            <a:r>
              <a:rPr lang="en-US" sz="1600" dirty="0">
                <a:solidFill>
                  <a:srgbClr val="D6E5EF"/>
                </a:solidFill>
                <a:latin typeface="Source Sans Pro" pitchFamily="34" charset="0"/>
                <a:ea typeface="Source Sans Pro" pitchFamily="34" charset="-122"/>
                <a:cs typeface="Source Sans Pro" pitchFamily="34" charset="-120"/>
              </a:rPr>
              <a:t>MAP estimation leverages prior information, such as previous studies or expert opinions, to enhance the estimation process. This integration of prior knowledge with observed data leads to more informed and reliable parameter estimates.</a:t>
            </a:r>
            <a:endParaRPr lang="en-US" sz="1600" dirty="0"/>
          </a:p>
        </p:txBody>
      </p:sp>
      <p:sp>
        <p:nvSpPr>
          <p:cNvPr id="8" name="Shape 5"/>
          <p:cNvSpPr/>
          <p:nvPr/>
        </p:nvSpPr>
        <p:spPr>
          <a:xfrm>
            <a:off x="6198513" y="3819406"/>
            <a:ext cx="457795" cy="457795"/>
          </a:xfrm>
          <a:prstGeom prst="roundRect">
            <a:avLst>
              <a:gd name="adj" fmla="val 6667"/>
            </a:avLst>
          </a:prstGeom>
          <a:solidFill>
            <a:srgbClr val="444752"/>
          </a:solidFill>
          <a:ln/>
        </p:spPr>
      </p:sp>
      <p:sp>
        <p:nvSpPr>
          <p:cNvPr id="9" name="Text 6"/>
          <p:cNvSpPr/>
          <p:nvPr/>
        </p:nvSpPr>
        <p:spPr>
          <a:xfrm>
            <a:off x="6350198" y="3904655"/>
            <a:ext cx="154305" cy="287298"/>
          </a:xfrm>
          <a:prstGeom prst="rect">
            <a:avLst/>
          </a:prstGeom>
          <a:noFill/>
          <a:ln/>
        </p:spPr>
        <p:txBody>
          <a:bodyPr wrap="none" lIns="0" tIns="0" rIns="0" bIns="0" rtlCol="0" anchor="t"/>
          <a:lstStyle/>
          <a:p>
            <a:pPr marL="0" indent="0" algn="ctr">
              <a:lnSpc>
                <a:spcPts val="2250"/>
              </a:lnSpc>
              <a:buNone/>
            </a:pPr>
            <a:r>
              <a:rPr lang="en-US" sz="2250" dirty="0">
                <a:solidFill>
                  <a:srgbClr val="D6E5EF"/>
                </a:solidFill>
                <a:latin typeface="Lora" pitchFamily="34" charset="0"/>
                <a:ea typeface="Lora" pitchFamily="34" charset="-122"/>
                <a:cs typeface="Lora" pitchFamily="34" charset="-120"/>
              </a:rPr>
              <a:t>2</a:t>
            </a:r>
            <a:endParaRPr lang="en-US" sz="2250" dirty="0"/>
          </a:p>
        </p:txBody>
      </p:sp>
      <p:sp>
        <p:nvSpPr>
          <p:cNvPr id="10" name="Text 7"/>
          <p:cNvSpPr/>
          <p:nvPr/>
        </p:nvSpPr>
        <p:spPr>
          <a:xfrm>
            <a:off x="6859667" y="3819406"/>
            <a:ext cx="3410783" cy="299085"/>
          </a:xfrm>
          <a:prstGeom prst="rect">
            <a:avLst/>
          </a:prstGeom>
          <a:noFill/>
          <a:ln/>
        </p:spPr>
        <p:txBody>
          <a:bodyPr wrap="none" lIns="0" tIns="0" rIns="0" bIns="0" rtlCol="0" anchor="t"/>
          <a:lstStyle/>
          <a:p>
            <a:pPr marL="0" indent="0">
              <a:lnSpc>
                <a:spcPts val="2350"/>
              </a:lnSpc>
              <a:buNone/>
            </a:pPr>
            <a:r>
              <a:rPr lang="en-US" sz="1850" b="1" dirty="0">
                <a:solidFill>
                  <a:srgbClr val="D6E5EF"/>
                </a:solidFill>
                <a:latin typeface="Lora" pitchFamily="34" charset="0"/>
                <a:ea typeface="Lora" pitchFamily="34" charset="-122"/>
                <a:cs typeface="Lora" pitchFamily="34" charset="-120"/>
              </a:rPr>
              <a:t>Regularization and Robustness</a:t>
            </a:r>
            <a:endParaRPr lang="en-US" sz="1850" b="1" dirty="0"/>
          </a:p>
        </p:txBody>
      </p:sp>
      <p:sp>
        <p:nvSpPr>
          <p:cNvPr id="11" name="Text 8"/>
          <p:cNvSpPr/>
          <p:nvPr/>
        </p:nvSpPr>
        <p:spPr>
          <a:xfrm>
            <a:off x="6859667" y="4240530"/>
            <a:ext cx="7058620" cy="1302068"/>
          </a:xfrm>
          <a:prstGeom prst="rect">
            <a:avLst/>
          </a:prstGeom>
          <a:noFill/>
          <a:ln/>
        </p:spPr>
        <p:txBody>
          <a:bodyPr wrap="square" lIns="0" tIns="0" rIns="0" bIns="0" rtlCol="0" anchor="t"/>
          <a:lstStyle/>
          <a:p>
            <a:pPr marL="0" indent="0">
              <a:lnSpc>
                <a:spcPts val="2550"/>
              </a:lnSpc>
              <a:buNone/>
            </a:pPr>
            <a:r>
              <a:rPr lang="en-US" sz="1600" dirty="0">
                <a:solidFill>
                  <a:srgbClr val="D6E5EF"/>
                </a:solidFill>
                <a:latin typeface="Source Sans Pro" pitchFamily="34" charset="0"/>
                <a:ea typeface="Source Sans Pro" pitchFamily="34" charset="-122"/>
                <a:cs typeface="Source Sans Pro" pitchFamily="34" charset="-120"/>
              </a:rPr>
              <a:t>In cases of limited or noisy data, MAP acts as a regularization technique, preventing overfitting and improving the generalization of statistical models. By incorporating prior distributions, MAP produces more stable estimates, especially with small sample sizes.</a:t>
            </a:r>
            <a:endParaRPr lang="en-US" sz="1600" dirty="0"/>
          </a:p>
        </p:txBody>
      </p:sp>
      <p:sp>
        <p:nvSpPr>
          <p:cNvPr id="12" name="Shape 9"/>
          <p:cNvSpPr/>
          <p:nvPr/>
        </p:nvSpPr>
        <p:spPr>
          <a:xfrm>
            <a:off x="6198513" y="5974794"/>
            <a:ext cx="457795" cy="457795"/>
          </a:xfrm>
          <a:prstGeom prst="roundRect">
            <a:avLst>
              <a:gd name="adj" fmla="val 6667"/>
            </a:avLst>
          </a:prstGeom>
          <a:solidFill>
            <a:srgbClr val="444752"/>
          </a:solidFill>
          <a:ln/>
        </p:spPr>
      </p:sp>
      <p:sp>
        <p:nvSpPr>
          <p:cNvPr id="13" name="Text 10"/>
          <p:cNvSpPr/>
          <p:nvPr/>
        </p:nvSpPr>
        <p:spPr>
          <a:xfrm>
            <a:off x="6347341" y="6060043"/>
            <a:ext cx="160020" cy="287298"/>
          </a:xfrm>
          <a:prstGeom prst="rect">
            <a:avLst/>
          </a:prstGeom>
          <a:noFill/>
          <a:ln/>
        </p:spPr>
        <p:txBody>
          <a:bodyPr wrap="none" lIns="0" tIns="0" rIns="0" bIns="0" rtlCol="0" anchor="t"/>
          <a:lstStyle/>
          <a:p>
            <a:pPr marL="0" indent="0" algn="ctr">
              <a:lnSpc>
                <a:spcPts val="2250"/>
              </a:lnSpc>
              <a:buNone/>
            </a:pPr>
            <a:r>
              <a:rPr lang="en-US" sz="2250" dirty="0">
                <a:solidFill>
                  <a:srgbClr val="D6E5EF"/>
                </a:solidFill>
                <a:latin typeface="Lora" pitchFamily="34" charset="0"/>
                <a:ea typeface="Lora" pitchFamily="34" charset="-122"/>
                <a:cs typeface="Lora" pitchFamily="34" charset="-120"/>
              </a:rPr>
              <a:t>3</a:t>
            </a:r>
            <a:endParaRPr lang="en-US" sz="2250" dirty="0"/>
          </a:p>
        </p:txBody>
      </p:sp>
      <p:sp>
        <p:nvSpPr>
          <p:cNvPr id="14" name="Text 11"/>
          <p:cNvSpPr/>
          <p:nvPr/>
        </p:nvSpPr>
        <p:spPr>
          <a:xfrm>
            <a:off x="6859667" y="5974794"/>
            <a:ext cx="2802493" cy="299085"/>
          </a:xfrm>
          <a:prstGeom prst="rect">
            <a:avLst/>
          </a:prstGeom>
          <a:noFill/>
          <a:ln/>
        </p:spPr>
        <p:txBody>
          <a:bodyPr wrap="none" lIns="0" tIns="0" rIns="0" bIns="0" rtlCol="0" anchor="t"/>
          <a:lstStyle/>
          <a:p>
            <a:pPr marL="0" indent="0">
              <a:lnSpc>
                <a:spcPts val="2350"/>
              </a:lnSpc>
              <a:buNone/>
            </a:pPr>
            <a:r>
              <a:rPr lang="en-US" sz="1850" b="1" dirty="0">
                <a:solidFill>
                  <a:srgbClr val="D6E5EF"/>
                </a:solidFill>
                <a:latin typeface="Lora" pitchFamily="34" charset="0"/>
                <a:ea typeface="Lora" pitchFamily="34" charset="-122"/>
                <a:cs typeface="Lora" pitchFamily="34" charset="-120"/>
              </a:rPr>
              <a:t>Optimal Decision Making</a:t>
            </a:r>
            <a:endParaRPr lang="en-US" sz="1850" b="1" dirty="0"/>
          </a:p>
        </p:txBody>
      </p:sp>
      <p:sp>
        <p:nvSpPr>
          <p:cNvPr id="15" name="Text 12"/>
          <p:cNvSpPr/>
          <p:nvPr/>
        </p:nvSpPr>
        <p:spPr>
          <a:xfrm>
            <a:off x="6859667" y="6395918"/>
            <a:ext cx="7058620" cy="976551"/>
          </a:xfrm>
          <a:prstGeom prst="rect">
            <a:avLst/>
          </a:prstGeom>
          <a:noFill/>
          <a:ln/>
        </p:spPr>
        <p:txBody>
          <a:bodyPr wrap="square" lIns="0" tIns="0" rIns="0" bIns="0" rtlCol="0" anchor="t"/>
          <a:lstStyle/>
          <a:p>
            <a:pPr marL="0" indent="0">
              <a:lnSpc>
                <a:spcPts val="2550"/>
              </a:lnSpc>
              <a:buNone/>
            </a:pPr>
            <a:r>
              <a:rPr lang="en-US" sz="1600" dirty="0">
                <a:solidFill>
                  <a:srgbClr val="D6E5EF"/>
                </a:solidFill>
                <a:latin typeface="Source Sans Pro" pitchFamily="34" charset="0"/>
                <a:ea typeface="Source Sans Pro" pitchFamily="34" charset="-122"/>
                <a:cs typeface="Source Sans Pro" pitchFamily="34" charset="-120"/>
              </a:rPr>
              <a:t>MAP provides a framework for decision-making under uncertainty. By modeling uncertainty through probability distributions, it allows for weighing trade-offs and making optimal decisions based on available evidence.</a:t>
            </a:r>
            <a:endParaRPr lang="en-US" sz="1600" dirty="0"/>
          </a:p>
        </p:txBody>
      </p:sp>
      <p:sp>
        <p:nvSpPr>
          <p:cNvPr id="16" name="Прямоугольник 15">
            <a:extLst>
              <a:ext uri="{FF2B5EF4-FFF2-40B4-BE49-F238E27FC236}">
                <a16:creationId xmlns:a16="http://schemas.microsoft.com/office/drawing/2014/main" id="{70EAA524-3303-4016-BF78-AAE0900497B3}"/>
              </a:ext>
            </a:extLst>
          </p:cNvPr>
          <p:cNvSpPr/>
          <p:nvPr/>
        </p:nvSpPr>
        <p:spPr>
          <a:xfrm>
            <a:off x="12801600" y="7673546"/>
            <a:ext cx="1828800" cy="556054"/>
          </a:xfrm>
          <a:prstGeom prst="rect">
            <a:avLst/>
          </a:prstGeom>
          <a:solidFill>
            <a:srgbClr val="252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2215991"/>
            <a:ext cx="7415927" cy="1452086"/>
          </a:xfrm>
          <a:prstGeom prst="rect">
            <a:avLst/>
          </a:prstGeom>
          <a:noFill/>
          <a:ln/>
        </p:spPr>
        <p:txBody>
          <a:bodyPr wrap="square" lIns="0" tIns="0" rIns="0" bIns="0" rtlCol="0" anchor="t"/>
          <a:lstStyle/>
          <a:p>
            <a:pPr marL="0" indent="0">
              <a:lnSpc>
                <a:spcPts val="5700"/>
              </a:lnSpc>
              <a:buNone/>
            </a:pPr>
            <a:r>
              <a:rPr lang="en-US" sz="4550" dirty="0">
                <a:solidFill>
                  <a:srgbClr val="F98AC7"/>
                </a:solidFill>
                <a:latin typeface="Lora" pitchFamily="34" charset="0"/>
                <a:ea typeface="Lora" pitchFamily="34" charset="-122"/>
                <a:cs typeface="Lora" pitchFamily="34" charset="-120"/>
              </a:rPr>
              <a:t>Flexibility and Adaptability of MAP</a:t>
            </a:r>
            <a:endParaRPr lang="en-US" sz="4550" dirty="0"/>
          </a:p>
        </p:txBody>
      </p:sp>
      <p:sp>
        <p:nvSpPr>
          <p:cNvPr id="4" name="Text 1"/>
          <p:cNvSpPr/>
          <p:nvPr/>
        </p:nvSpPr>
        <p:spPr>
          <a:xfrm>
            <a:off x="6350437" y="4038362"/>
            <a:ext cx="7415927" cy="1975247"/>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MAP estimation is adaptable to various complex systems and phenomena. It allows the integration of diverse information sources, including domain knowledge, experimental data, and simulations, making it suitable for applications in fields like engineering, biology, economics, and machine learning.</a:t>
            </a:r>
            <a:endParaRPr lang="en-US" sz="1900" dirty="0"/>
          </a:p>
        </p:txBody>
      </p:sp>
      <p:sp>
        <p:nvSpPr>
          <p:cNvPr id="5" name="Прямоугольник 4">
            <a:extLst>
              <a:ext uri="{FF2B5EF4-FFF2-40B4-BE49-F238E27FC236}">
                <a16:creationId xmlns:a16="http://schemas.microsoft.com/office/drawing/2014/main" id="{F5D65BE6-853E-4EDA-9640-ABF973A520E9}"/>
              </a:ext>
            </a:extLst>
          </p:cNvPr>
          <p:cNvSpPr/>
          <p:nvPr/>
        </p:nvSpPr>
        <p:spPr>
          <a:xfrm>
            <a:off x="12801600" y="7673546"/>
            <a:ext cx="1828800" cy="556054"/>
          </a:xfrm>
          <a:prstGeom prst="rect">
            <a:avLst/>
          </a:prstGeom>
          <a:solidFill>
            <a:srgbClr val="252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68693" y="2039541"/>
            <a:ext cx="8484156" cy="726043"/>
          </a:xfrm>
          <a:prstGeom prst="rect">
            <a:avLst/>
          </a:prstGeom>
          <a:noFill/>
          <a:ln/>
        </p:spPr>
        <p:txBody>
          <a:bodyPr wrap="none" lIns="0" tIns="0" rIns="0" bIns="0" rtlCol="0" anchor="t"/>
          <a:lstStyle/>
          <a:p>
            <a:pPr marL="0" indent="0">
              <a:lnSpc>
                <a:spcPts val="5700"/>
              </a:lnSpc>
              <a:buNone/>
            </a:pPr>
            <a:r>
              <a:rPr lang="en-US" sz="4550" dirty="0">
                <a:solidFill>
                  <a:srgbClr val="F98AC7"/>
                </a:solidFill>
                <a:latin typeface="Lora" pitchFamily="34" charset="0"/>
                <a:ea typeface="Lora" pitchFamily="34" charset="-122"/>
                <a:cs typeface="Lora" pitchFamily="34" charset="-120"/>
              </a:rPr>
              <a:t>Applications of MAP Estimation</a:t>
            </a:r>
            <a:endParaRPr lang="en-US" sz="4550" dirty="0"/>
          </a:p>
        </p:txBody>
      </p:sp>
      <p:sp>
        <p:nvSpPr>
          <p:cNvPr id="3" name="Text 1"/>
          <p:cNvSpPr/>
          <p:nvPr/>
        </p:nvSpPr>
        <p:spPr>
          <a:xfrm>
            <a:off x="968693" y="3382685"/>
            <a:ext cx="2904530" cy="363141"/>
          </a:xfrm>
          <a:prstGeom prst="rect">
            <a:avLst/>
          </a:prstGeom>
          <a:noFill/>
          <a:ln/>
        </p:spPr>
        <p:txBody>
          <a:bodyPr wrap="none" lIns="0" tIns="0" rIns="0" bIns="0" rtlCol="0" anchor="t"/>
          <a:lstStyle/>
          <a:p>
            <a:pPr marL="0" indent="0">
              <a:lnSpc>
                <a:spcPts val="2850"/>
              </a:lnSpc>
              <a:buNone/>
            </a:pPr>
            <a:r>
              <a:rPr lang="en-US" sz="2250" dirty="0">
                <a:solidFill>
                  <a:srgbClr val="F98AC7"/>
                </a:solidFill>
                <a:latin typeface="Lora" pitchFamily="34" charset="0"/>
                <a:ea typeface="Lora" pitchFamily="34" charset="-122"/>
                <a:cs typeface="Lora" pitchFamily="34" charset="-120"/>
              </a:rPr>
              <a:t>Technology</a:t>
            </a:r>
            <a:endParaRPr lang="en-US" sz="2250" dirty="0"/>
          </a:p>
        </p:txBody>
      </p:sp>
      <p:sp>
        <p:nvSpPr>
          <p:cNvPr id="4" name="Text 2"/>
          <p:cNvSpPr/>
          <p:nvPr/>
        </p:nvSpPr>
        <p:spPr>
          <a:xfrm>
            <a:off x="968693" y="3992642"/>
            <a:ext cx="3828931" cy="1975247"/>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In machine learning, MAP trains models with Bayesian approaches. It's also used in signal processing for denoising and reconstructing signals.</a:t>
            </a:r>
            <a:endParaRPr lang="en-US" sz="1900" dirty="0"/>
          </a:p>
        </p:txBody>
      </p:sp>
      <p:sp>
        <p:nvSpPr>
          <p:cNvPr id="5" name="Text 3"/>
          <p:cNvSpPr/>
          <p:nvPr/>
        </p:nvSpPr>
        <p:spPr>
          <a:xfrm>
            <a:off x="5407462" y="3382685"/>
            <a:ext cx="2904530" cy="363141"/>
          </a:xfrm>
          <a:prstGeom prst="rect">
            <a:avLst/>
          </a:prstGeom>
          <a:noFill/>
          <a:ln/>
        </p:spPr>
        <p:txBody>
          <a:bodyPr wrap="none" lIns="0" tIns="0" rIns="0" bIns="0" rtlCol="0" anchor="t"/>
          <a:lstStyle/>
          <a:p>
            <a:pPr marL="0" indent="0">
              <a:lnSpc>
                <a:spcPts val="2850"/>
              </a:lnSpc>
              <a:buNone/>
            </a:pPr>
            <a:r>
              <a:rPr lang="en-US" sz="2250" dirty="0">
                <a:solidFill>
                  <a:srgbClr val="F98AC7"/>
                </a:solidFill>
                <a:latin typeface="Lora" pitchFamily="34" charset="0"/>
                <a:ea typeface="Lora" pitchFamily="34" charset="-122"/>
                <a:cs typeface="Lora" pitchFamily="34" charset="-120"/>
              </a:rPr>
              <a:t>Other Industries</a:t>
            </a:r>
            <a:endParaRPr lang="en-US" sz="2250" dirty="0"/>
          </a:p>
        </p:txBody>
      </p:sp>
      <p:sp>
        <p:nvSpPr>
          <p:cNvPr id="6" name="Text 4"/>
          <p:cNvSpPr/>
          <p:nvPr/>
        </p:nvSpPr>
        <p:spPr>
          <a:xfrm>
            <a:off x="5407462" y="3992642"/>
            <a:ext cx="3828931" cy="1975247"/>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Finance utilizes MAP to update market parameter beliefs based on new data. In neural networks, it's applied for posterior weight estimation.</a:t>
            </a:r>
            <a:endParaRPr lang="en-US" sz="1900" dirty="0"/>
          </a:p>
        </p:txBody>
      </p:sp>
      <p:sp>
        <p:nvSpPr>
          <p:cNvPr id="7" name="Text 5"/>
          <p:cNvSpPr/>
          <p:nvPr/>
        </p:nvSpPr>
        <p:spPr>
          <a:xfrm>
            <a:off x="9846231" y="3382685"/>
            <a:ext cx="3265527" cy="363141"/>
          </a:xfrm>
          <a:prstGeom prst="rect">
            <a:avLst/>
          </a:prstGeom>
          <a:noFill/>
          <a:ln/>
        </p:spPr>
        <p:txBody>
          <a:bodyPr wrap="none" lIns="0" tIns="0" rIns="0" bIns="0" rtlCol="0" anchor="t"/>
          <a:lstStyle/>
          <a:p>
            <a:pPr marL="0" indent="0">
              <a:lnSpc>
                <a:spcPts val="2850"/>
              </a:lnSpc>
              <a:buNone/>
            </a:pPr>
            <a:r>
              <a:rPr lang="en-US" sz="2250" dirty="0">
                <a:solidFill>
                  <a:srgbClr val="F98AC7"/>
                </a:solidFill>
                <a:latin typeface="Lora" pitchFamily="34" charset="0"/>
                <a:ea typeface="Lora" pitchFamily="34" charset="-122"/>
                <a:cs typeface="Lora" pitchFamily="34" charset="-120"/>
              </a:rPr>
              <a:t>Real-World Applications</a:t>
            </a:r>
            <a:endParaRPr lang="en-US" sz="2250" dirty="0"/>
          </a:p>
        </p:txBody>
      </p:sp>
      <p:sp>
        <p:nvSpPr>
          <p:cNvPr id="8" name="Text 6"/>
          <p:cNvSpPr/>
          <p:nvPr/>
        </p:nvSpPr>
        <p:spPr>
          <a:xfrm>
            <a:off x="9846231" y="3992642"/>
            <a:ext cx="3828931" cy="1975247"/>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MAP aids in natural language processing, prediction systems, navigation, robotics, and medical diagnostics by incorporating prior knowledge with new data.</a:t>
            </a:r>
            <a:endParaRPr lang="en-US" sz="1900" dirty="0"/>
          </a:p>
        </p:txBody>
      </p:sp>
      <p:sp>
        <p:nvSpPr>
          <p:cNvPr id="9" name="Прямоугольник 8">
            <a:extLst>
              <a:ext uri="{FF2B5EF4-FFF2-40B4-BE49-F238E27FC236}">
                <a16:creationId xmlns:a16="http://schemas.microsoft.com/office/drawing/2014/main" id="{233CA2DE-5BCF-4AF8-B70C-12874AC1C4A2}"/>
              </a:ext>
            </a:extLst>
          </p:cNvPr>
          <p:cNvSpPr/>
          <p:nvPr/>
        </p:nvSpPr>
        <p:spPr>
          <a:xfrm>
            <a:off x="12801600" y="7673546"/>
            <a:ext cx="1828800" cy="556054"/>
          </a:xfrm>
          <a:prstGeom prst="rect">
            <a:avLst/>
          </a:prstGeom>
          <a:solidFill>
            <a:srgbClr val="252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68693" y="1257300"/>
            <a:ext cx="12331303" cy="726043"/>
          </a:xfrm>
          <a:prstGeom prst="rect">
            <a:avLst/>
          </a:prstGeom>
          <a:noFill/>
          <a:ln/>
        </p:spPr>
        <p:txBody>
          <a:bodyPr wrap="none" lIns="0" tIns="0" rIns="0" bIns="0" rtlCol="0" anchor="t"/>
          <a:lstStyle/>
          <a:p>
            <a:pPr marL="0" indent="0">
              <a:lnSpc>
                <a:spcPts val="5700"/>
              </a:lnSpc>
              <a:buNone/>
            </a:pPr>
            <a:r>
              <a:rPr lang="en-US" sz="4550" dirty="0">
                <a:solidFill>
                  <a:srgbClr val="F98AC7"/>
                </a:solidFill>
                <a:latin typeface="Lora" pitchFamily="34" charset="0"/>
                <a:ea typeface="Lora" pitchFamily="34" charset="-122"/>
                <a:cs typeface="Lora" pitchFamily="34" charset="-120"/>
              </a:rPr>
              <a:t>Mathematical Foundations of MAP Estimation</a:t>
            </a:r>
            <a:endParaRPr lang="en-US" sz="4550" dirty="0"/>
          </a:p>
        </p:txBody>
      </p:sp>
      <p:sp>
        <p:nvSpPr>
          <p:cNvPr id="3" name="Text 1"/>
          <p:cNvSpPr/>
          <p:nvPr/>
        </p:nvSpPr>
        <p:spPr>
          <a:xfrm>
            <a:off x="968693" y="2477095"/>
            <a:ext cx="12692896" cy="790099"/>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MAP estimation relies on Bayes' theorem, which describes how to update beliefs based on new evidence. The theorem states: </a:t>
            </a:r>
            <a:endParaRPr lang="en-US" sz="1900" dirty="0"/>
          </a:p>
        </p:txBody>
      </p:sp>
      <p:sp>
        <p:nvSpPr>
          <p:cNvPr id="4" name="Text 2"/>
          <p:cNvSpPr/>
          <p:nvPr/>
        </p:nvSpPr>
        <p:spPr>
          <a:xfrm>
            <a:off x="968693" y="4644601"/>
            <a:ext cx="12692896"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6E5EF"/>
                </a:solidFill>
                <a:latin typeface="Source Sans Pro" pitchFamily="34" charset="0"/>
                <a:ea typeface="Source Sans Pro" pitchFamily="34" charset="-122"/>
                <a:cs typeface="Source Sans Pro" pitchFamily="34" charset="-120"/>
              </a:rPr>
              <a:t>P(θ∣X) is the posterior probability (the probability of hypothesis θ after seeing data X).</a:t>
            </a:r>
            <a:endParaRPr lang="en-US" sz="1900" dirty="0"/>
          </a:p>
        </p:txBody>
      </p:sp>
      <p:sp>
        <p:nvSpPr>
          <p:cNvPr id="5" name="Text 3"/>
          <p:cNvSpPr/>
          <p:nvPr/>
        </p:nvSpPr>
        <p:spPr>
          <a:xfrm>
            <a:off x="968693" y="5125971"/>
            <a:ext cx="12692896"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6E5EF"/>
                </a:solidFill>
                <a:latin typeface="Source Sans Pro" pitchFamily="34" charset="0"/>
                <a:ea typeface="Source Sans Pro" pitchFamily="34" charset="-122"/>
                <a:cs typeface="Source Sans Pro" pitchFamily="34" charset="-120"/>
              </a:rPr>
              <a:t>P(X∣θ) is the likelihood function (probability of seeing data X if hypothesis θ is true).</a:t>
            </a:r>
            <a:endParaRPr lang="en-US" sz="1900" dirty="0"/>
          </a:p>
        </p:txBody>
      </p:sp>
      <p:sp>
        <p:nvSpPr>
          <p:cNvPr id="6" name="Text 4"/>
          <p:cNvSpPr/>
          <p:nvPr/>
        </p:nvSpPr>
        <p:spPr>
          <a:xfrm>
            <a:off x="968693" y="5607340"/>
            <a:ext cx="12692896"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6E5EF"/>
                </a:solidFill>
                <a:latin typeface="Source Sans Pro" pitchFamily="34" charset="0"/>
                <a:ea typeface="Source Sans Pro" pitchFamily="34" charset="-122"/>
                <a:cs typeface="Source Sans Pro" pitchFamily="34" charset="-120"/>
              </a:rPr>
              <a:t>P(θ) is the prior probability (initial confidence in the hypothesis).</a:t>
            </a:r>
            <a:endParaRPr lang="en-US" sz="1900" dirty="0"/>
          </a:p>
        </p:txBody>
      </p:sp>
      <p:sp>
        <p:nvSpPr>
          <p:cNvPr id="7" name="Text 5"/>
          <p:cNvSpPr/>
          <p:nvPr/>
        </p:nvSpPr>
        <p:spPr>
          <a:xfrm>
            <a:off x="968693" y="6088710"/>
            <a:ext cx="12692896" cy="395049"/>
          </a:xfrm>
          <a:prstGeom prst="rect">
            <a:avLst/>
          </a:prstGeom>
          <a:noFill/>
          <a:ln/>
        </p:spPr>
        <p:txBody>
          <a:bodyPr wrap="none" lIns="0" tIns="0" rIns="0" bIns="0" rtlCol="0" anchor="t"/>
          <a:lstStyle/>
          <a:p>
            <a:pPr marL="342900" indent="-342900" algn="l">
              <a:lnSpc>
                <a:spcPts val="3100"/>
              </a:lnSpc>
              <a:buSzPct val="100000"/>
              <a:buChar char="•"/>
            </a:pPr>
            <a:r>
              <a:rPr lang="en-US" sz="1900" dirty="0">
                <a:solidFill>
                  <a:srgbClr val="D6E5EF"/>
                </a:solidFill>
                <a:latin typeface="Source Sans Pro" pitchFamily="34" charset="0"/>
                <a:ea typeface="Source Sans Pro" pitchFamily="34" charset="-122"/>
                <a:cs typeface="Source Sans Pro" pitchFamily="34" charset="-120"/>
              </a:rPr>
              <a:t>P(X) is the normalization constant (total probability of the data).</a:t>
            </a:r>
            <a:endParaRPr lang="en-US" sz="1900" dirty="0"/>
          </a:p>
        </p:txBody>
      </p:sp>
      <p:pic>
        <p:nvPicPr>
          <p:cNvPr id="8" name="Image 0" descr="preencoded.png"/>
          <p:cNvPicPr>
            <a:picLocks noChangeAspect="1"/>
          </p:cNvPicPr>
          <p:nvPr/>
        </p:nvPicPr>
        <p:blipFill>
          <a:blip r:embed="rId3"/>
          <a:stretch>
            <a:fillRect/>
          </a:stretch>
        </p:blipFill>
        <p:spPr>
          <a:xfrm>
            <a:off x="794710" y="2953807"/>
            <a:ext cx="12750792" cy="1568767"/>
          </a:xfrm>
          <a:prstGeom prst="rect">
            <a:avLst/>
          </a:prstGeom>
          <a:ln>
            <a:noFill/>
          </a:ln>
          <a:effectLst>
            <a:softEdge rad="112500"/>
          </a:effectLst>
        </p:spPr>
      </p:pic>
      <p:sp>
        <p:nvSpPr>
          <p:cNvPr id="9" name="Прямоугольник 8">
            <a:extLst>
              <a:ext uri="{FF2B5EF4-FFF2-40B4-BE49-F238E27FC236}">
                <a16:creationId xmlns:a16="http://schemas.microsoft.com/office/drawing/2014/main" id="{3FB5B2D9-DFC0-4ACE-9680-171271AB4007}"/>
              </a:ext>
            </a:extLst>
          </p:cNvPr>
          <p:cNvSpPr/>
          <p:nvPr/>
        </p:nvSpPr>
        <p:spPr>
          <a:xfrm>
            <a:off x="12801600" y="7673546"/>
            <a:ext cx="1828800" cy="556054"/>
          </a:xfrm>
          <a:prstGeom prst="rect">
            <a:avLst/>
          </a:prstGeom>
          <a:solidFill>
            <a:srgbClr val="252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864037" y="2413516"/>
            <a:ext cx="7415927" cy="1452086"/>
          </a:xfrm>
          <a:prstGeom prst="rect">
            <a:avLst/>
          </a:prstGeom>
          <a:noFill/>
          <a:ln/>
        </p:spPr>
        <p:txBody>
          <a:bodyPr wrap="square" lIns="0" tIns="0" rIns="0" bIns="0" rtlCol="0" anchor="t"/>
          <a:lstStyle/>
          <a:p>
            <a:pPr marL="0" indent="0">
              <a:lnSpc>
                <a:spcPts val="5700"/>
              </a:lnSpc>
              <a:buNone/>
            </a:pPr>
            <a:r>
              <a:rPr lang="en-US" sz="4550" dirty="0">
                <a:solidFill>
                  <a:srgbClr val="F98AC7"/>
                </a:solidFill>
                <a:latin typeface="Lora" pitchFamily="34" charset="0"/>
                <a:ea typeface="Lora" pitchFamily="34" charset="-122"/>
                <a:cs typeface="Lora" pitchFamily="34" charset="-120"/>
              </a:rPr>
              <a:t>Understanding Prior and Posterior Probabilities</a:t>
            </a:r>
            <a:endParaRPr lang="en-US" sz="4550" dirty="0"/>
          </a:p>
        </p:txBody>
      </p:sp>
      <p:sp>
        <p:nvSpPr>
          <p:cNvPr id="4" name="Text 1"/>
          <p:cNvSpPr/>
          <p:nvPr/>
        </p:nvSpPr>
        <p:spPr>
          <a:xfrm>
            <a:off x="864037" y="4235887"/>
            <a:ext cx="7415927" cy="1580198"/>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In Bayesian inference, prior probability (P(θ)) represents our knowledge before new information, while posterior probability (P(θ∣X)) reflects our updated understanding after considering new data. Bayes' theorem facilitates the transition from prior to posterior probability.</a:t>
            </a:r>
            <a:endParaRPr lang="en-US" sz="1900" dirty="0"/>
          </a:p>
        </p:txBody>
      </p:sp>
      <p:pic>
        <p:nvPicPr>
          <p:cNvPr id="6" name="Рисунок 5">
            <a:extLst>
              <a:ext uri="{FF2B5EF4-FFF2-40B4-BE49-F238E27FC236}">
                <a16:creationId xmlns:a16="http://schemas.microsoft.com/office/drawing/2014/main" id="{E7A3BE60-E80E-44AC-8B55-7CB14A9B6BE7}"/>
              </a:ext>
            </a:extLst>
          </p:cNvPr>
          <p:cNvPicPr>
            <a:picLocks noChangeAspect="1"/>
          </p:cNvPicPr>
          <p:nvPr/>
        </p:nvPicPr>
        <p:blipFill rotWithShape="1">
          <a:blip r:embed="rId3"/>
          <a:srcRect r="33333"/>
          <a:stretch/>
        </p:blipFill>
        <p:spPr>
          <a:xfrm>
            <a:off x="9144000" y="0"/>
            <a:ext cx="5486400" cy="822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2579013"/>
            <a:ext cx="6961346" cy="726043"/>
          </a:xfrm>
          <a:prstGeom prst="rect">
            <a:avLst/>
          </a:prstGeom>
          <a:noFill/>
          <a:ln/>
        </p:spPr>
        <p:txBody>
          <a:bodyPr wrap="none" lIns="0" tIns="0" rIns="0" bIns="0" rtlCol="0" anchor="t"/>
          <a:lstStyle/>
          <a:p>
            <a:pPr marL="0" indent="0">
              <a:lnSpc>
                <a:spcPts val="5700"/>
              </a:lnSpc>
              <a:buNone/>
            </a:pPr>
            <a:r>
              <a:rPr lang="en-US" sz="4550" dirty="0">
                <a:solidFill>
                  <a:srgbClr val="F98AC7"/>
                </a:solidFill>
                <a:latin typeface="Lora" pitchFamily="34" charset="0"/>
                <a:ea typeface="Lora" pitchFamily="34" charset="-122"/>
                <a:cs typeface="Lora" pitchFamily="34" charset="-120"/>
              </a:rPr>
              <a:t>Calculating MAP Estimation</a:t>
            </a:r>
            <a:endParaRPr lang="en-US" sz="4550" dirty="0"/>
          </a:p>
        </p:txBody>
      </p:sp>
      <p:sp>
        <p:nvSpPr>
          <p:cNvPr id="4" name="Text 1"/>
          <p:cNvSpPr/>
          <p:nvPr/>
        </p:nvSpPr>
        <p:spPr>
          <a:xfrm>
            <a:off x="6350437" y="3675340"/>
            <a:ext cx="7415927" cy="1975247"/>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MAP estimation aims to find the hypothesis (θ) that maximizes the posterior probability (P(θ∣X)). Since P(X) is constant, the MAP estimation formula simplifies to:</a:t>
            </a:r>
          </a:p>
          <a:p>
            <a:pPr marL="0" indent="0">
              <a:lnSpc>
                <a:spcPts val="3100"/>
              </a:lnSpc>
              <a:buNone/>
            </a:pPr>
            <a:endParaRPr lang="en-US" sz="1900" dirty="0">
              <a:solidFill>
                <a:srgbClr val="D6E5EF"/>
              </a:solidFill>
              <a:latin typeface="Source Sans Pro" pitchFamily="34" charset="0"/>
              <a:ea typeface="Source Sans Pro" pitchFamily="34" charset="-122"/>
              <a:cs typeface="Source Sans Pro" pitchFamily="34" charset="-120"/>
            </a:endParaRPr>
          </a:p>
          <a:p>
            <a:pPr marL="0" indent="0">
              <a:lnSpc>
                <a:spcPts val="3100"/>
              </a:lnSpc>
              <a:buNone/>
            </a:pPr>
            <a:endParaRPr lang="en-US" sz="1900" dirty="0">
              <a:solidFill>
                <a:srgbClr val="D6E5EF"/>
              </a:solidFill>
              <a:latin typeface="Source Sans Pro" pitchFamily="34" charset="0"/>
              <a:ea typeface="Source Sans Pro" pitchFamily="34" charset="-122"/>
              <a:cs typeface="Source Sans Pro" pitchFamily="34" charset="-120"/>
            </a:endParaRPr>
          </a:p>
          <a:p>
            <a:pPr marL="0" indent="0">
              <a:lnSpc>
                <a:spcPts val="3100"/>
              </a:lnSpc>
              <a:buNone/>
            </a:pPr>
            <a:endParaRPr lang="en-US" sz="1900" dirty="0">
              <a:solidFill>
                <a:srgbClr val="D6E5EF"/>
              </a:solidFill>
              <a:latin typeface="Source Sans Pro" pitchFamily="34" charset="0"/>
              <a:ea typeface="Source Sans Pro" pitchFamily="34" charset="-122"/>
              <a:cs typeface="Source Sans Pro" pitchFamily="34" charset="-120"/>
            </a:endParaRPr>
          </a:p>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This formula combines the likelihood (how well data fits the hypothesis) with the prior probability (how likely the hypothesis was initially).</a:t>
            </a:r>
            <a:endParaRPr lang="en-US" sz="1900" dirty="0"/>
          </a:p>
        </p:txBody>
      </p:sp>
      <p:sp>
        <p:nvSpPr>
          <p:cNvPr id="5" name="Прямоугольник 4">
            <a:extLst>
              <a:ext uri="{FF2B5EF4-FFF2-40B4-BE49-F238E27FC236}">
                <a16:creationId xmlns:a16="http://schemas.microsoft.com/office/drawing/2014/main" id="{36F6778E-9F0E-481F-A289-585032F3DE6F}"/>
              </a:ext>
            </a:extLst>
          </p:cNvPr>
          <p:cNvSpPr/>
          <p:nvPr/>
        </p:nvSpPr>
        <p:spPr>
          <a:xfrm>
            <a:off x="12801600" y="7673546"/>
            <a:ext cx="1828800" cy="556054"/>
          </a:xfrm>
          <a:prstGeom prst="rect">
            <a:avLst/>
          </a:prstGeom>
          <a:solidFill>
            <a:srgbClr val="252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a:extLst>
              <a:ext uri="{FF2B5EF4-FFF2-40B4-BE49-F238E27FC236}">
                <a16:creationId xmlns:a16="http://schemas.microsoft.com/office/drawing/2014/main" id="{EE7F15E3-7360-4787-B413-BCC118178B67}"/>
              </a:ext>
            </a:extLst>
          </p:cNvPr>
          <p:cNvPicPr>
            <a:picLocks noChangeAspect="1"/>
          </p:cNvPicPr>
          <p:nvPr/>
        </p:nvPicPr>
        <p:blipFill rotWithShape="1">
          <a:blip r:embed="rId4"/>
          <a:srcRect l="20420" r="12914"/>
          <a:stretch/>
        </p:blipFill>
        <p:spPr>
          <a:xfrm>
            <a:off x="0" y="0"/>
            <a:ext cx="5486400" cy="8229600"/>
          </a:xfrm>
          <a:prstGeom prst="rect">
            <a:avLst/>
          </a:prstGeom>
        </p:spPr>
      </p:pic>
      <p:pic>
        <p:nvPicPr>
          <p:cNvPr id="7" name="Рисунок 6">
            <a:extLst>
              <a:ext uri="{FF2B5EF4-FFF2-40B4-BE49-F238E27FC236}">
                <a16:creationId xmlns:a16="http://schemas.microsoft.com/office/drawing/2014/main" id="{AD3F2B77-6682-4943-A8FA-F10A3A8CD114}"/>
              </a:ext>
            </a:extLst>
          </p:cNvPr>
          <p:cNvPicPr/>
          <p:nvPr/>
        </p:nvPicPr>
        <p:blipFill>
          <a:blip r:embed="rId5"/>
          <a:stretch>
            <a:fillRect/>
          </a:stretch>
        </p:blipFill>
        <p:spPr>
          <a:xfrm>
            <a:off x="7725023" y="5054118"/>
            <a:ext cx="4212174" cy="7585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4" name="Text 0"/>
          <p:cNvSpPr/>
          <p:nvPr/>
        </p:nvSpPr>
        <p:spPr>
          <a:xfrm>
            <a:off x="864037" y="1484590"/>
            <a:ext cx="7415927" cy="1452086"/>
          </a:xfrm>
          <a:prstGeom prst="rect">
            <a:avLst/>
          </a:prstGeom>
          <a:noFill/>
          <a:ln/>
        </p:spPr>
        <p:txBody>
          <a:bodyPr wrap="square" lIns="0" tIns="0" rIns="0" bIns="0" rtlCol="0" anchor="t"/>
          <a:lstStyle/>
          <a:p>
            <a:pPr marL="0" indent="0">
              <a:lnSpc>
                <a:spcPts val="5700"/>
              </a:lnSpc>
              <a:buNone/>
            </a:pPr>
            <a:r>
              <a:rPr lang="en-US" sz="4550" dirty="0">
                <a:solidFill>
                  <a:srgbClr val="F98AC7"/>
                </a:solidFill>
                <a:latin typeface="Lora" pitchFamily="34" charset="0"/>
                <a:ea typeface="Lora" pitchFamily="34" charset="-122"/>
                <a:cs typeface="Lora" pitchFamily="34" charset="-120"/>
              </a:rPr>
              <a:t>Example with Gaussian Noise</a:t>
            </a:r>
            <a:endParaRPr lang="en-US" sz="4550" dirty="0"/>
          </a:p>
        </p:txBody>
      </p:sp>
      <p:sp>
        <p:nvSpPr>
          <p:cNvPr id="5" name="Text 1"/>
          <p:cNvSpPr/>
          <p:nvPr/>
        </p:nvSpPr>
        <p:spPr>
          <a:xfrm>
            <a:off x="864037" y="3306961"/>
            <a:ext cx="7415927" cy="1185148"/>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Consider a system:</a:t>
            </a:r>
          </a:p>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 			</a:t>
            </a:r>
            <a:r>
              <a:rPr lang="en-US" sz="3600" b="1" dirty="0">
                <a:solidFill>
                  <a:srgbClr val="D6E5EF"/>
                </a:solidFill>
                <a:latin typeface="Source Sans Pro" pitchFamily="34" charset="0"/>
                <a:ea typeface="Source Sans Pro" pitchFamily="34" charset="-122"/>
                <a:cs typeface="Source Sans Pro" pitchFamily="34" charset="-120"/>
              </a:rPr>
              <a:t>y = </a:t>
            </a:r>
            <a:r>
              <a:rPr lang="en-US" sz="3600" b="1" dirty="0" err="1">
                <a:solidFill>
                  <a:srgbClr val="D6E5EF"/>
                </a:solidFill>
                <a:latin typeface="Source Sans Pro" pitchFamily="34" charset="0"/>
                <a:ea typeface="Source Sans Pro" pitchFamily="34" charset="-122"/>
                <a:cs typeface="Source Sans Pro" pitchFamily="34" charset="-120"/>
              </a:rPr>
              <a:t>a⋅x</a:t>
            </a:r>
            <a:r>
              <a:rPr lang="en-US" sz="3600" b="1" dirty="0">
                <a:solidFill>
                  <a:srgbClr val="D6E5EF"/>
                </a:solidFill>
                <a:latin typeface="Source Sans Pro" pitchFamily="34" charset="0"/>
                <a:ea typeface="Source Sans Pro" pitchFamily="34" charset="-122"/>
                <a:cs typeface="Source Sans Pro" pitchFamily="34" charset="-120"/>
              </a:rPr>
              <a:t> + n,</a:t>
            </a:r>
          </a:p>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where 'a' is constant, and 'n' represents additive white Gaussian noise. The goal is to estimate 'x' (e.g., temperature) using measurement 'y'.</a:t>
            </a:r>
            <a:endParaRPr lang="en-US" sz="1900" dirty="0"/>
          </a:p>
        </p:txBody>
      </p:sp>
      <p:sp>
        <p:nvSpPr>
          <p:cNvPr id="6" name="Text 2"/>
          <p:cNvSpPr/>
          <p:nvPr/>
        </p:nvSpPr>
        <p:spPr>
          <a:xfrm>
            <a:off x="864037" y="4769763"/>
            <a:ext cx="7415927" cy="1975247"/>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In this case, the likelihood is the probability of observing 'y' given 'x', following a Gaussian distribution centered around 'a⋅x'. The prior distribution represents our initial knowledge about 'x' (e.g., temperature limits). The posterior distribution combines likelihood and prior, with the MAP estimate being the 'x' value maximizing this distribution.</a:t>
            </a:r>
            <a:endParaRPr lang="en-US" sz="1900" dirty="0"/>
          </a:p>
        </p:txBody>
      </p:sp>
      <p:pic>
        <p:nvPicPr>
          <p:cNvPr id="7" name="Рисунок 6">
            <a:extLst>
              <a:ext uri="{FF2B5EF4-FFF2-40B4-BE49-F238E27FC236}">
                <a16:creationId xmlns:a16="http://schemas.microsoft.com/office/drawing/2014/main" id="{BF1C190D-3479-4D1E-A790-7BE31DAEE2A1}"/>
              </a:ext>
            </a:extLst>
          </p:cNvPr>
          <p:cNvPicPr>
            <a:picLocks noChangeAspect="1"/>
          </p:cNvPicPr>
          <p:nvPr/>
        </p:nvPicPr>
        <p:blipFill rotWithShape="1">
          <a:blip r:embed="rId4"/>
          <a:srcRect l="33333"/>
          <a:stretch/>
        </p:blipFill>
        <p:spPr>
          <a:xfrm>
            <a:off x="9144000" y="0"/>
            <a:ext cx="5486400" cy="8229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2215991"/>
            <a:ext cx="7415927" cy="1452086"/>
          </a:xfrm>
          <a:prstGeom prst="rect">
            <a:avLst/>
          </a:prstGeom>
          <a:noFill/>
          <a:ln/>
        </p:spPr>
        <p:txBody>
          <a:bodyPr wrap="square" lIns="0" tIns="0" rIns="0" bIns="0" rtlCol="0" anchor="t"/>
          <a:lstStyle/>
          <a:p>
            <a:pPr marL="0" indent="0">
              <a:lnSpc>
                <a:spcPts val="5700"/>
              </a:lnSpc>
              <a:buNone/>
            </a:pPr>
            <a:r>
              <a:rPr lang="en-US" sz="4550" dirty="0">
                <a:solidFill>
                  <a:srgbClr val="F98AC7"/>
                </a:solidFill>
                <a:latin typeface="Lora" pitchFamily="34" charset="0"/>
                <a:ea typeface="Lora" pitchFamily="34" charset="-122"/>
                <a:cs typeface="Lora" pitchFamily="34" charset="-120"/>
              </a:rPr>
              <a:t>Real-Life Application of MAP Estimation</a:t>
            </a:r>
            <a:endParaRPr lang="en-US" sz="4550" dirty="0"/>
          </a:p>
        </p:txBody>
      </p:sp>
      <p:sp>
        <p:nvSpPr>
          <p:cNvPr id="4" name="Text 1"/>
          <p:cNvSpPr/>
          <p:nvPr/>
        </p:nvSpPr>
        <p:spPr>
          <a:xfrm>
            <a:off x="864037" y="4038362"/>
            <a:ext cx="7415927" cy="1975247"/>
          </a:xfrm>
          <a:prstGeom prst="rect">
            <a:avLst/>
          </a:prstGeom>
          <a:noFill/>
          <a:ln/>
        </p:spPr>
        <p:txBody>
          <a:bodyPr wrap="square" lIns="0" tIns="0" rIns="0" bIns="0" rtlCol="0" anchor="t"/>
          <a:lstStyle/>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Imagine determining whether your mother took an apple or an orange from a fruit bowl. You know she prefers apples (P(apple) = 0.6) over oranges (P(orange) = 0.4). Finding orange peel (likelihood), with</a:t>
            </a:r>
          </a:p>
          <a:p>
            <a:pPr marL="0" indent="0">
              <a:lnSpc>
                <a:spcPts val="3100"/>
              </a:lnSpc>
              <a:buNone/>
            </a:pPr>
            <a:r>
              <a:rPr lang="en-US" sz="1900" dirty="0">
                <a:solidFill>
                  <a:srgbClr val="D6E5EF"/>
                </a:solidFill>
                <a:latin typeface="Source Sans Pro" pitchFamily="34" charset="0"/>
                <a:ea typeface="Source Sans Pro" pitchFamily="34" charset="-122"/>
                <a:cs typeface="Source Sans Pro" pitchFamily="34" charset="-120"/>
              </a:rPr>
              <a:t> P(orange peel∣apple) = 0.1 and P(orange peel∣orange) = 0.9, makes it more likely she took the orange.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86100"/>
          </a:xfrm>
          <a:prstGeom prst="rect">
            <a:avLst/>
          </a:prstGeom>
        </p:spPr>
      </p:pic>
      <p:sp>
        <p:nvSpPr>
          <p:cNvPr id="3" name="Text 0"/>
          <p:cNvSpPr/>
          <p:nvPr/>
        </p:nvSpPr>
        <p:spPr>
          <a:xfrm>
            <a:off x="0" y="4738482"/>
            <a:ext cx="9423234" cy="726043"/>
          </a:xfrm>
          <a:prstGeom prst="rect">
            <a:avLst/>
          </a:prstGeom>
          <a:noFill/>
          <a:ln/>
        </p:spPr>
        <p:txBody>
          <a:bodyPr wrap="none" lIns="0" tIns="0" rIns="0" bIns="0" rtlCol="0" anchor="t"/>
          <a:lstStyle/>
          <a:p>
            <a:pPr marL="0" indent="0" algn="ctr">
              <a:lnSpc>
                <a:spcPts val="5700"/>
              </a:lnSpc>
              <a:buNone/>
            </a:pPr>
            <a:r>
              <a:rPr lang="en-US" sz="6600" dirty="0">
                <a:solidFill>
                  <a:srgbClr val="F98AC7"/>
                </a:solidFill>
                <a:latin typeface="Lora" pitchFamily="34" charset="0"/>
                <a:ea typeface="Lora" pitchFamily="34" charset="-122"/>
                <a:cs typeface="Lora" pitchFamily="34" charset="-120"/>
              </a:rPr>
              <a:t>Thank you for </a:t>
            </a:r>
          </a:p>
          <a:p>
            <a:pPr marL="0" indent="0" algn="ctr">
              <a:lnSpc>
                <a:spcPts val="5700"/>
              </a:lnSpc>
              <a:buNone/>
            </a:pPr>
            <a:r>
              <a:rPr lang="en-US" sz="6600" dirty="0">
                <a:solidFill>
                  <a:srgbClr val="F98AC7"/>
                </a:solidFill>
                <a:latin typeface="Lora" pitchFamily="34" charset="0"/>
                <a:ea typeface="Lora" pitchFamily="34" charset="-122"/>
                <a:cs typeface="Lora" pitchFamily="34" charset="-120"/>
              </a:rPr>
              <a:t>your attention!</a:t>
            </a:r>
            <a:endParaRPr lang="en-US" sz="6600" dirty="0"/>
          </a:p>
        </p:txBody>
      </p:sp>
      <p:sp>
        <p:nvSpPr>
          <p:cNvPr id="4" name="Text 1"/>
          <p:cNvSpPr/>
          <p:nvPr/>
        </p:nvSpPr>
        <p:spPr>
          <a:xfrm>
            <a:off x="968693" y="5613440"/>
            <a:ext cx="12692896" cy="1185148"/>
          </a:xfrm>
          <a:prstGeom prst="rect">
            <a:avLst/>
          </a:prstGeom>
          <a:noFill/>
          <a:ln/>
        </p:spPr>
        <p:txBody>
          <a:bodyPr wrap="square" lIns="0" tIns="0" rIns="0" bIns="0" rtlCol="0" anchor="t"/>
          <a:lstStyle/>
          <a:p>
            <a:pPr marL="0" indent="0">
              <a:lnSpc>
                <a:spcPts val="3100"/>
              </a:lnSpc>
              <a:buNone/>
            </a:pPr>
            <a:endParaRPr lang="en-US" sz="1900" dirty="0"/>
          </a:p>
        </p:txBody>
      </p:sp>
      <p:sp>
        <p:nvSpPr>
          <p:cNvPr id="5" name="Прямоугольник 4">
            <a:extLst>
              <a:ext uri="{FF2B5EF4-FFF2-40B4-BE49-F238E27FC236}">
                <a16:creationId xmlns:a16="http://schemas.microsoft.com/office/drawing/2014/main" id="{44640A96-27CC-4BFC-B221-B46524732CBE}"/>
              </a:ext>
            </a:extLst>
          </p:cNvPr>
          <p:cNvSpPr/>
          <p:nvPr/>
        </p:nvSpPr>
        <p:spPr>
          <a:xfrm>
            <a:off x="12801600" y="7673546"/>
            <a:ext cx="1828800" cy="556054"/>
          </a:xfrm>
          <a:prstGeom prst="rect">
            <a:avLst/>
          </a:prstGeom>
          <a:solidFill>
            <a:srgbClr val="252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7" name="Рисунок 6">
            <a:extLst>
              <a:ext uri="{FF2B5EF4-FFF2-40B4-BE49-F238E27FC236}">
                <a16:creationId xmlns:a16="http://schemas.microsoft.com/office/drawing/2014/main" id="{67561095-EE26-43CC-B4E6-203A0619D755}"/>
              </a:ext>
            </a:extLst>
          </p:cNvPr>
          <p:cNvPicPr>
            <a:picLocks noChangeAspect="1"/>
          </p:cNvPicPr>
          <p:nvPr/>
        </p:nvPicPr>
        <p:blipFill>
          <a:blip r:embed="rId4"/>
          <a:stretch>
            <a:fillRect/>
          </a:stretch>
        </p:blipFill>
        <p:spPr>
          <a:xfrm>
            <a:off x="9423234" y="3406097"/>
            <a:ext cx="4414686" cy="44146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741</Words>
  <Application>Microsoft Office PowerPoint</Application>
  <PresentationFormat>Произвольный</PresentationFormat>
  <Paragraphs>57</Paragraphs>
  <Slides>10</Slides>
  <Notes>10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10</vt:i4>
      </vt:variant>
    </vt:vector>
  </HeadingPairs>
  <TitlesOfParts>
    <vt:vector size="15" baseType="lpstr">
      <vt:lpstr>Calibri</vt:lpstr>
      <vt:lpstr>Source Sans Pro</vt:lpstr>
      <vt:lpstr>Arial</vt:lpstr>
      <vt:lpstr>Lora</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Полина Полянская</cp:lastModifiedBy>
  <cp:revision>2</cp:revision>
  <dcterms:created xsi:type="dcterms:W3CDTF">2024-10-23T16:48:27Z</dcterms:created>
  <dcterms:modified xsi:type="dcterms:W3CDTF">2024-10-23T17:56:54Z</dcterms:modified>
</cp:coreProperties>
</file>