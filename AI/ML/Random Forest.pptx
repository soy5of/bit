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Open Sans Extra Bold" charset="1" panose="020B0906030804020204"/>
      <p:regular r:id="rId22"/>
    </p:embeddedFont>
    <p:embeddedFont>
      <p:font typeface="Poppins" charset="1" panose="00000500000000000000"/>
      <p:regular r:id="rId23"/>
    </p:embeddedFont>
    <p:embeddedFont>
      <p:font typeface="Poppins Bold"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jpe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097502" y="5590237"/>
            <a:ext cx="14099416" cy="140994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391331" y="3298747"/>
            <a:ext cx="8015383" cy="3201849"/>
          </a:xfrm>
          <a:prstGeom prst="rect">
            <a:avLst/>
          </a:prstGeom>
        </p:spPr>
        <p:txBody>
          <a:bodyPr anchor="t" rtlCol="false" tIns="0" lIns="0" bIns="0" rIns="0">
            <a:spAutoFit/>
          </a:bodyPr>
          <a:lstStyle/>
          <a:p>
            <a:pPr algn="l">
              <a:lnSpc>
                <a:spcPts val="12819"/>
              </a:lnSpc>
              <a:spcBef>
                <a:spcPct val="0"/>
              </a:spcBef>
            </a:pPr>
            <a:r>
              <a:rPr lang="en-US" sz="9156">
                <a:solidFill>
                  <a:srgbClr val="051D40"/>
                </a:solidFill>
                <a:latin typeface="Open Sans Extra Bold"/>
                <a:ea typeface="Open Sans Extra Bold"/>
                <a:cs typeface="Open Sans Extra Bold"/>
                <a:sym typeface="Open Sans Extra Bold"/>
              </a:rPr>
              <a:t>Random Forest</a:t>
            </a:r>
          </a:p>
        </p:txBody>
      </p:sp>
      <p:grpSp>
        <p:nvGrpSpPr>
          <p:cNvPr name="Group 6" id="6"/>
          <p:cNvGrpSpPr/>
          <p:nvPr/>
        </p:nvGrpSpPr>
        <p:grpSpPr>
          <a:xfrm rot="0">
            <a:off x="16420234" y="-1717598"/>
            <a:ext cx="3735531" cy="37355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747857" y="-643475"/>
            <a:ext cx="1286950" cy="128695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929195" y="8389571"/>
            <a:ext cx="3735531" cy="373553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8757394" y="7522582"/>
            <a:ext cx="8779632" cy="1733977"/>
          </a:xfrm>
          <a:custGeom>
            <a:avLst/>
            <a:gdLst/>
            <a:ahLst/>
            <a:cxnLst/>
            <a:rect r="r" b="b" t="t" l="l"/>
            <a:pathLst>
              <a:path h="1733977" w="8779632">
                <a:moveTo>
                  <a:pt x="0" y="0"/>
                </a:moveTo>
                <a:lnTo>
                  <a:pt x="8779632" y="0"/>
                </a:lnTo>
                <a:lnTo>
                  <a:pt x="8779632" y="1733977"/>
                </a:lnTo>
                <a:lnTo>
                  <a:pt x="0" y="1733977"/>
                </a:lnTo>
                <a:lnTo>
                  <a:pt x="0" y="0"/>
                </a:lnTo>
                <a:close/>
              </a:path>
            </a:pathLst>
          </a:custGeom>
          <a:blipFill>
            <a:blip r:embed="rId2"/>
            <a:stretch>
              <a:fillRect l="0" t="0" r="0" b="0"/>
            </a:stretch>
          </a:blipFill>
        </p:spPr>
      </p:sp>
      <p:sp>
        <p:nvSpPr>
          <p:cNvPr name="TextBox 16" id="16"/>
          <p:cNvSpPr txBox="true"/>
          <p:nvPr/>
        </p:nvSpPr>
        <p:spPr>
          <a:xfrm rot="0">
            <a:off x="1391331" y="6631448"/>
            <a:ext cx="7366063" cy="1958881"/>
          </a:xfrm>
          <a:prstGeom prst="rect">
            <a:avLst/>
          </a:prstGeom>
        </p:spPr>
        <p:txBody>
          <a:bodyPr anchor="t" rtlCol="false" tIns="0" lIns="0" bIns="0" rIns="0">
            <a:spAutoFit/>
          </a:bodyPr>
          <a:lstStyle/>
          <a:p>
            <a:pPr algn="l">
              <a:lnSpc>
                <a:spcPts val="3855"/>
              </a:lnSpc>
            </a:pPr>
            <a:r>
              <a:rPr lang="en-US" sz="2753" spc="-55">
                <a:solidFill>
                  <a:srgbClr val="051D40"/>
                </a:solidFill>
                <a:latin typeface="Poppins"/>
                <a:ea typeface="Poppins"/>
                <a:cs typeface="Poppins"/>
                <a:sym typeface="Poppins"/>
              </a:rPr>
              <a:t>By: Viacheslav Pavlov 1820249060</a:t>
            </a:r>
          </a:p>
          <a:p>
            <a:pPr algn="l">
              <a:lnSpc>
                <a:spcPts val="3855"/>
              </a:lnSpc>
            </a:pPr>
            <a:r>
              <a:rPr lang="en-US" sz="2753" spc="-55">
                <a:solidFill>
                  <a:srgbClr val="051D40"/>
                </a:solidFill>
                <a:latin typeface="Poppins"/>
                <a:ea typeface="Poppins"/>
                <a:cs typeface="Poppins"/>
                <a:sym typeface="Poppins"/>
              </a:rPr>
              <a:t>      Such Gaëtan 1820249036</a:t>
            </a:r>
          </a:p>
          <a:p>
            <a:pPr algn="l">
              <a:lnSpc>
                <a:spcPts val="3855"/>
              </a:lnSpc>
            </a:pPr>
            <a:r>
              <a:rPr lang="en-US" sz="2753" spc="-55">
                <a:solidFill>
                  <a:srgbClr val="051D40"/>
                </a:solidFill>
                <a:latin typeface="Poppins"/>
                <a:ea typeface="Poppins"/>
                <a:cs typeface="Poppins"/>
                <a:sym typeface="Poppins"/>
              </a:rPr>
              <a:t>      Picado Mattéo 1820249037</a:t>
            </a:r>
          </a:p>
          <a:p>
            <a:pPr algn="l">
              <a:lnSpc>
                <a:spcPts val="3855"/>
              </a:lnSpc>
              <a:spcBef>
                <a:spcPct val="0"/>
              </a:spcBef>
            </a:pPr>
          </a:p>
        </p:txBody>
      </p:sp>
      <p:grpSp>
        <p:nvGrpSpPr>
          <p:cNvPr name="Group 17" id="17"/>
          <p:cNvGrpSpPr>
            <a:grpSpLocks noChangeAspect="true"/>
          </p:cNvGrpSpPr>
          <p:nvPr/>
        </p:nvGrpSpPr>
        <p:grpSpPr>
          <a:xfrm rot="0">
            <a:off x="8573918" y="3143201"/>
            <a:ext cx="9146584" cy="5246370"/>
            <a:chOff x="0" y="0"/>
            <a:chExt cx="7981950" cy="4578350"/>
          </a:xfrm>
        </p:grpSpPr>
        <p:sp>
          <p:nvSpPr>
            <p:cNvPr name="Freeform 18" id="18"/>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p:spPr>
        </p:sp>
        <p:sp>
          <p:nvSpPr>
            <p:cNvPr name="Freeform 19" id="19"/>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name="Freeform 20" id="20"/>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name="Freeform 21" id="21"/>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name="Freeform 22" id="22"/>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3"/>
              <a:stretch>
                <a:fillRect l="0" t="-3261" r="0" b="-3261"/>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4536527" y="-355429"/>
            <a:ext cx="3964281" cy="10917809"/>
            <a:chOff x="0" y="0"/>
            <a:chExt cx="1044090" cy="2875472"/>
          </a:xfrm>
        </p:grpSpPr>
        <p:sp>
          <p:nvSpPr>
            <p:cNvPr name="Freeform 3" id="3"/>
            <p:cNvSpPr/>
            <p:nvPr/>
          </p:nvSpPr>
          <p:spPr>
            <a:xfrm flipH="false" flipV="false" rot="0">
              <a:off x="0" y="0"/>
              <a:ext cx="1044090" cy="2875472"/>
            </a:xfrm>
            <a:custGeom>
              <a:avLst/>
              <a:gdLst/>
              <a:ahLst/>
              <a:cxnLst/>
              <a:rect r="r" b="b" t="t" l="l"/>
              <a:pathLst>
                <a:path h="2875472" w="1044090">
                  <a:moveTo>
                    <a:pt x="0" y="0"/>
                  </a:moveTo>
                  <a:lnTo>
                    <a:pt x="1044090" y="0"/>
                  </a:lnTo>
                  <a:lnTo>
                    <a:pt x="1044090" y="2875472"/>
                  </a:lnTo>
                  <a:lnTo>
                    <a:pt x="0" y="2875472"/>
                  </a:lnTo>
                  <a:close/>
                </a:path>
              </a:pathLst>
            </a:custGeom>
            <a:solidFill>
              <a:srgbClr val="145DA0"/>
            </a:solidFill>
            <a:ln cap="sq">
              <a:noFill/>
              <a:prstDash val="solid"/>
              <a:miter/>
            </a:ln>
          </p:spPr>
        </p:sp>
        <p:sp>
          <p:nvSpPr>
            <p:cNvPr name="TextBox 4" id="4"/>
            <p:cNvSpPr txBox="true"/>
            <p:nvPr/>
          </p:nvSpPr>
          <p:spPr>
            <a:xfrm>
              <a:off x="0" y="-38100"/>
              <a:ext cx="1044090" cy="291357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3663160" y="1641132"/>
            <a:ext cx="6760246" cy="1244690"/>
          </a:xfrm>
          <a:prstGeom prst="rect">
            <a:avLst/>
          </a:prstGeom>
        </p:spPr>
        <p:txBody>
          <a:bodyPr anchor="t" rtlCol="false" tIns="0" lIns="0" bIns="0" rIns="0">
            <a:spAutoFit/>
          </a:bodyPr>
          <a:lstStyle/>
          <a:p>
            <a:pPr algn="l">
              <a:lnSpc>
                <a:spcPts val="10248"/>
              </a:lnSpc>
              <a:spcBef>
                <a:spcPct val="0"/>
              </a:spcBef>
            </a:pPr>
            <a:r>
              <a:rPr lang="en-US" sz="7320">
                <a:solidFill>
                  <a:srgbClr val="051D40"/>
                </a:solidFill>
                <a:latin typeface="Open Sans Extra Bold"/>
                <a:ea typeface="Open Sans Extra Bold"/>
                <a:cs typeface="Open Sans Extra Bold"/>
                <a:sym typeface="Open Sans Extra Bold"/>
              </a:rPr>
              <a:t>Overview</a:t>
            </a:r>
          </a:p>
        </p:txBody>
      </p:sp>
      <p:grpSp>
        <p:nvGrpSpPr>
          <p:cNvPr name="Group 6" id="6"/>
          <p:cNvGrpSpPr/>
          <p:nvPr/>
        </p:nvGrpSpPr>
        <p:grpSpPr>
          <a:xfrm rot="0">
            <a:off x="-1867766" y="-1614217"/>
            <a:ext cx="3735531" cy="37355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5400000">
            <a:off x="324767" y="3642136"/>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075492" y="3566910"/>
            <a:ext cx="3773019"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Introduction</a:t>
            </a:r>
          </a:p>
        </p:txBody>
      </p:sp>
      <p:sp>
        <p:nvSpPr>
          <p:cNvPr name="TextBox 11" id="11"/>
          <p:cNvSpPr txBox="true"/>
          <p:nvPr/>
        </p:nvSpPr>
        <p:spPr>
          <a:xfrm rot="0">
            <a:off x="5895480" y="3566910"/>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01</a:t>
            </a:r>
          </a:p>
        </p:txBody>
      </p:sp>
      <p:sp>
        <p:nvSpPr>
          <p:cNvPr name="Freeform 12" id="12"/>
          <p:cNvSpPr/>
          <p:nvPr/>
        </p:nvSpPr>
        <p:spPr>
          <a:xfrm flipH="false" flipV="false" rot="5400000">
            <a:off x="324767" y="4267642"/>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075492" y="4220992"/>
            <a:ext cx="4819989" cy="728886"/>
          </a:xfrm>
          <a:prstGeom prst="rect">
            <a:avLst/>
          </a:prstGeom>
        </p:spPr>
        <p:txBody>
          <a:bodyPr anchor="t" rtlCol="false" tIns="0" lIns="0" bIns="0" rIns="0">
            <a:spAutoFit/>
          </a:bodyPr>
          <a:lstStyle/>
          <a:p>
            <a:pPr algn="l">
              <a:lnSpc>
                <a:spcPts val="2875"/>
              </a:lnSpc>
              <a:spcBef>
                <a:spcPct val="0"/>
              </a:spcBef>
            </a:pPr>
            <a:r>
              <a:rPr lang="en-US" sz="2053" spc="-41">
                <a:solidFill>
                  <a:srgbClr val="051D40"/>
                </a:solidFill>
                <a:latin typeface="Poppins"/>
                <a:ea typeface="Poppins"/>
                <a:cs typeface="Poppins"/>
                <a:sym typeface="Poppins"/>
              </a:rPr>
              <a:t>How Random Forest Fits into AI and Machine Learning</a:t>
            </a:r>
          </a:p>
        </p:txBody>
      </p:sp>
      <p:sp>
        <p:nvSpPr>
          <p:cNvPr name="TextBox 14" id="14"/>
          <p:cNvSpPr txBox="true"/>
          <p:nvPr/>
        </p:nvSpPr>
        <p:spPr>
          <a:xfrm rot="0">
            <a:off x="5895480" y="4192417"/>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02</a:t>
            </a:r>
          </a:p>
        </p:txBody>
      </p:sp>
      <p:sp>
        <p:nvSpPr>
          <p:cNvPr name="Freeform 15" id="15"/>
          <p:cNvSpPr/>
          <p:nvPr/>
        </p:nvSpPr>
        <p:spPr>
          <a:xfrm flipH="false" flipV="false" rot="5400000">
            <a:off x="324767" y="5092976"/>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1075492" y="5055851"/>
            <a:ext cx="4652520" cy="577121"/>
          </a:xfrm>
          <a:prstGeom prst="rect">
            <a:avLst/>
          </a:prstGeom>
        </p:spPr>
        <p:txBody>
          <a:bodyPr anchor="t" rtlCol="false" tIns="0" lIns="0" bIns="0" rIns="0">
            <a:spAutoFit/>
          </a:bodyPr>
          <a:lstStyle/>
          <a:p>
            <a:pPr algn="l">
              <a:lnSpc>
                <a:spcPts val="2315"/>
              </a:lnSpc>
              <a:spcBef>
                <a:spcPct val="0"/>
              </a:spcBef>
            </a:pPr>
            <a:r>
              <a:rPr lang="en-US" sz="1653" spc="-33">
                <a:solidFill>
                  <a:srgbClr val="051D40"/>
                </a:solidFill>
                <a:latin typeface="Poppins"/>
                <a:ea typeface="Poppins"/>
                <a:cs typeface="Poppins"/>
                <a:sym typeface="Poppins"/>
              </a:rPr>
              <a:t>Key Differences Between Random Forest and Other Decision Tree Algorithms</a:t>
            </a:r>
          </a:p>
        </p:txBody>
      </p:sp>
      <p:sp>
        <p:nvSpPr>
          <p:cNvPr name="TextBox 17" id="17"/>
          <p:cNvSpPr txBox="true"/>
          <p:nvPr/>
        </p:nvSpPr>
        <p:spPr>
          <a:xfrm rot="0">
            <a:off x="5895480" y="5017751"/>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03</a:t>
            </a:r>
          </a:p>
        </p:txBody>
      </p:sp>
      <p:sp>
        <p:nvSpPr>
          <p:cNvPr name="Freeform 18" id="18"/>
          <p:cNvSpPr/>
          <p:nvPr/>
        </p:nvSpPr>
        <p:spPr>
          <a:xfrm flipH="false" flipV="false" rot="5400000">
            <a:off x="324767" y="5718483"/>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1075492" y="5707075"/>
            <a:ext cx="4397771" cy="409481"/>
          </a:xfrm>
          <a:prstGeom prst="rect">
            <a:avLst/>
          </a:prstGeom>
        </p:spPr>
        <p:txBody>
          <a:bodyPr anchor="t" rtlCol="false" tIns="0" lIns="0" bIns="0" rIns="0">
            <a:spAutoFit/>
          </a:bodyPr>
          <a:lstStyle/>
          <a:p>
            <a:pPr algn="l">
              <a:lnSpc>
                <a:spcPts val="3155"/>
              </a:lnSpc>
              <a:spcBef>
                <a:spcPct val="0"/>
              </a:spcBef>
            </a:pPr>
            <a:r>
              <a:rPr lang="en-US" sz="2253" spc="-45">
                <a:solidFill>
                  <a:srgbClr val="051D40"/>
                </a:solidFill>
                <a:latin typeface="Poppins"/>
                <a:ea typeface="Poppins"/>
                <a:cs typeface="Poppins"/>
                <a:sym typeface="Poppins"/>
              </a:rPr>
              <a:t>How does this algorithm work?</a:t>
            </a:r>
          </a:p>
        </p:txBody>
      </p:sp>
      <p:sp>
        <p:nvSpPr>
          <p:cNvPr name="TextBox 20" id="20"/>
          <p:cNvSpPr txBox="true"/>
          <p:nvPr/>
        </p:nvSpPr>
        <p:spPr>
          <a:xfrm rot="0">
            <a:off x="5895480" y="5643257"/>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04</a:t>
            </a:r>
          </a:p>
        </p:txBody>
      </p:sp>
      <p:sp>
        <p:nvSpPr>
          <p:cNvPr name="Freeform 21" id="21"/>
          <p:cNvSpPr/>
          <p:nvPr/>
        </p:nvSpPr>
        <p:spPr>
          <a:xfrm flipH="false" flipV="false" rot="5400000">
            <a:off x="324767" y="6343720"/>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2" id="22"/>
          <p:cNvSpPr txBox="true"/>
          <p:nvPr/>
        </p:nvSpPr>
        <p:spPr>
          <a:xfrm rot="0">
            <a:off x="1061326" y="6393590"/>
            <a:ext cx="4579735" cy="392971"/>
          </a:xfrm>
          <a:prstGeom prst="rect">
            <a:avLst/>
          </a:prstGeom>
        </p:spPr>
        <p:txBody>
          <a:bodyPr anchor="t" rtlCol="false" tIns="0" lIns="0" bIns="0" rIns="0">
            <a:spAutoFit/>
          </a:bodyPr>
          <a:lstStyle/>
          <a:p>
            <a:pPr algn="l">
              <a:lnSpc>
                <a:spcPts val="3015"/>
              </a:lnSpc>
              <a:spcBef>
                <a:spcPct val="0"/>
              </a:spcBef>
            </a:pPr>
            <a:r>
              <a:rPr lang="en-US" sz="2153" spc="-43">
                <a:solidFill>
                  <a:srgbClr val="051D40"/>
                </a:solidFill>
                <a:latin typeface="Poppins"/>
                <a:ea typeface="Poppins"/>
                <a:cs typeface="Poppins"/>
                <a:sym typeface="Poppins"/>
              </a:rPr>
              <a:t>Key Features of Random Forest</a:t>
            </a:r>
          </a:p>
        </p:txBody>
      </p:sp>
      <p:sp>
        <p:nvSpPr>
          <p:cNvPr name="TextBox 23" id="23"/>
          <p:cNvSpPr txBox="true"/>
          <p:nvPr/>
        </p:nvSpPr>
        <p:spPr>
          <a:xfrm rot="0">
            <a:off x="5895480" y="6268494"/>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05</a:t>
            </a:r>
          </a:p>
        </p:txBody>
      </p:sp>
      <p:sp>
        <p:nvSpPr>
          <p:cNvPr name="Freeform 24" id="24"/>
          <p:cNvSpPr/>
          <p:nvPr/>
        </p:nvSpPr>
        <p:spPr>
          <a:xfrm flipH="false" flipV="false" rot="5400000">
            <a:off x="324767" y="6969226"/>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5" id="25"/>
          <p:cNvSpPr txBox="true"/>
          <p:nvPr/>
        </p:nvSpPr>
        <p:spPr>
          <a:xfrm rot="0">
            <a:off x="1061326" y="6966074"/>
            <a:ext cx="4397771" cy="392971"/>
          </a:xfrm>
          <a:prstGeom prst="rect">
            <a:avLst/>
          </a:prstGeom>
        </p:spPr>
        <p:txBody>
          <a:bodyPr anchor="t" rtlCol="false" tIns="0" lIns="0" bIns="0" rIns="0">
            <a:spAutoFit/>
          </a:bodyPr>
          <a:lstStyle/>
          <a:p>
            <a:pPr algn="l">
              <a:lnSpc>
                <a:spcPts val="3015"/>
              </a:lnSpc>
              <a:spcBef>
                <a:spcPct val="0"/>
              </a:spcBef>
            </a:pPr>
            <a:r>
              <a:rPr lang="en-US" sz="2153" spc="-43">
                <a:solidFill>
                  <a:srgbClr val="051D40"/>
                </a:solidFill>
                <a:latin typeface="Poppins"/>
                <a:ea typeface="Poppins"/>
                <a:cs typeface="Poppins"/>
                <a:sym typeface="Poppins"/>
              </a:rPr>
              <a:t>Advantages of Random Forest</a:t>
            </a:r>
          </a:p>
        </p:txBody>
      </p:sp>
      <p:sp>
        <p:nvSpPr>
          <p:cNvPr name="TextBox 26" id="26"/>
          <p:cNvSpPr txBox="true"/>
          <p:nvPr/>
        </p:nvSpPr>
        <p:spPr>
          <a:xfrm rot="0">
            <a:off x="5895480" y="6894001"/>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06</a:t>
            </a:r>
          </a:p>
        </p:txBody>
      </p:sp>
      <p:sp>
        <p:nvSpPr>
          <p:cNvPr name="Freeform 27" id="27"/>
          <p:cNvSpPr/>
          <p:nvPr/>
        </p:nvSpPr>
        <p:spPr>
          <a:xfrm flipH="false" flipV="false" rot="5400000">
            <a:off x="324767" y="7594463"/>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8" id="28"/>
          <p:cNvSpPr txBox="true"/>
          <p:nvPr/>
        </p:nvSpPr>
        <p:spPr>
          <a:xfrm rot="0">
            <a:off x="5895480" y="7519238"/>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07</a:t>
            </a:r>
          </a:p>
        </p:txBody>
      </p:sp>
      <p:sp>
        <p:nvSpPr>
          <p:cNvPr name="Freeform 29" id="29"/>
          <p:cNvSpPr/>
          <p:nvPr/>
        </p:nvSpPr>
        <p:spPr>
          <a:xfrm flipH="false" flipV="false" rot="5400000">
            <a:off x="324767" y="8219970"/>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0" id="30"/>
          <p:cNvSpPr txBox="true"/>
          <p:nvPr/>
        </p:nvSpPr>
        <p:spPr>
          <a:xfrm rot="0">
            <a:off x="5895480" y="8144745"/>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08</a:t>
            </a:r>
          </a:p>
        </p:txBody>
      </p:sp>
      <p:sp>
        <p:nvSpPr>
          <p:cNvPr name="TextBox 31" id="31"/>
          <p:cNvSpPr txBox="true"/>
          <p:nvPr/>
        </p:nvSpPr>
        <p:spPr>
          <a:xfrm rot="0">
            <a:off x="1028700" y="7591311"/>
            <a:ext cx="4397771" cy="392971"/>
          </a:xfrm>
          <a:prstGeom prst="rect">
            <a:avLst/>
          </a:prstGeom>
        </p:spPr>
        <p:txBody>
          <a:bodyPr anchor="t" rtlCol="false" tIns="0" lIns="0" bIns="0" rIns="0">
            <a:spAutoFit/>
          </a:bodyPr>
          <a:lstStyle/>
          <a:p>
            <a:pPr algn="l">
              <a:lnSpc>
                <a:spcPts val="3015"/>
              </a:lnSpc>
              <a:spcBef>
                <a:spcPct val="0"/>
              </a:spcBef>
            </a:pPr>
            <a:r>
              <a:rPr lang="en-US" sz="2153" spc="-43">
                <a:solidFill>
                  <a:srgbClr val="051D40"/>
                </a:solidFill>
                <a:latin typeface="Poppins"/>
                <a:ea typeface="Poppins"/>
                <a:cs typeface="Poppins"/>
                <a:sym typeface="Poppins"/>
              </a:rPr>
              <a:t>Limitation of Random Forest</a:t>
            </a:r>
          </a:p>
        </p:txBody>
      </p:sp>
      <p:sp>
        <p:nvSpPr>
          <p:cNvPr name="TextBox 32" id="32"/>
          <p:cNvSpPr txBox="true"/>
          <p:nvPr/>
        </p:nvSpPr>
        <p:spPr>
          <a:xfrm rot="0">
            <a:off x="1028700" y="8216818"/>
            <a:ext cx="4866780" cy="392971"/>
          </a:xfrm>
          <a:prstGeom prst="rect">
            <a:avLst/>
          </a:prstGeom>
        </p:spPr>
        <p:txBody>
          <a:bodyPr anchor="t" rtlCol="false" tIns="0" lIns="0" bIns="0" rIns="0">
            <a:spAutoFit/>
          </a:bodyPr>
          <a:lstStyle/>
          <a:p>
            <a:pPr algn="l">
              <a:lnSpc>
                <a:spcPts val="3015"/>
              </a:lnSpc>
              <a:spcBef>
                <a:spcPct val="0"/>
              </a:spcBef>
            </a:pPr>
            <a:r>
              <a:rPr lang="en-US" sz="2153" spc="-43">
                <a:solidFill>
                  <a:srgbClr val="051D40"/>
                </a:solidFill>
                <a:latin typeface="Poppins"/>
                <a:ea typeface="Poppins"/>
                <a:cs typeface="Poppins"/>
                <a:sym typeface="Poppins"/>
              </a:rPr>
              <a:t>Comparision with Other Algorithms</a:t>
            </a:r>
          </a:p>
        </p:txBody>
      </p:sp>
      <p:sp>
        <p:nvSpPr>
          <p:cNvPr name="Freeform 33" id="33"/>
          <p:cNvSpPr/>
          <p:nvPr/>
        </p:nvSpPr>
        <p:spPr>
          <a:xfrm flipH="false" flipV="false" rot="5400000">
            <a:off x="7406892" y="3642136"/>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4" id="34"/>
          <p:cNvSpPr txBox="true"/>
          <p:nvPr/>
        </p:nvSpPr>
        <p:spPr>
          <a:xfrm rot="0">
            <a:off x="13426640" y="3566910"/>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09</a:t>
            </a:r>
          </a:p>
        </p:txBody>
      </p:sp>
      <p:sp>
        <p:nvSpPr>
          <p:cNvPr name="Freeform 35" id="35"/>
          <p:cNvSpPr/>
          <p:nvPr/>
        </p:nvSpPr>
        <p:spPr>
          <a:xfrm flipH="false" flipV="false" rot="5400000">
            <a:off x="7406892" y="4387339"/>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6" id="36"/>
          <p:cNvSpPr txBox="true"/>
          <p:nvPr/>
        </p:nvSpPr>
        <p:spPr>
          <a:xfrm rot="0">
            <a:off x="13426640" y="4392513"/>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10</a:t>
            </a:r>
          </a:p>
        </p:txBody>
      </p:sp>
      <p:sp>
        <p:nvSpPr>
          <p:cNvPr name="Freeform 37" id="37"/>
          <p:cNvSpPr/>
          <p:nvPr/>
        </p:nvSpPr>
        <p:spPr>
          <a:xfrm flipH="false" flipV="false" rot="5400000">
            <a:off x="7406892" y="5136402"/>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8" id="38"/>
          <p:cNvSpPr txBox="true"/>
          <p:nvPr/>
        </p:nvSpPr>
        <p:spPr>
          <a:xfrm rot="0">
            <a:off x="8107057" y="5127043"/>
            <a:ext cx="4652520" cy="392971"/>
          </a:xfrm>
          <a:prstGeom prst="rect">
            <a:avLst/>
          </a:prstGeom>
        </p:spPr>
        <p:txBody>
          <a:bodyPr anchor="t" rtlCol="false" tIns="0" lIns="0" bIns="0" rIns="0">
            <a:spAutoFit/>
          </a:bodyPr>
          <a:lstStyle/>
          <a:p>
            <a:pPr algn="l">
              <a:lnSpc>
                <a:spcPts val="3015"/>
              </a:lnSpc>
              <a:spcBef>
                <a:spcPct val="0"/>
              </a:spcBef>
            </a:pPr>
            <a:r>
              <a:rPr lang="en-US" sz="2153" spc="-43">
                <a:solidFill>
                  <a:srgbClr val="051D40"/>
                </a:solidFill>
                <a:latin typeface="Poppins"/>
                <a:ea typeface="Poppins"/>
                <a:cs typeface="Poppins"/>
                <a:sym typeface="Poppins"/>
              </a:rPr>
              <a:t>Real-World Applications</a:t>
            </a:r>
          </a:p>
        </p:txBody>
      </p:sp>
      <p:sp>
        <p:nvSpPr>
          <p:cNvPr name="TextBox 39" id="39"/>
          <p:cNvSpPr txBox="true"/>
          <p:nvPr/>
        </p:nvSpPr>
        <p:spPr>
          <a:xfrm rot="0">
            <a:off x="13426640" y="5066328"/>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11</a:t>
            </a:r>
          </a:p>
        </p:txBody>
      </p:sp>
      <p:sp>
        <p:nvSpPr>
          <p:cNvPr name="TextBox 40" id="40"/>
          <p:cNvSpPr txBox="true"/>
          <p:nvPr/>
        </p:nvSpPr>
        <p:spPr>
          <a:xfrm rot="0">
            <a:off x="8097146" y="3493521"/>
            <a:ext cx="4652520" cy="693420"/>
          </a:xfrm>
          <a:prstGeom prst="rect">
            <a:avLst/>
          </a:prstGeom>
        </p:spPr>
        <p:txBody>
          <a:bodyPr anchor="t" rtlCol="false" tIns="0" lIns="0" bIns="0" rIns="0">
            <a:spAutoFit/>
          </a:bodyPr>
          <a:lstStyle/>
          <a:p>
            <a:pPr algn="l">
              <a:lnSpc>
                <a:spcPts val="2730"/>
              </a:lnSpc>
              <a:spcBef>
                <a:spcPct val="0"/>
              </a:spcBef>
            </a:pPr>
            <a:r>
              <a:rPr lang="en-US" sz="1950" spc="-39">
                <a:solidFill>
                  <a:srgbClr val="051D40"/>
                </a:solidFill>
                <a:latin typeface="Poppins"/>
                <a:ea typeface="Poppins"/>
                <a:cs typeface="Poppins"/>
                <a:sym typeface="Poppins"/>
              </a:rPr>
              <a:t>Common AI Use Cases for Random Forest</a:t>
            </a:r>
          </a:p>
        </p:txBody>
      </p:sp>
      <p:sp>
        <p:nvSpPr>
          <p:cNvPr name="TextBox 41" id="41"/>
          <p:cNvSpPr txBox="true"/>
          <p:nvPr/>
        </p:nvSpPr>
        <p:spPr>
          <a:xfrm rot="0">
            <a:off x="8097146" y="4301391"/>
            <a:ext cx="4880459" cy="728886"/>
          </a:xfrm>
          <a:prstGeom prst="rect">
            <a:avLst/>
          </a:prstGeom>
        </p:spPr>
        <p:txBody>
          <a:bodyPr anchor="t" rtlCol="false" tIns="0" lIns="0" bIns="0" rIns="0">
            <a:spAutoFit/>
          </a:bodyPr>
          <a:lstStyle/>
          <a:p>
            <a:pPr algn="l">
              <a:lnSpc>
                <a:spcPts val="2875"/>
              </a:lnSpc>
              <a:spcBef>
                <a:spcPct val="0"/>
              </a:spcBef>
            </a:pPr>
            <a:r>
              <a:rPr lang="en-US" sz="2053" spc="-41">
                <a:solidFill>
                  <a:srgbClr val="051D40"/>
                </a:solidFill>
                <a:latin typeface="Poppins"/>
                <a:ea typeface="Poppins"/>
                <a:cs typeface="Poppins"/>
                <a:sym typeface="Poppins"/>
              </a:rPr>
              <a:t>Comparison with Deep Learning Techniques</a:t>
            </a:r>
          </a:p>
        </p:txBody>
      </p:sp>
      <p:sp>
        <p:nvSpPr>
          <p:cNvPr name="Freeform 42" id="42"/>
          <p:cNvSpPr/>
          <p:nvPr/>
        </p:nvSpPr>
        <p:spPr>
          <a:xfrm flipH="false" flipV="false" rot="5400000">
            <a:off x="7406892" y="5885464"/>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3" id="43"/>
          <p:cNvSpPr txBox="true"/>
          <p:nvPr/>
        </p:nvSpPr>
        <p:spPr>
          <a:xfrm rot="0">
            <a:off x="8097146" y="5696233"/>
            <a:ext cx="4652520" cy="773971"/>
          </a:xfrm>
          <a:prstGeom prst="rect">
            <a:avLst/>
          </a:prstGeom>
        </p:spPr>
        <p:txBody>
          <a:bodyPr anchor="t" rtlCol="false" tIns="0" lIns="0" bIns="0" rIns="0">
            <a:spAutoFit/>
          </a:bodyPr>
          <a:lstStyle/>
          <a:p>
            <a:pPr algn="l">
              <a:lnSpc>
                <a:spcPts val="3015"/>
              </a:lnSpc>
              <a:spcBef>
                <a:spcPct val="0"/>
              </a:spcBef>
            </a:pPr>
            <a:r>
              <a:rPr lang="en-US" sz="2153" spc="-43">
                <a:solidFill>
                  <a:srgbClr val="051D40"/>
                </a:solidFill>
                <a:latin typeface="Poppins"/>
                <a:ea typeface="Poppins"/>
                <a:cs typeface="Poppins"/>
                <a:sym typeface="Poppins"/>
              </a:rPr>
              <a:t>Evaluating Random Forest Performance</a:t>
            </a:r>
          </a:p>
        </p:txBody>
      </p:sp>
      <p:sp>
        <p:nvSpPr>
          <p:cNvPr name="TextBox 44" id="44"/>
          <p:cNvSpPr txBox="true"/>
          <p:nvPr/>
        </p:nvSpPr>
        <p:spPr>
          <a:xfrm rot="0">
            <a:off x="13426640" y="5770940"/>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12</a:t>
            </a:r>
          </a:p>
        </p:txBody>
      </p:sp>
      <p:sp>
        <p:nvSpPr>
          <p:cNvPr name="Freeform 45" id="45"/>
          <p:cNvSpPr/>
          <p:nvPr/>
        </p:nvSpPr>
        <p:spPr>
          <a:xfrm flipH="false" flipV="false" rot="5400000">
            <a:off x="7425604" y="6695610"/>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6" id="46"/>
          <p:cNvSpPr txBox="true"/>
          <p:nvPr/>
        </p:nvSpPr>
        <p:spPr>
          <a:xfrm rot="0">
            <a:off x="8115858" y="6506379"/>
            <a:ext cx="4652520" cy="773971"/>
          </a:xfrm>
          <a:prstGeom prst="rect">
            <a:avLst/>
          </a:prstGeom>
        </p:spPr>
        <p:txBody>
          <a:bodyPr anchor="t" rtlCol="false" tIns="0" lIns="0" bIns="0" rIns="0">
            <a:spAutoFit/>
          </a:bodyPr>
          <a:lstStyle/>
          <a:p>
            <a:pPr algn="l">
              <a:lnSpc>
                <a:spcPts val="3015"/>
              </a:lnSpc>
              <a:spcBef>
                <a:spcPct val="0"/>
              </a:spcBef>
            </a:pPr>
            <a:r>
              <a:rPr lang="en-US" sz="2153" spc="-43">
                <a:solidFill>
                  <a:srgbClr val="051D40"/>
                </a:solidFill>
                <a:latin typeface="Poppins"/>
                <a:ea typeface="Poppins"/>
                <a:cs typeface="Poppins"/>
                <a:sym typeface="Poppins"/>
              </a:rPr>
              <a:t> </a:t>
            </a:r>
            <a:r>
              <a:rPr lang="en-US" sz="2153" spc="-43">
                <a:solidFill>
                  <a:srgbClr val="051D40"/>
                </a:solidFill>
                <a:latin typeface="Poppins"/>
                <a:ea typeface="Poppins"/>
                <a:cs typeface="Poppins"/>
                <a:sym typeface="Poppins"/>
              </a:rPr>
              <a:t>Extensions and Variants of Random Forest</a:t>
            </a:r>
          </a:p>
        </p:txBody>
      </p:sp>
      <p:sp>
        <p:nvSpPr>
          <p:cNvPr name="TextBox 47" id="47"/>
          <p:cNvSpPr txBox="true"/>
          <p:nvPr/>
        </p:nvSpPr>
        <p:spPr>
          <a:xfrm rot="0">
            <a:off x="13426640" y="6624807"/>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13</a:t>
            </a:r>
          </a:p>
        </p:txBody>
      </p:sp>
      <p:sp>
        <p:nvSpPr>
          <p:cNvPr name="Freeform 48" id="48"/>
          <p:cNvSpPr/>
          <p:nvPr/>
        </p:nvSpPr>
        <p:spPr>
          <a:xfrm flipH="false" flipV="false" rot="5400000">
            <a:off x="7425604" y="7612456"/>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9" id="49"/>
          <p:cNvSpPr txBox="true"/>
          <p:nvPr/>
        </p:nvSpPr>
        <p:spPr>
          <a:xfrm rot="0">
            <a:off x="8097146" y="7609303"/>
            <a:ext cx="4652520" cy="409481"/>
          </a:xfrm>
          <a:prstGeom prst="rect">
            <a:avLst/>
          </a:prstGeom>
        </p:spPr>
        <p:txBody>
          <a:bodyPr anchor="t" rtlCol="false" tIns="0" lIns="0" bIns="0" rIns="0">
            <a:spAutoFit/>
          </a:bodyPr>
          <a:lstStyle/>
          <a:p>
            <a:pPr algn="l">
              <a:lnSpc>
                <a:spcPts val="3155"/>
              </a:lnSpc>
              <a:spcBef>
                <a:spcPct val="0"/>
              </a:spcBef>
            </a:pPr>
            <a:r>
              <a:rPr lang="en-US" sz="2253" spc="-45">
                <a:solidFill>
                  <a:srgbClr val="051D40"/>
                </a:solidFill>
                <a:latin typeface="Poppins"/>
                <a:ea typeface="Poppins"/>
                <a:cs typeface="Poppins"/>
                <a:sym typeface="Poppins"/>
              </a:rPr>
              <a:t>Future of Random Forest in AI</a:t>
            </a:r>
          </a:p>
        </p:txBody>
      </p:sp>
      <p:sp>
        <p:nvSpPr>
          <p:cNvPr name="TextBox 50" id="50"/>
          <p:cNvSpPr txBox="true"/>
          <p:nvPr/>
        </p:nvSpPr>
        <p:spPr>
          <a:xfrm rot="0">
            <a:off x="13426640" y="7541652"/>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14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5143500"/>
          </a:xfrm>
          <a:custGeom>
            <a:avLst/>
            <a:gdLst/>
            <a:ahLst/>
            <a:cxnLst/>
            <a:rect r="r" b="b" t="t" l="l"/>
            <a:pathLst>
              <a:path h="5143500" w="18288000">
                <a:moveTo>
                  <a:pt x="0" y="0"/>
                </a:moveTo>
                <a:lnTo>
                  <a:pt x="18288000" y="0"/>
                </a:lnTo>
                <a:lnTo>
                  <a:pt x="18288000" y="5143500"/>
                </a:lnTo>
                <a:lnTo>
                  <a:pt x="0" y="5143500"/>
                </a:lnTo>
                <a:lnTo>
                  <a:pt x="0" y="0"/>
                </a:lnTo>
                <a:close/>
              </a:path>
            </a:pathLst>
          </a:custGeom>
          <a:blipFill>
            <a:blip r:embed="rId2"/>
            <a:stretch>
              <a:fillRect l="0" t="-72406" r="0" b="-64482"/>
            </a:stretch>
          </a:blipFill>
        </p:spPr>
      </p:sp>
      <p:grpSp>
        <p:nvGrpSpPr>
          <p:cNvPr name="Group 3" id="3"/>
          <p:cNvGrpSpPr/>
          <p:nvPr/>
        </p:nvGrpSpPr>
        <p:grpSpPr>
          <a:xfrm rot="0">
            <a:off x="-188217" y="9258300"/>
            <a:ext cx="18476217" cy="1028700"/>
            <a:chOff x="0" y="0"/>
            <a:chExt cx="4866164" cy="270933"/>
          </a:xfrm>
        </p:grpSpPr>
        <p:sp>
          <p:nvSpPr>
            <p:cNvPr name="Freeform 4" id="4"/>
            <p:cNvSpPr/>
            <p:nvPr/>
          </p:nvSpPr>
          <p:spPr>
            <a:xfrm flipH="false" flipV="false" rot="0">
              <a:off x="0" y="0"/>
              <a:ext cx="4866164" cy="270933"/>
            </a:xfrm>
            <a:custGeom>
              <a:avLst/>
              <a:gdLst/>
              <a:ahLst/>
              <a:cxnLst/>
              <a:rect r="r" b="b" t="t" l="l"/>
              <a:pathLst>
                <a:path h="270933" w="4866164">
                  <a:moveTo>
                    <a:pt x="0" y="0"/>
                  </a:moveTo>
                  <a:lnTo>
                    <a:pt x="4866164" y="0"/>
                  </a:lnTo>
                  <a:lnTo>
                    <a:pt x="4866164" y="270933"/>
                  </a:lnTo>
                  <a:lnTo>
                    <a:pt x="0" y="270933"/>
                  </a:lnTo>
                  <a:close/>
                </a:path>
              </a:pathLst>
            </a:custGeom>
            <a:solidFill>
              <a:srgbClr val="5B98BA"/>
            </a:solidFill>
            <a:ln cap="sq">
              <a:noFill/>
              <a:prstDash val="solid"/>
              <a:miter/>
            </a:ln>
          </p:spPr>
        </p:sp>
        <p:sp>
          <p:nvSpPr>
            <p:cNvPr name="TextBox 5" id="5"/>
            <p:cNvSpPr txBox="true"/>
            <p:nvPr/>
          </p:nvSpPr>
          <p:spPr>
            <a:xfrm>
              <a:off x="0" y="-38100"/>
              <a:ext cx="4866164" cy="3090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3367558" y="2590556"/>
            <a:ext cx="11552885" cy="5105887"/>
            <a:chOff x="0" y="0"/>
            <a:chExt cx="3042735" cy="1344760"/>
          </a:xfrm>
        </p:grpSpPr>
        <p:sp>
          <p:nvSpPr>
            <p:cNvPr name="Freeform 7" id="7"/>
            <p:cNvSpPr/>
            <p:nvPr/>
          </p:nvSpPr>
          <p:spPr>
            <a:xfrm flipH="false" flipV="false" rot="0">
              <a:off x="0" y="0"/>
              <a:ext cx="3042735" cy="1344760"/>
            </a:xfrm>
            <a:custGeom>
              <a:avLst/>
              <a:gdLst/>
              <a:ahLst/>
              <a:cxnLst/>
              <a:rect r="r" b="b" t="t" l="l"/>
              <a:pathLst>
                <a:path h="1344760" w="3042735">
                  <a:moveTo>
                    <a:pt x="0" y="0"/>
                  </a:moveTo>
                  <a:lnTo>
                    <a:pt x="3042735" y="0"/>
                  </a:lnTo>
                  <a:lnTo>
                    <a:pt x="3042735" y="1344760"/>
                  </a:lnTo>
                  <a:lnTo>
                    <a:pt x="0" y="1344760"/>
                  </a:lnTo>
                  <a:close/>
                </a:path>
              </a:pathLst>
            </a:custGeom>
            <a:solidFill>
              <a:srgbClr val="145DA0"/>
            </a:solidFill>
            <a:ln cap="sq">
              <a:noFill/>
              <a:prstDash val="solid"/>
              <a:miter/>
            </a:ln>
          </p:spPr>
        </p:sp>
        <p:sp>
          <p:nvSpPr>
            <p:cNvPr name="TextBox 8" id="8"/>
            <p:cNvSpPr txBox="true"/>
            <p:nvPr/>
          </p:nvSpPr>
          <p:spPr>
            <a:xfrm>
              <a:off x="0" y="-38100"/>
              <a:ext cx="3042735" cy="138286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6269838" y="2903493"/>
            <a:ext cx="5748323" cy="992039"/>
          </a:xfrm>
          <a:prstGeom prst="rect">
            <a:avLst/>
          </a:prstGeom>
        </p:spPr>
        <p:txBody>
          <a:bodyPr anchor="t" rtlCol="false" tIns="0" lIns="0" bIns="0" rIns="0">
            <a:spAutoFit/>
          </a:bodyPr>
          <a:lstStyle/>
          <a:p>
            <a:pPr algn="ctr" marL="0" indent="0" lvl="0">
              <a:lnSpc>
                <a:spcPts val="8195"/>
              </a:lnSpc>
              <a:spcBef>
                <a:spcPct val="0"/>
              </a:spcBef>
            </a:pPr>
            <a:r>
              <a:rPr lang="en-US" sz="5854">
                <a:solidFill>
                  <a:srgbClr val="FDFDFD"/>
                </a:solidFill>
                <a:latin typeface="Open Sans Extra Bold"/>
                <a:ea typeface="Open Sans Extra Bold"/>
                <a:cs typeface="Open Sans Extra Bold"/>
                <a:sym typeface="Open Sans Extra Bold"/>
              </a:rPr>
              <a:t>Introduction</a:t>
            </a:r>
          </a:p>
        </p:txBody>
      </p:sp>
      <p:sp>
        <p:nvSpPr>
          <p:cNvPr name="TextBox 10" id="10"/>
          <p:cNvSpPr txBox="true"/>
          <p:nvPr/>
        </p:nvSpPr>
        <p:spPr>
          <a:xfrm rot="0">
            <a:off x="3896755" y="4236467"/>
            <a:ext cx="10494490" cy="2484869"/>
          </a:xfrm>
          <a:prstGeom prst="rect">
            <a:avLst/>
          </a:prstGeom>
        </p:spPr>
        <p:txBody>
          <a:bodyPr anchor="t" rtlCol="false" tIns="0" lIns="0" bIns="0" rIns="0">
            <a:spAutoFit/>
          </a:bodyPr>
          <a:lstStyle/>
          <a:p>
            <a:pPr algn="ctr">
              <a:lnSpc>
                <a:spcPts val="3288"/>
              </a:lnSpc>
              <a:spcBef>
                <a:spcPct val="0"/>
              </a:spcBef>
            </a:pPr>
            <a:r>
              <a:rPr lang="en-US" sz="2348" spc="-46">
                <a:solidFill>
                  <a:srgbClr val="FDFDFD"/>
                </a:solidFill>
                <a:latin typeface="Poppins"/>
                <a:ea typeface="Poppins"/>
                <a:cs typeface="Poppins"/>
                <a:sym typeface="Poppins"/>
              </a:rPr>
              <a:t>Random Forest is an ensemble learning algorithm that constructs multiple decision trees during training and outputs the mode (classification) or mean (regression) of the trees' predictions. It combines the concept of bagging(Bootstrap and aggregation), which involves training multiple models in parallel and averaging their predictions to reduce variance and improve accuracy.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39603" y="1122782"/>
            <a:ext cx="7019697" cy="10556306"/>
            <a:chOff x="0" y="0"/>
            <a:chExt cx="660400" cy="993118"/>
          </a:xfrm>
        </p:grpSpPr>
        <p:sp>
          <p:nvSpPr>
            <p:cNvPr name="Freeform 6" id="6"/>
            <p:cNvSpPr/>
            <p:nvPr/>
          </p:nvSpPr>
          <p:spPr>
            <a:xfrm flipH="false" flipV="false" rot="0">
              <a:off x="0" y="0"/>
              <a:ext cx="660400" cy="993118"/>
            </a:xfrm>
            <a:custGeom>
              <a:avLst/>
              <a:gdLst/>
              <a:ahLst/>
              <a:cxnLst/>
              <a:rect r="r" b="b" t="t" l="l"/>
              <a:pathLst>
                <a:path h="993118"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sp>
        <p:sp>
          <p:nvSpPr>
            <p:cNvPr name="TextBox 7" id="7"/>
            <p:cNvSpPr txBox="true"/>
            <p:nvPr/>
          </p:nvSpPr>
          <p:spPr>
            <a:xfrm>
              <a:off x="0" y="88900"/>
              <a:ext cx="660400" cy="90421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805797" y="2939151"/>
            <a:ext cx="5887308" cy="3311611"/>
          </a:xfrm>
          <a:custGeom>
            <a:avLst/>
            <a:gdLst/>
            <a:ahLst/>
            <a:cxnLst/>
            <a:rect r="r" b="b" t="t" l="l"/>
            <a:pathLst>
              <a:path h="3311611" w="5887308">
                <a:moveTo>
                  <a:pt x="0" y="0"/>
                </a:moveTo>
                <a:lnTo>
                  <a:pt x="5887309" y="0"/>
                </a:lnTo>
                <a:lnTo>
                  <a:pt x="5887309" y="3311611"/>
                </a:lnTo>
                <a:lnTo>
                  <a:pt x="0" y="3311611"/>
                </a:lnTo>
                <a:lnTo>
                  <a:pt x="0" y="0"/>
                </a:lnTo>
                <a:close/>
              </a:path>
            </a:pathLst>
          </a:custGeom>
          <a:blipFill>
            <a:blip r:embed="rId2"/>
            <a:stretch>
              <a:fillRect l="0" t="0" r="0" b="0"/>
            </a:stretch>
          </a:blipFill>
        </p:spPr>
      </p:sp>
      <p:sp>
        <p:nvSpPr>
          <p:cNvPr name="TextBox 9" id="9"/>
          <p:cNvSpPr txBox="true"/>
          <p:nvPr/>
        </p:nvSpPr>
        <p:spPr>
          <a:xfrm rot="0">
            <a:off x="2173572" y="1924296"/>
            <a:ext cx="8239993" cy="2363860"/>
          </a:xfrm>
          <a:prstGeom prst="rect">
            <a:avLst/>
          </a:prstGeom>
        </p:spPr>
        <p:txBody>
          <a:bodyPr anchor="t" rtlCol="false" tIns="0" lIns="0" bIns="0" rIns="0">
            <a:spAutoFit/>
          </a:bodyPr>
          <a:lstStyle/>
          <a:p>
            <a:pPr algn="l">
              <a:lnSpc>
                <a:spcPts val="6300"/>
              </a:lnSpc>
              <a:spcBef>
                <a:spcPct val="0"/>
              </a:spcBef>
            </a:pPr>
            <a:r>
              <a:rPr lang="en-US" sz="4500">
                <a:solidFill>
                  <a:srgbClr val="051D40"/>
                </a:solidFill>
                <a:latin typeface="Open Sans Extra Bold"/>
                <a:ea typeface="Open Sans Extra Bold"/>
                <a:cs typeface="Open Sans Extra Bold"/>
                <a:sym typeface="Open Sans Extra Bold"/>
              </a:rPr>
              <a:t>How Random Forest Fits into AI and Machine Learning</a:t>
            </a:r>
          </a:p>
        </p:txBody>
      </p:sp>
      <p:sp>
        <p:nvSpPr>
          <p:cNvPr name="TextBox 10" id="10"/>
          <p:cNvSpPr txBox="true"/>
          <p:nvPr/>
        </p:nvSpPr>
        <p:spPr>
          <a:xfrm rot="0">
            <a:off x="504518" y="4547332"/>
            <a:ext cx="9585613" cy="2353273"/>
          </a:xfrm>
          <a:prstGeom prst="rect">
            <a:avLst/>
          </a:prstGeom>
        </p:spPr>
        <p:txBody>
          <a:bodyPr anchor="t" rtlCol="false" tIns="0" lIns="0" bIns="0" rIns="0">
            <a:spAutoFit/>
          </a:bodyPr>
          <a:lstStyle/>
          <a:p>
            <a:pPr algn="ctr">
              <a:lnSpc>
                <a:spcPts val="3141"/>
              </a:lnSpc>
              <a:spcBef>
                <a:spcPct val="0"/>
              </a:spcBef>
            </a:pPr>
            <a:r>
              <a:rPr lang="en-US" b="true" sz="2244">
                <a:solidFill>
                  <a:srgbClr val="051D40"/>
                </a:solidFill>
                <a:latin typeface="Open Sans Extra Bold"/>
                <a:ea typeface="Open Sans Extra Bold"/>
                <a:cs typeface="Open Sans Extra Bold"/>
                <a:sym typeface="Open Sans Extra Bold"/>
              </a:rPr>
              <a:t>Random Forest is widely used in machine learning because of its simplicity and effectiveness. It's a non-parametric, supervised learning algorithm that can be applied to both classification and regression tasks. As part of AI systems, it helps with decision-making in tasks such as medical diagnosis, financial predictions, and recommendation systems.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6944233" y="3984591"/>
            <a:ext cx="11003695" cy="5749431"/>
          </a:xfrm>
          <a:custGeom>
            <a:avLst/>
            <a:gdLst/>
            <a:ahLst/>
            <a:cxnLst/>
            <a:rect r="r" b="b" t="t" l="l"/>
            <a:pathLst>
              <a:path h="5749431" w="11003695">
                <a:moveTo>
                  <a:pt x="0" y="0"/>
                </a:moveTo>
                <a:lnTo>
                  <a:pt x="11003695" y="0"/>
                </a:lnTo>
                <a:lnTo>
                  <a:pt x="11003695" y="5749430"/>
                </a:lnTo>
                <a:lnTo>
                  <a:pt x="0" y="5749430"/>
                </a:lnTo>
                <a:lnTo>
                  <a:pt x="0" y="0"/>
                </a:lnTo>
                <a:close/>
              </a:path>
            </a:pathLst>
          </a:custGeom>
          <a:blipFill>
            <a:blip r:embed="rId2"/>
            <a:stretch>
              <a:fillRect l="0" t="0" r="0" b="0"/>
            </a:stretch>
          </a:blipFill>
        </p:spPr>
      </p:sp>
      <p:sp>
        <p:nvSpPr>
          <p:cNvPr name="TextBox 6" id="6"/>
          <p:cNvSpPr txBox="true"/>
          <p:nvPr/>
        </p:nvSpPr>
        <p:spPr>
          <a:xfrm rot="0">
            <a:off x="572091" y="3610510"/>
            <a:ext cx="6558244" cy="3958818"/>
          </a:xfrm>
          <a:prstGeom prst="rect">
            <a:avLst/>
          </a:prstGeom>
        </p:spPr>
        <p:txBody>
          <a:bodyPr anchor="t" rtlCol="false" tIns="0" lIns="0" bIns="0" rIns="0">
            <a:spAutoFit/>
          </a:bodyPr>
          <a:lstStyle/>
          <a:p>
            <a:pPr algn="l">
              <a:lnSpc>
                <a:spcPts val="6300"/>
              </a:lnSpc>
              <a:spcBef>
                <a:spcPct val="0"/>
              </a:spcBef>
            </a:pPr>
            <a:r>
              <a:rPr lang="en-US" sz="4500">
                <a:solidFill>
                  <a:srgbClr val="051D40"/>
                </a:solidFill>
                <a:latin typeface="Open Sans Extra Bold"/>
                <a:ea typeface="Open Sans Extra Bold"/>
                <a:cs typeface="Open Sans Extra Bold"/>
                <a:sym typeface="Open Sans Extra Bold"/>
              </a:rPr>
              <a:t>Key Differences Between Random Forest and Other Decision Tree Algorithms</a:t>
            </a:r>
          </a:p>
        </p:txBody>
      </p:sp>
      <p:sp>
        <p:nvSpPr>
          <p:cNvPr name="TextBox 7" id="7"/>
          <p:cNvSpPr txBox="true"/>
          <p:nvPr/>
        </p:nvSpPr>
        <p:spPr>
          <a:xfrm rot="0">
            <a:off x="8083311" y="949187"/>
            <a:ext cx="9585613" cy="2747048"/>
          </a:xfrm>
          <a:prstGeom prst="rect">
            <a:avLst/>
          </a:prstGeom>
        </p:spPr>
        <p:txBody>
          <a:bodyPr anchor="t" rtlCol="false" tIns="0" lIns="0" bIns="0" rIns="0">
            <a:spAutoFit/>
          </a:bodyPr>
          <a:lstStyle/>
          <a:p>
            <a:pPr algn="ctr">
              <a:lnSpc>
                <a:spcPts val="3141"/>
              </a:lnSpc>
              <a:spcBef>
                <a:spcPct val="0"/>
              </a:spcBef>
            </a:pPr>
            <a:r>
              <a:rPr lang="en-US" sz="2244">
                <a:solidFill>
                  <a:srgbClr val="051D40"/>
                </a:solidFill>
                <a:latin typeface="Open Sans Extra Bold"/>
                <a:ea typeface="Open Sans Extra Bold"/>
                <a:cs typeface="Open Sans Extra Bold"/>
                <a:sym typeface="Open Sans Extra Bold"/>
              </a:rPr>
              <a:t>While a traditional decision tree uses a single tree to make predictions, Random Forest uses multiple trees to create a more robust model. The key difference is that Random Forest applies bagging, where each tree is trained on a random subset of the data, and only a random subset of features is considered for each split. This reduces overfitting, which is a common issue with single decision trees.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874692"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007842"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159745" y="4468372"/>
            <a:ext cx="6033363" cy="1631325"/>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Open Sans Extra Bold"/>
                <a:ea typeface="Open Sans Extra Bold"/>
                <a:cs typeface="Open Sans Extra Bold"/>
                <a:sym typeface="Open Sans Extra Bold"/>
              </a:rPr>
              <a:t>How does this algorithm work?</a:t>
            </a:r>
          </a:p>
        </p:txBody>
      </p:sp>
      <p:sp>
        <p:nvSpPr>
          <p:cNvPr name="Freeform 9" id="9"/>
          <p:cNvSpPr/>
          <p:nvPr/>
        </p:nvSpPr>
        <p:spPr>
          <a:xfrm flipH="false" flipV="false" rot="0">
            <a:off x="8425395" y="324217"/>
            <a:ext cx="1676622" cy="1676622"/>
          </a:xfrm>
          <a:custGeom>
            <a:avLst/>
            <a:gdLst/>
            <a:ahLst/>
            <a:cxnLst/>
            <a:rect r="r" b="b" t="t" l="l"/>
            <a:pathLst>
              <a:path h="1676622" w="1676622">
                <a:moveTo>
                  <a:pt x="0" y="0"/>
                </a:moveTo>
                <a:lnTo>
                  <a:pt x="1676622" y="0"/>
                </a:lnTo>
                <a:lnTo>
                  <a:pt x="1676622" y="1676623"/>
                </a:lnTo>
                <a:lnTo>
                  <a:pt x="0" y="1676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0" id="10"/>
          <p:cNvSpPr txBox="true"/>
          <p:nvPr/>
        </p:nvSpPr>
        <p:spPr>
          <a:xfrm rot="0">
            <a:off x="10243386" y="267067"/>
            <a:ext cx="6790449" cy="1856340"/>
          </a:xfrm>
          <a:prstGeom prst="rect">
            <a:avLst/>
          </a:prstGeom>
        </p:spPr>
        <p:txBody>
          <a:bodyPr anchor="t" rtlCol="false" tIns="0" lIns="0" bIns="0" rIns="0">
            <a:spAutoFit/>
          </a:bodyPr>
          <a:lstStyle/>
          <a:p>
            <a:pPr algn="l">
              <a:lnSpc>
                <a:spcPts val="2937"/>
              </a:lnSpc>
            </a:pPr>
            <a:r>
              <a:rPr lang="en-US" sz="2098" spc="-41">
                <a:solidFill>
                  <a:srgbClr val="145DA0"/>
                </a:solidFill>
                <a:latin typeface="Poppins"/>
                <a:ea typeface="Poppins"/>
                <a:cs typeface="Poppins"/>
                <a:sym typeface="Poppins"/>
              </a:rPr>
              <a:t> Decision trees are flowchart-like structures where data is split into branches based on feature values. Each internal node represents a feature, the branches represent decision rules, and each leaf node represents an outcome.</a:t>
            </a:r>
          </a:p>
        </p:txBody>
      </p:sp>
      <p:sp>
        <p:nvSpPr>
          <p:cNvPr name="TextBox 11" id="11"/>
          <p:cNvSpPr txBox="true"/>
          <p:nvPr/>
        </p:nvSpPr>
        <p:spPr>
          <a:xfrm rot="0">
            <a:off x="8596156" y="630767"/>
            <a:ext cx="1335100" cy="958747"/>
          </a:xfrm>
          <a:prstGeom prst="rect">
            <a:avLst/>
          </a:prstGeom>
        </p:spPr>
        <p:txBody>
          <a:bodyPr anchor="t" rtlCol="false" tIns="0" lIns="0" bIns="0" rIns="0">
            <a:spAutoFit/>
          </a:bodyPr>
          <a:lstStyle/>
          <a:p>
            <a:pPr algn="ctr" marL="0" indent="0" lvl="0">
              <a:lnSpc>
                <a:spcPts val="7884"/>
              </a:lnSpc>
              <a:spcBef>
                <a:spcPct val="0"/>
              </a:spcBef>
            </a:pPr>
            <a:r>
              <a:rPr lang="en-US" sz="5631">
                <a:solidFill>
                  <a:srgbClr val="FDFDFD"/>
                </a:solidFill>
                <a:latin typeface="Open Sans Extra Bold"/>
                <a:ea typeface="Open Sans Extra Bold"/>
                <a:cs typeface="Open Sans Extra Bold"/>
                <a:sym typeface="Open Sans Extra Bold"/>
              </a:rPr>
              <a:t>01</a:t>
            </a:r>
          </a:p>
        </p:txBody>
      </p:sp>
      <p:sp>
        <p:nvSpPr>
          <p:cNvPr name="Freeform 12" id="12"/>
          <p:cNvSpPr/>
          <p:nvPr/>
        </p:nvSpPr>
        <p:spPr>
          <a:xfrm flipH="false" flipV="false" rot="0">
            <a:off x="8847306" y="2961936"/>
            <a:ext cx="1676622" cy="1676622"/>
          </a:xfrm>
          <a:custGeom>
            <a:avLst/>
            <a:gdLst/>
            <a:ahLst/>
            <a:cxnLst/>
            <a:rect r="r" b="b" t="t" l="l"/>
            <a:pathLst>
              <a:path h="1676622" w="1676622">
                <a:moveTo>
                  <a:pt x="0" y="0"/>
                </a:moveTo>
                <a:lnTo>
                  <a:pt x="1676622" y="0"/>
                </a:lnTo>
                <a:lnTo>
                  <a:pt x="1676622" y="1676622"/>
                </a:lnTo>
                <a:lnTo>
                  <a:pt x="0" y="1676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3" id="13"/>
          <p:cNvSpPr txBox="true"/>
          <p:nvPr/>
        </p:nvSpPr>
        <p:spPr>
          <a:xfrm rot="0">
            <a:off x="10862471" y="2478664"/>
            <a:ext cx="6790449" cy="2226837"/>
          </a:xfrm>
          <a:prstGeom prst="rect">
            <a:avLst/>
          </a:prstGeom>
        </p:spPr>
        <p:txBody>
          <a:bodyPr anchor="t" rtlCol="false" tIns="0" lIns="0" bIns="0" rIns="0">
            <a:spAutoFit/>
          </a:bodyPr>
          <a:lstStyle/>
          <a:p>
            <a:pPr algn="l">
              <a:lnSpc>
                <a:spcPts val="2937"/>
              </a:lnSpc>
            </a:pPr>
            <a:r>
              <a:rPr lang="en-US" sz="2098" spc="-41">
                <a:solidFill>
                  <a:srgbClr val="145DA0"/>
                </a:solidFill>
                <a:latin typeface="Poppins"/>
                <a:ea typeface="Poppins"/>
                <a:cs typeface="Poppins"/>
                <a:sym typeface="Poppins"/>
              </a:rPr>
              <a:t>Bagging is the process where multiple models (in this case, decision trees) are trained on different random subsets of the original dataset, with replacement. Each model makes its own predictions, and the final output is based on averaging (for regression) or majority voting (for classification).</a:t>
            </a:r>
          </a:p>
        </p:txBody>
      </p:sp>
      <p:sp>
        <p:nvSpPr>
          <p:cNvPr name="TextBox 14" id="14"/>
          <p:cNvSpPr txBox="true"/>
          <p:nvPr/>
        </p:nvSpPr>
        <p:spPr>
          <a:xfrm rot="0">
            <a:off x="9018067" y="3268486"/>
            <a:ext cx="1335100" cy="958747"/>
          </a:xfrm>
          <a:prstGeom prst="rect">
            <a:avLst/>
          </a:prstGeom>
        </p:spPr>
        <p:txBody>
          <a:bodyPr anchor="t" rtlCol="false" tIns="0" lIns="0" bIns="0" rIns="0">
            <a:spAutoFit/>
          </a:bodyPr>
          <a:lstStyle/>
          <a:p>
            <a:pPr algn="ctr" marL="0" indent="0" lvl="0">
              <a:lnSpc>
                <a:spcPts val="7884"/>
              </a:lnSpc>
              <a:spcBef>
                <a:spcPct val="0"/>
              </a:spcBef>
            </a:pPr>
            <a:r>
              <a:rPr lang="en-US" sz="5631">
                <a:solidFill>
                  <a:srgbClr val="FDFDFD"/>
                </a:solidFill>
                <a:latin typeface="Open Sans Extra Bold"/>
                <a:ea typeface="Open Sans Extra Bold"/>
                <a:cs typeface="Open Sans Extra Bold"/>
                <a:sym typeface="Open Sans Extra Bold"/>
              </a:rPr>
              <a:t>02</a:t>
            </a:r>
          </a:p>
        </p:txBody>
      </p:sp>
      <p:sp>
        <p:nvSpPr>
          <p:cNvPr name="Freeform 15" id="15"/>
          <p:cNvSpPr/>
          <p:nvPr/>
        </p:nvSpPr>
        <p:spPr>
          <a:xfrm flipH="false" flipV="false" rot="0">
            <a:off x="8843860" y="5244047"/>
            <a:ext cx="1676622" cy="1676622"/>
          </a:xfrm>
          <a:custGeom>
            <a:avLst/>
            <a:gdLst/>
            <a:ahLst/>
            <a:cxnLst/>
            <a:rect r="r" b="b" t="t" l="l"/>
            <a:pathLst>
              <a:path h="1676622" w="1676622">
                <a:moveTo>
                  <a:pt x="0" y="0"/>
                </a:moveTo>
                <a:lnTo>
                  <a:pt x="1676623" y="0"/>
                </a:lnTo>
                <a:lnTo>
                  <a:pt x="1676623" y="1676622"/>
                </a:lnTo>
                <a:lnTo>
                  <a:pt x="0" y="1676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6" id="16"/>
          <p:cNvSpPr txBox="true"/>
          <p:nvPr/>
        </p:nvSpPr>
        <p:spPr>
          <a:xfrm rot="0">
            <a:off x="10862471" y="4857519"/>
            <a:ext cx="6790449" cy="2597334"/>
          </a:xfrm>
          <a:prstGeom prst="rect">
            <a:avLst/>
          </a:prstGeom>
        </p:spPr>
        <p:txBody>
          <a:bodyPr anchor="t" rtlCol="false" tIns="0" lIns="0" bIns="0" rIns="0">
            <a:spAutoFit/>
          </a:bodyPr>
          <a:lstStyle/>
          <a:p>
            <a:pPr algn="l">
              <a:lnSpc>
                <a:spcPts val="2937"/>
              </a:lnSpc>
            </a:pPr>
            <a:r>
              <a:rPr lang="en-US" sz="2098" spc="-41">
                <a:solidFill>
                  <a:srgbClr val="145DA0"/>
                </a:solidFill>
                <a:latin typeface="Poppins"/>
                <a:ea typeface="Poppins"/>
                <a:cs typeface="Poppins"/>
                <a:sym typeface="Poppins"/>
              </a:rPr>
              <a:t>Random Forest combines the predictions from numerous decision trees. Each tree is constructed using different random samples of data, and only a subset of features is considered at each node split. The algorithm aggregates the predictions from all the trees to make a final decision, reducing variance compared to using a single decision tree.</a:t>
            </a:r>
          </a:p>
        </p:txBody>
      </p:sp>
      <p:sp>
        <p:nvSpPr>
          <p:cNvPr name="TextBox 17" id="17"/>
          <p:cNvSpPr txBox="true"/>
          <p:nvPr/>
        </p:nvSpPr>
        <p:spPr>
          <a:xfrm rot="0">
            <a:off x="9014621" y="5550597"/>
            <a:ext cx="1335100" cy="958747"/>
          </a:xfrm>
          <a:prstGeom prst="rect">
            <a:avLst/>
          </a:prstGeom>
        </p:spPr>
        <p:txBody>
          <a:bodyPr anchor="t" rtlCol="false" tIns="0" lIns="0" bIns="0" rIns="0">
            <a:spAutoFit/>
          </a:bodyPr>
          <a:lstStyle/>
          <a:p>
            <a:pPr algn="ctr" marL="0" indent="0" lvl="0">
              <a:lnSpc>
                <a:spcPts val="7884"/>
              </a:lnSpc>
              <a:spcBef>
                <a:spcPct val="0"/>
              </a:spcBef>
            </a:pPr>
            <a:r>
              <a:rPr lang="en-US" sz="5631">
                <a:solidFill>
                  <a:srgbClr val="FDFDFD"/>
                </a:solidFill>
                <a:latin typeface="Open Sans Extra Bold"/>
                <a:ea typeface="Open Sans Extra Bold"/>
                <a:cs typeface="Open Sans Extra Bold"/>
                <a:sym typeface="Open Sans Extra Bold"/>
              </a:rPr>
              <a:t>03</a:t>
            </a:r>
          </a:p>
        </p:txBody>
      </p:sp>
      <p:sp>
        <p:nvSpPr>
          <p:cNvPr name="Freeform 18" id="18"/>
          <p:cNvSpPr/>
          <p:nvPr/>
        </p:nvSpPr>
        <p:spPr>
          <a:xfrm flipH="false" flipV="false" rot="0">
            <a:off x="8254634" y="7525496"/>
            <a:ext cx="1676622" cy="1676622"/>
          </a:xfrm>
          <a:custGeom>
            <a:avLst/>
            <a:gdLst/>
            <a:ahLst/>
            <a:cxnLst/>
            <a:rect r="r" b="b" t="t" l="l"/>
            <a:pathLst>
              <a:path h="1676622" w="1676622">
                <a:moveTo>
                  <a:pt x="0" y="0"/>
                </a:moveTo>
                <a:lnTo>
                  <a:pt x="1676622" y="0"/>
                </a:lnTo>
                <a:lnTo>
                  <a:pt x="1676622" y="1676623"/>
                </a:lnTo>
                <a:lnTo>
                  <a:pt x="0" y="1676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9" id="19"/>
          <p:cNvSpPr txBox="true"/>
          <p:nvPr/>
        </p:nvSpPr>
        <p:spPr>
          <a:xfrm rot="0">
            <a:off x="10214145" y="7689234"/>
            <a:ext cx="6790449" cy="2226837"/>
          </a:xfrm>
          <a:prstGeom prst="rect">
            <a:avLst/>
          </a:prstGeom>
        </p:spPr>
        <p:txBody>
          <a:bodyPr anchor="t" rtlCol="false" tIns="0" lIns="0" bIns="0" rIns="0">
            <a:spAutoFit/>
          </a:bodyPr>
          <a:lstStyle/>
          <a:p>
            <a:pPr algn="l">
              <a:lnSpc>
                <a:spcPts val="2937"/>
              </a:lnSpc>
            </a:pPr>
            <a:r>
              <a:rPr lang="en-US" sz="2098" spc="-41">
                <a:solidFill>
                  <a:srgbClr val="145DA0"/>
                </a:solidFill>
                <a:latin typeface="Poppins"/>
                <a:ea typeface="Poppins"/>
                <a:cs typeface="Poppins"/>
                <a:sym typeface="Poppins"/>
              </a:rPr>
              <a:t>Individual decision trees often suffer from overfitting, meaning they perform well on the training data but poorly on unseen data. Random Forest mitigates this by averaging the predictions of many trees, thereby smoothing out the noisy, overfit models that may arise from training on small or noisy subsets of data.</a:t>
            </a:r>
          </a:p>
        </p:txBody>
      </p:sp>
      <p:sp>
        <p:nvSpPr>
          <p:cNvPr name="TextBox 20" id="20"/>
          <p:cNvSpPr txBox="true"/>
          <p:nvPr/>
        </p:nvSpPr>
        <p:spPr>
          <a:xfrm rot="0">
            <a:off x="8425395" y="7832046"/>
            <a:ext cx="1335100" cy="958747"/>
          </a:xfrm>
          <a:prstGeom prst="rect">
            <a:avLst/>
          </a:prstGeom>
        </p:spPr>
        <p:txBody>
          <a:bodyPr anchor="t" rtlCol="false" tIns="0" lIns="0" bIns="0" rIns="0">
            <a:spAutoFit/>
          </a:bodyPr>
          <a:lstStyle/>
          <a:p>
            <a:pPr algn="ctr" marL="0" indent="0" lvl="0">
              <a:lnSpc>
                <a:spcPts val="7884"/>
              </a:lnSpc>
              <a:spcBef>
                <a:spcPct val="0"/>
              </a:spcBef>
            </a:pPr>
            <a:r>
              <a:rPr lang="en-US" sz="5631">
                <a:solidFill>
                  <a:srgbClr val="FDFDFD"/>
                </a:solidFill>
                <a:latin typeface="Open Sans Extra Bold"/>
                <a:ea typeface="Open Sans Extra Bold"/>
                <a:cs typeface="Open Sans Extra Bold"/>
                <a:sym typeface="Open Sans Extra Bold"/>
              </a:rPr>
              <a:t>04</a:t>
            </a:r>
          </a:p>
        </p:txBody>
      </p:sp>
      <p:grpSp>
        <p:nvGrpSpPr>
          <p:cNvPr name="Group 21" id="21"/>
          <p:cNvGrpSpPr/>
          <p:nvPr/>
        </p:nvGrpSpPr>
        <p:grpSpPr>
          <a:xfrm rot="0">
            <a:off x="7687046" y="2656032"/>
            <a:ext cx="373607" cy="37360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3" id="2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24" id="24"/>
          <p:cNvGrpSpPr/>
          <p:nvPr/>
        </p:nvGrpSpPr>
        <p:grpSpPr>
          <a:xfrm rot="0">
            <a:off x="8096904" y="4180490"/>
            <a:ext cx="373607" cy="37360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6" id="26"/>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27" id="27"/>
          <p:cNvGrpSpPr/>
          <p:nvPr/>
        </p:nvGrpSpPr>
        <p:grpSpPr>
          <a:xfrm rot="0">
            <a:off x="7725819" y="7402839"/>
            <a:ext cx="373607" cy="37360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9" id="29"/>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30" id="30"/>
          <p:cNvGrpSpPr/>
          <p:nvPr/>
        </p:nvGrpSpPr>
        <p:grpSpPr>
          <a:xfrm rot="0">
            <a:off x="8091051" y="5760481"/>
            <a:ext cx="373607" cy="37360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32" id="32"/>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3266830"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51D40"/>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609132" y="1222804"/>
            <a:ext cx="7922504" cy="1571623"/>
          </a:xfrm>
          <a:prstGeom prst="rect">
            <a:avLst/>
          </a:prstGeom>
        </p:spPr>
        <p:txBody>
          <a:bodyPr anchor="t" rtlCol="false" tIns="0" lIns="0" bIns="0" rIns="0">
            <a:spAutoFit/>
          </a:bodyPr>
          <a:lstStyle/>
          <a:p>
            <a:pPr algn="l" marL="0" indent="0" lvl="0">
              <a:lnSpc>
                <a:spcPts val="6300"/>
              </a:lnSpc>
              <a:spcBef>
                <a:spcPct val="0"/>
              </a:spcBef>
            </a:pPr>
            <a:r>
              <a:rPr lang="en-US" sz="4500">
                <a:solidFill>
                  <a:srgbClr val="051D40"/>
                </a:solidFill>
                <a:latin typeface="Open Sans Extra Bold"/>
                <a:ea typeface="Open Sans Extra Bold"/>
                <a:cs typeface="Open Sans Extra Bold"/>
                <a:sym typeface="Open Sans Extra Bold"/>
              </a:rPr>
              <a:t>Key Features of Random Forest</a:t>
            </a:r>
          </a:p>
        </p:txBody>
      </p:sp>
      <p:grpSp>
        <p:nvGrpSpPr>
          <p:cNvPr name="Group 6" id="6"/>
          <p:cNvGrpSpPr/>
          <p:nvPr/>
        </p:nvGrpSpPr>
        <p:grpSpPr>
          <a:xfrm rot="0">
            <a:off x="-1595820" y="-1782102"/>
            <a:ext cx="3564204" cy="35642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700679" y="7074186"/>
            <a:ext cx="5946973" cy="5946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492054" y="7769978"/>
            <a:ext cx="12416921" cy="774666"/>
          </a:xfrm>
          <a:custGeom>
            <a:avLst/>
            <a:gdLst/>
            <a:ahLst/>
            <a:cxnLst/>
            <a:rect r="r" b="b" t="t" l="l"/>
            <a:pathLst>
              <a:path h="774666" w="12416921">
                <a:moveTo>
                  <a:pt x="0" y="0"/>
                </a:moveTo>
                <a:lnTo>
                  <a:pt x="12416921" y="0"/>
                </a:lnTo>
                <a:lnTo>
                  <a:pt x="12416921" y="774666"/>
                </a:lnTo>
                <a:lnTo>
                  <a:pt x="0" y="774666"/>
                </a:lnTo>
                <a:lnTo>
                  <a:pt x="0" y="0"/>
                </a:lnTo>
                <a:close/>
              </a:path>
            </a:pathLst>
          </a:custGeom>
          <a:blipFill>
            <a:blip r:embed="rId2"/>
            <a:stretch>
              <a:fillRect l="0" t="-216567" r="0" b="0"/>
            </a:stretch>
          </a:blipFill>
        </p:spPr>
      </p:sp>
      <p:grpSp>
        <p:nvGrpSpPr>
          <p:cNvPr name="Group 13" id="13"/>
          <p:cNvGrpSpPr/>
          <p:nvPr/>
        </p:nvGrpSpPr>
        <p:grpSpPr>
          <a:xfrm rot="0">
            <a:off x="492054" y="4211737"/>
            <a:ext cx="12416921" cy="4027318"/>
            <a:chOff x="0" y="0"/>
            <a:chExt cx="3003039" cy="974009"/>
          </a:xfrm>
        </p:grpSpPr>
        <p:sp>
          <p:nvSpPr>
            <p:cNvPr name="Freeform 14" id="14"/>
            <p:cNvSpPr/>
            <p:nvPr/>
          </p:nvSpPr>
          <p:spPr>
            <a:xfrm flipH="false" flipV="false" rot="0">
              <a:off x="0" y="0"/>
              <a:ext cx="3003039" cy="974009"/>
            </a:xfrm>
            <a:custGeom>
              <a:avLst/>
              <a:gdLst/>
              <a:ahLst/>
              <a:cxnLst/>
              <a:rect r="r" b="b" t="t" l="l"/>
              <a:pathLst>
                <a:path h="974009" w="3003039">
                  <a:moveTo>
                    <a:pt x="8729" y="0"/>
                  </a:moveTo>
                  <a:lnTo>
                    <a:pt x="2994310" y="0"/>
                  </a:lnTo>
                  <a:cubicBezTo>
                    <a:pt x="2999131" y="0"/>
                    <a:pt x="3003039" y="3908"/>
                    <a:pt x="3003039" y="8729"/>
                  </a:cubicBezTo>
                  <a:lnTo>
                    <a:pt x="3003039" y="965280"/>
                  </a:lnTo>
                  <a:cubicBezTo>
                    <a:pt x="3003039" y="970101"/>
                    <a:pt x="2999131" y="974009"/>
                    <a:pt x="2994310" y="974009"/>
                  </a:cubicBezTo>
                  <a:lnTo>
                    <a:pt x="8729" y="974009"/>
                  </a:lnTo>
                  <a:cubicBezTo>
                    <a:pt x="3908" y="974009"/>
                    <a:pt x="0" y="970101"/>
                    <a:pt x="0" y="965280"/>
                  </a:cubicBezTo>
                  <a:lnTo>
                    <a:pt x="0" y="8729"/>
                  </a:lnTo>
                  <a:cubicBezTo>
                    <a:pt x="0" y="3908"/>
                    <a:pt x="3908" y="0"/>
                    <a:pt x="8729" y="0"/>
                  </a:cubicBezTo>
                  <a:close/>
                </a:path>
              </a:pathLst>
            </a:custGeom>
            <a:solidFill>
              <a:srgbClr val="00569E"/>
            </a:solidFill>
          </p:spPr>
        </p:sp>
        <p:sp>
          <p:nvSpPr>
            <p:cNvPr name="TextBox 15" id="15"/>
            <p:cNvSpPr txBox="true"/>
            <p:nvPr/>
          </p:nvSpPr>
          <p:spPr>
            <a:xfrm>
              <a:off x="0" y="-38100"/>
              <a:ext cx="3003039" cy="1012109"/>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212337" y="3546805"/>
            <a:ext cx="3018884" cy="1053752"/>
            <a:chOff x="0" y="0"/>
            <a:chExt cx="1013291" cy="353693"/>
          </a:xfrm>
        </p:grpSpPr>
        <p:sp>
          <p:nvSpPr>
            <p:cNvPr name="Freeform 17" id="17"/>
            <p:cNvSpPr/>
            <p:nvPr/>
          </p:nvSpPr>
          <p:spPr>
            <a:xfrm flipH="false" flipV="false" rot="0">
              <a:off x="0" y="0"/>
              <a:ext cx="1013291" cy="353693"/>
            </a:xfrm>
            <a:custGeom>
              <a:avLst/>
              <a:gdLst/>
              <a:ahLst/>
              <a:cxnLst/>
              <a:rect r="r" b="b" t="t" l="l"/>
              <a:pathLst>
                <a:path h="353693" w="1013291">
                  <a:moveTo>
                    <a:pt x="117967" y="0"/>
                  </a:moveTo>
                  <a:lnTo>
                    <a:pt x="895324" y="0"/>
                  </a:lnTo>
                  <a:cubicBezTo>
                    <a:pt x="926611" y="0"/>
                    <a:pt x="956616" y="12429"/>
                    <a:pt x="978739" y="34552"/>
                  </a:cubicBezTo>
                  <a:cubicBezTo>
                    <a:pt x="1000863" y="56675"/>
                    <a:pt x="1013291" y="86680"/>
                    <a:pt x="1013291" y="117967"/>
                  </a:cubicBezTo>
                  <a:lnTo>
                    <a:pt x="1013291" y="235726"/>
                  </a:lnTo>
                  <a:cubicBezTo>
                    <a:pt x="1013291" y="300877"/>
                    <a:pt x="960476" y="353693"/>
                    <a:pt x="895324" y="353693"/>
                  </a:cubicBezTo>
                  <a:lnTo>
                    <a:pt x="117967" y="353693"/>
                  </a:lnTo>
                  <a:cubicBezTo>
                    <a:pt x="52816" y="353693"/>
                    <a:pt x="0" y="300877"/>
                    <a:pt x="0" y="235726"/>
                  </a:cubicBezTo>
                  <a:lnTo>
                    <a:pt x="0" y="117967"/>
                  </a:lnTo>
                  <a:cubicBezTo>
                    <a:pt x="0" y="52816"/>
                    <a:pt x="52816" y="0"/>
                    <a:pt x="117967"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18" id="18"/>
            <p:cNvSpPr txBox="true"/>
            <p:nvPr/>
          </p:nvSpPr>
          <p:spPr>
            <a:xfrm>
              <a:off x="0" y="-66675"/>
              <a:ext cx="1013291" cy="420368"/>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Feature Selection and Importance</a:t>
              </a:r>
            </a:p>
          </p:txBody>
        </p:sp>
      </p:grpSp>
      <p:grpSp>
        <p:nvGrpSpPr>
          <p:cNvPr name="Group 19" id="19"/>
          <p:cNvGrpSpPr/>
          <p:nvPr/>
        </p:nvGrpSpPr>
        <p:grpSpPr>
          <a:xfrm rot="0">
            <a:off x="5191073" y="3108655"/>
            <a:ext cx="3018884" cy="1491902"/>
            <a:chOff x="0" y="0"/>
            <a:chExt cx="1013291" cy="500758"/>
          </a:xfrm>
        </p:grpSpPr>
        <p:sp>
          <p:nvSpPr>
            <p:cNvPr name="Freeform 20" id="20"/>
            <p:cNvSpPr/>
            <p:nvPr/>
          </p:nvSpPr>
          <p:spPr>
            <a:xfrm flipH="false" flipV="false" rot="0">
              <a:off x="0" y="0"/>
              <a:ext cx="1013291" cy="500758"/>
            </a:xfrm>
            <a:custGeom>
              <a:avLst/>
              <a:gdLst/>
              <a:ahLst/>
              <a:cxnLst/>
              <a:rect r="r" b="b" t="t" l="l"/>
              <a:pathLst>
                <a:path h="500758" w="1013291">
                  <a:moveTo>
                    <a:pt x="117967" y="0"/>
                  </a:moveTo>
                  <a:lnTo>
                    <a:pt x="895324" y="0"/>
                  </a:lnTo>
                  <a:cubicBezTo>
                    <a:pt x="926611" y="0"/>
                    <a:pt x="956616" y="12429"/>
                    <a:pt x="978739" y="34552"/>
                  </a:cubicBezTo>
                  <a:cubicBezTo>
                    <a:pt x="1000863" y="56675"/>
                    <a:pt x="1013291" y="86680"/>
                    <a:pt x="1013291" y="117967"/>
                  </a:cubicBezTo>
                  <a:lnTo>
                    <a:pt x="1013291" y="382791"/>
                  </a:lnTo>
                  <a:cubicBezTo>
                    <a:pt x="1013291" y="447943"/>
                    <a:pt x="960476" y="500758"/>
                    <a:pt x="895324" y="500758"/>
                  </a:cubicBezTo>
                  <a:lnTo>
                    <a:pt x="117967" y="500758"/>
                  </a:lnTo>
                  <a:cubicBezTo>
                    <a:pt x="86680" y="500758"/>
                    <a:pt x="56675" y="488330"/>
                    <a:pt x="34552" y="466207"/>
                  </a:cubicBezTo>
                  <a:cubicBezTo>
                    <a:pt x="12429" y="444084"/>
                    <a:pt x="0" y="414078"/>
                    <a:pt x="0" y="382791"/>
                  </a:cubicBezTo>
                  <a:lnTo>
                    <a:pt x="0" y="117967"/>
                  </a:lnTo>
                  <a:cubicBezTo>
                    <a:pt x="0" y="52816"/>
                    <a:pt x="52816" y="0"/>
                    <a:pt x="117967"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1" id="21"/>
            <p:cNvSpPr txBox="true"/>
            <p:nvPr/>
          </p:nvSpPr>
          <p:spPr>
            <a:xfrm>
              <a:off x="0" y="-66675"/>
              <a:ext cx="1013291" cy="567433"/>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Handling Missing Values and Outliers</a:t>
              </a:r>
            </a:p>
          </p:txBody>
        </p:sp>
      </p:grpSp>
      <p:grpSp>
        <p:nvGrpSpPr>
          <p:cNvPr name="Group 22" id="22"/>
          <p:cNvGrpSpPr/>
          <p:nvPr/>
        </p:nvGrpSpPr>
        <p:grpSpPr>
          <a:xfrm rot="0">
            <a:off x="9144000" y="2670505"/>
            <a:ext cx="2907796" cy="1930052"/>
            <a:chOff x="0" y="0"/>
            <a:chExt cx="976004" cy="647824"/>
          </a:xfrm>
        </p:grpSpPr>
        <p:sp>
          <p:nvSpPr>
            <p:cNvPr name="Freeform 23" id="23"/>
            <p:cNvSpPr/>
            <p:nvPr/>
          </p:nvSpPr>
          <p:spPr>
            <a:xfrm flipH="false" flipV="false" rot="0">
              <a:off x="0" y="0"/>
              <a:ext cx="976004" cy="647824"/>
            </a:xfrm>
            <a:custGeom>
              <a:avLst/>
              <a:gdLst/>
              <a:ahLst/>
              <a:cxnLst/>
              <a:rect r="r" b="b" t="t" l="l"/>
              <a:pathLst>
                <a:path h="647824" w="976004">
                  <a:moveTo>
                    <a:pt x="122474" y="0"/>
                  </a:moveTo>
                  <a:lnTo>
                    <a:pt x="853531" y="0"/>
                  </a:lnTo>
                  <a:cubicBezTo>
                    <a:pt x="886013" y="0"/>
                    <a:pt x="917164" y="12903"/>
                    <a:pt x="940133" y="35872"/>
                  </a:cubicBezTo>
                  <a:cubicBezTo>
                    <a:pt x="963101" y="58840"/>
                    <a:pt x="976004" y="89992"/>
                    <a:pt x="976004" y="122474"/>
                  </a:cubicBezTo>
                  <a:lnTo>
                    <a:pt x="976004" y="525350"/>
                  </a:lnTo>
                  <a:cubicBezTo>
                    <a:pt x="976004" y="557832"/>
                    <a:pt x="963101" y="588984"/>
                    <a:pt x="940133" y="611952"/>
                  </a:cubicBezTo>
                  <a:cubicBezTo>
                    <a:pt x="917164" y="634920"/>
                    <a:pt x="886013" y="647824"/>
                    <a:pt x="853531" y="647824"/>
                  </a:cubicBezTo>
                  <a:lnTo>
                    <a:pt x="122474" y="647824"/>
                  </a:lnTo>
                  <a:cubicBezTo>
                    <a:pt x="89992" y="647824"/>
                    <a:pt x="58840" y="634920"/>
                    <a:pt x="35872" y="611952"/>
                  </a:cubicBezTo>
                  <a:cubicBezTo>
                    <a:pt x="12903" y="588984"/>
                    <a:pt x="0" y="557832"/>
                    <a:pt x="0" y="525350"/>
                  </a:cubicBezTo>
                  <a:lnTo>
                    <a:pt x="0" y="122474"/>
                  </a:lnTo>
                  <a:cubicBezTo>
                    <a:pt x="0" y="89992"/>
                    <a:pt x="12903" y="58840"/>
                    <a:pt x="35872" y="35872"/>
                  </a:cubicBezTo>
                  <a:cubicBezTo>
                    <a:pt x="58840" y="12903"/>
                    <a:pt x="89992" y="0"/>
                    <a:pt x="122474"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4" id="24"/>
            <p:cNvSpPr txBox="true"/>
            <p:nvPr/>
          </p:nvSpPr>
          <p:spPr>
            <a:xfrm>
              <a:off x="0" y="-66675"/>
              <a:ext cx="976004" cy="714499"/>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Versatility in Classification and Regression Tasks</a:t>
              </a:r>
            </a:p>
          </p:txBody>
        </p:sp>
      </p:grpSp>
      <p:sp>
        <p:nvSpPr>
          <p:cNvPr name="TextBox 25" id="25"/>
          <p:cNvSpPr txBox="true"/>
          <p:nvPr/>
        </p:nvSpPr>
        <p:spPr>
          <a:xfrm rot="0">
            <a:off x="1272597" y="4760386"/>
            <a:ext cx="2898363" cy="3217045"/>
          </a:xfrm>
          <a:prstGeom prst="rect">
            <a:avLst/>
          </a:prstGeom>
        </p:spPr>
        <p:txBody>
          <a:bodyPr anchor="t" rtlCol="false" tIns="0" lIns="0" bIns="0" rIns="0">
            <a:spAutoFit/>
          </a:bodyPr>
          <a:lstStyle/>
          <a:p>
            <a:pPr algn="ctr" marL="0" indent="0" lvl="0">
              <a:lnSpc>
                <a:spcPts val="2541"/>
              </a:lnSpc>
              <a:spcBef>
                <a:spcPct val="0"/>
              </a:spcBef>
            </a:pPr>
            <a:r>
              <a:rPr lang="en-US" sz="1815" spc="-36">
                <a:solidFill>
                  <a:srgbClr val="FDFDFD"/>
                </a:solidFill>
                <a:latin typeface="Poppins"/>
                <a:ea typeface="Poppins"/>
                <a:cs typeface="Poppins"/>
                <a:sym typeface="Poppins"/>
              </a:rPr>
              <a:t>Random Forest can automatically rank the importance of each feature in the dataset based on how often they are used to split the data across all the trees. This is useful for understanding which features have the most predictive power.</a:t>
            </a:r>
          </a:p>
        </p:txBody>
      </p:sp>
      <p:sp>
        <p:nvSpPr>
          <p:cNvPr name="TextBox 26" id="26"/>
          <p:cNvSpPr txBox="true"/>
          <p:nvPr/>
        </p:nvSpPr>
        <p:spPr>
          <a:xfrm rot="0">
            <a:off x="5289141" y="4760386"/>
            <a:ext cx="2848606" cy="3478668"/>
          </a:xfrm>
          <a:prstGeom prst="rect">
            <a:avLst/>
          </a:prstGeom>
        </p:spPr>
        <p:txBody>
          <a:bodyPr anchor="t" rtlCol="false" tIns="0" lIns="0" bIns="0" rIns="0">
            <a:spAutoFit/>
          </a:bodyPr>
          <a:lstStyle/>
          <a:p>
            <a:pPr algn="ctr" marL="0" indent="0" lvl="0">
              <a:lnSpc>
                <a:spcPts val="2498"/>
              </a:lnSpc>
              <a:spcBef>
                <a:spcPct val="0"/>
              </a:spcBef>
            </a:pPr>
            <a:r>
              <a:rPr lang="en-US" sz="1784" spc="-35">
                <a:solidFill>
                  <a:srgbClr val="FDFDFD"/>
                </a:solidFill>
                <a:latin typeface="Poppins"/>
                <a:ea typeface="Poppins"/>
                <a:cs typeface="Poppins"/>
                <a:sym typeface="Poppins"/>
              </a:rPr>
              <a:t>Random Forest is resilient to missing data, as it can handle missing values during training by splitting based on available data. Outliers, or extreme values, are also less influential since the algorithm aggregates predictions across multiple trees.</a:t>
            </a:r>
          </a:p>
        </p:txBody>
      </p:sp>
      <p:sp>
        <p:nvSpPr>
          <p:cNvPr name="TextBox 27" id="27"/>
          <p:cNvSpPr txBox="true"/>
          <p:nvPr/>
        </p:nvSpPr>
        <p:spPr>
          <a:xfrm rot="0">
            <a:off x="9307934" y="4760386"/>
            <a:ext cx="2848606" cy="3478668"/>
          </a:xfrm>
          <a:prstGeom prst="rect">
            <a:avLst/>
          </a:prstGeom>
        </p:spPr>
        <p:txBody>
          <a:bodyPr anchor="t" rtlCol="false" tIns="0" lIns="0" bIns="0" rIns="0">
            <a:spAutoFit/>
          </a:bodyPr>
          <a:lstStyle/>
          <a:p>
            <a:pPr algn="ctr" marL="0" indent="0" lvl="0">
              <a:lnSpc>
                <a:spcPts val="2498"/>
              </a:lnSpc>
              <a:spcBef>
                <a:spcPct val="0"/>
              </a:spcBef>
            </a:pPr>
            <a:r>
              <a:rPr lang="en-US" sz="1784" spc="-35">
                <a:solidFill>
                  <a:srgbClr val="FDFDFD"/>
                </a:solidFill>
                <a:latin typeface="Poppins"/>
                <a:ea typeface="Poppins"/>
                <a:cs typeface="Poppins"/>
                <a:sym typeface="Poppins"/>
              </a:rPr>
              <a:t>Random Forest is versatile and can be used for both classification tasks (predicting discrete labels) and regression tasks (predicting continuous values). It has been successfully applied in various fields, including healthcare, finance, and marketing.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0">
            <a:off x="232204" y="7686324"/>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sp>
        <p:nvSpPr>
          <p:cNvPr name="Freeform 3" id="3"/>
          <p:cNvSpPr/>
          <p:nvPr/>
        </p:nvSpPr>
        <p:spPr>
          <a:xfrm flipH="false" flipV="false" rot="0">
            <a:off x="6224860" y="7686324"/>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sp>
        <p:nvSpPr>
          <p:cNvPr name="Freeform 4" id="4"/>
          <p:cNvSpPr/>
          <p:nvPr/>
        </p:nvSpPr>
        <p:spPr>
          <a:xfrm flipH="false" flipV="false" rot="0">
            <a:off x="12213997" y="7686324"/>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grpSp>
        <p:nvGrpSpPr>
          <p:cNvPr name="Group 5" id="5"/>
          <p:cNvGrpSpPr/>
          <p:nvPr/>
        </p:nvGrpSpPr>
        <p:grpSpPr>
          <a:xfrm rot="0">
            <a:off x="12213997" y="3298645"/>
            <a:ext cx="5841799" cy="5146658"/>
            <a:chOff x="0" y="0"/>
            <a:chExt cx="1554321" cy="1369365"/>
          </a:xfrm>
        </p:grpSpPr>
        <p:sp>
          <p:nvSpPr>
            <p:cNvPr name="Freeform 6" id="6"/>
            <p:cNvSpPr/>
            <p:nvPr/>
          </p:nvSpPr>
          <p:spPr>
            <a:xfrm flipH="false" flipV="false" rot="0">
              <a:off x="0" y="0"/>
              <a:ext cx="1554321" cy="1369365"/>
            </a:xfrm>
            <a:custGeom>
              <a:avLst/>
              <a:gdLst/>
              <a:ahLst/>
              <a:cxnLst/>
              <a:rect r="r" b="b" t="t" l="l"/>
              <a:pathLst>
                <a:path h="1369365" w="1554321">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name="TextBox 7" id="7"/>
            <p:cNvSpPr txBox="true"/>
            <p:nvPr/>
          </p:nvSpPr>
          <p:spPr>
            <a:xfrm>
              <a:off x="0" y="-38100"/>
              <a:ext cx="1554321" cy="1407465"/>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8" id="8"/>
          <p:cNvGrpSpPr/>
          <p:nvPr/>
        </p:nvGrpSpPr>
        <p:grpSpPr>
          <a:xfrm rot="0">
            <a:off x="6224860" y="3298645"/>
            <a:ext cx="5841799" cy="5146658"/>
            <a:chOff x="0" y="0"/>
            <a:chExt cx="1554321" cy="1369365"/>
          </a:xfrm>
        </p:grpSpPr>
        <p:sp>
          <p:nvSpPr>
            <p:cNvPr name="Freeform 9" id="9"/>
            <p:cNvSpPr/>
            <p:nvPr/>
          </p:nvSpPr>
          <p:spPr>
            <a:xfrm flipH="false" flipV="false" rot="0">
              <a:off x="0" y="0"/>
              <a:ext cx="1554321" cy="1369365"/>
            </a:xfrm>
            <a:custGeom>
              <a:avLst/>
              <a:gdLst/>
              <a:ahLst/>
              <a:cxnLst/>
              <a:rect r="r" b="b" t="t" l="l"/>
              <a:pathLst>
                <a:path h="1369365" w="1554321">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name="TextBox 10" id="10"/>
            <p:cNvSpPr txBox="true"/>
            <p:nvPr/>
          </p:nvSpPr>
          <p:spPr>
            <a:xfrm>
              <a:off x="0" y="-38100"/>
              <a:ext cx="1554321" cy="1407465"/>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11" id="11"/>
          <p:cNvGrpSpPr/>
          <p:nvPr/>
        </p:nvGrpSpPr>
        <p:grpSpPr>
          <a:xfrm rot="0">
            <a:off x="232204" y="3298645"/>
            <a:ext cx="5841799" cy="5146658"/>
            <a:chOff x="0" y="0"/>
            <a:chExt cx="1554321" cy="1369365"/>
          </a:xfrm>
        </p:grpSpPr>
        <p:sp>
          <p:nvSpPr>
            <p:cNvPr name="Freeform 12" id="12"/>
            <p:cNvSpPr/>
            <p:nvPr/>
          </p:nvSpPr>
          <p:spPr>
            <a:xfrm flipH="false" flipV="false" rot="0">
              <a:off x="0" y="0"/>
              <a:ext cx="1554321" cy="1369365"/>
            </a:xfrm>
            <a:custGeom>
              <a:avLst/>
              <a:gdLst/>
              <a:ahLst/>
              <a:cxnLst/>
              <a:rect r="r" b="b" t="t" l="l"/>
              <a:pathLst>
                <a:path h="1369365" w="1554321">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name="TextBox 13" id="13"/>
            <p:cNvSpPr txBox="true"/>
            <p:nvPr/>
          </p:nvSpPr>
          <p:spPr>
            <a:xfrm>
              <a:off x="0" y="-38100"/>
              <a:ext cx="1554321" cy="1407465"/>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14" id="14"/>
          <p:cNvGrpSpPr/>
          <p:nvPr/>
        </p:nvGrpSpPr>
        <p:grpSpPr>
          <a:xfrm rot="0">
            <a:off x="-2123887" y="-2346523"/>
            <a:ext cx="4693046" cy="469304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5573718" y="7940477"/>
            <a:ext cx="4693046" cy="469304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2349552" y="3446286"/>
            <a:ext cx="5570690" cy="3133474"/>
            <a:chOff x="0" y="0"/>
            <a:chExt cx="11289030" cy="6350000"/>
          </a:xfrm>
        </p:grpSpPr>
        <p:sp>
          <p:nvSpPr>
            <p:cNvPr name="Freeform 21" id="21"/>
            <p:cNvSpPr/>
            <p:nvPr/>
          </p:nvSpPr>
          <p:spPr>
            <a:xfrm flipH="false" flipV="false" rot="0">
              <a:off x="0" y="0"/>
              <a:ext cx="11287760" cy="6350000"/>
            </a:xfrm>
            <a:custGeom>
              <a:avLst/>
              <a:gdLst/>
              <a:ahLst/>
              <a:cxnLst/>
              <a:rect r="r" b="b" t="t" l="l"/>
              <a:pathLst>
                <a:path h="6350000" w="1128776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a:blip r:embed="rId3"/>
              <a:stretch>
                <a:fillRect l="0" t="-12895" r="0" b="-12895"/>
              </a:stretch>
            </a:blipFill>
          </p:spPr>
        </p:sp>
      </p:grpSp>
      <p:sp>
        <p:nvSpPr>
          <p:cNvPr name="Freeform 22" id="22"/>
          <p:cNvSpPr/>
          <p:nvPr/>
        </p:nvSpPr>
        <p:spPr>
          <a:xfrm flipH="false" flipV="false" rot="0">
            <a:off x="1355198" y="3566885"/>
            <a:ext cx="3629502" cy="3139029"/>
          </a:xfrm>
          <a:custGeom>
            <a:avLst/>
            <a:gdLst/>
            <a:ahLst/>
            <a:cxnLst/>
            <a:rect r="r" b="b" t="t" l="l"/>
            <a:pathLst>
              <a:path h="3139029" w="3629502">
                <a:moveTo>
                  <a:pt x="0" y="0"/>
                </a:moveTo>
                <a:lnTo>
                  <a:pt x="3629502" y="0"/>
                </a:lnTo>
                <a:lnTo>
                  <a:pt x="3629502" y="3139029"/>
                </a:lnTo>
                <a:lnTo>
                  <a:pt x="0" y="3139029"/>
                </a:lnTo>
                <a:lnTo>
                  <a:pt x="0" y="0"/>
                </a:lnTo>
                <a:close/>
              </a:path>
            </a:pathLst>
          </a:custGeom>
          <a:blipFill>
            <a:blip r:embed="rId4"/>
            <a:stretch>
              <a:fillRect l="0" t="0" r="0" b="0"/>
            </a:stretch>
          </a:blipFill>
        </p:spPr>
      </p:sp>
      <p:sp>
        <p:nvSpPr>
          <p:cNvPr name="Freeform 23" id="23"/>
          <p:cNvSpPr/>
          <p:nvPr/>
        </p:nvSpPr>
        <p:spPr>
          <a:xfrm flipH="false" flipV="false" rot="0">
            <a:off x="7706769" y="3680754"/>
            <a:ext cx="2911291" cy="2911291"/>
          </a:xfrm>
          <a:custGeom>
            <a:avLst/>
            <a:gdLst/>
            <a:ahLst/>
            <a:cxnLst/>
            <a:rect r="r" b="b" t="t" l="l"/>
            <a:pathLst>
              <a:path h="2911291" w="2911291">
                <a:moveTo>
                  <a:pt x="0" y="0"/>
                </a:moveTo>
                <a:lnTo>
                  <a:pt x="2911291" y="0"/>
                </a:lnTo>
                <a:lnTo>
                  <a:pt x="2911291" y="2911291"/>
                </a:lnTo>
                <a:lnTo>
                  <a:pt x="0" y="2911291"/>
                </a:lnTo>
                <a:lnTo>
                  <a:pt x="0" y="0"/>
                </a:lnTo>
                <a:close/>
              </a:path>
            </a:pathLst>
          </a:custGeom>
          <a:blipFill>
            <a:blip r:embed="rId5"/>
            <a:stretch>
              <a:fillRect l="0" t="0" r="0" b="0"/>
            </a:stretch>
          </a:blipFill>
        </p:spPr>
      </p:sp>
      <p:sp>
        <p:nvSpPr>
          <p:cNvPr name="TextBox 24" id="24"/>
          <p:cNvSpPr txBox="true"/>
          <p:nvPr/>
        </p:nvSpPr>
        <p:spPr>
          <a:xfrm rot="0">
            <a:off x="3830134" y="1837718"/>
            <a:ext cx="10664562" cy="879901"/>
          </a:xfrm>
          <a:prstGeom prst="rect">
            <a:avLst/>
          </a:prstGeom>
        </p:spPr>
        <p:txBody>
          <a:bodyPr anchor="t" rtlCol="false" tIns="0" lIns="0" bIns="0" rIns="0">
            <a:spAutoFit/>
          </a:bodyPr>
          <a:lstStyle/>
          <a:p>
            <a:pPr algn="ctr" marL="0" indent="0" lvl="0">
              <a:lnSpc>
                <a:spcPts val="7151"/>
              </a:lnSpc>
              <a:spcBef>
                <a:spcPct val="0"/>
              </a:spcBef>
            </a:pPr>
            <a:r>
              <a:rPr lang="en-US" sz="5108">
                <a:solidFill>
                  <a:srgbClr val="FDFDFD"/>
                </a:solidFill>
                <a:latin typeface="Open Sans Extra Bold"/>
                <a:ea typeface="Open Sans Extra Bold"/>
                <a:cs typeface="Open Sans Extra Bold"/>
                <a:sym typeface="Open Sans Extra Bold"/>
              </a:rPr>
              <a:t>Advantages of Random Forest</a:t>
            </a:r>
          </a:p>
        </p:txBody>
      </p:sp>
      <p:sp>
        <p:nvSpPr>
          <p:cNvPr name="TextBox 25" id="25"/>
          <p:cNvSpPr txBox="true"/>
          <p:nvPr/>
        </p:nvSpPr>
        <p:spPr>
          <a:xfrm rot="0">
            <a:off x="6495061" y="7135947"/>
            <a:ext cx="5297877" cy="1056256"/>
          </a:xfrm>
          <a:prstGeom prst="rect">
            <a:avLst/>
          </a:prstGeom>
        </p:spPr>
        <p:txBody>
          <a:bodyPr anchor="t" rtlCol="false" tIns="0" lIns="0" bIns="0" rIns="0">
            <a:spAutoFit/>
          </a:bodyPr>
          <a:lstStyle/>
          <a:p>
            <a:pPr algn="ctr" marL="0" indent="0" lvl="0">
              <a:lnSpc>
                <a:spcPts val="2145"/>
              </a:lnSpc>
              <a:spcBef>
                <a:spcPct val="0"/>
              </a:spcBef>
            </a:pPr>
            <a:r>
              <a:rPr lang="en-US" sz="1532" spc="-30" strike="noStrike" u="none">
                <a:solidFill>
                  <a:srgbClr val="051D40"/>
                </a:solidFill>
                <a:latin typeface="Poppins"/>
                <a:ea typeface="Poppins"/>
                <a:cs typeface="Poppins"/>
                <a:sym typeface="Poppins"/>
              </a:rPr>
              <a:t>Lorem ipsum dolor sit amet, consectetur adipiscing elit. Nullam laoreet risus fringilla, egestas elit a, consequat augue. Phasellus sollicitudin felis mi, quis egestas ex ornare sed sollicitudin. </a:t>
            </a:r>
          </a:p>
        </p:txBody>
      </p:sp>
      <p:sp>
        <p:nvSpPr>
          <p:cNvPr name="TextBox 26" id="26"/>
          <p:cNvSpPr txBox="true"/>
          <p:nvPr/>
        </p:nvSpPr>
        <p:spPr>
          <a:xfrm rot="0">
            <a:off x="12491020" y="7135947"/>
            <a:ext cx="5297877" cy="1320524"/>
          </a:xfrm>
          <a:prstGeom prst="rect">
            <a:avLst/>
          </a:prstGeom>
        </p:spPr>
        <p:txBody>
          <a:bodyPr anchor="t" rtlCol="false" tIns="0" lIns="0" bIns="0" rIns="0">
            <a:spAutoFit/>
          </a:bodyPr>
          <a:lstStyle/>
          <a:p>
            <a:pPr algn="ctr" marL="0" indent="0" lvl="0">
              <a:lnSpc>
                <a:spcPts val="2145"/>
              </a:lnSpc>
              <a:spcBef>
                <a:spcPct val="0"/>
              </a:spcBef>
            </a:pPr>
            <a:r>
              <a:rPr lang="en-US" sz="1532" spc="-30">
                <a:solidFill>
                  <a:srgbClr val="051D40"/>
                </a:solidFill>
                <a:latin typeface="Poppins"/>
                <a:ea typeface="Poppins"/>
                <a:cs typeface="Poppins"/>
                <a:sym typeface="Poppins"/>
              </a:rPr>
              <a:t>Random Forest scales well to large datasets because each tree is trained on a random subset of the data, and the trees can be grown independently. This makes the algorithm parallelizable and efficient in handling large amounts of data.</a:t>
            </a:r>
          </a:p>
        </p:txBody>
      </p:sp>
      <p:sp>
        <p:nvSpPr>
          <p:cNvPr name="TextBox 27" id="27"/>
          <p:cNvSpPr txBox="true"/>
          <p:nvPr/>
        </p:nvSpPr>
        <p:spPr>
          <a:xfrm rot="0">
            <a:off x="1714400" y="6659120"/>
            <a:ext cx="2877407" cy="389605"/>
          </a:xfrm>
          <a:prstGeom prst="rect">
            <a:avLst/>
          </a:prstGeom>
        </p:spPr>
        <p:txBody>
          <a:bodyPr anchor="t" rtlCol="false" tIns="0" lIns="0" bIns="0" rIns="0">
            <a:spAutoFit/>
          </a:bodyPr>
          <a:lstStyle/>
          <a:p>
            <a:pPr algn="ctr" marL="0" indent="0" lvl="0">
              <a:lnSpc>
                <a:spcPts val="3200"/>
              </a:lnSpc>
              <a:spcBef>
                <a:spcPct val="0"/>
              </a:spcBef>
            </a:pPr>
            <a:r>
              <a:rPr lang="en-US" sz="2286">
                <a:solidFill>
                  <a:srgbClr val="051D40"/>
                </a:solidFill>
                <a:latin typeface="Open Sans Extra Bold"/>
                <a:ea typeface="Open Sans Extra Bold"/>
                <a:cs typeface="Open Sans Extra Bold"/>
                <a:sym typeface="Open Sans Extra Bold"/>
              </a:rPr>
              <a:t>Accuracy</a:t>
            </a:r>
          </a:p>
        </p:txBody>
      </p:sp>
      <p:sp>
        <p:nvSpPr>
          <p:cNvPr name="TextBox 28" id="28"/>
          <p:cNvSpPr txBox="true"/>
          <p:nvPr/>
        </p:nvSpPr>
        <p:spPr>
          <a:xfrm rot="0">
            <a:off x="6358655" y="6659120"/>
            <a:ext cx="5607519" cy="389605"/>
          </a:xfrm>
          <a:prstGeom prst="rect">
            <a:avLst/>
          </a:prstGeom>
        </p:spPr>
        <p:txBody>
          <a:bodyPr anchor="t" rtlCol="false" tIns="0" lIns="0" bIns="0" rIns="0">
            <a:spAutoFit/>
          </a:bodyPr>
          <a:lstStyle/>
          <a:p>
            <a:pPr algn="ctr" marL="0" indent="0" lvl="0">
              <a:lnSpc>
                <a:spcPts val="3200"/>
              </a:lnSpc>
              <a:spcBef>
                <a:spcPct val="0"/>
              </a:spcBef>
            </a:pPr>
            <a:r>
              <a:rPr lang="en-US" sz="2286">
                <a:solidFill>
                  <a:srgbClr val="051D40"/>
                </a:solidFill>
                <a:latin typeface="Open Sans Extra Bold"/>
                <a:ea typeface="Open Sans Extra Bold"/>
                <a:cs typeface="Open Sans Extra Bold"/>
                <a:sym typeface="Open Sans Extra Bold"/>
              </a:rPr>
              <a:t>Handling High-Dimensional Data</a:t>
            </a:r>
          </a:p>
        </p:txBody>
      </p:sp>
      <p:sp>
        <p:nvSpPr>
          <p:cNvPr name="TextBox 29" id="29"/>
          <p:cNvSpPr txBox="true"/>
          <p:nvPr/>
        </p:nvSpPr>
        <p:spPr>
          <a:xfrm rot="0">
            <a:off x="12349552" y="6658289"/>
            <a:ext cx="5389110" cy="389605"/>
          </a:xfrm>
          <a:prstGeom prst="rect">
            <a:avLst/>
          </a:prstGeom>
        </p:spPr>
        <p:txBody>
          <a:bodyPr anchor="t" rtlCol="false" tIns="0" lIns="0" bIns="0" rIns="0">
            <a:spAutoFit/>
          </a:bodyPr>
          <a:lstStyle/>
          <a:p>
            <a:pPr algn="ctr" marL="0" indent="0" lvl="0">
              <a:lnSpc>
                <a:spcPts val="3200"/>
              </a:lnSpc>
              <a:spcBef>
                <a:spcPct val="0"/>
              </a:spcBef>
            </a:pPr>
            <a:r>
              <a:rPr lang="en-US" sz="2286">
                <a:solidFill>
                  <a:srgbClr val="051D40"/>
                </a:solidFill>
                <a:latin typeface="Open Sans Extra Bold"/>
                <a:ea typeface="Open Sans Extra Bold"/>
                <a:cs typeface="Open Sans Extra Bold"/>
                <a:sym typeface="Open Sans Extra Bold"/>
              </a:rPr>
              <a:t>Works Well with Large Datasets</a:t>
            </a:r>
          </a:p>
        </p:txBody>
      </p:sp>
      <p:sp>
        <p:nvSpPr>
          <p:cNvPr name="TextBox 30" id="30"/>
          <p:cNvSpPr txBox="true"/>
          <p:nvPr/>
        </p:nvSpPr>
        <p:spPr>
          <a:xfrm rot="0">
            <a:off x="648841" y="7135947"/>
            <a:ext cx="5008525" cy="1250482"/>
          </a:xfrm>
          <a:prstGeom prst="rect">
            <a:avLst/>
          </a:prstGeom>
        </p:spPr>
        <p:txBody>
          <a:bodyPr anchor="t" rtlCol="false" tIns="0" lIns="0" bIns="0" rIns="0">
            <a:spAutoFit/>
          </a:bodyPr>
          <a:lstStyle/>
          <a:p>
            <a:pPr algn="ctr" marL="0" indent="0" lvl="0">
              <a:lnSpc>
                <a:spcPts val="2027"/>
              </a:lnSpc>
              <a:spcBef>
                <a:spcPct val="0"/>
              </a:spcBef>
            </a:pPr>
            <a:r>
              <a:rPr lang="en-US" sz="1448" spc="-28">
                <a:solidFill>
                  <a:srgbClr val="051D40"/>
                </a:solidFill>
                <a:latin typeface="Poppins"/>
                <a:ea typeface="Poppins"/>
                <a:cs typeface="Poppins"/>
                <a:sym typeface="Poppins"/>
              </a:rPr>
              <a:t>Random Forest generally offers higher accuracy compared to single decision trees or other models. Its robustness stems from its ability to average predictions across multiple trees, reducing the likelihood of overfitting or relying on noisy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0">
            <a:off x="13696696" y="-136189"/>
            <a:ext cx="5188584" cy="10559379"/>
          </a:xfrm>
          <a:custGeom>
            <a:avLst/>
            <a:gdLst/>
            <a:ahLst/>
            <a:cxnLst/>
            <a:rect r="r" b="b" t="t" l="l"/>
            <a:pathLst>
              <a:path h="10559379" w="5188584">
                <a:moveTo>
                  <a:pt x="0" y="0"/>
                </a:moveTo>
                <a:lnTo>
                  <a:pt x="5188584" y="0"/>
                </a:lnTo>
                <a:lnTo>
                  <a:pt x="5188584" y="10559378"/>
                </a:lnTo>
                <a:lnTo>
                  <a:pt x="0" y="10559378"/>
                </a:lnTo>
                <a:lnTo>
                  <a:pt x="0" y="0"/>
                </a:lnTo>
                <a:close/>
              </a:path>
            </a:pathLst>
          </a:custGeom>
          <a:blipFill>
            <a:blip r:embed="rId2"/>
            <a:stretch>
              <a:fillRect l="-24470" t="0" r="-11119" b="0"/>
            </a:stretch>
          </a:blipFill>
        </p:spPr>
      </p:sp>
      <p:grpSp>
        <p:nvGrpSpPr>
          <p:cNvPr name="Group 3" id="3"/>
          <p:cNvGrpSpPr/>
          <p:nvPr/>
        </p:nvGrpSpPr>
        <p:grpSpPr>
          <a:xfrm rot="0">
            <a:off x="987690" y="3869980"/>
            <a:ext cx="10195919" cy="4921406"/>
            <a:chOff x="0" y="0"/>
            <a:chExt cx="2685345" cy="1296173"/>
          </a:xfrm>
        </p:grpSpPr>
        <p:sp>
          <p:nvSpPr>
            <p:cNvPr name="Freeform 4" id="4"/>
            <p:cNvSpPr/>
            <p:nvPr/>
          </p:nvSpPr>
          <p:spPr>
            <a:xfrm flipH="false" flipV="false" rot="0">
              <a:off x="0" y="0"/>
              <a:ext cx="2685345" cy="1296173"/>
            </a:xfrm>
            <a:custGeom>
              <a:avLst/>
              <a:gdLst/>
              <a:ahLst/>
              <a:cxnLst/>
              <a:rect r="r" b="b" t="t" l="l"/>
              <a:pathLst>
                <a:path h="1296173" w="2685345">
                  <a:moveTo>
                    <a:pt x="12908" y="0"/>
                  </a:moveTo>
                  <a:lnTo>
                    <a:pt x="2672437" y="0"/>
                  </a:lnTo>
                  <a:cubicBezTo>
                    <a:pt x="2675860" y="0"/>
                    <a:pt x="2679143" y="1360"/>
                    <a:pt x="2681564" y="3781"/>
                  </a:cubicBezTo>
                  <a:cubicBezTo>
                    <a:pt x="2683985" y="6202"/>
                    <a:pt x="2685345" y="9485"/>
                    <a:pt x="2685345" y="12908"/>
                  </a:cubicBezTo>
                  <a:lnTo>
                    <a:pt x="2685345" y="1283265"/>
                  </a:lnTo>
                  <a:cubicBezTo>
                    <a:pt x="2685345" y="1286688"/>
                    <a:pt x="2683985" y="1289971"/>
                    <a:pt x="2681564" y="1292392"/>
                  </a:cubicBezTo>
                  <a:cubicBezTo>
                    <a:pt x="2679143" y="1294813"/>
                    <a:pt x="2675860" y="1296173"/>
                    <a:pt x="2672437" y="1296173"/>
                  </a:cubicBezTo>
                  <a:lnTo>
                    <a:pt x="12908" y="1296173"/>
                  </a:lnTo>
                  <a:cubicBezTo>
                    <a:pt x="9485" y="1296173"/>
                    <a:pt x="6202" y="1294813"/>
                    <a:pt x="3781" y="1292392"/>
                  </a:cubicBezTo>
                  <a:cubicBezTo>
                    <a:pt x="1360" y="1289971"/>
                    <a:pt x="0" y="1286688"/>
                    <a:pt x="0" y="1283265"/>
                  </a:cubicBezTo>
                  <a:lnTo>
                    <a:pt x="0" y="12908"/>
                  </a:lnTo>
                  <a:cubicBezTo>
                    <a:pt x="0" y="9485"/>
                    <a:pt x="1360" y="6202"/>
                    <a:pt x="3781" y="3781"/>
                  </a:cubicBezTo>
                  <a:cubicBezTo>
                    <a:pt x="6202" y="1360"/>
                    <a:pt x="9485" y="0"/>
                    <a:pt x="12908" y="0"/>
                  </a:cubicBezTo>
                  <a:close/>
                </a:path>
              </a:pathLst>
            </a:custGeom>
            <a:solidFill>
              <a:srgbClr val="FDFDFD"/>
            </a:solidFill>
          </p:spPr>
        </p:sp>
        <p:sp>
          <p:nvSpPr>
            <p:cNvPr name="TextBox 5" id="5"/>
            <p:cNvSpPr txBox="true"/>
            <p:nvPr/>
          </p:nvSpPr>
          <p:spPr>
            <a:xfrm>
              <a:off x="0" y="-38100"/>
              <a:ext cx="2685345" cy="133427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005199" y="4181637"/>
            <a:ext cx="1077227" cy="1247315"/>
          </a:xfrm>
          <a:custGeom>
            <a:avLst/>
            <a:gdLst/>
            <a:ahLst/>
            <a:cxnLst/>
            <a:rect r="r" b="b" t="t" l="l"/>
            <a:pathLst>
              <a:path h="1247315" w="1077227">
                <a:moveTo>
                  <a:pt x="0" y="0"/>
                </a:moveTo>
                <a:lnTo>
                  <a:pt x="1077227" y="0"/>
                </a:lnTo>
                <a:lnTo>
                  <a:pt x="1077227" y="1247315"/>
                </a:lnTo>
                <a:lnTo>
                  <a:pt x="0" y="12473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7" id="7"/>
          <p:cNvGrpSpPr/>
          <p:nvPr/>
        </p:nvGrpSpPr>
        <p:grpSpPr>
          <a:xfrm rot="0">
            <a:off x="15573718" y="7940477"/>
            <a:ext cx="4693046" cy="469304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10" id="10"/>
          <p:cNvSpPr/>
          <p:nvPr/>
        </p:nvSpPr>
        <p:spPr>
          <a:xfrm>
            <a:off x="5938890" y="4181637"/>
            <a:ext cx="0" cy="4410340"/>
          </a:xfrm>
          <a:prstGeom prst="line">
            <a:avLst/>
          </a:prstGeom>
          <a:ln cap="flat" w="38100">
            <a:solidFill>
              <a:srgbClr val="145DA0"/>
            </a:solidFill>
            <a:prstDash val="solid"/>
            <a:headEnd type="none" len="sm" w="sm"/>
            <a:tailEnd type="none" len="sm" w="sm"/>
          </a:ln>
        </p:spPr>
      </p:sp>
      <p:sp>
        <p:nvSpPr>
          <p:cNvPr name="Freeform 11" id="11"/>
          <p:cNvSpPr/>
          <p:nvPr/>
        </p:nvSpPr>
        <p:spPr>
          <a:xfrm flipH="false" flipV="false" rot="0">
            <a:off x="7962903" y="4062722"/>
            <a:ext cx="1274501" cy="1485145"/>
          </a:xfrm>
          <a:custGeom>
            <a:avLst/>
            <a:gdLst/>
            <a:ahLst/>
            <a:cxnLst/>
            <a:rect r="r" b="b" t="t" l="l"/>
            <a:pathLst>
              <a:path h="1485145" w="1274501">
                <a:moveTo>
                  <a:pt x="0" y="0"/>
                </a:moveTo>
                <a:lnTo>
                  <a:pt x="1274501" y="0"/>
                </a:lnTo>
                <a:lnTo>
                  <a:pt x="1274501" y="1485145"/>
                </a:lnTo>
                <a:lnTo>
                  <a:pt x="0" y="1485145"/>
                </a:lnTo>
                <a:lnTo>
                  <a:pt x="0" y="0"/>
                </a:lnTo>
                <a:close/>
              </a:path>
            </a:pathLst>
          </a:custGeom>
          <a:blipFill>
            <a:blip r:embed="rId5"/>
            <a:stretch>
              <a:fillRect l="0" t="0" r="0" b="0"/>
            </a:stretch>
          </a:blipFill>
        </p:spPr>
      </p:sp>
      <p:sp>
        <p:nvSpPr>
          <p:cNvPr name="TextBox 12" id="12"/>
          <p:cNvSpPr txBox="true"/>
          <p:nvPr/>
        </p:nvSpPr>
        <p:spPr>
          <a:xfrm rot="0">
            <a:off x="624663" y="432658"/>
            <a:ext cx="12131852" cy="1126591"/>
          </a:xfrm>
          <a:prstGeom prst="rect">
            <a:avLst/>
          </a:prstGeom>
        </p:spPr>
        <p:txBody>
          <a:bodyPr anchor="t" rtlCol="false" tIns="0" lIns="0" bIns="0" rIns="0">
            <a:spAutoFit/>
          </a:bodyPr>
          <a:lstStyle/>
          <a:p>
            <a:pPr algn="l">
              <a:lnSpc>
                <a:spcPts val="9247"/>
              </a:lnSpc>
              <a:spcBef>
                <a:spcPct val="0"/>
              </a:spcBef>
            </a:pPr>
            <a:r>
              <a:rPr lang="en-US" sz="6605">
                <a:solidFill>
                  <a:srgbClr val="FDFDFD"/>
                </a:solidFill>
                <a:latin typeface="Open Sans Extra Bold"/>
                <a:ea typeface="Open Sans Extra Bold"/>
                <a:cs typeface="Open Sans Extra Bold"/>
                <a:sym typeface="Open Sans Extra Bold"/>
              </a:rPr>
              <a:t>Limitation of random forest</a:t>
            </a:r>
          </a:p>
        </p:txBody>
      </p:sp>
      <p:sp>
        <p:nvSpPr>
          <p:cNvPr name="TextBox 13" id="13"/>
          <p:cNvSpPr txBox="true"/>
          <p:nvPr/>
        </p:nvSpPr>
        <p:spPr>
          <a:xfrm rot="0">
            <a:off x="1028700" y="1867690"/>
            <a:ext cx="12104005" cy="1636698"/>
          </a:xfrm>
          <a:prstGeom prst="rect">
            <a:avLst/>
          </a:prstGeom>
        </p:spPr>
        <p:txBody>
          <a:bodyPr anchor="t" rtlCol="false" tIns="0" lIns="0" bIns="0" rIns="0">
            <a:spAutoFit/>
          </a:bodyPr>
          <a:lstStyle/>
          <a:p>
            <a:pPr algn="l">
              <a:lnSpc>
                <a:spcPts val="3238"/>
              </a:lnSpc>
            </a:pPr>
            <a:r>
              <a:rPr lang="en-US" b="true" sz="2313" spc="-46">
                <a:solidFill>
                  <a:srgbClr val="FDFDFD"/>
                </a:solidFill>
                <a:latin typeface="Poppins Bold"/>
                <a:ea typeface="Poppins Bold"/>
                <a:cs typeface="Poppins Bold"/>
                <a:sym typeface="Poppins Bold"/>
              </a:rPr>
              <a:t>Random Forest</a:t>
            </a:r>
            <a:r>
              <a:rPr lang="en-US" sz="2313" spc="-46">
                <a:solidFill>
                  <a:srgbClr val="FDFDFD"/>
                </a:solidFill>
                <a:latin typeface="Poppins"/>
                <a:ea typeface="Poppins"/>
                <a:cs typeface="Poppins"/>
                <a:sym typeface="Poppins"/>
              </a:rPr>
              <a:t> is powerful but </a:t>
            </a:r>
            <a:r>
              <a:rPr lang="en-US" b="true" sz="2313" spc="-46">
                <a:solidFill>
                  <a:srgbClr val="FDFDFD"/>
                </a:solidFill>
                <a:latin typeface="Poppins Bold"/>
                <a:ea typeface="Poppins Bold"/>
                <a:cs typeface="Poppins Bold"/>
                <a:sym typeface="Poppins Bold"/>
              </a:rPr>
              <a:t>resource-intensive</a:t>
            </a:r>
            <a:r>
              <a:rPr lang="en-US" sz="2313" spc="-46">
                <a:solidFill>
                  <a:srgbClr val="FDFDFD"/>
                </a:solidFill>
                <a:latin typeface="Poppins"/>
                <a:ea typeface="Poppins"/>
                <a:cs typeface="Poppins"/>
                <a:sym typeface="Poppins"/>
              </a:rPr>
              <a:t>, requiring significant </a:t>
            </a:r>
            <a:r>
              <a:rPr lang="en-US" b="true" sz="2313" spc="-46">
                <a:solidFill>
                  <a:srgbClr val="FDFDFD"/>
                </a:solidFill>
                <a:latin typeface="Poppins Bold"/>
                <a:ea typeface="Poppins Bold"/>
                <a:cs typeface="Poppins Bold"/>
                <a:sym typeface="Poppins Bold"/>
              </a:rPr>
              <a:t>memory</a:t>
            </a:r>
            <a:r>
              <a:rPr lang="en-US" sz="2313" spc="-46">
                <a:solidFill>
                  <a:srgbClr val="FDFDFD"/>
                </a:solidFill>
                <a:latin typeface="Poppins"/>
                <a:ea typeface="Poppins"/>
                <a:cs typeface="Poppins"/>
                <a:sym typeface="Poppins"/>
              </a:rPr>
              <a:t> and </a:t>
            </a:r>
            <a:r>
              <a:rPr lang="en-US" b="true" sz="2313" spc="-46">
                <a:solidFill>
                  <a:srgbClr val="FDFDFD"/>
                </a:solidFill>
                <a:latin typeface="Poppins Bold"/>
                <a:ea typeface="Poppins Bold"/>
                <a:cs typeface="Poppins Bold"/>
                <a:sym typeface="Poppins Bold"/>
              </a:rPr>
              <a:t>processing power</a:t>
            </a:r>
            <a:r>
              <a:rPr lang="en-US" sz="2313" spc="-46">
                <a:solidFill>
                  <a:srgbClr val="FDFDFD"/>
                </a:solidFill>
                <a:latin typeface="Poppins"/>
                <a:ea typeface="Poppins"/>
                <a:cs typeface="Poppins"/>
                <a:sym typeface="Poppins"/>
              </a:rPr>
              <a:t>, especially with </a:t>
            </a:r>
            <a:r>
              <a:rPr lang="en-US" b="true" sz="2313" spc="-46">
                <a:solidFill>
                  <a:srgbClr val="FDFDFD"/>
                </a:solidFill>
                <a:latin typeface="Poppins Bold"/>
                <a:ea typeface="Poppins Bold"/>
                <a:cs typeface="Poppins Bold"/>
                <a:sym typeface="Poppins Bold"/>
              </a:rPr>
              <a:t>large datasets</a:t>
            </a:r>
            <a:r>
              <a:rPr lang="en-US" sz="2313" spc="-46">
                <a:solidFill>
                  <a:srgbClr val="FDFDFD"/>
                </a:solidFill>
                <a:latin typeface="Poppins"/>
                <a:ea typeface="Poppins"/>
                <a:cs typeface="Poppins"/>
                <a:sym typeface="Poppins"/>
              </a:rPr>
              <a:t>. Its complex </a:t>
            </a:r>
            <a:r>
              <a:rPr lang="en-US" b="true" sz="2313" spc="-46">
                <a:solidFill>
                  <a:srgbClr val="FDFDFD"/>
                </a:solidFill>
                <a:latin typeface="Poppins Bold"/>
                <a:ea typeface="Poppins Bold"/>
                <a:cs typeface="Poppins Bold"/>
                <a:sym typeface="Poppins Bold"/>
              </a:rPr>
              <a:t>ensemble of trees</a:t>
            </a:r>
            <a:r>
              <a:rPr lang="en-US" sz="2313" spc="-46">
                <a:solidFill>
                  <a:srgbClr val="FDFDFD"/>
                </a:solidFill>
                <a:latin typeface="Poppins"/>
                <a:ea typeface="Poppins"/>
                <a:cs typeface="Poppins"/>
                <a:sym typeface="Poppins"/>
              </a:rPr>
              <a:t> limits </a:t>
            </a:r>
            <a:r>
              <a:rPr lang="en-US" b="true" sz="2313" spc="-46">
                <a:solidFill>
                  <a:srgbClr val="FDFDFD"/>
                </a:solidFill>
                <a:latin typeface="Poppins Bold"/>
                <a:ea typeface="Poppins Bold"/>
                <a:cs typeface="Poppins Bold"/>
                <a:sym typeface="Poppins Bold"/>
              </a:rPr>
              <a:t>interpretability</a:t>
            </a:r>
            <a:r>
              <a:rPr lang="en-US" sz="2313" spc="-46">
                <a:solidFill>
                  <a:srgbClr val="FDFDFD"/>
                </a:solidFill>
                <a:latin typeface="Poppins"/>
                <a:ea typeface="Poppins"/>
                <a:cs typeface="Poppins"/>
                <a:sym typeface="Poppins"/>
              </a:rPr>
              <a:t>, making it hard to understand </a:t>
            </a:r>
            <a:r>
              <a:rPr lang="en-US" b="true" sz="2313" spc="-46">
                <a:solidFill>
                  <a:srgbClr val="FDFDFD"/>
                </a:solidFill>
                <a:latin typeface="Poppins Bold"/>
                <a:ea typeface="Poppins Bold"/>
                <a:cs typeface="Poppins Bold"/>
                <a:sym typeface="Poppins Bold"/>
              </a:rPr>
              <a:t>individual predictions</a:t>
            </a:r>
            <a:r>
              <a:rPr lang="en-US" sz="2313" spc="-46">
                <a:solidFill>
                  <a:srgbClr val="FDFDFD"/>
                </a:solidFill>
                <a:latin typeface="Poppins"/>
                <a:ea typeface="Poppins"/>
                <a:cs typeface="Poppins"/>
                <a:sym typeface="Poppins"/>
              </a:rPr>
              <a:t> compared to simpler models.</a:t>
            </a:r>
          </a:p>
        </p:txBody>
      </p:sp>
      <p:sp>
        <p:nvSpPr>
          <p:cNvPr name="TextBox 14" id="14"/>
          <p:cNvSpPr txBox="true"/>
          <p:nvPr/>
        </p:nvSpPr>
        <p:spPr>
          <a:xfrm rot="0">
            <a:off x="1415156" y="6584570"/>
            <a:ext cx="4161784" cy="1713610"/>
          </a:xfrm>
          <a:prstGeom prst="rect">
            <a:avLst/>
          </a:prstGeom>
        </p:spPr>
        <p:txBody>
          <a:bodyPr anchor="t" rtlCol="false" tIns="0" lIns="0" bIns="0" rIns="0">
            <a:spAutoFit/>
          </a:bodyPr>
          <a:lstStyle/>
          <a:p>
            <a:pPr algn="ctr" marL="426146" indent="-213073" lvl="1">
              <a:lnSpc>
                <a:spcPts val="2763"/>
              </a:lnSpc>
              <a:buFont typeface="Arial"/>
              <a:buChar char="•"/>
            </a:pPr>
            <a:r>
              <a:rPr lang="en-US" sz="1973" spc="-39">
                <a:solidFill>
                  <a:srgbClr val="145DA0"/>
                </a:solidFill>
                <a:latin typeface="Poppins"/>
                <a:ea typeface="Poppins"/>
                <a:cs typeface="Poppins"/>
                <a:sym typeface="Poppins"/>
              </a:rPr>
              <a:t>High Memory usage and slower training time</a:t>
            </a:r>
          </a:p>
          <a:p>
            <a:pPr algn="ctr">
              <a:lnSpc>
                <a:spcPts val="2763"/>
              </a:lnSpc>
            </a:pPr>
          </a:p>
          <a:p>
            <a:pPr algn="ctr" marL="426146" indent="-213073" lvl="1">
              <a:lnSpc>
                <a:spcPts val="2763"/>
              </a:lnSpc>
              <a:buFont typeface="Arial"/>
              <a:buChar char="•"/>
            </a:pPr>
            <a:r>
              <a:rPr lang="en-US" sz="1973" spc="-39">
                <a:solidFill>
                  <a:srgbClr val="145DA0"/>
                </a:solidFill>
                <a:latin typeface="Poppins"/>
                <a:ea typeface="Poppins"/>
                <a:cs typeface="Poppins"/>
                <a:sym typeface="Poppins"/>
              </a:rPr>
              <a:t>Resource-intensive for large datasets</a:t>
            </a:r>
          </a:p>
        </p:txBody>
      </p:sp>
      <p:sp>
        <p:nvSpPr>
          <p:cNvPr name="TextBox 15" id="15"/>
          <p:cNvSpPr txBox="true"/>
          <p:nvPr/>
        </p:nvSpPr>
        <p:spPr>
          <a:xfrm rot="0">
            <a:off x="1693178" y="5435780"/>
            <a:ext cx="3701270" cy="941653"/>
          </a:xfrm>
          <a:prstGeom prst="rect">
            <a:avLst/>
          </a:prstGeom>
        </p:spPr>
        <p:txBody>
          <a:bodyPr anchor="t" rtlCol="false" tIns="0" lIns="0" bIns="0" rIns="0">
            <a:spAutoFit/>
          </a:bodyPr>
          <a:lstStyle/>
          <a:p>
            <a:pPr algn="ctr">
              <a:lnSpc>
                <a:spcPts val="3759"/>
              </a:lnSpc>
              <a:spcBef>
                <a:spcPct val="0"/>
              </a:spcBef>
            </a:pPr>
            <a:r>
              <a:rPr lang="en-US" sz="2685">
                <a:solidFill>
                  <a:srgbClr val="145DA0"/>
                </a:solidFill>
                <a:latin typeface="Open Sans Extra Bold"/>
                <a:ea typeface="Open Sans Extra Bold"/>
                <a:cs typeface="Open Sans Extra Bold"/>
                <a:sym typeface="Open Sans Extra Bold"/>
              </a:rPr>
              <a:t>High computational cost</a:t>
            </a:r>
          </a:p>
        </p:txBody>
      </p:sp>
      <p:sp>
        <p:nvSpPr>
          <p:cNvPr name="TextBox 16" id="16"/>
          <p:cNvSpPr txBox="true"/>
          <p:nvPr/>
        </p:nvSpPr>
        <p:spPr>
          <a:xfrm rot="0">
            <a:off x="6300840" y="6584570"/>
            <a:ext cx="4143560" cy="2064415"/>
          </a:xfrm>
          <a:prstGeom prst="rect">
            <a:avLst/>
          </a:prstGeom>
        </p:spPr>
        <p:txBody>
          <a:bodyPr anchor="t" rtlCol="false" tIns="0" lIns="0" bIns="0" rIns="0">
            <a:spAutoFit/>
          </a:bodyPr>
          <a:lstStyle/>
          <a:p>
            <a:pPr algn="ctr" marL="426146" indent="-213073" lvl="1">
              <a:lnSpc>
                <a:spcPts val="2763"/>
              </a:lnSpc>
              <a:buFont typeface="Arial"/>
              <a:buChar char="•"/>
            </a:pPr>
            <a:r>
              <a:rPr lang="en-US" sz="1973" spc="-39">
                <a:solidFill>
                  <a:srgbClr val="145DA0"/>
                </a:solidFill>
                <a:latin typeface="Poppins"/>
                <a:ea typeface="Poppins"/>
                <a:cs typeface="Poppins"/>
                <a:sym typeface="Poppins"/>
              </a:rPr>
              <a:t>C</a:t>
            </a:r>
            <a:r>
              <a:rPr lang="en-US" sz="1973" spc="-39" strike="noStrike" u="none">
                <a:solidFill>
                  <a:srgbClr val="145DA0"/>
                </a:solidFill>
                <a:latin typeface="Poppins"/>
                <a:ea typeface="Poppins"/>
                <a:cs typeface="Poppins"/>
                <a:sym typeface="Poppins"/>
              </a:rPr>
              <a:t>omplex ensemble of decision trees</a:t>
            </a:r>
          </a:p>
          <a:p>
            <a:pPr algn="ctr">
              <a:lnSpc>
                <a:spcPts val="2763"/>
              </a:lnSpc>
            </a:pPr>
          </a:p>
          <a:p>
            <a:pPr algn="ctr" marL="426146" indent="-213073" lvl="1">
              <a:lnSpc>
                <a:spcPts val="2763"/>
              </a:lnSpc>
              <a:buFont typeface="Arial"/>
              <a:buChar char="•"/>
            </a:pPr>
            <a:r>
              <a:rPr lang="en-US" sz="1973" spc="-39" strike="noStrike" u="none">
                <a:solidFill>
                  <a:srgbClr val="145DA0"/>
                </a:solidFill>
                <a:latin typeface="Poppins"/>
                <a:ea typeface="Poppins"/>
                <a:cs typeface="Poppins"/>
                <a:sym typeface="Poppins"/>
              </a:rPr>
              <a:t>Difficult to extract clear decision rules</a:t>
            </a:r>
          </a:p>
          <a:p>
            <a:pPr algn="just">
              <a:lnSpc>
                <a:spcPts val="2763"/>
              </a:lnSpc>
            </a:pPr>
          </a:p>
        </p:txBody>
      </p:sp>
      <p:sp>
        <p:nvSpPr>
          <p:cNvPr name="TextBox 17" id="17"/>
          <p:cNvSpPr txBox="true"/>
          <p:nvPr/>
        </p:nvSpPr>
        <p:spPr>
          <a:xfrm rot="0">
            <a:off x="6481815" y="5469888"/>
            <a:ext cx="4236676" cy="465294"/>
          </a:xfrm>
          <a:prstGeom prst="rect">
            <a:avLst/>
          </a:prstGeom>
        </p:spPr>
        <p:txBody>
          <a:bodyPr anchor="t" rtlCol="false" tIns="0" lIns="0" bIns="0" rIns="0">
            <a:spAutoFit/>
          </a:bodyPr>
          <a:lstStyle/>
          <a:p>
            <a:pPr algn="ctr">
              <a:lnSpc>
                <a:spcPts val="3759"/>
              </a:lnSpc>
              <a:spcBef>
                <a:spcPct val="0"/>
              </a:spcBef>
            </a:pPr>
            <a:r>
              <a:rPr lang="en-US" sz="2685">
                <a:solidFill>
                  <a:srgbClr val="145DA0"/>
                </a:solidFill>
                <a:latin typeface="Open Sans Extra Bold"/>
                <a:ea typeface="Open Sans Extra Bold"/>
                <a:cs typeface="Open Sans Extra Bold"/>
                <a:sym typeface="Open Sans Extra Bold"/>
              </a:rPr>
              <a:t>Limited interpretability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1028700" y="2487623"/>
            <a:ext cx="4303141" cy="3117618"/>
            <a:chOff x="0" y="0"/>
            <a:chExt cx="1133338" cy="821101"/>
          </a:xfrm>
        </p:grpSpPr>
        <p:sp>
          <p:nvSpPr>
            <p:cNvPr name="Freeform 3" id="3"/>
            <p:cNvSpPr/>
            <p:nvPr/>
          </p:nvSpPr>
          <p:spPr>
            <a:xfrm flipH="false" flipV="false" rot="0">
              <a:off x="0" y="0"/>
              <a:ext cx="1133338" cy="821101"/>
            </a:xfrm>
            <a:custGeom>
              <a:avLst/>
              <a:gdLst/>
              <a:ahLst/>
              <a:cxnLst/>
              <a:rect r="r" b="b" t="t" l="l"/>
              <a:pathLst>
                <a:path h="821101" w="1133338">
                  <a:moveTo>
                    <a:pt x="30585" y="0"/>
                  </a:moveTo>
                  <a:lnTo>
                    <a:pt x="1102752" y="0"/>
                  </a:lnTo>
                  <a:cubicBezTo>
                    <a:pt x="1119644" y="0"/>
                    <a:pt x="1133338" y="13693"/>
                    <a:pt x="1133338" y="30585"/>
                  </a:cubicBezTo>
                  <a:lnTo>
                    <a:pt x="1133338" y="790516"/>
                  </a:lnTo>
                  <a:cubicBezTo>
                    <a:pt x="1133338" y="807408"/>
                    <a:pt x="1119644" y="821101"/>
                    <a:pt x="1102752" y="821101"/>
                  </a:cubicBezTo>
                  <a:lnTo>
                    <a:pt x="30585" y="821101"/>
                  </a:lnTo>
                  <a:cubicBezTo>
                    <a:pt x="13693" y="821101"/>
                    <a:pt x="0" y="807408"/>
                    <a:pt x="0" y="790516"/>
                  </a:cubicBezTo>
                  <a:lnTo>
                    <a:pt x="0" y="30585"/>
                  </a:lnTo>
                  <a:cubicBezTo>
                    <a:pt x="0" y="13693"/>
                    <a:pt x="13693" y="0"/>
                    <a:pt x="30585" y="0"/>
                  </a:cubicBezTo>
                  <a:close/>
                </a:path>
              </a:pathLst>
            </a:custGeom>
            <a:solidFill>
              <a:srgbClr val="FDFDFD"/>
            </a:solidFill>
          </p:spPr>
        </p:sp>
        <p:sp>
          <p:nvSpPr>
            <p:cNvPr name="TextBox 4" id="4"/>
            <p:cNvSpPr txBox="true"/>
            <p:nvPr/>
          </p:nvSpPr>
          <p:spPr>
            <a:xfrm>
              <a:off x="0" y="-38100"/>
              <a:ext cx="1133338" cy="85920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632490" y="2754597"/>
            <a:ext cx="4303141" cy="2850644"/>
            <a:chOff x="0" y="0"/>
            <a:chExt cx="1239479" cy="821101"/>
          </a:xfrm>
        </p:grpSpPr>
        <p:sp>
          <p:nvSpPr>
            <p:cNvPr name="Freeform 6" id="6"/>
            <p:cNvSpPr/>
            <p:nvPr/>
          </p:nvSpPr>
          <p:spPr>
            <a:xfrm flipH="false" flipV="false" rot="0">
              <a:off x="0" y="0"/>
              <a:ext cx="1239479" cy="821101"/>
            </a:xfrm>
            <a:custGeom>
              <a:avLst/>
              <a:gdLst/>
              <a:ahLst/>
              <a:cxnLst/>
              <a:rect r="r" b="b" t="t" l="l"/>
              <a:pathLst>
                <a:path h="821101" w="1239479">
                  <a:moveTo>
                    <a:pt x="30585" y="0"/>
                  </a:moveTo>
                  <a:lnTo>
                    <a:pt x="1208894" y="0"/>
                  </a:lnTo>
                  <a:cubicBezTo>
                    <a:pt x="1225786" y="0"/>
                    <a:pt x="1239479" y="13693"/>
                    <a:pt x="1239479" y="30585"/>
                  </a:cubicBezTo>
                  <a:lnTo>
                    <a:pt x="1239479" y="790516"/>
                  </a:lnTo>
                  <a:cubicBezTo>
                    <a:pt x="1239479" y="807408"/>
                    <a:pt x="1225786" y="821101"/>
                    <a:pt x="1208894" y="821101"/>
                  </a:cubicBezTo>
                  <a:lnTo>
                    <a:pt x="30585" y="821101"/>
                  </a:lnTo>
                  <a:cubicBezTo>
                    <a:pt x="13693" y="821101"/>
                    <a:pt x="0" y="807408"/>
                    <a:pt x="0" y="790516"/>
                  </a:cubicBezTo>
                  <a:lnTo>
                    <a:pt x="0" y="30585"/>
                  </a:lnTo>
                  <a:cubicBezTo>
                    <a:pt x="0" y="13693"/>
                    <a:pt x="13693" y="0"/>
                    <a:pt x="30585" y="0"/>
                  </a:cubicBezTo>
                  <a:close/>
                </a:path>
              </a:pathLst>
            </a:custGeom>
            <a:solidFill>
              <a:srgbClr val="FDFDFD"/>
            </a:solidFill>
          </p:spPr>
        </p:sp>
        <p:sp>
          <p:nvSpPr>
            <p:cNvPr name="TextBox 7" id="7"/>
            <p:cNvSpPr txBox="true"/>
            <p:nvPr/>
          </p:nvSpPr>
          <p:spPr>
            <a:xfrm>
              <a:off x="0" y="-38100"/>
              <a:ext cx="1239479" cy="859201"/>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6030432"/>
            <a:ext cx="4303141" cy="3796265"/>
          </a:xfrm>
          <a:custGeom>
            <a:avLst/>
            <a:gdLst/>
            <a:ahLst/>
            <a:cxnLst/>
            <a:rect r="r" b="b" t="t" l="l"/>
            <a:pathLst>
              <a:path h="3796265" w="4303141">
                <a:moveTo>
                  <a:pt x="0" y="0"/>
                </a:moveTo>
                <a:lnTo>
                  <a:pt x="4303141" y="0"/>
                </a:lnTo>
                <a:lnTo>
                  <a:pt x="4303141" y="3796264"/>
                </a:lnTo>
                <a:lnTo>
                  <a:pt x="0" y="3796264"/>
                </a:lnTo>
                <a:lnTo>
                  <a:pt x="0" y="0"/>
                </a:lnTo>
                <a:close/>
              </a:path>
            </a:pathLst>
          </a:custGeom>
          <a:blipFill>
            <a:blip r:embed="rId2"/>
            <a:stretch>
              <a:fillRect l="-409" t="-5931" r="-11161" b="-19070"/>
            </a:stretch>
          </a:blipFill>
        </p:spPr>
      </p:sp>
      <p:sp>
        <p:nvSpPr>
          <p:cNvPr name="Freeform 9" id="9"/>
          <p:cNvSpPr/>
          <p:nvPr/>
        </p:nvSpPr>
        <p:spPr>
          <a:xfrm flipH="false" flipV="false" rot="0">
            <a:off x="6632490" y="6030432"/>
            <a:ext cx="4303141" cy="3657670"/>
          </a:xfrm>
          <a:custGeom>
            <a:avLst/>
            <a:gdLst/>
            <a:ahLst/>
            <a:cxnLst/>
            <a:rect r="r" b="b" t="t" l="l"/>
            <a:pathLst>
              <a:path h="3657670" w="4303141">
                <a:moveTo>
                  <a:pt x="0" y="0"/>
                </a:moveTo>
                <a:lnTo>
                  <a:pt x="4303141" y="0"/>
                </a:lnTo>
                <a:lnTo>
                  <a:pt x="4303141" y="3657670"/>
                </a:lnTo>
                <a:lnTo>
                  <a:pt x="0" y="3657670"/>
                </a:lnTo>
                <a:lnTo>
                  <a:pt x="0" y="0"/>
                </a:lnTo>
                <a:close/>
              </a:path>
            </a:pathLst>
          </a:custGeom>
          <a:blipFill>
            <a:blip r:embed="rId3"/>
            <a:stretch>
              <a:fillRect l="0" t="0" r="0" b="0"/>
            </a:stretch>
          </a:blipFill>
        </p:spPr>
      </p:sp>
      <p:grpSp>
        <p:nvGrpSpPr>
          <p:cNvPr name="Group 10" id="10"/>
          <p:cNvGrpSpPr/>
          <p:nvPr/>
        </p:nvGrpSpPr>
        <p:grpSpPr>
          <a:xfrm rot="0">
            <a:off x="12726331" y="3439488"/>
            <a:ext cx="4167983" cy="4787915"/>
            <a:chOff x="0" y="0"/>
            <a:chExt cx="1200548" cy="1379114"/>
          </a:xfrm>
        </p:grpSpPr>
        <p:sp>
          <p:nvSpPr>
            <p:cNvPr name="Freeform 11" id="11"/>
            <p:cNvSpPr/>
            <p:nvPr/>
          </p:nvSpPr>
          <p:spPr>
            <a:xfrm flipH="false" flipV="false" rot="0">
              <a:off x="0" y="0"/>
              <a:ext cx="1200548" cy="1379114"/>
            </a:xfrm>
            <a:custGeom>
              <a:avLst/>
              <a:gdLst/>
              <a:ahLst/>
              <a:cxnLst/>
              <a:rect r="r" b="b" t="t" l="l"/>
              <a:pathLst>
                <a:path h="1379114" w="1200548">
                  <a:moveTo>
                    <a:pt x="31577" y="0"/>
                  </a:moveTo>
                  <a:lnTo>
                    <a:pt x="1168971" y="0"/>
                  </a:lnTo>
                  <a:cubicBezTo>
                    <a:pt x="1186411" y="0"/>
                    <a:pt x="1200548" y="14138"/>
                    <a:pt x="1200548" y="31577"/>
                  </a:cubicBezTo>
                  <a:lnTo>
                    <a:pt x="1200548" y="1347537"/>
                  </a:lnTo>
                  <a:cubicBezTo>
                    <a:pt x="1200548" y="1355911"/>
                    <a:pt x="1197221" y="1363943"/>
                    <a:pt x="1191299" y="1369865"/>
                  </a:cubicBezTo>
                  <a:cubicBezTo>
                    <a:pt x="1185377" y="1375787"/>
                    <a:pt x="1177346" y="1379114"/>
                    <a:pt x="1168971" y="1379114"/>
                  </a:cubicBezTo>
                  <a:lnTo>
                    <a:pt x="31577" y="1379114"/>
                  </a:lnTo>
                  <a:cubicBezTo>
                    <a:pt x="14138" y="1379114"/>
                    <a:pt x="0" y="1364976"/>
                    <a:pt x="0" y="1347537"/>
                  </a:cubicBezTo>
                  <a:lnTo>
                    <a:pt x="0" y="31577"/>
                  </a:lnTo>
                  <a:cubicBezTo>
                    <a:pt x="0" y="14138"/>
                    <a:pt x="14138" y="0"/>
                    <a:pt x="31577" y="0"/>
                  </a:cubicBezTo>
                  <a:close/>
                </a:path>
              </a:pathLst>
            </a:custGeom>
            <a:solidFill>
              <a:srgbClr val="FDFDFD"/>
            </a:solidFill>
          </p:spPr>
        </p:sp>
        <p:sp>
          <p:nvSpPr>
            <p:cNvPr name="TextBox 12" id="12"/>
            <p:cNvSpPr txBox="true"/>
            <p:nvPr/>
          </p:nvSpPr>
          <p:spPr>
            <a:xfrm>
              <a:off x="0" y="-38100"/>
              <a:ext cx="1200548" cy="1417214"/>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2492387" y="-11606"/>
            <a:ext cx="13303226" cy="2299203"/>
          </a:xfrm>
          <a:prstGeom prst="rect">
            <a:avLst/>
          </a:prstGeom>
        </p:spPr>
        <p:txBody>
          <a:bodyPr anchor="t" rtlCol="false" tIns="0" lIns="0" bIns="0" rIns="0">
            <a:spAutoFit/>
          </a:bodyPr>
          <a:lstStyle/>
          <a:p>
            <a:pPr algn="ctr">
              <a:lnSpc>
                <a:spcPts val="9247"/>
              </a:lnSpc>
              <a:spcBef>
                <a:spcPct val="0"/>
              </a:spcBef>
            </a:pPr>
            <a:r>
              <a:rPr lang="en-US" sz="6605">
                <a:solidFill>
                  <a:srgbClr val="FDFDFD"/>
                </a:solidFill>
                <a:latin typeface="Open Sans Extra Bold"/>
                <a:ea typeface="Open Sans Extra Bold"/>
                <a:cs typeface="Open Sans Extra Bold"/>
                <a:sym typeface="Open Sans Extra Bold"/>
              </a:rPr>
              <a:t>Comparisons with Other Algorithms</a:t>
            </a:r>
          </a:p>
        </p:txBody>
      </p:sp>
      <p:sp>
        <p:nvSpPr>
          <p:cNvPr name="TextBox 14" id="14"/>
          <p:cNvSpPr txBox="true"/>
          <p:nvPr/>
        </p:nvSpPr>
        <p:spPr>
          <a:xfrm rot="0">
            <a:off x="1028700" y="3778516"/>
            <a:ext cx="4161784" cy="2054929"/>
          </a:xfrm>
          <a:prstGeom prst="rect">
            <a:avLst/>
          </a:prstGeom>
        </p:spPr>
        <p:txBody>
          <a:bodyPr anchor="t" rtlCol="false" tIns="0" lIns="0" bIns="0" rIns="0">
            <a:spAutoFit/>
          </a:bodyPr>
          <a:lstStyle/>
          <a:p>
            <a:pPr algn="ctr" marL="426146" indent="-213073" lvl="1">
              <a:lnSpc>
                <a:spcPts val="2763"/>
              </a:lnSpc>
              <a:buFont typeface="Arial"/>
              <a:buChar char="•"/>
            </a:pPr>
            <a:r>
              <a:rPr lang="en-US" sz="1973" spc="-39">
                <a:solidFill>
                  <a:srgbClr val="145DA0"/>
                </a:solidFill>
                <a:latin typeface="Poppins"/>
                <a:ea typeface="Poppins"/>
                <a:cs typeface="Poppins"/>
                <a:sym typeface="Poppins"/>
              </a:rPr>
              <a:t>Effective in high-dimensional spaces</a:t>
            </a:r>
          </a:p>
          <a:p>
            <a:pPr algn="ctr">
              <a:lnSpc>
                <a:spcPts val="2763"/>
              </a:lnSpc>
            </a:pPr>
          </a:p>
          <a:p>
            <a:pPr algn="ctr" marL="426146" indent="-213073" lvl="1">
              <a:lnSpc>
                <a:spcPts val="2763"/>
              </a:lnSpc>
              <a:buFont typeface="Arial"/>
              <a:buChar char="•"/>
            </a:pPr>
            <a:r>
              <a:rPr lang="en-US" sz="1973" spc="-39">
                <a:solidFill>
                  <a:srgbClr val="145DA0"/>
                </a:solidFill>
                <a:latin typeface="Poppins"/>
                <a:ea typeface="Poppins"/>
                <a:cs typeface="Poppins"/>
                <a:sym typeface="Poppins"/>
              </a:rPr>
              <a:t>Better for complex decision boundaries</a:t>
            </a:r>
          </a:p>
          <a:p>
            <a:pPr algn="ctr">
              <a:lnSpc>
                <a:spcPts val="2763"/>
              </a:lnSpc>
            </a:pPr>
          </a:p>
        </p:txBody>
      </p:sp>
      <p:sp>
        <p:nvSpPr>
          <p:cNvPr name="TextBox 15" id="15"/>
          <p:cNvSpPr txBox="true"/>
          <p:nvPr/>
        </p:nvSpPr>
        <p:spPr>
          <a:xfrm rot="0">
            <a:off x="1306722" y="2629727"/>
            <a:ext cx="3701270" cy="941653"/>
          </a:xfrm>
          <a:prstGeom prst="rect">
            <a:avLst/>
          </a:prstGeom>
        </p:spPr>
        <p:txBody>
          <a:bodyPr anchor="t" rtlCol="false" tIns="0" lIns="0" bIns="0" rIns="0">
            <a:spAutoFit/>
          </a:bodyPr>
          <a:lstStyle/>
          <a:p>
            <a:pPr algn="ctr">
              <a:lnSpc>
                <a:spcPts val="3759"/>
              </a:lnSpc>
              <a:spcBef>
                <a:spcPct val="0"/>
              </a:spcBef>
            </a:pPr>
            <a:r>
              <a:rPr lang="en-US" sz="2685">
                <a:solidFill>
                  <a:srgbClr val="145DA0"/>
                </a:solidFill>
                <a:latin typeface="Open Sans Extra Bold"/>
                <a:ea typeface="Open Sans Extra Bold"/>
                <a:cs typeface="Open Sans Extra Bold"/>
                <a:sym typeface="Open Sans Extra Bold"/>
              </a:rPr>
              <a:t>Support Vector Machines (SVMs)</a:t>
            </a:r>
          </a:p>
        </p:txBody>
      </p:sp>
      <p:sp>
        <p:nvSpPr>
          <p:cNvPr name="TextBox 16" id="16"/>
          <p:cNvSpPr txBox="true"/>
          <p:nvPr/>
        </p:nvSpPr>
        <p:spPr>
          <a:xfrm rot="0">
            <a:off x="6799064" y="4026252"/>
            <a:ext cx="4040446" cy="1578989"/>
          </a:xfrm>
          <a:prstGeom prst="rect">
            <a:avLst/>
          </a:prstGeom>
        </p:spPr>
        <p:txBody>
          <a:bodyPr anchor="t" rtlCol="false" tIns="0" lIns="0" bIns="0" rIns="0">
            <a:spAutoFit/>
          </a:bodyPr>
          <a:lstStyle/>
          <a:p>
            <a:pPr algn="ctr" marL="389654" indent="-194827" lvl="1">
              <a:lnSpc>
                <a:spcPts val="2526"/>
              </a:lnSpc>
              <a:buFont typeface="Arial"/>
              <a:buChar char="•"/>
            </a:pPr>
            <a:r>
              <a:rPr lang="en-US" sz="1804" spc="-36">
                <a:solidFill>
                  <a:srgbClr val="145DA0"/>
                </a:solidFill>
                <a:latin typeface="Poppins"/>
                <a:ea typeface="Poppins"/>
                <a:cs typeface="Poppins"/>
                <a:sym typeface="Poppins"/>
              </a:rPr>
              <a:t>Often higher accuracy</a:t>
            </a:r>
          </a:p>
          <a:p>
            <a:pPr algn="ctr">
              <a:lnSpc>
                <a:spcPts val="2526"/>
              </a:lnSpc>
            </a:pPr>
          </a:p>
          <a:p>
            <a:pPr algn="ctr" marL="389654" indent="-194827" lvl="1">
              <a:lnSpc>
                <a:spcPts val="2526"/>
              </a:lnSpc>
              <a:buFont typeface="Arial"/>
              <a:buChar char="•"/>
            </a:pPr>
            <a:r>
              <a:rPr lang="en-US" sz="1804" spc="-36" strike="noStrike" u="none">
                <a:solidFill>
                  <a:srgbClr val="145DA0"/>
                </a:solidFill>
                <a:latin typeface="Poppins"/>
                <a:ea typeface="Poppins"/>
                <a:cs typeface="Poppins"/>
                <a:sym typeface="Poppins"/>
              </a:rPr>
              <a:t>Incrementally reduces errors, more sensitive to overfitting</a:t>
            </a:r>
          </a:p>
          <a:p>
            <a:pPr algn="just">
              <a:lnSpc>
                <a:spcPts val="2526"/>
              </a:lnSpc>
            </a:pPr>
          </a:p>
        </p:txBody>
      </p:sp>
      <p:sp>
        <p:nvSpPr>
          <p:cNvPr name="TextBox 17" id="17"/>
          <p:cNvSpPr txBox="true"/>
          <p:nvPr/>
        </p:nvSpPr>
        <p:spPr>
          <a:xfrm rot="0">
            <a:off x="6799064" y="3009543"/>
            <a:ext cx="3873873" cy="846860"/>
          </a:xfrm>
          <a:prstGeom prst="rect">
            <a:avLst/>
          </a:prstGeom>
        </p:spPr>
        <p:txBody>
          <a:bodyPr anchor="t" rtlCol="false" tIns="0" lIns="0" bIns="0" rIns="0">
            <a:spAutoFit/>
          </a:bodyPr>
          <a:lstStyle/>
          <a:p>
            <a:pPr algn="ctr">
              <a:lnSpc>
                <a:spcPts val="3437"/>
              </a:lnSpc>
              <a:spcBef>
                <a:spcPct val="0"/>
              </a:spcBef>
            </a:pPr>
            <a:r>
              <a:rPr lang="en-US" sz="2455">
                <a:solidFill>
                  <a:srgbClr val="145DA0"/>
                </a:solidFill>
                <a:latin typeface="Open Sans Extra Bold"/>
                <a:ea typeface="Open Sans Extra Bold"/>
                <a:cs typeface="Open Sans Extra Bold"/>
                <a:sym typeface="Open Sans Extra Bold"/>
              </a:rPr>
              <a:t>Gradient Boosting (e.g., XGBoost)</a:t>
            </a:r>
          </a:p>
        </p:txBody>
      </p:sp>
      <p:sp>
        <p:nvSpPr>
          <p:cNvPr name="TextBox 18" id="18"/>
          <p:cNvSpPr txBox="true"/>
          <p:nvPr/>
        </p:nvSpPr>
        <p:spPr>
          <a:xfrm rot="0">
            <a:off x="13059708" y="3590112"/>
            <a:ext cx="3796024" cy="4342765"/>
          </a:xfrm>
          <a:prstGeom prst="rect">
            <a:avLst/>
          </a:prstGeom>
        </p:spPr>
        <p:txBody>
          <a:bodyPr anchor="t" rtlCol="false" tIns="0" lIns="0" bIns="0" rIns="0">
            <a:spAutoFit/>
          </a:bodyPr>
          <a:lstStyle/>
          <a:p>
            <a:pPr algn="ctr">
              <a:lnSpc>
                <a:spcPts val="2659"/>
              </a:lnSpc>
              <a:spcBef>
                <a:spcPct val="0"/>
              </a:spcBef>
            </a:pPr>
            <a:r>
              <a:rPr lang="en-US" sz="1899">
                <a:solidFill>
                  <a:srgbClr val="145DA0"/>
                </a:solidFill>
                <a:latin typeface="Poppins"/>
                <a:ea typeface="Poppins"/>
                <a:cs typeface="Poppins"/>
                <a:sym typeface="Poppins"/>
              </a:rPr>
              <a:t>In comparison to other algorithms, Random Forest may not always be the best choice. Support Vector Machines excel in high-dimensional spaces or with complex decision boundaries, while Gradient Boosting algorithms like XGBoost often provide better accuracy and precision, though they require complex tuning and are more sensitive to overfitting.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47242" y="242294"/>
            <a:ext cx="17793515" cy="9802411"/>
            <a:chOff x="0" y="0"/>
            <a:chExt cx="4982580" cy="2744893"/>
          </a:xfrm>
        </p:grpSpPr>
        <p:sp>
          <p:nvSpPr>
            <p:cNvPr name="Freeform 3" id="3"/>
            <p:cNvSpPr/>
            <p:nvPr/>
          </p:nvSpPr>
          <p:spPr>
            <a:xfrm flipH="false" flipV="false" rot="0">
              <a:off x="0" y="0"/>
              <a:ext cx="4982580" cy="2744893"/>
            </a:xfrm>
            <a:custGeom>
              <a:avLst/>
              <a:gdLst/>
              <a:ahLst/>
              <a:cxnLst/>
              <a:rect r="r" b="b" t="t" l="l"/>
              <a:pathLst>
                <a:path h="2744893" w="4982580">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sp>
        <p:sp>
          <p:nvSpPr>
            <p:cNvPr name="TextBox 4" id="4"/>
            <p:cNvSpPr txBox="true"/>
            <p:nvPr/>
          </p:nvSpPr>
          <p:spPr>
            <a:xfrm>
              <a:off x="0" y="-38100"/>
              <a:ext cx="4982580" cy="278299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297323" y="8211194"/>
            <a:ext cx="4154377" cy="582587"/>
          </a:xfrm>
          <a:custGeom>
            <a:avLst/>
            <a:gdLst/>
            <a:ahLst/>
            <a:cxnLst/>
            <a:rect r="r" b="b" t="t" l="l"/>
            <a:pathLst>
              <a:path h="582587" w="4154377">
                <a:moveTo>
                  <a:pt x="0" y="0"/>
                </a:moveTo>
                <a:lnTo>
                  <a:pt x="4154377" y="0"/>
                </a:lnTo>
                <a:lnTo>
                  <a:pt x="4154377" y="582587"/>
                </a:lnTo>
                <a:lnTo>
                  <a:pt x="0" y="582587"/>
                </a:lnTo>
                <a:lnTo>
                  <a:pt x="0" y="0"/>
                </a:lnTo>
                <a:close/>
              </a:path>
            </a:pathLst>
          </a:custGeom>
          <a:blipFill>
            <a:blip r:embed="rId2"/>
            <a:stretch>
              <a:fillRect l="0" t="-40835" r="0" b="0"/>
            </a:stretch>
          </a:blipFill>
        </p:spPr>
      </p:sp>
      <p:grpSp>
        <p:nvGrpSpPr>
          <p:cNvPr name="Group 6" id="6"/>
          <p:cNvGrpSpPr/>
          <p:nvPr/>
        </p:nvGrpSpPr>
        <p:grpSpPr>
          <a:xfrm rot="0">
            <a:off x="2272544" y="2466355"/>
            <a:ext cx="4203375" cy="5973865"/>
            <a:chOff x="0" y="0"/>
            <a:chExt cx="1416547" cy="2013207"/>
          </a:xfrm>
        </p:grpSpPr>
        <p:sp>
          <p:nvSpPr>
            <p:cNvPr name="Freeform 7" id="7"/>
            <p:cNvSpPr/>
            <p:nvPr/>
          </p:nvSpPr>
          <p:spPr>
            <a:xfrm flipH="false" flipV="false" rot="0">
              <a:off x="0" y="0"/>
              <a:ext cx="1416547" cy="2013207"/>
            </a:xfrm>
            <a:custGeom>
              <a:avLst/>
              <a:gdLst/>
              <a:ahLst/>
              <a:cxnLst/>
              <a:rect r="r" b="b" t="t" l="l"/>
              <a:pathLst>
                <a:path h="2013207" w="141654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8" id="8"/>
            <p:cNvSpPr txBox="true"/>
            <p:nvPr/>
          </p:nvSpPr>
          <p:spPr>
            <a:xfrm>
              <a:off x="0" y="-38100"/>
              <a:ext cx="1416547" cy="20513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9" id="9"/>
          <p:cNvSpPr/>
          <p:nvPr/>
        </p:nvSpPr>
        <p:spPr>
          <a:xfrm>
            <a:off x="2297323" y="5227111"/>
            <a:ext cx="4154377" cy="0"/>
          </a:xfrm>
          <a:prstGeom prst="line">
            <a:avLst/>
          </a:prstGeom>
          <a:ln cap="flat" w="38100">
            <a:solidFill>
              <a:srgbClr val="145DA0"/>
            </a:solidFill>
            <a:prstDash val="solid"/>
            <a:headEnd type="none" len="sm" w="sm"/>
            <a:tailEnd type="none" len="sm" w="sm"/>
          </a:ln>
        </p:spPr>
      </p:sp>
      <p:sp>
        <p:nvSpPr>
          <p:cNvPr name="Freeform 10" id="10"/>
          <p:cNvSpPr/>
          <p:nvPr/>
        </p:nvSpPr>
        <p:spPr>
          <a:xfrm flipH="false" flipV="false" rot="0">
            <a:off x="7066494" y="8211194"/>
            <a:ext cx="4154377" cy="582587"/>
          </a:xfrm>
          <a:custGeom>
            <a:avLst/>
            <a:gdLst/>
            <a:ahLst/>
            <a:cxnLst/>
            <a:rect r="r" b="b" t="t" l="l"/>
            <a:pathLst>
              <a:path h="582587" w="4154377">
                <a:moveTo>
                  <a:pt x="0" y="0"/>
                </a:moveTo>
                <a:lnTo>
                  <a:pt x="4154377" y="0"/>
                </a:lnTo>
                <a:lnTo>
                  <a:pt x="4154377" y="582587"/>
                </a:lnTo>
                <a:lnTo>
                  <a:pt x="0" y="582587"/>
                </a:lnTo>
                <a:lnTo>
                  <a:pt x="0" y="0"/>
                </a:lnTo>
                <a:close/>
              </a:path>
            </a:pathLst>
          </a:custGeom>
          <a:blipFill>
            <a:blip r:embed="rId2"/>
            <a:stretch>
              <a:fillRect l="0" t="-40835" r="0" b="0"/>
            </a:stretch>
          </a:blipFill>
        </p:spPr>
      </p:sp>
      <p:grpSp>
        <p:nvGrpSpPr>
          <p:cNvPr name="Group 11" id="11"/>
          <p:cNvGrpSpPr/>
          <p:nvPr/>
        </p:nvGrpSpPr>
        <p:grpSpPr>
          <a:xfrm rot="0">
            <a:off x="7041715" y="2466355"/>
            <a:ext cx="4203375" cy="5973865"/>
            <a:chOff x="0" y="0"/>
            <a:chExt cx="1416547" cy="2013207"/>
          </a:xfrm>
        </p:grpSpPr>
        <p:sp>
          <p:nvSpPr>
            <p:cNvPr name="Freeform 12" id="12"/>
            <p:cNvSpPr/>
            <p:nvPr/>
          </p:nvSpPr>
          <p:spPr>
            <a:xfrm flipH="false" flipV="false" rot="0">
              <a:off x="0" y="0"/>
              <a:ext cx="1416547" cy="2013207"/>
            </a:xfrm>
            <a:custGeom>
              <a:avLst/>
              <a:gdLst/>
              <a:ahLst/>
              <a:cxnLst/>
              <a:rect r="r" b="b" t="t" l="l"/>
              <a:pathLst>
                <a:path h="2013207" w="141654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13" id="13"/>
            <p:cNvSpPr txBox="true"/>
            <p:nvPr/>
          </p:nvSpPr>
          <p:spPr>
            <a:xfrm>
              <a:off x="0" y="-38100"/>
              <a:ext cx="1416547" cy="20513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14" id="14"/>
          <p:cNvSpPr/>
          <p:nvPr/>
        </p:nvSpPr>
        <p:spPr>
          <a:xfrm>
            <a:off x="7066494" y="5227111"/>
            <a:ext cx="4154377" cy="0"/>
          </a:xfrm>
          <a:prstGeom prst="line">
            <a:avLst/>
          </a:prstGeom>
          <a:ln cap="flat" w="38100">
            <a:solidFill>
              <a:srgbClr val="145DA0"/>
            </a:solidFill>
            <a:prstDash val="solid"/>
            <a:headEnd type="none" len="sm" w="sm"/>
            <a:tailEnd type="none" len="sm" w="sm"/>
          </a:ln>
        </p:spPr>
      </p:sp>
      <p:sp>
        <p:nvSpPr>
          <p:cNvPr name="Freeform 15" id="15"/>
          <p:cNvSpPr/>
          <p:nvPr/>
        </p:nvSpPr>
        <p:spPr>
          <a:xfrm flipH="false" flipV="false" rot="0">
            <a:off x="11836861" y="8211194"/>
            <a:ext cx="4154377" cy="582587"/>
          </a:xfrm>
          <a:custGeom>
            <a:avLst/>
            <a:gdLst/>
            <a:ahLst/>
            <a:cxnLst/>
            <a:rect r="r" b="b" t="t" l="l"/>
            <a:pathLst>
              <a:path h="582587" w="4154377">
                <a:moveTo>
                  <a:pt x="0" y="0"/>
                </a:moveTo>
                <a:lnTo>
                  <a:pt x="4154377" y="0"/>
                </a:lnTo>
                <a:lnTo>
                  <a:pt x="4154377" y="582587"/>
                </a:lnTo>
                <a:lnTo>
                  <a:pt x="0" y="582587"/>
                </a:lnTo>
                <a:lnTo>
                  <a:pt x="0" y="0"/>
                </a:lnTo>
                <a:close/>
              </a:path>
            </a:pathLst>
          </a:custGeom>
          <a:blipFill>
            <a:blip r:embed="rId2"/>
            <a:stretch>
              <a:fillRect l="0" t="-40835" r="0" b="0"/>
            </a:stretch>
          </a:blipFill>
        </p:spPr>
      </p:sp>
      <p:grpSp>
        <p:nvGrpSpPr>
          <p:cNvPr name="Group 16" id="16"/>
          <p:cNvGrpSpPr/>
          <p:nvPr/>
        </p:nvGrpSpPr>
        <p:grpSpPr>
          <a:xfrm rot="0">
            <a:off x="11812082" y="2466355"/>
            <a:ext cx="4203375" cy="5973865"/>
            <a:chOff x="0" y="0"/>
            <a:chExt cx="1416547" cy="2013207"/>
          </a:xfrm>
        </p:grpSpPr>
        <p:sp>
          <p:nvSpPr>
            <p:cNvPr name="Freeform 17" id="17"/>
            <p:cNvSpPr/>
            <p:nvPr/>
          </p:nvSpPr>
          <p:spPr>
            <a:xfrm flipH="false" flipV="false" rot="0">
              <a:off x="0" y="0"/>
              <a:ext cx="1416547" cy="2013207"/>
            </a:xfrm>
            <a:custGeom>
              <a:avLst/>
              <a:gdLst/>
              <a:ahLst/>
              <a:cxnLst/>
              <a:rect r="r" b="b" t="t" l="l"/>
              <a:pathLst>
                <a:path h="2013207" w="141654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18" id="18"/>
            <p:cNvSpPr txBox="true"/>
            <p:nvPr/>
          </p:nvSpPr>
          <p:spPr>
            <a:xfrm>
              <a:off x="0" y="-38100"/>
              <a:ext cx="1416547" cy="20513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19" id="19"/>
          <p:cNvSpPr/>
          <p:nvPr/>
        </p:nvSpPr>
        <p:spPr>
          <a:xfrm>
            <a:off x="11836861" y="5227111"/>
            <a:ext cx="4154377" cy="0"/>
          </a:xfrm>
          <a:prstGeom prst="line">
            <a:avLst/>
          </a:prstGeom>
          <a:ln cap="flat" w="38100">
            <a:solidFill>
              <a:srgbClr val="145DA0"/>
            </a:solidFill>
            <a:prstDash val="solid"/>
            <a:headEnd type="none" len="sm" w="sm"/>
            <a:tailEnd type="none" len="sm" w="sm"/>
          </a:ln>
        </p:spPr>
      </p:sp>
      <p:sp>
        <p:nvSpPr>
          <p:cNvPr name="Freeform 20" id="20"/>
          <p:cNvSpPr/>
          <p:nvPr/>
        </p:nvSpPr>
        <p:spPr>
          <a:xfrm flipH="false" flipV="false" rot="0">
            <a:off x="3361816" y="2694003"/>
            <a:ext cx="1936620" cy="1835916"/>
          </a:xfrm>
          <a:custGeom>
            <a:avLst/>
            <a:gdLst/>
            <a:ahLst/>
            <a:cxnLst/>
            <a:rect r="r" b="b" t="t" l="l"/>
            <a:pathLst>
              <a:path h="1835916" w="1936620">
                <a:moveTo>
                  <a:pt x="0" y="0"/>
                </a:moveTo>
                <a:lnTo>
                  <a:pt x="1936620" y="0"/>
                </a:lnTo>
                <a:lnTo>
                  <a:pt x="1936620" y="1835916"/>
                </a:lnTo>
                <a:lnTo>
                  <a:pt x="0" y="1835916"/>
                </a:lnTo>
                <a:lnTo>
                  <a:pt x="0" y="0"/>
                </a:lnTo>
                <a:close/>
              </a:path>
            </a:pathLst>
          </a:custGeom>
          <a:blipFill>
            <a:blip r:embed="rId3"/>
            <a:stretch>
              <a:fillRect l="0" t="0" r="0" b="0"/>
            </a:stretch>
          </a:blipFill>
        </p:spPr>
      </p:sp>
      <p:sp>
        <p:nvSpPr>
          <p:cNvPr name="Freeform 21" id="21"/>
          <p:cNvSpPr/>
          <p:nvPr/>
        </p:nvSpPr>
        <p:spPr>
          <a:xfrm flipH="false" flipV="false" rot="0">
            <a:off x="8191384" y="2635444"/>
            <a:ext cx="1953034" cy="1953034"/>
          </a:xfrm>
          <a:custGeom>
            <a:avLst/>
            <a:gdLst/>
            <a:ahLst/>
            <a:cxnLst/>
            <a:rect r="r" b="b" t="t" l="l"/>
            <a:pathLst>
              <a:path h="1953034" w="1953034">
                <a:moveTo>
                  <a:pt x="0" y="0"/>
                </a:moveTo>
                <a:lnTo>
                  <a:pt x="1953034" y="0"/>
                </a:lnTo>
                <a:lnTo>
                  <a:pt x="1953034" y="1953034"/>
                </a:lnTo>
                <a:lnTo>
                  <a:pt x="0" y="1953034"/>
                </a:lnTo>
                <a:lnTo>
                  <a:pt x="0" y="0"/>
                </a:lnTo>
                <a:close/>
              </a:path>
            </a:pathLst>
          </a:custGeom>
          <a:blipFill>
            <a:blip r:embed="rId4"/>
            <a:stretch>
              <a:fillRect l="0" t="0" r="0" b="0"/>
            </a:stretch>
          </a:blipFill>
        </p:spPr>
      </p:sp>
      <p:sp>
        <p:nvSpPr>
          <p:cNvPr name="Freeform 22" id="22"/>
          <p:cNvSpPr/>
          <p:nvPr/>
        </p:nvSpPr>
        <p:spPr>
          <a:xfrm flipH="false" flipV="false" rot="0">
            <a:off x="12959589" y="2826528"/>
            <a:ext cx="2269028" cy="1570866"/>
          </a:xfrm>
          <a:custGeom>
            <a:avLst/>
            <a:gdLst/>
            <a:ahLst/>
            <a:cxnLst/>
            <a:rect r="r" b="b" t="t" l="l"/>
            <a:pathLst>
              <a:path h="1570866" w="2269028">
                <a:moveTo>
                  <a:pt x="0" y="0"/>
                </a:moveTo>
                <a:lnTo>
                  <a:pt x="2269029" y="0"/>
                </a:lnTo>
                <a:lnTo>
                  <a:pt x="2269029" y="1570866"/>
                </a:lnTo>
                <a:lnTo>
                  <a:pt x="0" y="1570866"/>
                </a:lnTo>
                <a:lnTo>
                  <a:pt x="0" y="0"/>
                </a:lnTo>
                <a:close/>
              </a:path>
            </a:pathLst>
          </a:custGeom>
          <a:blipFill>
            <a:blip r:embed="rId5"/>
            <a:stretch>
              <a:fillRect l="0" t="0" r="0" b="0"/>
            </a:stretch>
          </a:blipFill>
        </p:spPr>
      </p:sp>
      <p:sp>
        <p:nvSpPr>
          <p:cNvPr name="Freeform 23" id="23"/>
          <p:cNvSpPr/>
          <p:nvPr/>
        </p:nvSpPr>
        <p:spPr>
          <a:xfrm flipH="false" flipV="false" rot="0">
            <a:off x="13391387" y="2937089"/>
            <a:ext cx="474264" cy="488998"/>
          </a:xfrm>
          <a:custGeom>
            <a:avLst/>
            <a:gdLst/>
            <a:ahLst/>
            <a:cxnLst/>
            <a:rect r="r" b="b" t="t" l="l"/>
            <a:pathLst>
              <a:path h="488998" w="474264">
                <a:moveTo>
                  <a:pt x="0" y="0"/>
                </a:moveTo>
                <a:lnTo>
                  <a:pt x="474264" y="0"/>
                </a:lnTo>
                <a:lnTo>
                  <a:pt x="474264" y="488998"/>
                </a:lnTo>
                <a:lnTo>
                  <a:pt x="0" y="488998"/>
                </a:lnTo>
                <a:lnTo>
                  <a:pt x="0" y="0"/>
                </a:lnTo>
                <a:close/>
              </a:path>
            </a:pathLst>
          </a:custGeom>
          <a:blipFill>
            <a:blip r:embed="rId6"/>
            <a:stretch>
              <a:fillRect l="0" t="0" r="0" b="0"/>
            </a:stretch>
          </a:blipFill>
        </p:spPr>
      </p:sp>
      <p:sp>
        <p:nvSpPr>
          <p:cNvPr name="TextBox 24" id="24"/>
          <p:cNvSpPr txBox="true"/>
          <p:nvPr/>
        </p:nvSpPr>
        <p:spPr>
          <a:xfrm rot="0">
            <a:off x="4454890" y="561357"/>
            <a:ext cx="9889400" cy="1571623"/>
          </a:xfrm>
          <a:prstGeom prst="rect">
            <a:avLst/>
          </a:prstGeom>
        </p:spPr>
        <p:txBody>
          <a:bodyPr anchor="t" rtlCol="false" tIns="0" lIns="0" bIns="0" rIns="0">
            <a:spAutoFit/>
          </a:bodyPr>
          <a:lstStyle/>
          <a:p>
            <a:pPr algn="ctr" marL="0" indent="0" lvl="0">
              <a:lnSpc>
                <a:spcPts val="6300"/>
              </a:lnSpc>
              <a:spcBef>
                <a:spcPct val="0"/>
              </a:spcBef>
            </a:pPr>
            <a:r>
              <a:rPr lang="en-US" sz="4500">
                <a:solidFill>
                  <a:srgbClr val="051D40"/>
                </a:solidFill>
                <a:latin typeface="Open Sans Extra Bold"/>
                <a:ea typeface="Open Sans Extra Bold"/>
                <a:cs typeface="Open Sans Extra Bold"/>
                <a:sym typeface="Open Sans Extra Bold"/>
              </a:rPr>
              <a:t>Common AI Use Cases for Random Forest</a:t>
            </a:r>
          </a:p>
        </p:txBody>
      </p:sp>
      <p:sp>
        <p:nvSpPr>
          <p:cNvPr name="TextBox 25" id="25"/>
          <p:cNvSpPr txBox="true"/>
          <p:nvPr/>
        </p:nvSpPr>
        <p:spPr>
          <a:xfrm rot="0">
            <a:off x="2319880" y="5169961"/>
            <a:ext cx="4102709" cy="2840355"/>
          </a:xfrm>
          <a:prstGeom prst="rect">
            <a:avLst/>
          </a:prstGeom>
        </p:spPr>
        <p:txBody>
          <a:bodyPr anchor="t" rtlCol="false" tIns="0" lIns="0" bIns="0" rIns="0">
            <a:spAutoFit/>
          </a:bodyPr>
          <a:lstStyle/>
          <a:p>
            <a:pPr algn="ctr">
              <a:lnSpc>
                <a:spcPts val="2520"/>
              </a:lnSpc>
            </a:pPr>
          </a:p>
          <a:p>
            <a:pPr algn="ctr" marL="388620" indent="-194310" lvl="1">
              <a:lnSpc>
                <a:spcPts val="2520"/>
              </a:lnSpc>
              <a:buFont typeface="Arial"/>
              <a:buChar char="•"/>
            </a:pPr>
            <a:r>
              <a:rPr lang="en-US" sz="1800" spc="-36">
                <a:solidFill>
                  <a:srgbClr val="145DA0"/>
                </a:solidFill>
                <a:latin typeface="Poppins"/>
                <a:ea typeface="Poppins"/>
                <a:cs typeface="Poppins"/>
                <a:sym typeface="Poppins"/>
              </a:rPr>
              <a:t>Us</a:t>
            </a:r>
            <a:r>
              <a:rPr lang="en-US" sz="1800" spc="-36" strike="noStrike" u="none">
                <a:solidFill>
                  <a:srgbClr val="145DA0"/>
                </a:solidFill>
                <a:latin typeface="Poppins"/>
                <a:ea typeface="Poppins"/>
                <a:cs typeface="Poppins"/>
                <a:sym typeface="Poppins"/>
              </a:rPr>
              <a:t>ed in simpler classification tasks based on features like color and texture</a:t>
            </a:r>
          </a:p>
          <a:p>
            <a:pPr algn="ctr">
              <a:lnSpc>
                <a:spcPts val="2520"/>
              </a:lnSpc>
            </a:pPr>
          </a:p>
          <a:p>
            <a:pPr algn="ctr" marL="388620" indent="-194310" lvl="1">
              <a:lnSpc>
                <a:spcPts val="2520"/>
              </a:lnSpc>
              <a:buFont typeface="Arial"/>
              <a:buChar char="•"/>
            </a:pPr>
            <a:r>
              <a:rPr lang="en-US" sz="1800" spc="-36" strike="noStrike" u="none">
                <a:solidFill>
                  <a:srgbClr val="145DA0"/>
                </a:solidFill>
                <a:latin typeface="Poppins"/>
                <a:ea typeface="Poppins"/>
                <a:cs typeface="Poppins"/>
                <a:sym typeface="Poppins"/>
              </a:rPr>
              <a:t>Outperformed by deep learning in complex image analysis (e.g., CNNs for object detection)</a:t>
            </a:r>
          </a:p>
          <a:p>
            <a:pPr algn="ctr">
              <a:lnSpc>
                <a:spcPts val="2520"/>
              </a:lnSpc>
            </a:pPr>
          </a:p>
        </p:txBody>
      </p:sp>
      <p:sp>
        <p:nvSpPr>
          <p:cNvPr name="TextBox 26" id="26"/>
          <p:cNvSpPr txBox="true"/>
          <p:nvPr/>
        </p:nvSpPr>
        <p:spPr>
          <a:xfrm rot="0">
            <a:off x="2584630" y="4608025"/>
            <a:ext cx="3490991" cy="864877"/>
          </a:xfrm>
          <a:prstGeom prst="rect">
            <a:avLst/>
          </a:prstGeom>
        </p:spPr>
        <p:txBody>
          <a:bodyPr anchor="t" rtlCol="false" tIns="0" lIns="0" bIns="0" rIns="0">
            <a:spAutoFit/>
          </a:bodyPr>
          <a:lstStyle/>
          <a:p>
            <a:pPr algn="ctr">
              <a:lnSpc>
                <a:spcPts val="3406"/>
              </a:lnSpc>
            </a:pPr>
            <a:r>
              <a:rPr lang="en-US" sz="2433" b="true">
                <a:solidFill>
                  <a:srgbClr val="145DA0"/>
                </a:solidFill>
                <a:latin typeface="Poppins Bold"/>
                <a:ea typeface="Poppins Bold"/>
                <a:cs typeface="Poppins Bold"/>
                <a:sym typeface="Poppins Bold"/>
              </a:rPr>
              <a:t>Image Recognition</a:t>
            </a:r>
          </a:p>
          <a:p>
            <a:pPr algn="ctr">
              <a:lnSpc>
                <a:spcPts val="3406"/>
              </a:lnSpc>
              <a:spcBef>
                <a:spcPct val="0"/>
              </a:spcBef>
            </a:pPr>
          </a:p>
        </p:txBody>
      </p:sp>
      <p:sp>
        <p:nvSpPr>
          <p:cNvPr name="TextBox 27" id="27"/>
          <p:cNvSpPr txBox="true"/>
          <p:nvPr/>
        </p:nvSpPr>
        <p:spPr>
          <a:xfrm rot="0">
            <a:off x="7090713" y="5232024"/>
            <a:ext cx="4130158" cy="2211705"/>
          </a:xfrm>
          <a:prstGeom prst="rect">
            <a:avLst/>
          </a:prstGeom>
        </p:spPr>
        <p:txBody>
          <a:bodyPr anchor="t" rtlCol="false" tIns="0" lIns="0" bIns="0" rIns="0">
            <a:spAutoFit/>
          </a:bodyPr>
          <a:lstStyle/>
          <a:p>
            <a:pPr algn="ctr">
              <a:lnSpc>
                <a:spcPts val="2520"/>
              </a:lnSpc>
            </a:pPr>
          </a:p>
          <a:p>
            <a:pPr algn="ctr" marL="388620" indent="-194310" lvl="1">
              <a:lnSpc>
                <a:spcPts val="2520"/>
              </a:lnSpc>
              <a:buFont typeface="Arial"/>
              <a:buChar char="•"/>
            </a:pPr>
            <a:r>
              <a:rPr lang="en-US" sz="1800" spc="-36">
                <a:solidFill>
                  <a:srgbClr val="145DA0"/>
                </a:solidFill>
                <a:latin typeface="Poppins"/>
                <a:ea typeface="Poppins"/>
                <a:cs typeface="Poppins"/>
                <a:sym typeface="Poppins"/>
              </a:rPr>
              <a:t>Appli</a:t>
            </a:r>
            <a:r>
              <a:rPr lang="en-US" sz="1800" spc="-36" strike="noStrike" u="none">
                <a:solidFill>
                  <a:srgbClr val="145DA0"/>
                </a:solidFill>
                <a:latin typeface="Poppins"/>
                <a:ea typeface="Poppins"/>
                <a:cs typeface="Poppins"/>
                <a:sym typeface="Poppins"/>
              </a:rPr>
              <a:t>ed in tasks like spam detection and sentiment analysis</a:t>
            </a:r>
          </a:p>
          <a:p>
            <a:pPr algn="ctr">
              <a:lnSpc>
                <a:spcPts val="2520"/>
              </a:lnSpc>
            </a:pPr>
          </a:p>
          <a:p>
            <a:pPr algn="ctr" marL="388620" indent="-194310" lvl="1">
              <a:lnSpc>
                <a:spcPts val="2520"/>
              </a:lnSpc>
              <a:buFont typeface="Arial"/>
              <a:buChar char="•"/>
            </a:pPr>
            <a:r>
              <a:rPr lang="en-US" sz="1800" spc="-36" strike="noStrike" u="none">
                <a:solidFill>
                  <a:srgbClr val="145DA0"/>
                </a:solidFill>
                <a:latin typeface="Poppins"/>
                <a:ea typeface="Poppins"/>
                <a:cs typeface="Poppins"/>
                <a:sym typeface="Poppins"/>
              </a:rPr>
              <a:t>Struggles with deeper language understanding compared to RNNs and Transformer models</a:t>
            </a:r>
          </a:p>
        </p:txBody>
      </p:sp>
      <p:sp>
        <p:nvSpPr>
          <p:cNvPr name="TextBox 28" id="28"/>
          <p:cNvSpPr txBox="true"/>
          <p:nvPr/>
        </p:nvSpPr>
        <p:spPr>
          <a:xfrm rot="0">
            <a:off x="7398504" y="4331328"/>
            <a:ext cx="3490991" cy="864877"/>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Natural Language Processing (NLP)</a:t>
            </a:r>
          </a:p>
        </p:txBody>
      </p:sp>
      <p:sp>
        <p:nvSpPr>
          <p:cNvPr name="TextBox 29" id="29"/>
          <p:cNvSpPr txBox="true"/>
          <p:nvPr/>
        </p:nvSpPr>
        <p:spPr>
          <a:xfrm rot="0">
            <a:off x="11776073" y="5169961"/>
            <a:ext cx="4179156" cy="2840355"/>
          </a:xfrm>
          <a:prstGeom prst="rect">
            <a:avLst/>
          </a:prstGeom>
        </p:spPr>
        <p:txBody>
          <a:bodyPr anchor="t" rtlCol="false" tIns="0" lIns="0" bIns="0" rIns="0">
            <a:spAutoFit/>
          </a:bodyPr>
          <a:lstStyle/>
          <a:p>
            <a:pPr algn="ctr">
              <a:lnSpc>
                <a:spcPts val="2520"/>
              </a:lnSpc>
            </a:pPr>
          </a:p>
          <a:p>
            <a:pPr algn="ctr" marL="388620" indent="-194310" lvl="1">
              <a:lnSpc>
                <a:spcPts val="2520"/>
              </a:lnSpc>
              <a:buFont typeface="Arial"/>
              <a:buChar char="•"/>
            </a:pPr>
            <a:r>
              <a:rPr lang="en-US" sz="1800" spc="-36">
                <a:solidFill>
                  <a:srgbClr val="145DA0"/>
                </a:solidFill>
                <a:latin typeface="Poppins"/>
                <a:ea typeface="Poppins"/>
                <a:cs typeface="Poppins"/>
                <a:sym typeface="Poppins"/>
              </a:rPr>
              <a:t>Us</a:t>
            </a:r>
            <a:r>
              <a:rPr lang="en-US" sz="1800" spc="-36" strike="noStrike" u="none">
                <a:solidFill>
                  <a:srgbClr val="145DA0"/>
                </a:solidFill>
                <a:latin typeface="Poppins"/>
                <a:ea typeface="Poppins"/>
                <a:cs typeface="Poppins"/>
                <a:sym typeface="Poppins"/>
              </a:rPr>
              <a:t>eful in disease risk modeling (e.g., predicting heart disease, cancer outcomes)</a:t>
            </a:r>
          </a:p>
          <a:p>
            <a:pPr algn="ctr">
              <a:lnSpc>
                <a:spcPts val="2520"/>
              </a:lnSpc>
            </a:pPr>
          </a:p>
          <a:p>
            <a:pPr algn="ctr" marL="388620" indent="-194310" lvl="1">
              <a:lnSpc>
                <a:spcPts val="2520"/>
              </a:lnSpc>
              <a:buFont typeface="Arial"/>
              <a:buChar char="•"/>
            </a:pPr>
            <a:r>
              <a:rPr lang="en-US" sz="1800" spc="-36" strike="noStrike" u="none">
                <a:solidFill>
                  <a:srgbClr val="145DA0"/>
                </a:solidFill>
                <a:latin typeface="Poppins"/>
                <a:ea typeface="Poppins"/>
                <a:cs typeface="Poppins"/>
                <a:sym typeface="Poppins"/>
              </a:rPr>
              <a:t>Handles large, noisy datasets with many features (e.g., patient data, genetic information)</a:t>
            </a:r>
          </a:p>
          <a:p>
            <a:pPr algn="ctr">
              <a:lnSpc>
                <a:spcPts val="2520"/>
              </a:lnSpc>
            </a:pPr>
          </a:p>
        </p:txBody>
      </p:sp>
      <p:sp>
        <p:nvSpPr>
          <p:cNvPr name="TextBox 30" id="30"/>
          <p:cNvSpPr txBox="true"/>
          <p:nvPr/>
        </p:nvSpPr>
        <p:spPr>
          <a:xfrm rot="0">
            <a:off x="11968125" y="4608025"/>
            <a:ext cx="3891288" cy="864877"/>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Healthcare Predictions</a:t>
            </a:r>
          </a:p>
          <a:p>
            <a:pPr algn="ctr">
              <a:lnSpc>
                <a:spcPts val="3406"/>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874692"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007842"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159745" y="4468372"/>
            <a:ext cx="6033363" cy="2463572"/>
          </a:xfrm>
          <a:prstGeom prst="rect">
            <a:avLst/>
          </a:prstGeom>
        </p:spPr>
        <p:txBody>
          <a:bodyPr anchor="t" rtlCol="false" tIns="0" lIns="0" bIns="0" rIns="0">
            <a:spAutoFit/>
          </a:bodyPr>
          <a:lstStyle/>
          <a:p>
            <a:pPr algn="l" marL="0" indent="0" lvl="0">
              <a:lnSpc>
                <a:spcPts val="6553"/>
              </a:lnSpc>
              <a:spcBef>
                <a:spcPct val="0"/>
              </a:spcBef>
            </a:pPr>
            <a:r>
              <a:rPr lang="en-US" sz="4680">
                <a:solidFill>
                  <a:srgbClr val="FDFDFD"/>
                </a:solidFill>
                <a:latin typeface="Open Sans Extra Bold"/>
                <a:ea typeface="Open Sans Extra Bold"/>
                <a:cs typeface="Open Sans Extra Bold"/>
                <a:sym typeface="Open Sans Extra Bold"/>
              </a:rPr>
              <a:t>Comparison with Deep Learning Techniques</a:t>
            </a:r>
          </a:p>
        </p:txBody>
      </p:sp>
      <p:sp>
        <p:nvSpPr>
          <p:cNvPr name="Freeform 9" id="9"/>
          <p:cNvSpPr/>
          <p:nvPr/>
        </p:nvSpPr>
        <p:spPr>
          <a:xfrm flipH="false" flipV="false" rot="0">
            <a:off x="8738563" y="1267367"/>
            <a:ext cx="1676622" cy="1676622"/>
          </a:xfrm>
          <a:custGeom>
            <a:avLst/>
            <a:gdLst/>
            <a:ahLst/>
            <a:cxnLst/>
            <a:rect r="r" b="b" t="t" l="l"/>
            <a:pathLst>
              <a:path h="1676622" w="1676622">
                <a:moveTo>
                  <a:pt x="0" y="0"/>
                </a:moveTo>
                <a:lnTo>
                  <a:pt x="1676622" y="0"/>
                </a:lnTo>
                <a:lnTo>
                  <a:pt x="1676622" y="1676622"/>
                </a:lnTo>
                <a:lnTo>
                  <a:pt x="0" y="1676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0" id="10"/>
          <p:cNvSpPr txBox="true"/>
          <p:nvPr/>
        </p:nvSpPr>
        <p:spPr>
          <a:xfrm rot="0">
            <a:off x="10556554" y="1208378"/>
            <a:ext cx="7409533" cy="2353927"/>
          </a:xfrm>
          <a:prstGeom prst="rect">
            <a:avLst/>
          </a:prstGeom>
        </p:spPr>
        <p:txBody>
          <a:bodyPr anchor="t" rtlCol="false" tIns="0" lIns="0" bIns="0" rIns="0">
            <a:spAutoFit/>
          </a:bodyPr>
          <a:lstStyle/>
          <a:p>
            <a:pPr algn="l">
              <a:lnSpc>
                <a:spcPts val="3080"/>
              </a:lnSpc>
            </a:pPr>
            <a:r>
              <a:rPr lang="en-US" sz="2200" spc="-44" b="true">
                <a:solidFill>
                  <a:srgbClr val="145DA0"/>
                </a:solidFill>
                <a:latin typeface="Poppins Bold"/>
                <a:ea typeface="Poppins Bold"/>
                <a:cs typeface="Poppins Bold"/>
                <a:sym typeface="Poppins Bold"/>
              </a:rPr>
              <a:t>Training Time and Data Requirements</a:t>
            </a:r>
          </a:p>
          <a:p>
            <a:pPr algn="l" marL="367184" indent="-183592" lvl="1">
              <a:lnSpc>
                <a:spcPts val="2381"/>
              </a:lnSpc>
              <a:buFont typeface="Arial"/>
              <a:buChar char="•"/>
            </a:pPr>
            <a:r>
              <a:rPr lang="en-US" sz="1700" spc="-34">
                <a:solidFill>
                  <a:srgbClr val="145DA0"/>
                </a:solidFill>
                <a:latin typeface="Poppins"/>
                <a:ea typeface="Poppins"/>
                <a:cs typeface="Poppins"/>
                <a:sym typeface="Poppins"/>
              </a:rPr>
              <a:t>Random Forest is faster to train and works well with smaller datasets</a:t>
            </a:r>
          </a:p>
          <a:p>
            <a:pPr algn="l" marL="367184" indent="-183592" lvl="1">
              <a:lnSpc>
                <a:spcPts val="2381"/>
              </a:lnSpc>
              <a:buFont typeface="Arial"/>
              <a:buChar char="•"/>
            </a:pPr>
            <a:r>
              <a:rPr lang="en-US" sz="1700" spc="-34">
                <a:solidFill>
                  <a:srgbClr val="145DA0"/>
                </a:solidFill>
                <a:latin typeface="Poppins"/>
                <a:ea typeface="Poppins"/>
                <a:cs typeface="Poppins"/>
                <a:sym typeface="Poppins"/>
              </a:rPr>
              <a:t>Deep learning requires more data and computational resources but performs better on large-scale problems</a:t>
            </a:r>
          </a:p>
          <a:p>
            <a:pPr algn="l">
              <a:lnSpc>
                <a:spcPts val="3080"/>
              </a:lnSpc>
            </a:pPr>
          </a:p>
          <a:p>
            <a:pPr algn="l">
              <a:lnSpc>
                <a:spcPts val="3080"/>
              </a:lnSpc>
            </a:pPr>
          </a:p>
        </p:txBody>
      </p:sp>
      <p:sp>
        <p:nvSpPr>
          <p:cNvPr name="TextBox 11" id="11"/>
          <p:cNvSpPr txBox="true"/>
          <p:nvPr/>
        </p:nvSpPr>
        <p:spPr>
          <a:xfrm rot="0">
            <a:off x="8909324" y="1572078"/>
            <a:ext cx="1335100" cy="958747"/>
          </a:xfrm>
          <a:prstGeom prst="rect">
            <a:avLst/>
          </a:prstGeom>
        </p:spPr>
        <p:txBody>
          <a:bodyPr anchor="t" rtlCol="false" tIns="0" lIns="0" bIns="0" rIns="0">
            <a:spAutoFit/>
          </a:bodyPr>
          <a:lstStyle/>
          <a:p>
            <a:pPr algn="ctr" marL="0" indent="0" lvl="0">
              <a:lnSpc>
                <a:spcPts val="7884"/>
              </a:lnSpc>
              <a:spcBef>
                <a:spcPct val="0"/>
              </a:spcBef>
            </a:pPr>
            <a:r>
              <a:rPr lang="en-US" sz="5631">
                <a:solidFill>
                  <a:srgbClr val="FDFDFD"/>
                </a:solidFill>
                <a:latin typeface="Open Sans Extra Bold"/>
                <a:ea typeface="Open Sans Extra Bold"/>
                <a:cs typeface="Open Sans Extra Bold"/>
                <a:sym typeface="Open Sans Extra Bold"/>
              </a:rPr>
              <a:t>01</a:t>
            </a:r>
          </a:p>
        </p:txBody>
      </p:sp>
      <p:sp>
        <p:nvSpPr>
          <p:cNvPr name="Freeform 12" id="12"/>
          <p:cNvSpPr/>
          <p:nvPr/>
        </p:nvSpPr>
        <p:spPr>
          <a:xfrm flipH="false" flipV="false" rot="0">
            <a:off x="9256893" y="4258439"/>
            <a:ext cx="1676622" cy="1676622"/>
          </a:xfrm>
          <a:custGeom>
            <a:avLst/>
            <a:gdLst/>
            <a:ahLst/>
            <a:cxnLst/>
            <a:rect r="r" b="b" t="t" l="l"/>
            <a:pathLst>
              <a:path h="1676622" w="1676622">
                <a:moveTo>
                  <a:pt x="0" y="0"/>
                </a:moveTo>
                <a:lnTo>
                  <a:pt x="1676622" y="0"/>
                </a:lnTo>
                <a:lnTo>
                  <a:pt x="1676622" y="1676623"/>
                </a:lnTo>
                <a:lnTo>
                  <a:pt x="0" y="1676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3" id="13"/>
          <p:cNvSpPr txBox="true"/>
          <p:nvPr/>
        </p:nvSpPr>
        <p:spPr>
          <a:xfrm rot="0">
            <a:off x="9427654" y="4564989"/>
            <a:ext cx="1335100" cy="958747"/>
          </a:xfrm>
          <a:prstGeom prst="rect">
            <a:avLst/>
          </a:prstGeom>
        </p:spPr>
        <p:txBody>
          <a:bodyPr anchor="t" rtlCol="false" tIns="0" lIns="0" bIns="0" rIns="0">
            <a:spAutoFit/>
          </a:bodyPr>
          <a:lstStyle/>
          <a:p>
            <a:pPr algn="ctr" marL="0" indent="0" lvl="0">
              <a:lnSpc>
                <a:spcPts val="7884"/>
              </a:lnSpc>
              <a:spcBef>
                <a:spcPct val="0"/>
              </a:spcBef>
            </a:pPr>
            <a:r>
              <a:rPr lang="en-US" sz="5631">
                <a:solidFill>
                  <a:srgbClr val="FDFDFD"/>
                </a:solidFill>
                <a:latin typeface="Open Sans Extra Bold"/>
                <a:ea typeface="Open Sans Extra Bold"/>
                <a:cs typeface="Open Sans Extra Bold"/>
                <a:sym typeface="Open Sans Extra Bold"/>
              </a:rPr>
              <a:t>02</a:t>
            </a:r>
          </a:p>
        </p:txBody>
      </p:sp>
      <p:sp>
        <p:nvSpPr>
          <p:cNvPr name="Freeform 14" id="14"/>
          <p:cNvSpPr/>
          <p:nvPr/>
        </p:nvSpPr>
        <p:spPr>
          <a:xfrm flipH="false" flipV="false" rot="0">
            <a:off x="8738563" y="7249512"/>
            <a:ext cx="1676622" cy="1676622"/>
          </a:xfrm>
          <a:custGeom>
            <a:avLst/>
            <a:gdLst/>
            <a:ahLst/>
            <a:cxnLst/>
            <a:rect r="r" b="b" t="t" l="l"/>
            <a:pathLst>
              <a:path h="1676622" w="1676622">
                <a:moveTo>
                  <a:pt x="0" y="0"/>
                </a:moveTo>
                <a:lnTo>
                  <a:pt x="1676622" y="0"/>
                </a:lnTo>
                <a:lnTo>
                  <a:pt x="1676622" y="1676622"/>
                </a:lnTo>
                <a:lnTo>
                  <a:pt x="0" y="16766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5" id="15"/>
          <p:cNvSpPr txBox="true"/>
          <p:nvPr/>
        </p:nvSpPr>
        <p:spPr>
          <a:xfrm rot="0">
            <a:off x="8909324" y="7351681"/>
            <a:ext cx="1335100" cy="958747"/>
          </a:xfrm>
          <a:prstGeom prst="rect">
            <a:avLst/>
          </a:prstGeom>
        </p:spPr>
        <p:txBody>
          <a:bodyPr anchor="t" rtlCol="false" tIns="0" lIns="0" bIns="0" rIns="0">
            <a:spAutoFit/>
          </a:bodyPr>
          <a:lstStyle/>
          <a:p>
            <a:pPr algn="ctr" marL="0" indent="0" lvl="0">
              <a:lnSpc>
                <a:spcPts val="7884"/>
              </a:lnSpc>
              <a:spcBef>
                <a:spcPct val="0"/>
              </a:spcBef>
            </a:pPr>
            <a:r>
              <a:rPr lang="en-US" sz="5631">
                <a:solidFill>
                  <a:srgbClr val="FDFDFD"/>
                </a:solidFill>
                <a:latin typeface="Open Sans Extra Bold"/>
                <a:ea typeface="Open Sans Extra Bold"/>
                <a:cs typeface="Open Sans Extra Bold"/>
                <a:sym typeface="Open Sans Extra Bold"/>
              </a:rPr>
              <a:t>03</a:t>
            </a:r>
          </a:p>
        </p:txBody>
      </p:sp>
      <p:grpSp>
        <p:nvGrpSpPr>
          <p:cNvPr name="Group 16" id="16"/>
          <p:cNvGrpSpPr/>
          <p:nvPr/>
        </p:nvGrpSpPr>
        <p:grpSpPr>
          <a:xfrm rot="0">
            <a:off x="7500470" y="2100380"/>
            <a:ext cx="373607" cy="37360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18" id="18"/>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19" id="19"/>
          <p:cNvGrpSpPr/>
          <p:nvPr/>
        </p:nvGrpSpPr>
        <p:grpSpPr>
          <a:xfrm rot="0">
            <a:off x="8117306" y="4956696"/>
            <a:ext cx="373607" cy="37360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1" id="21"/>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22" id="22"/>
          <p:cNvGrpSpPr/>
          <p:nvPr/>
        </p:nvGrpSpPr>
        <p:grpSpPr>
          <a:xfrm rot="0">
            <a:off x="7500470" y="7936821"/>
            <a:ext cx="373607" cy="37360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4" id="24"/>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
        <p:nvSpPr>
          <p:cNvPr name="TextBox 25" id="25"/>
          <p:cNvSpPr txBox="true"/>
          <p:nvPr/>
        </p:nvSpPr>
        <p:spPr>
          <a:xfrm rot="0">
            <a:off x="11062485" y="4201289"/>
            <a:ext cx="6903603" cy="2649202"/>
          </a:xfrm>
          <a:prstGeom prst="rect">
            <a:avLst/>
          </a:prstGeom>
        </p:spPr>
        <p:txBody>
          <a:bodyPr anchor="t" rtlCol="false" tIns="0" lIns="0" bIns="0" rIns="0">
            <a:spAutoFit/>
          </a:bodyPr>
          <a:lstStyle/>
          <a:p>
            <a:pPr algn="l">
              <a:lnSpc>
                <a:spcPts val="3080"/>
              </a:lnSpc>
            </a:pPr>
            <a:r>
              <a:rPr lang="en-US" sz="2200" spc="-44" b="true">
                <a:solidFill>
                  <a:srgbClr val="145DA0"/>
                </a:solidFill>
                <a:latin typeface="Poppins Bold"/>
                <a:ea typeface="Poppins Bold"/>
                <a:cs typeface="Poppins Bold"/>
                <a:sym typeface="Poppins Bold"/>
              </a:rPr>
              <a:t>Model Complexity</a:t>
            </a:r>
          </a:p>
          <a:p>
            <a:pPr algn="l" marL="367184" indent="-183592" lvl="1">
              <a:lnSpc>
                <a:spcPts val="2381"/>
              </a:lnSpc>
              <a:buFont typeface="Arial"/>
              <a:buChar char="•"/>
            </a:pPr>
            <a:r>
              <a:rPr lang="en-US" sz="1700" spc="-34">
                <a:solidFill>
                  <a:srgbClr val="145DA0"/>
                </a:solidFill>
                <a:latin typeface="Poppins"/>
                <a:ea typeface="Poppins"/>
                <a:cs typeface="Poppins"/>
                <a:sym typeface="Poppins"/>
              </a:rPr>
              <a:t>Deep learning excels in finding complex patterns, especially in image and text data</a:t>
            </a:r>
          </a:p>
          <a:p>
            <a:pPr algn="l" marL="367184" indent="-183592" lvl="1">
              <a:lnSpc>
                <a:spcPts val="2381"/>
              </a:lnSpc>
              <a:buFont typeface="Arial"/>
              <a:buChar char="•"/>
            </a:pPr>
            <a:r>
              <a:rPr lang="en-US" sz="1700" spc="-34">
                <a:solidFill>
                  <a:srgbClr val="145DA0"/>
                </a:solidFill>
                <a:latin typeface="Poppins"/>
                <a:ea typeface="Poppins"/>
                <a:cs typeface="Poppins"/>
                <a:sym typeface="Poppins"/>
              </a:rPr>
              <a:t>Random Forest is easier to interpret but works best on structured data with clearer relationships</a:t>
            </a:r>
          </a:p>
          <a:p>
            <a:pPr algn="l">
              <a:lnSpc>
                <a:spcPts val="2381"/>
              </a:lnSpc>
            </a:pPr>
          </a:p>
          <a:p>
            <a:pPr algn="l">
              <a:lnSpc>
                <a:spcPts val="3080"/>
              </a:lnSpc>
            </a:pPr>
          </a:p>
          <a:p>
            <a:pPr algn="l">
              <a:lnSpc>
                <a:spcPts val="3080"/>
              </a:lnSpc>
            </a:pPr>
          </a:p>
        </p:txBody>
      </p:sp>
      <p:sp>
        <p:nvSpPr>
          <p:cNvPr name="TextBox 26" id="26"/>
          <p:cNvSpPr txBox="true"/>
          <p:nvPr/>
        </p:nvSpPr>
        <p:spPr>
          <a:xfrm rot="0">
            <a:off x="10571572" y="7192362"/>
            <a:ext cx="7394516" cy="2649202"/>
          </a:xfrm>
          <a:prstGeom prst="rect">
            <a:avLst/>
          </a:prstGeom>
        </p:spPr>
        <p:txBody>
          <a:bodyPr anchor="t" rtlCol="false" tIns="0" lIns="0" bIns="0" rIns="0">
            <a:spAutoFit/>
          </a:bodyPr>
          <a:lstStyle/>
          <a:p>
            <a:pPr algn="l">
              <a:lnSpc>
                <a:spcPts val="3080"/>
              </a:lnSpc>
            </a:pPr>
            <a:r>
              <a:rPr lang="en-US" sz="2200" spc="-44" b="true">
                <a:solidFill>
                  <a:srgbClr val="145DA0"/>
                </a:solidFill>
                <a:latin typeface="Poppins Bold"/>
                <a:ea typeface="Poppins Bold"/>
                <a:cs typeface="Poppins Bold"/>
                <a:sym typeface="Poppins Bold"/>
              </a:rPr>
              <a:t>Accuracy</a:t>
            </a:r>
          </a:p>
          <a:p>
            <a:pPr algn="l" marL="367184" indent="-183592" lvl="1">
              <a:lnSpc>
                <a:spcPts val="2381"/>
              </a:lnSpc>
              <a:buFont typeface="Arial"/>
              <a:buChar char="•"/>
            </a:pPr>
            <a:r>
              <a:rPr lang="en-US" sz="1700" spc="-34">
                <a:solidFill>
                  <a:srgbClr val="145DA0"/>
                </a:solidFill>
                <a:latin typeface="Poppins"/>
                <a:ea typeface="Poppins"/>
                <a:cs typeface="Poppins"/>
                <a:sym typeface="Poppins"/>
              </a:rPr>
              <a:t>Deep learning typically offers higher accuracy in tasks like image recognition and NLP</a:t>
            </a:r>
          </a:p>
          <a:p>
            <a:pPr algn="l" marL="367184" indent="-183592" lvl="1">
              <a:lnSpc>
                <a:spcPts val="2381"/>
              </a:lnSpc>
              <a:buFont typeface="Arial"/>
              <a:buChar char="•"/>
            </a:pPr>
            <a:r>
              <a:rPr lang="en-US" sz="1700" spc="-34">
                <a:solidFill>
                  <a:srgbClr val="145DA0"/>
                </a:solidFill>
                <a:latin typeface="Poppins"/>
                <a:ea typeface="Poppins"/>
                <a:cs typeface="Poppins"/>
                <a:sym typeface="Poppins"/>
              </a:rPr>
              <a:t>Random Forest provides competitive performance in areas where simpler data structures are involved (e.g., structured tabular data)</a:t>
            </a:r>
          </a:p>
          <a:p>
            <a:pPr algn="l">
              <a:lnSpc>
                <a:spcPts val="2381"/>
              </a:lnSpc>
            </a:pPr>
          </a:p>
          <a:p>
            <a:pPr algn="l">
              <a:lnSpc>
                <a:spcPts val="3080"/>
              </a:lnSpc>
            </a:pPr>
          </a:p>
          <a:p>
            <a:pPr algn="l">
              <a:lnSpc>
                <a:spcPts val="3080"/>
              </a:lnSpc>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28700" y="1283153"/>
            <a:ext cx="7523780" cy="4900393"/>
            <a:chOff x="0" y="0"/>
            <a:chExt cx="2106826" cy="1372219"/>
          </a:xfrm>
        </p:grpSpPr>
        <p:sp>
          <p:nvSpPr>
            <p:cNvPr name="Freeform 3" id="3"/>
            <p:cNvSpPr/>
            <p:nvPr/>
          </p:nvSpPr>
          <p:spPr>
            <a:xfrm flipH="false" flipV="false" rot="0">
              <a:off x="0" y="0"/>
              <a:ext cx="2106826" cy="1372219"/>
            </a:xfrm>
            <a:custGeom>
              <a:avLst/>
              <a:gdLst/>
              <a:ahLst/>
              <a:cxnLst/>
              <a:rect r="r" b="b" t="t" l="l"/>
              <a:pathLst>
                <a:path h="1372219" w="2106826">
                  <a:moveTo>
                    <a:pt x="0" y="0"/>
                  </a:moveTo>
                  <a:lnTo>
                    <a:pt x="2106826" y="0"/>
                  </a:lnTo>
                  <a:lnTo>
                    <a:pt x="2106826" y="1372219"/>
                  </a:lnTo>
                  <a:lnTo>
                    <a:pt x="0" y="1372219"/>
                  </a:lnTo>
                  <a:close/>
                </a:path>
              </a:pathLst>
            </a:custGeom>
            <a:solidFill>
              <a:srgbClr val="145DA0">
                <a:alpha val="95686"/>
              </a:srgbClr>
            </a:solidFill>
            <a:ln cap="sq">
              <a:noFill/>
              <a:prstDash val="solid"/>
              <a:miter/>
            </a:ln>
          </p:spPr>
        </p:sp>
        <p:sp>
          <p:nvSpPr>
            <p:cNvPr name="TextBox 4" id="4"/>
            <p:cNvSpPr txBox="true"/>
            <p:nvPr/>
          </p:nvSpPr>
          <p:spPr>
            <a:xfrm>
              <a:off x="0" y="-38100"/>
              <a:ext cx="2106826" cy="141031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4407855" y="45394"/>
            <a:ext cx="10016674" cy="971059"/>
          </a:xfrm>
          <a:prstGeom prst="rect">
            <a:avLst/>
          </a:prstGeom>
        </p:spPr>
        <p:txBody>
          <a:bodyPr anchor="t" rtlCol="false" tIns="0" lIns="0" bIns="0" rIns="0">
            <a:spAutoFit/>
          </a:bodyPr>
          <a:lstStyle/>
          <a:p>
            <a:pPr algn="l" marL="0" indent="0" lvl="0">
              <a:lnSpc>
                <a:spcPts val="7902"/>
              </a:lnSpc>
              <a:spcBef>
                <a:spcPct val="0"/>
              </a:spcBef>
            </a:pPr>
            <a:r>
              <a:rPr lang="en-US" sz="5644">
                <a:solidFill>
                  <a:srgbClr val="000000"/>
                </a:solidFill>
                <a:latin typeface="Open Sans Extra Bold"/>
                <a:ea typeface="Open Sans Extra Bold"/>
                <a:cs typeface="Open Sans Extra Bold"/>
                <a:sym typeface="Open Sans Extra Bold"/>
              </a:rPr>
              <a:t>Real-World Applications</a:t>
            </a:r>
          </a:p>
        </p:txBody>
      </p:sp>
      <p:sp>
        <p:nvSpPr>
          <p:cNvPr name="TextBox 6" id="6"/>
          <p:cNvSpPr txBox="true"/>
          <p:nvPr/>
        </p:nvSpPr>
        <p:spPr>
          <a:xfrm rot="0">
            <a:off x="2731634" y="1498750"/>
            <a:ext cx="4117913" cy="1005206"/>
          </a:xfrm>
          <a:prstGeom prst="rect">
            <a:avLst/>
          </a:prstGeom>
        </p:spPr>
        <p:txBody>
          <a:bodyPr anchor="t" rtlCol="false" tIns="0" lIns="0" bIns="0" rIns="0">
            <a:spAutoFit/>
          </a:bodyPr>
          <a:lstStyle/>
          <a:p>
            <a:pPr algn="ctr">
              <a:lnSpc>
                <a:spcPts val="3919"/>
              </a:lnSpc>
              <a:spcBef>
                <a:spcPct val="0"/>
              </a:spcBef>
            </a:pPr>
            <a:r>
              <a:rPr lang="en-US" b="true" sz="2799" spc="-55">
                <a:solidFill>
                  <a:srgbClr val="FDFDFD"/>
                </a:solidFill>
                <a:latin typeface="Poppins Bold"/>
                <a:ea typeface="Poppins Bold"/>
                <a:cs typeface="Poppins Bold"/>
                <a:sym typeface="Poppins Bold"/>
              </a:rPr>
              <a:t>F</a:t>
            </a:r>
            <a:r>
              <a:rPr lang="en-US" b="true" sz="2799" spc="-55" strike="noStrike" u="none">
                <a:solidFill>
                  <a:srgbClr val="FDFDFD"/>
                </a:solidFill>
                <a:latin typeface="Poppins Bold"/>
                <a:ea typeface="Poppins Bold"/>
                <a:cs typeface="Poppins Bold"/>
                <a:sym typeface="Poppins Bold"/>
              </a:rPr>
              <a:t>raud Detection</a:t>
            </a:r>
          </a:p>
          <a:p>
            <a:pPr algn="ctr" marL="0" indent="0" lvl="0">
              <a:lnSpc>
                <a:spcPts val="3919"/>
              </a:lnSpc>
              <a:spcBef>
                <a:spcPct val="0"/>
              </a:spcBef>
            </a:pPr>
          </a:p>
        </p:txBody>
      </p:sp>
      <p:grpSp>
        <p:nvGrpSpPr>
          <p:cNvPr name="Group 7" id="7"/>
          <p:cNvGrpSpPr/>
          <p:nvPr/>
        </p:nvGrpSpPr>
        <p:grpSpPr>
          <a:xfrm rot="0">
            <a:off x="15388179" y="8320624"/>
            <a:ext cx="7523780" cy="752378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3724222" y="-4507687"/>
            <a:ext cx="5924489" cy="592448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9735520" y="1283153"/>
            <a:ext cx="7523780" cy="4900393"/>
            <a:chOff x="0" y="0"/>
            <a:chExt cx="2106826" cy="1372219"/>
          </a:xfrm>
        </p:grpSpPr>
        <p:sp>
          <p:nvSpPr>
            <p:cNvPr name="Freeform 14" id="14"/>
            <p:cNvSpPr/>
            <p:nvPr/>
          </p:nvSpPr>
          <p:spPr>
            <a:xfrm flipH="false" flipV="false" rot="0">
              <a:off x="0" y="0"/>
              <a:ext cx="2106826" cy="1372219"/>
            </a:xfrm>
            <a:custGeom>
              <a:avLst/>
              <a:gdLst/>
              <a:ahLst/>
              <a:cxnLst/>
              <a:rect r="r" b="b" t="t" l="l"/>
              <a:pathLst>
                <a:path h="1372219" w="2106826">
                  <a:moveTo>
                    <a:pt x="0" y="0"/>
                  </a:moveTo>
                  <a:lnTo>
                    <a:pt x="2106826" y="0"/>
                  </a:lnTo>
                  <a:lnTo>
                    <a:pt x="2106826" y="1372219"/>
                  </a:lnTo>
                  <a:lnTo>
                    <a:pt x="0" y="1372219"/>
                  </a:lnTo>
                  <a:close/>
                </a:path>
              </a:pathLst>
            </a:custGeom>
            <a:solidFill>
              <a:srgbClr val="5B98BA">
                <a:alpha val="95686"/>
              </a:srgbClr>
            </a:solidFill>
            <a:ln cap="sq">
              <a:noFill/>
              <a:prstDash val="solid"/>
              <a:miter/>
            </a:ln>
          </p:spPr>
        </p:sp>
        <p:sp>
          <p:nvSpPr>
            <p:cNvPr name="TextBox 15" id="15"/>
            <p:cNvSpPr txBox="true"/>
            <p:nvPr/>
          </p:nvSpPr>
          <p:spPr>
            <a:xfrm>
              <a:off x="0" y="-38100"/>
              <a:ext cx="2106826" cy="141031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6" id="16"/>
          <p:cNvSpPr txBox="true"/>
          <p:nvPr/>
        </p:nvSpPr>
        <p:spPr>
          <a:xfrm rot="0">
            <a:off x="10920346" y="1498750"/>
            <a:ext cx="5154127" cy="1005206"/>
          </a:xfrm>
          <a:prstGeom prst="rect">
            <a:avLst/>
          </a:prstGeom>
        </p:spPr>
        <p:txBody>
          <a:bodyPr anchor="t" rtlCol="false" tIns="0" lIns="0" bIns="0" rIns="0">
            <a:spAutoFit/>
          </a:bodyPr>
          <a:lstStyle/>
          <a:p>
            <a:pPr algn="ctr" marL="0" indent="0" lvl="0">
              <a:lnSpc>
                <a:spcPts val="3919"/>
              </a:lnSpc>
              <a:spcBef>
                <a:spcPct val="0"/>
              </a:spcBef>
            </a:pPr>
            <a:r>
              <a:rPr lang="en-US" b="true" sz="2799" spc="-55">
                <a:solidFill>
                  <a:srgbClr val="FDFDFD"/>
                </a:solidFill>
                <a:latin typeface="Poppins Bold"/>
                <a:ea typeface="Poppins Bold"/>
                <a:cs typeface="Poppins Bold"/>
                <a:sym typeface="Poppins Bold"/>
              </a:rPr>
              <a:t>R</a:t>
            </a:r>
            <a:r>
              <a:rPr lang="en-US" b="true" sz="2799" spc="-55" strike="noStrike" u="none">
                <a:solidFill>
                  <a:srgbClr val="FDFDFD"/>
                </a:solidFill>
                <a:latin typeface="Poppins Bold"/>
                <a:ea typeface="Poppins Bold"/>
                <a:cs typeface="Poppins Bold"/>
                <a:sym typeface="Poppins Bold"/>
              </a:rPr>
              <a:t>ecommendation Systems</a:t>
            </a:r>
          </a:p>
          <a:p>
            <a:pPr algn="ctr">
              <a:lnSpc>
                <a:spcPts val="3919"/>
              </a:lnSpc>
              <a:spcBef>
                <a:spcPct val="0"/>
              </a:spcBef>
            </a:pPr>
          </a:p>
        </p:txBody>
      </p:sp>
      <p:sp>
        <p:nvSpPr>
          <p:cNvPr name="TextBox 17" id="17"/>
          <p:cNvSpPr txBox="true"/>
          <p:nvPr/>
        </p:nvSpPr>
        <p:spPr>
          <a:xfrm rot="0">
            <a:off x="1504727" y="2886626"/>
            <a:ext cx="6571726" cy="2458720"/>
          </a:xfrm>
          <a:prstGeom prst="rect">
            <a:avLst/>
          </a:prstGeom>
        </p:spPr>
        <p:txBody>
          <a:bodyPr anchor="t" rtlCol="false" tIns="0" lIns="0" bIns="0" rIns="0">
            <a:spAutoFit/>
          </a:bodyPr>
          <a:lstStyle/>
          <a:p>
            <a:pPr algn="ctr" marL="518157" indent="-259078" lvl="1">
              <a:lnSpc>
                <a:spcPts val="3359"/>
              </a:lnSpc>
              <a:spcBef>
                <a:spcPct val="0"/>
              </a:spcBef>
              <a:buFont typeface="Arial"/>
              <a:buChar char="•"/>
            </a:pPr>
            <a:r>
              <a:rPr lang="en-US" sz="2399" spc="-47">
                <a:solidFill>
                  <a:srgbClr val="FDFDFD"/>
                </a:solidFill>
                <a:latin typeface="Poppins"/>
                <a:ea typeface="Poppins"/>
                <a:cs typeface="Poppins"/>
                <a:sym typeface="Poppins"/>
              </a:rPr>
              <a:t>Used to detect f</a:t>
            </a:r>
            <a:r>
              <a:rPr lang="en-US" sz="2399" spc="-47" strike="noStrike" u="none">
                <a:solidFill>
                  <a:srgbClr val="FDFDFD"/>
                </a:solidFill>
                <a:latin typeface="Poppins"/>
                <a:ea typeface="Poppins"/>
                <a:cs typeface="Poppins"/>
                <a:sym typeface="Poppins"/>
              </a:rPr>
              <a:t>raudulent transactions in financial institutions and e-commerce</a:t>
            </a:r>
          </a:p>
          <a:p>
            <a:pPr algn="ctr">
              <a:lnSpc>
                <a:spcPts val="3359"/>
              </a:lnSpc>
              <a:spcBef>
                <a:spcPct val="0"/>
              </a:spcBef>
            </a:pPr>
          </a:p>
          <a:p>
            <a:pPr algn="ctr" marL="518157" indent="-259078" lvl="1">
              <a:lnSpc>
                <a:spcPts val="3359"/>
              </a:lnSpc>
              <a:spcBef>
                <a:spcPct val="0"/>
              </a:spcBef>
              <a:buFont typeface="Arial"/>
              <a:buChar char="•"/>
            </a:pPr>
            <a:r>
              <a:rPr lang="en-US" sz="2399" spc="-47" strike="noStrike" u="none">
                <a:solidFill>
                  <a:srgbClr val="FDFDFD"/>
                </a:solidFill>
                <a:latin typeface="Poppins"/>
                <a:ea typeface="Poppins"/>
                <a:cs typeface="Poppins"/>
                <a:sym typeface="Poppins"/>
              </a:rPr>
              <a:t>Effective at identifying anomalies in large, structured datasets</a:t>
            </a:r>
          </a:p>
          <a:p>
            <a:pPr algn="ctr" marL="0" indent="0" lvl="0">
              <a:lnSpc>
                <a:spcPts val="2799"/>
              </a:lnSpc>
              <a:spcBef>
                <a:spcPct val="0"/>
              </a:spcBef>
            </a:pPr>
          </a:p>
        </p:txBody>
      </p:sp>
      <p:sp>
        <p:nvSpPr>
          <p:cNvPr name="TextBox 18" id="18"/>
          <p:cNvSpPr txBox="true"/>
          <p:nvPr/>
        </p:nvSpPr>
        <p:spPr>
          <a:xfrm rot="0">
            <a:off x="10211547" y="2886626"/>
            <a:ext cx="6571726" cy="3296920"/>
          </a:xfrm>
          <a:prstGeom prst="rect">
            <a:avLst/>
          </a:prstGeom>
        </p:spPr>
        <p:txBody>
          <a:bodyPr anchor="t" rtlCol="false" tIns="0" lIns="0" bIns="0" rIns="0">
            <a:spAutoFit/>
          </a:bodyPr>
          <a:lstStyle/>
          <a:p>
            <a:pPr algn="ctr" marL="518157" indent="-259078" lvl="1">
              <a:lnSpc>
                <a:spcPts val="3359"/>
              </a:lnSpc>
              <a:buFont typeface="Arial"/>
              <a:buChar char="•"/>
            </a:pPr>
            <a:r>
              <a:rPr lang="en-US" sz="2399" spc="-47">
                <a:solidFill>
                  <a:srgbClr val="FDFDFD"/>
                </a:solidFill>
                <a:latin typeface="Poppins"/>
                <a:ea typeface="Poppins"/>
                <a:cs typeface="Poppins"/>
                <a:sym typeface="Poppins"/>
              </a:rPr>
              <a:t>Helps improve recommendations in e-commerce and streaming platforms</a:t>
            </a:r>
          </a:p>
          <a:p>
            <a:pPr algn="ctr">
              <a:lnSpc>
                <a:spcPts val="3359"/>
              </a:lnSpc>
            </a:pPr>
          </a:p>
          <a:p>
            <a:pPr algn="ctr" marL="518157" indent="-259078" lvl="1">
              <a:lnSpc>
                <a:spcPts val="3359"/>
              </a:lnSpc>
              <a:buFont typeface="Arial"/>
              <a:buChar char="•"/>
            </a:pPr>
            <a:r>
              <a:rPr lang="en-US" sz="2399" spc="-47">
                <a:solidFill>
                  <a:srgbClr val="FDFDFD"/>
                </a:solidFill>
                <a:latin typeface="Poppins"/>
                <a:ea typeface="Poppins"/>
                <a:cs typeface="Poppins"/>
                <a:sym typeface="Poppins"/>
              </a:rPr>
              <a:t>Analyzes user behavior to predict future preferences and provide personalized content</a:t>
            </a:r>
          </a:p>
          <a:p>
            <a:pPr algn="ctr">
              <a:lnSpc>
                <a:spcPts val="3359"/>
              </a:lnSpc>
              <a:spcBef>
                <a:spcPct val="0"/>
              </a:spcBef>
            </a:pPr>
          </a:p>
          <a:p>
            <a:pPr algn="ctr" marL="0" indent="0" lvl="0">
              <a:lnSpc>
                <a:spcPts val="2799"/>
              </a:lnSpc>
              <a:spcBef>
                <a:spcPct val="0"/>
              </a:spcBef>
            </a:pPr>
          </a:p>
        </p:txBody>
      </p:sp>
      <p:grpSp>
        <p:nvGrpSpPr>
          <p:cNvPr name="Group 19" id="19"/>
          <p:cNvGrpSpPr/>
          <p:nvPr/>
        </p:nvGrpSpPr>
        <p:grpSpPr>
          <a:xfrm rot="0">
            <a:off x="1028700" y="6631222"/>
            <a:ext cx="16230600" cy="2522949"/>
            <a:chOff x="0" y="0"/>
            <a:chExt cx="4544929" cy="706482"/>
          </a:xfrm>
        </p:grpSpPr>
        <p:sp>
          <p:nvSpPr>
            <p:cNvPr name="Freeform 20" id="20"/>
            <p:cNvSpPr/>
            <p:nvPr/>
          </p:nvSpPr>
          <p:spPr>
            <a:xfrm flipH="false" flipV="false" rot="0">
              <a:off x="0" y="0"/>
              <a:ext cx="4544929" cy="706482"/>
            </a:xfrm>
            <a:custGeom>
              <a:avLst/>
              <a:gdLst/>
              <a:ahLst/>
              <a:cxnLst/>
              <a:rect r="r" b="b" t="t" l="l"/>
              <a:pathLst>
                <a:path h="706482" w="4544929">
                  <a:moveTo>
                    <a:pt x="0" y="0"/>
                  </a:moveTo>
                  <a:lnTo>
                    <a:pt x="4544929" y="0"/>
                  </a:lnTo>
                  <a:lnTo>
                    <a:pt x="4544929" y="706482"/>
                  </a:lnTo>
                  <a:lnTo>
                    <a:pt x="0" y="706482"/>
                  </a:lnTo>
                  <a:close/>
                </a:path>
              </a:pathLst>
            </a:custGeom>
            <a:solidFill>
              <a:srgbClr val="145DA0">
                <a:alpha val="95686"/>
              </a:srgbClr>
            </a:solidFill>
            <a:ln cap="sq">
              <a:noFill/>
              <a:prstDash val="solid"/>
              <a:miter/>
            </a:ln>
          </p:spPr>
        </p:sp>
        <p:sp>
          <p:nvSpPr>
            <p:cNvPr name="TextBox 21" id="21"/>
            <p:cNvSpPr txBox="true"/>
            <p:nvPr/>
          </p:nvSpPr>
          <p:spPr>
            <a:xfrm>
              <a:off x="0" y="-38100"/>
              <a:ext cx="4544929" cy="74458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2" id="22"/>
          <p:cNvSpPr txBox="true"/>
          <p:nvPr/>
        </p:nvSpPr>
        <p:spPr>
          <a:xfrm rot="0">
            <a:off x="1579232" y="6963549"/>
            <a:ext cx="15129536" cy="1802657"/>
          </a:xfrm>
          <a:prstGeom prst="rect">
            <a:avLst/>
          </a:prstGeom>
        </p:spPr>
        <p:txBody>
          <a:bodyPr anchor="t" rtlCol="false" tIns="0" lIns="0" bIns="0" rIns="0">
            <a:spAutoFit/>
          </a:bodyPr>
          <a:lstStyle/>
          <a:p>
            <a:pPr algn="just" marL="0" indent="0" lvl="0">
              <a:lnSpc>
                <a:spcPts val="3540"/>
              </a:lnSpc>
              <a:spcBef>
                <a:spcPct val="0"/>
              </a:spcBef>
            </a:pPr>
            <a:r>
              <a:rPr lang="en-US" b="true" sz="2529" spc="-50">
                <a:solidFill>
                  <a:srgbClr val="FDFDFD"/>
                </a:solidFill>
                <a:latin typeface="Poppins Bold"/>
                <a:ea typeface="Poppins Bold"/>
                <a:cs typeface="Poppins Bold"/>
                <a:sym typeface="Poppins Bold"/>
              </a:rPr>
              <a:t>Random Forest is widely used for fraud detection, where it identifies unusual patterns in transactions to detect suspicious activity. It’s also effective in recommendation systems, helping platforms deliver personalized content and product suggestions by analyzing user behavior.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5121047" cy="2880589"/>
          </a:xfrm>
        </p:grpSpPr>
        <p:sp>
          <p:nvSpPr>
            <p:cNvPr name="Freeform 3" id="3"/>
            <p:cNvSpPr/>
            <p:nvPr/>
          </p:nvSpPr>
          <p:spPr>
            <a:xfrm flipH="false" flipV="false" rot="0">
              <a:off x="0" y="0"/>
              <a:ext cx="5121047" cy="2880589"/>
            </a:xfrm>
            <a:custGeom>
              <a:avLst/>
              <a:gdLst/>
              <a:ahLst/>
              <a:cxnLst/>
              <a:rect r="r" b="b" t="t" l="l"/>
              <a:pathLst>
                <a:path h="2880589" w="5121047">
                  <a:moveTo>
                    <a:pt x="0" y="0"/>
                  </a:moveTo>
                  <a:lnTo>
                    <a:pt x="5121047" y="0"/>
                  </a:lnTo>
                  <a:lnTo>
                    <a:pt x="5121047" y="2880589"/>
                  </a:lnTo>
                  <a:lnTo>
                    <a:pt x="0" y="2880589"/>
                  </a:lnTo>
                  <a:close/>
                </a:path>
              </a:pathLst>
            </a:custGeom>
            <a:solidFill>
              <a:srgbClr val="000000">
                <a:alpha val="0"/>
              </a:srgbClr>
            </a:solidFill>
            <a:ln w="228600" cap="sq">
              <a:solidFill>
                <a:srgbClr val="145DA0"/>
              </a:solidFill>
              <a:prstDash val="solid"/>
              <a:miter/>
            </a:ln>
          </p:spPr>
        </p:sp>
        <p:sp>
          <p:nvSpPr>
            <p:cNvPr name="TextBox 4" id="4"/>
            <p:cNvSpPr txBox="true"/>
            <p:nvPr/>
          </p:nvSpPr>
          <p:spPr>
            <a:xfrm>
              <a:off x="0" y="-38100"/>
              <a:ext cx="5121047" cy="291868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297323" y="8211194"/>
            <a:ext cx="4154377" cy="582587"/>
          </a:xfrm>
          <a:custGeom>
            <a:avLst/>
            <a:gdLst/>
            <a:ahLst/>
            <a:cxnLst/>
            <a:rect r="r" b="b" t="t" l="l"/>
            <a:pathLst>
              <a:path h="582587" w="4154377">
                <a:moveTo>
                  <a:pt x="0" y="0"/>
                </a:moveTo>
                <a:lnTo>
                  <a:pt x="4154377" y="0"/>
                </a:lnTo>
                <a:lnTo>
                  <a:pt x="4154377" y="582587"/>
                </a:lnTo>
                <a:lnTo>
                  <a:pt x="0" y="582587"/>
                </a:lnTo>
                <a:lnTo>
                  <a:pt x="0" y="0"/>
                </a:lnTo>
                <a:close/>
              </a:path>
            </a:pathLst>
          </a:custGeom>
          <a:blipFill>
            <a:blip r:embed="rId2"/>
            <a:stretch>
              <a:fillRect l="0" t="-40835" r="0" b="0"/>
            </a:stretch>
          </a:blipFill>
        </p:spPr>
      </p:sp>
      <p:grpSp>
        <p:nvGrpSpPr>
          <p:cNvPr name="Group 6" id="6"/>
          <p:cNvGrpSpPr/>
          <p:nvPr/>
        </p:nvGrpSpPr>
        <p:grpSpPr>
          <a:xfrm rot="0">
            <a:off x="2272544" y="2466355"/>
            <a:ext cx="4203375" cy="5973865"/>
            <a:chOff x="0" y="0"/>
            <a:chExt cx="1416547" cy="2013207"/>
          </a:xfrm>
        </p:grpSpPr>
        <p:sp>
          <p:nvSpPr>
            <p:cNvPr name="Freeform 7" id="7"/>
            <p:cNvSpPr/>
            <p:nvPr/>
          </p:nvSpPr>
          <p:spPr>
            <a:xfrm flipH="false" flipV="false" rot="0">
              <a:off x="0" y="0"/>
              <a:ext cx="1416547" cy="2013207"/>
            </a:xfrm>
            <a:custGeom>
              <a:avLst/>
              <a:gdLst/>
              <a:ahLst/>
              <a:cxnLst/>
              <a:rect r="r" b="b" t="t" l="l"/>
              <a:pathLst>
                <a:path h="2013207" w="141654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8" id="8"/>
            <p:cNvSpPr txBox="true"/>
            <p:nvPr/>
          </p:nvSpPr>
          <p:spPr>
            <a:xfrm>
              <a:off x="0" y="-38100"/>
              <a:ext cx="1416547" cy="20513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9" id="9"/>
          <p:cNvSpPr/>
          <p:nvPr/>
        </p:nvSpPr>
        <p:spPr>
          <a:xfrm>
            <a:off x="2377702" y="3445137"/>
            <a:ext cx="4154377" cy="0"/>
          </a:xfrm>
          <a:prstGeom prst="line">
            <a:avLst/>
          </a:prstGeom>
          <a:ln cap="flat" w="38100">
            <a:solidFill>
              <a:srgbClr val="145DA0"/>
            </a:solidFill>
            <a:prstDash val="solid"/>
            <a:headEnd type="none" len="sm" w="sm"/>
            <a:tailEnd type="none" len="sm" w="sm"/>
          </a:ln>
        </p:spPr>
      </p:sp>
      <p:sp>
        <p:nvSpPr>
          <p:cNvPr name="Freeform 10" id="10"/>
          <p:cNvSpPr/>
          <p:nvPr/>
        </p:nvSpPr>
        <p:spPr>
          <a:xfrm flipH="false" flipV="false" rot="0">
            <a:off x="7066494" y="8211194"/>
            <a:ext cx="4154377" cy="582587"/>
          </a:xfrm>
          <a:custGeom>
            <a:avLst/>
            <a:gdLst/>
            <a:ahLst/>
            <a:cxnLst/>
            <a:rect r="r" b="b" t="t" l="l"/>
            <a:pathLst>
              <a:path h="582587" w="4154377">
                <a:moveTo>
                  <a:pt x="0" y="0"/>
                </a:moveTo>
                <a:lnTo>
                  <a:pt x="4154377" y="0"/>
                </a:lnTo>
                <a:lnTo>
                  <a:pt x="4154377" y="582587"/>
                </a:lnTo>
                <a:lnTo>
                  <a:pt x="0" y="582587"/>
                </a:lnTo>
                <a:lnTo>
                  <a:pt x="0" y="0"/>
                </a:lnTo>
                <a:close/>
              </a:path>
            </a:pathLst>
          </a:custGeom>
          <a:blipFill>
            <a:blip r:embed="rId2"/>
            <a:stretch>
              <a:fillRect l="0" t="-40835" r="0" b="0"/>
            </a:stretch>
          </a:blipFill>
        </p:spPr>
      </p:sp>
      <p:grpSp>
        <p:nvGrpSpPr>
          <p:cNvPr name="Group 11" id="11"/>
          <p:cNvGrpSpPr/>
          <p:nvPr/>
        </p:nvGrpSpPr>
        <p:grpSpPr>
          <a:xfrm rot="0">
            <a:off x="7041715" y="2466355"/>
            <a:ext cx="4203375" cy="5973865"/>
            <a:chOff x="0" y="0"/>
            <a:chExt cx="1416547" cy="2013207"/>
          </a:xfrm>
        </p:grpSpPr>
        <p:sp>
          <p:nvSpPr>
            <p:cNvPr name="Freeform 12" id="12"/>
            <p:cNvSpPr/>
            <p:nvPr/>
          </p:nvSpPr>
          <p:spPr>
            <a:xfrm flipH="false" flipV="false" rot="0">
              <a:off x="0" y="0"/>
              <a:ext cx="1416547" cy="2013207"/>
            </a:xfrm>
            <a:custGeom>
              <a:avLst/>
              <a:gdLst/>
              <a:ahLst/>
              <a:cxnLst/>
              <a:rect r="r" b="b" t="t" l="l"/>
              <a:pathLst>
                <a:path h="2013207" w="141654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13" id="13"/>
            <p:cNvSpPr txBox="true"/>
            <p:nvPr/>
          </p:nvSpPr>
          <p:spPr>
            <a:xfrm>
              <a:off x="0" y="-38100"/>
              <a:ext cx="1416547" cy="20513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14" id="14"/>
          <p:cNvSpPr/>
          <p:nvPr/>
        </p:nvSpPr>
        <p:spPr>
          <a:xfrm>
            <a:off x="7041715" y="3464187"/>
            <a:ext cx="4154377" cy="0"/>
          </a:xfrm>
          <a:prstGeom prst="line">
            <a:avLst/>
          </a:prstGeom>
          <a:ln cap="flat" w="38100">
            <a:solidFill>
              <a:srgbClr val="145DA0"/>
            </a:solidFill>
            <a:prstDash val="solid"/>
            <a:headEnd type="none" len="sm" w="sm"/>
            <a:tailEnd type="none" len="sm" w="sm"/>
          </a:ln>
        </p:spPr>
      </p:sp>
      <p:sp>
        <p:nvSpPr>
          <p:cNvPr name="Freeform 15" id="15"/>
          <p:cNvSpPr/>
          <p:nvPr/>
        </p:nvSpPr>
        <p:spPr>
          <a:xfrm flipH="false" flipV="false" rot="0">
            <a:off x="11836861" y="8211194"/>
            <a:ext cx="4154377" cy="582587"/>
          </a:xfrm>
          <a:custGeom>
            <a:avLst/>
            <a:gdLst/>
            <a:ahLst/>
            <a:cxnLst/>
            <a:rect r="r" b="b" t="t" l="l"/>
            <a:pathLst>
              <a:path h="582587" w="4154377">
                <a:moveTo>
                  <a:pt x="0" y="0"/>
                </a:moveTo>
                <a:lnTo>
                  <a:pt x="4154377" y="0"/>
                </a:lnTo>
                <a:lnTo>
                  <a:pt x="4154377" y="582587"/>
                </a:lnTo>
                <a:lnTo>
                  <a:pt x="0" y="582587"/>
                </a:lnTo>
                <a:lnTo>
                  <a:pt x="0" y="0"/>
                </a:lnTo>
                <a:close/>
              </a:path>
            </a:pathLst>
          </a:custGeom>
          <a:blipFill>
            <a:blip r:embed="rId2"/>
            <a:stretch>
              <a:fillRect l="0" t="-40835" r="0" b="0"/>
            </a:stretch>
          </a:blipFill>
        </p:spPr>
      </p:sp>
      <p:grpSp>
        <p:nvGrpSpPr>
          <p:cNvPr name="Group 16" id="16"/>
          <p:cNvGrpSpPr/>
          <p:nvPr/>
        </p:nvGrpSpPr>
        <p:grpSpPr>
          <a:xfrm rot="0">
            <a:off x="11812082" y="2466355"/>
            <a:ext cx="4203375" cy="5973865"/>
            <a:chOff x="0" y="0"/>
            <a:chExt cx="1416547" cy="2013207"/>
          </a:xfrm>
        </p:grpSpPr>
        <p:sp>
          <p:nvSpPr>
            <p:cNvPr name="Freeform 17" id="17"/>
            <p:cNvSpPr/>
            <p:nvPr/>
          </p:nvSpPr>
          <p:spPr>
            <a:xfrm flipH="false" flipV="false" rot="0">
              <a:off x="0" y="0"/>
              <a:ext cx="1416547" cy="2013207"/>
            </a:xfrm>
            <a:custGeom>
              <a:avLst/>
              <a:gdLst/>
              <a:ahLst/>
              <a:cxnLst/>
              <a:rect r="r" b="b" t="t" l="l"/>
              <a:pathLst>
                <a:path h="2013207" w="141654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18" id="18"/>
            <p:cNvSpPr txBox="true"/>
            <p:nvPr/>
          </p:nvSpPr>
          <p:spPr>
            <a:xfrm>
              <a:off x="0" y="-38100"/>
              <a:ext cx="1416547" cy="20513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19" id="19"/>
          <p:cNvSpPr/>
          <p:nvPr/>
        </p:nvSpPr>
        <p:spPr>
          <a:xfrm>
            <a:off x="11836861" y="3483237"/>
            <a:ext cx="4154377" cy="0"/>
          </a:xfrm>
          <a:prstGeom prst="line">
            <a:avLst/>
          </a:prstGeom>
          <a:ln cap="flat" w="38100">
            <a:solidFill>
              <a:srgbClr val="145DA0"/>
            </a:solidFill>
            <a:prstDash val="solid"/>
            <a:headEnd type="none" len="sm" w="sm"/>
            <a:tailEnd type="none" len="sm" w="sm"/>
          </a:ln>
        </p:spPr>
      </p:sp>
      <p:sp>
        <p:nvSpPr>
          <p:cNvPr name="TextBox 20" id="20"/>
          <p:cNvSpPr txBox="true"/>
          <p:nvPr/>
        </p:nvSpPr>
        <p:spPr>
          <a:xfrm rot="0">
            <a:off x="4454890" y="561357"/>
            <a:ext cx="9889400" cy="1571623"/>
          </a:xfrm>
          <a:prstGeom prst="rect">
            <a:avLst/>
          </a:prstGeom>
        </p:spPr>
        <p:txBody>
          <a:bodyPr anchor="t" rtlCol="false" tIns="0" lIns="0" bIns="0" rIns="0">
            <a:spAutoFit/>
          </a:bodyPr>
          <a:lstStyle/>
          <a:p>
            <a:pPr algn="ctr" marL="0" indent="0" lvl="0">
              <a:lnSpc>
                <a:spcPts val="6300"/>
              </a:lnSpc>
              <a:spcBef>
                <a:spcPct val="0"/>
              </a:spcBef>
            </a:pPr>
            <a:r>
              <a:rPr lang="en-US" sz="4500">
                <a:solidFill>
                  <a:srgbClr val="051D40"/>
                </a:solidFill>
                <a:latin typeface="Open Sans Extra Bold"/>
                <a:ea typeface="Open Sans Extra Bold"/>
                <a:cs typeface="Open Sans Extra Bold"/>
                <a:sym typeface="Open Sans Extra Bold"/>
              </a:rPr>
              <a:t>Evaluating Random Forest Performance</a:t>
            </a:r>
          </a:p>
        </p:txBody>
      </p:sp>
      <p:sp>
        <p:nvSpPr>
          <p:cNvPr name="TextBox 21" id="21"/>
          <p:cNvSpPr txBox="true"/>
          <p:nvPr/>
        </p:nvSpPr>
        <p:spPr>
          <a:xfrm rot="0">
            <a:off x="2300830" y="3243371"/>
            <a:ext cx="4102709" cy="5040630"/>
          </a:xfrm>
          <a:prstGeom prst="rect">
            <a:avLst/>
          </a:prstGeom>
        </p:spPr>
        <p:txBody>
          <a:bodyPr anchor="t" rtlCol="false" tIns="0" lIns="0" bIns="0" rIns="0">
            <a:spAutoFit/>
          </a:bodyPr>
          <a:lstStyle/>
          <a:p>
            <a:pPr algn="ctr">
              <a:lnSpc>
                <a:spcPts val="2520"/>
              </a:lnSpc>
            </a:pPr>
          </a:p>
          <a:p>
            <a:pPr algn="ctr" marL="388620" indent="-194310" lvl="1">
              <a:lnSpc>
                <a:spcPts val="2520"/>
              </a:lnSpc>
              <a:buFont typeface="Arial"/>
              <a:buChar char="•"/>
            </a:pPr>
            <a:r>
              <a:rPr lang="en-US" sz="1800" spc="-36">
                <a:solidFill>
                  <a:srgbClr val="145DA0"/>
                </a:solidFill>
                <a:latin typeface="Poppins"/>
                <a:ea typeface="Poppins"/>
                <a:cs typeface="Poppins"/>
                <a:sym typeface="Poppins"/>
              </a:rPr>
              <a:t>Accuracy: Measures overall correctness of predictions.</a:t>
            </a:r>
          </a:p>
          <a:p>
            <a:pPr algn="ctr" marL="388620" indent="-194310" lvl="1">
              <a:lnSpc>
                <a:spcPts val="2520"/>
              </a:lnSpc>
              <a:buFont typeface="Arial"/>
              <a:buChar char="•"/>
            </a:pPr>
            <a:r>
              <a:rPr lang="en-US" sz="1800" spc="-36">
                <a:solidFill>
                  <a:srgbClr val="145DA0"/>
                </a:solidFill>
                <a:latin typeface="Poppins"/>
                <a:ea typeface="Poppins"/>
                <a:cs typeface="Poppins"/>
                <a:sym typeface="Poppins"/>
              </a:rPr>
              <a:t>Precision: Fraction of true positives among all predicted positives. Useful in imbalanced datasets.</a:t>
            </a:r>
          </a:p>
          <a:p>
            <a:pPr algn="ctr" marL="388620" indent="-194310" lvl="1">
              <a:lnSpc>
                <a:spcPts val="2520"/>
              </a:lnSpc>
              <a:buFont typeface="Arial"/>
              <a:buChar char="•"/>
            </a:pPr>
            <a:r>
              <a:rPr lang="en-US" sz="1800" spc="-36">
                <a:solidFill>
                  <a:srgbClr val="145DA0"/>
                </a:solidFill>
                <a:latin typeface="Poppins"/>
                <a:ea typeface="Poppins"/>
                <a:cs typeface="Poppins"/>
                <a:sym typeface="Poppins"/>
              </a:rPr>
              <a:t>Recall: Fraction of true positives among actual positives. Highlights model's ability to identify all relevant cases.</a:t>
            </a:r>
          </a:p>
          <a:p>
            <a:pPr algn="ctr" marL="388620" indent="-194310" lvl="1">
              <a:lnSpc>
                <a:spcPts val="2520"/>
              </a:lnSpc>
              <a:buFont typeface="Arial"/>
              <a:buChar char="•"/>
            </a:pPr>
            <a:r>
              <a:rPr lang="en-US" sz="1800" spc="-36">
                <a:solidFill>
                  <a:srgbClr val="145DA0"/>
                </a:solidFill>
                <a:latin typeface="Poppins"/>
                <a:ea typeface="Poppins"/>
                <a:cs typeface="Poppins"/>
                <a:sym typeface="Poppins"/>
              </a:rPr>
              <a:t>F1-Score: Harmonic mean of precision and recall; balances the two metrics, particularly useful for imbalanced data.</a:t>
            </a:r>
          </a:p>
          <a:p>
            <a:pPr algn="ctr">
              <a:lnSpc>
                <a:spcPts val="2520"/>
              </a:lnSpc>
            </a:pPr>
          </a:p>
        </p:txBody>
      </p:sp>
      <p:sp>
        <p:nvSpPr>
          <p:cNvPr name="TextBox 22" id="22"/>
          <p:cNvSpPr txBox="true"/>
          <p:nvPr/>
        </p:nvSpPr>
        <p:spPr>
          <a:xfrm rot="0">
            <a:off x="2629016" y="2860889"/>
            <a:ext cx="3490991" cy="439633"/>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Key Metrics</a:t>
            </a:r>
          </a:p>
        </p:txBody>
      </p:sp>
      <p:sp>
        <p:nvSpPr>
          <p:cNvPr name="TextBox 23" id="23"/>
          <p:cNvSpPr txBox="true"/>
          <p:nvPr/>
        </p:nvSpPr>
        <p:spPr>
          <a:xfrm rot="0">
            <a:off x="7041715" y="3713915"/>
            <a:ext cx="4130158" cy="2526030"/>
          </a:xfrm>
          <a:prstGeom prst="rect">
            <a:avLst/>
          </a:prstGeom>
        </p:spPr>
        <p:txBody>
          <a:bodyPr anchor="t" rtlCol="false" tIns="0" lIns="0" bIns="0" rIns="0">
            <a:spAutoFit/>
          </a:bodyPr>
          <a:lstStyle/>
          <a:p>
            <a:pPr algn="ctr" marL="388620" indent="-194310" lvl="1">
              <a:lnSpc>
                <a:spcPts val="2520"/>
              </a:lnSpc>
              <a:buFont typeface="Arial"/>
              <a:buChar char="•"/>
            </a:pPr>
            <a:r>
              <a:rPr lang="en-US" sz="1800" spc="-36">
                <a:solidFill>
                  <a:srgbClr val="145DA0"/>
                </a:solidFill>
                <a:latin typeface="Poppins"/>
                <a:ea typeface="Poppins"/>
                <a:cs typeface="Poppins"/>
                <a:sym typeface="Poppins"/>
              </a:rPr>
              <a:t>Pur</a:t>
            </a:r>
            <a:r>
              <a:rPr lang="en-US" sz="1800" spc="-36">
                <a:solidFill>
                  <a:srgbClr val="145DA0"/>
                </a:solidFill>
                <a:latin typeface="Poppins"/>
                <a:ea typeface="Poppins"/>
                <a:cs typeface="Poppins"/>
                <a:sym typeface="Poppins"/>
              </a:rPr>
              <a:t>pose: Evaluat</a:t>
            </a:r>
            <a:r>
              <a:rPr lang="en-US" sz="1800" spc="-36">
                <a:solidFill>
                  <a:srgbClr val="145DA0"/>
                </a:solidFill>
                <a:latin typeface="Poppins"/>
                <a:ea typeface="Poppins"/>
                <a:cs typeface="Poppins"/>
                <a:sym typeface="Poppins"/>
              </a:rPr>
              <a:t>e</a:t>
            </a:r>
            <a:r>
              <a:rPr lang="en-US" sz="1800" spc="-36" strike="noStrike" u="none">
                <a:solidFill>
                  <a:srgbClr val="145DA0"/>
                </a:solidFill>
                <a:latin typeface="Poppins"/>
                <a:ea typeface="Poppins"/>
                <a:cs typeface="Poppins"/>
                <a:sym typeface="Poppins"/>
              </a:rPr>
              <a:t>s mo</a:t>
            </a:r>
            <a:r>
              <a:rPr lang="en-US" sz="1800" spc="-36">
                <a:solidFill>
                  <a:srgbClr val="145DA0"/>
                </a:solidFill>
                <a:latin typeface="Poppins"/>
                <a:ea typeface="Poppins"/>
                <a:cs typeface="Poppins"/>
                <a:sym typeface="Poppins"/>
              </a:rPr>
              <a:t>d</a:t>
            </a:r>
            <a:r>
              <a:rPr lang="en-US" sz="1800" spc="-36" strike="noStrike" u="none">
                <a:solidFill>
                  <a:srgbClr val="145DA0"/>
                </a:solidFill>
                <a:latin typeface="Poppins"/>
                <a:ea typeface="Poppins"/>
                <a:cs typeface="Poppins"/>
                <a:sym typeface="Poppins"/>
              </a:rPr>
              <a:t>el</a:t>
            </a:r>
            <a:r>
              <a:rPr lang="en-US" sz="1800" spc="-36">
                <a:solidFill>
                  <a:srgbClr val="145DA0"/>
                </a:solidFill>
                <a:latin typeface="Poppins"/>
                <a:ea typeface="Poppins"/>
                <a:cs typeface="Poppins"/>
                <a:sym typeface="Poppins"/>
              </a:rPr>
              <a:t> </a:t>
            </a:r>
            <a:r>
              <a:rPr lang="en-US" sz="1800" spc="-36" strike="noStrike" u="none">
                <a:solidFill>
                  <a:srgbClr val="145DA0"/>
                </a:solidFill>
                <a:latin typeface="Poppins"/>
                <a:ea typeface="Poppins"/>
                <a:cs typeface="Poppins"/>
                <a:sym typeface="Poppins"/>
              </a:rPr>
              <a:t>stab</a:t>
            </a:r>
            <a:r>
              <a:rPr lang="en-US" sz="1800" spc="-36">
                <a:solidFill>
                  <a:srgbClr val="145DA0"/>
                </a:solidFill>
                <a:latin typeface="Poppins"/>
                <a:ea typeface="Poppins"/>
                <a:cs typeface="Poppins"/>
                <a:sym typeface="Poppins"/>
              </a:rPr>
              <a:t>i</a:t>
            </a:r>
            <a:r>
              <a:rPr lang="en-US" sz="1800" spc="-36" strike="noStrike" u="none">
                <a:solidFill>
                  <a:srgbClr val="145DA0"/>
                </a:solidFill>
                <a:latin typeface="Poppins"/>
                <a:ea typeface="Poppins"/>
                <a:cs typeface="Poppins"/>
                <a:sym typeface="Poppins"/>
              </a:rPr>
              <a:t>lity a</a:t>
            </a:r>
            <a:r>
              <a:rPr lang="en-US" sz="1800" spc="-36">
                <a:solidFill>
                  <a:srgbClr val="145DA0"/>
                </a:solidFill>
                <a:latin typeface="Poppins"/>
                <a:ea typeface="Poppins"/>
                <a:cs typeface="Poppins"/>
                <a:sym typeface="Poppins"/>
              </a:rPr>
              <a:t>n</a:t>
            </a:r>
            <a:r>
              <a:rPr lang="en-US" sz="1800" spc="-36" strike="noStrike" u="none">
                <a:solidFill>
                  <a:srgbClr val="145DA0"/>
                </a:solidFill>
                <a:latin typeface="Poppins"/>
                <a:ea typeface="Poppins"/>
                <a:cs typeface="Poppins"/>
                <a:sym typeface="Poppins"/>
              </a:rPr>
              <a:t>d</a:t>
            </a:r>
            <a:r>
              <a:rPr lang="en-US" sz="1800" spc="-36">
                <a:solidFill>
                  <a:srgbClr val="145DA0"/>
                </a:solidFill>
                <a:latin typeface="Poppins"/>
                <a:ea typeface="Poppins"/>
                <a:cs typeface="Poppins"/>
                <a:sym typeface="Poppins"/>
              </a:rPr>
              <a:t> </a:t>
            </a:r>
            <a:r>
              <a:rPr lang="en-US" sz="1800" spc="-36" strike="noStrike" u="none">
                <a:solidFill>
                  <a:srgbClr val="145DA0"/>
                </a:solidFill>
                <a:latin typeface="Poppins"/>
                <a:ea typeface="Poppins"/>
                <a:cs typeface="Poppins"/>
                <a:sym typeface="Poppins"/>
              </a:rPr>
              <a:t>robus</a:t>
            </a:r>
            <a:r>
              <a:rPr lang="en-US" sz="1800" spc="-36">
                <a:solidFill>
                  <a:srgbClr val="145DA0"/>
                </a:solidFill>
                <a:latin typeface="Poppins"/>
                <a:ea typeface="Poppins"/>
                <a:cs typeface="Poppins"/>
                <a:sym typeface="Poppins"/>
              </a:rPr>
              <a:t>t</a:t>
            </a:r>
            <a:r>
              <a:rPr lang="en-US" sz="1800" spc="-36" strike="noStrike" u="none">
                <a:solidFill>
                  <a:srgbClr val="145DA0"/>
                </a:solidFill>
                <a:latin typeface="Poppins"/>
                <a:ea typeface="Poppins"/>
                <a:cs typeface="Poppins"/>
                <a:sym typeface="Poppins"/>
              </a:rPr>
              <a:t>nes</a:t>
            </a:r>
            <a:r>
              <a:rPr lang="en-US" sz="1800" spc="-36">
                <a:solidFill>
                  <a:srgbClr val="145DA0"/>
                </a:solidFill>
                <a:latin typeface="Poppins"/>
                <a:ea typeface="Poppins"/>
                <a:cs typeface="Poppins"/>
                <a:sym typeface="Poppins"/>
              </a:rPr>
              <a:t>s</a:t>
            </a:r>
            <a:r>
              <a:rPr lang="en-US" sz="1800" spc="-36" strike="noStrike" u="none">
                <a:solidFill>
                  <a:srgbClr val="145DA0"/>
                </a:solidFill>
                <a:latin typeface="Poppins"/>
                <a:ea typeface="Poppins"/>
                <a:cs typeface="Poppins"/>
                <a:sym typeface="Poppins"/>
              </a:rPr>
              <a:t>.</a:t>
            </a:r>
          </a:p>
          <a:p>
            <a:pPr algn="ctr" marL="388620" indent="-194310" lvl="1">
              <a:lnSpc>
                <a:spcPts val="2520"/>
              </a:lnSpc>
              <a:buFont typeface="Arial"/>
              <a:buChar char="•"/>
            </a:pPr>
            <a:r>
              <a:rPr lang="en-US" sz="1800" spc="-36" strike="noStrike" u="none">
                <a:solidFill>
                  <a:srgbClr val="145DA0"/>
                </a:solidFill>
                <a:latin typeface="Poppins"/>
                <a:ea typeface="Poppins"/>
                <a:cs typeface="Poppins"/>
                <a:sym typeface="Poppins"/>
              </a:rPr>
              <a:t>Method</a:t>
            </a:r>
            <a:r>
              <a:rPr lang="en-US" sz="1800" spc="-36">
                <a:solidFill>
                  <a:srgbClr val="145DA0"/>
                </a:solidFill>
                <a:latin typeface="Poppins"/>
                <a:ea typeface="Poppins"/>
                <a:cs typeface="Poppins"/>
                <a:sym typeface="Poppins"/>
              </a:rPr>
              <a:t>s</a:t>
            </a:r>
            <a:r>
              <a:rPr lang="en-US" sz="1800" spc="-36" strike="noStrike" u="none">
                <a:solidFill>
                  <a:srgbClr val="145DA0"/>
                </a:solidFill>
                <a:latin typeface="Poppins"/>
                <a:ea typeface="Poppins"/>
                <a:cs typeface="Poppins"/>
                <a:sym typeface="Poppins"/>
              </a:rPr>
              <a:t>:</a:t>
            </a:r>
            <a:r>
              <a:rPr lang="en-US" sz="1800" spc="-36">
                <a:solidFill>
                  <a:srgbClr val="145DA0"/>
                </a:solidFill>
                <a:latin typeface="Poppins"/>
                <a:ea typeface="Poppins"/>
                <a:cs typeface="Poppins"/>
                <a:sym typeface="Poppins"/>
              </a:rPr>
              <a:t> </a:t>
            </a:r>
            <a:r>
              <a:rPr lang="en-US" sz="1800" spc="-36" strike="noStrike" u="none">
                <a:solidFill>
                  <a:srgbClr val="145DA0"/>
                </a:solidFill>
                <a:latin typeface="Poppins"/>
                <a:ea typeface="Poppins"/>
                <a:cs typeface="Poppins"/>
                <a:sym typeface="Poppins"/>
              </a:rPr>
              <a:t>K-Fo</a:t>
            </a:r>
            <a:r>
              <a:rPr lang="en-US" sz="1800" spc="-36">
                <a:solidFill>
                  <a:srgbClr val="145DA0"/>
                </a:solidFill>
                <a:latin typeface="Poppins"/>
                <a:ea typeface="Poppins"/>
                <a:cs typeface="Poppins"/>
                <a:sym typeface="Poppins"/>
              </a:rPr>
              <a:t>l</a:t>
            </a:r>
            <a:r>
              <a:rPr lang="en-US" sz="1800" spc="-36" strike="noStrike" u="none">
                <a:solidFill>
                  <a:srgbClr val="145DA0"/>
                </a:solidFill>
                <a:latin typeface="Poppins"/>
                <a:ea typeface="Poppins"/>
                <a:cs typeface="Poppins"/>
                <a:sym typeface="Poppins"/>
              </a:rPr>
              <a:t>d, Strat</a:t>
            </a:r>
            <a:r>
              <a:rPr lang="en-US" sz="1800" spc="-36">
                <a:solidFill>
                  <a:srgbClr val="145DA0"/>
                </a:solidFill>
                <a:latin typeface="Poppins"/>
                <a:ea typeface="Poppins"/>
                <a:cs typeface="Poppins"/>
                <a:sym typeface="Poppins"/>
              </a:rPr>
              <a:t>i</a:t>
            </a:r>
            <a:r>
              <a:rPr lang="en-US" sz="1800" spc="-36" strike="noStrike" u="none">
                <a:solidFill>
                  <a:srgbClr val="145DA0"/>
                </a:solidFill>
                <a:latin typeface="Poppins"/>
                <a:ea typeface="Poppins"/>
                <a:cs typeface="Poppins"/>
                <a:sym typeface="Poppins"/>
              </a:rPr>
              <a:t>fi</a:t>
            </a:r>
            <a:r>
              <a:rPr lang="en-US" sz="1800" spc="-36">
                <a:solidFill>
                  <a:srgbClr val="145DA0"/>
                </a:solidFill>
                <a:latin typeface="Poppins"/>
                <a:ea typeface="Poppins"/>
                <a:cs typeface="Poppins"/>
                <a:sym typeface="Poppins"/>
              </a:rPr>
              <a:t>e</a:t>
            </a:r>
            <a:r>
              <a:rPr lang="en-US" sz="1800" spc="-36" strike="noStrike" u="none">
                <a:solidFill>
                  <a:srgbClr val="145DA0"/>
                </a:solidFill>
                <a:latin typeface="Poppins"/>
                <a:ea typeface="Poppins"/>
                <a:cs typeface="Poppins"/>
                <a:sym typeface="Poppins"/>
              </a:rPr>
              <a:t>d</a:t>
            </a:r>
            <a:r>
              <a:rPr lang="en-US" sz="1800" spc="-36">
                <a:solidFill>
                  <a:srgbClr val="145DA0"/>
                </a:solidFill>
                <a:latin typeface="Poppins"/>
                <a:ea typeface="Poppins"/>
                <a:cs typeface="Poppins"/>
                <a:sym typeface="Poppins"/>
              </a:rPr>
              <a:t> </a:t>
            </a:r>
            <a:r>
              <a:rPr lang="en-US" sz="1800" spc="-36" strike="noStrike" u="none">
                <a:solidFill>
                  <a:srgbClr val="145DA0"/>
                </a:solidFill>
                <a:latin typeface="Poppins"/>
                <a:ea typeface="Poppins"/>
                <a:cs typeface="Poppins"/>
                <a:sym typeface="Poppins"/>
              </a:rPr>
              <a:t>K-Fold, Le</a:t>
            </a:r>
            <a:r>
              <a:rPr lang="en-US" sz="1800" spc="-36">
                <a:solidFill>
                  <a:srgbClr val="145DA0"/>
                </a:solidFill>
                <a:latin typeface="Poppins"/>
                <a:ea typeface="Poppins"/>
                <a:cs typeface="Poppins"/>
                <a:sym typeface="Poppins"/>
              </a:rPr>
              <a:t>a</a:t>
            </a:r>
            <a:r>
              <a:rPr lang="en-US" sz="1800" spc="-36" strike="noStrike" u="none">
                <a:solidFill>
                  <a:srgbClr val="145DA0"/>
                </a:solidFill>
                <a:latin typeface="Poppins"/>
                <a:ea typeface="Poppins"/>
                <a:cs typeface="Poppins"/>
                <a:sym typeface="Poppins"/>
              </a:rPr>
              <a:t>ve-One-Out.</a:t>
            </a:r>
          </a:p>
          <a:p>
            <a:pPr algn="ctr" marL="388620" indent="-194310" lvl="1">
              <a:lnSpc>
                <a:spcPts val="2520"/>
              </a:lnSpc>
              <a:buFont typeface="Arial"/>
              <a:buChar char="•"/>
            </a:pPr>
            <a:r>
              <a:rPr lang="en-US" sz="1800" spc="-36" strike="noStrike" u="none">
                <a:solidFill>
                  <a:srgbClr val="145DA0"/>
                </a:solidFill>
                <a:latin typeface="Poppins"/>
                <a:ea typeface="Poppins"/>
                <a:cs typeface="Poppins"/>
                <a:sym typeface="Poppins"/>
              </a:rPr>
              <a:t>Role:</a:t>
            </a:r>
            <a:r>
              <a:rPr lang="en-US" sz="1800" spc="-36">
                <a:solidFill>
                  <a:srgbClr val="145DA0"/>
                </a:solidFill>
                <a:latin typeface="Poppins"/>
                <a:ea typeface="Poppins"/>
                <a:cs typeface="Poppins"/>
                <a:sym typeface="Poppins"/>
              </a:rPr>
              <a:t> </a:t>
            </a:r>
            <a:r>
              <a:rPr lang="en-US" sz="1800" spc="-36" strike="noStrike" u="none">
                <a:solidFill>
                  <a:srgbClr val="145DA0"/>
                </a:solidFill>
                <a:latin typeface="Poppins"/>
                <a:ea typeface="Poppins"/>
                <a:cs typeface="Poppins"/>
                <a:sym typeface="Poppins"/>
              </a:rPr>
              <a:t>Re</a:t>
            </a:r>
            <a:r>
              <a:rPr lang="en-US" sz="1800" spc="-36">
                <a:solidFill>
                  <a:srgbClr val="145DA0"/>
                </a:solidFill>
                <a:latin typeface="Poppins"/>
                <a:ea typeface="Poppins"/>
                <a:cs typeface="Poppins"/>
                <a:sym typeface="Poppins"/>
              </a:rPr>
              <a:t>d</a:t>
            </a:r>
            <a:r>
              <a:rPr lang="en-US" sz="1800" spc="-36" strike="noStrike" u="none">
                <a:solidFill>
                  <a:srgbClr val="145DA0"/>
                </a:solidFill>
                <a:latin typeface="Poppins"/>
                <a:ea typeface="Poppins"/>
                <a:cs typeface="Poppins"/>
                <a:sym typeface="Poppins"/>
              </a:rPr>
              <a:t>uc</a:t>
            </a:r>
            <a:r>
              <a:rPr lang="en-US" sz="1800" spc="-36">
                <a:solidFill>
                  <a:srgbClr val="145DA0"/>
                </a:solidFill>
                <a:latin typeface="Poppins"/>
                <a:ea typeface="Poppins"/>
                <a:cs typeface="Poppins"/>
                <a:sym typeface="Poppins"/>
              </a:rPr>
              <a:t>e</a:t>
            </a:r>
            <a:r>
              <a:rPr lang="en-US" sz="1800" spc="-36" strike="noStrike" u="none">
                <a:solidFill>
                  <a:srgbClr val="145DA0"/>
                </a:solidFill>
                <a:latin typeface="Poppins"/>
                <a:ea typeface="Poppins"/>
                <a:cs typeface="Poppins"/>
                <a:sym typeface="Poppins"/>
              </a:rPr>
              <a:t>s overfi</a:t>
            </a:r>
            <a:r>
              <a:rPr lang="en-US" sz="1800" spc="-36">
                <a:solidFill>
                  <a:srgbClr val="145DA0"/>
                </a:solidFill>
                <a:latin typeface="Poppins"/>
                <a:ea typeface="Poppins"/>
                <a:cs typeface="Poppins"/>
                <a:sym typeface="Poppins"/>
              </a:rPr>
              <a:t>ttin</a:t>
            </a:r>
            <a:r>
              <a:rPr lang="en-US" sz="1800" spc="-36" strike="noStrike" u="none">
                <a:solidFill>
                  <a:srgbClr val="145DA0"/>
                </a:solidFill>
                <a:latin typeface="Poppins"/>
                <a:ea typeface="Poppins"/>
                <a:cs typeface="Poppins"/>
                <a:sym typeface="Poppins"/>
              </a:rPr>
              <a:t>g</a:t>
            </a:r>
            <a:r>
              <a:rPr lang="en-US" sz="1800" spc="-36">
                <a:solidFill>
                  <a:srgbClr val="145DA0"/>
                </a:solidFill>
                <a:latin typeface="Poppins"/>
                <a:ea typeface="Poppins"/>
                <a:cs typeface="Poppins"/>
                <a:sym typeface="Poppins"/>
              </a:rPr>
              <a:t> and ens</a:t>
            </a:r>
            <a:r>
              <a:rPr lang="en-US" sz="1800" spc="-36" strike="noStrike" u="none">
                <a:solidFill>
                  <a:srgbClr val="145DA0"/>
                </a:solidFill>
                <a:latin typeface="Poppins"/>
                <a:ea typeface="Poppins"/>
                <a:cs typeface="Poppins"/>
                <a:sym typeface="Poppins"/>
              </a:rPr>
              <a:t>u</a:t>
            </a:r>
            <a:r>
              <a:rPr lang="en-US" sz="1800" spc="-36">
                <a:solidFill>
                  <a:srgbClr val="145DA0"/>
                </a:solidFill>
                <a:latin typeface="Poppins"/>
                <a:ea typeface="Poppins"/>
                <a:cs typeface="Poppins"/>
                <a:sym typeface="Poppins"/>
              </a:rPr>
              <a:t>res th</a:t>
            </a:r>
            <a:r>
              <a:rPr lang="en-US" sz="1800" spc="-36" strike="noStrike" u="none">
                <a:solidFill>
                  <a:srgbClr val="145DA0"/>
                </a:solidFill>
                <a:latin typeface="Poppins"/>
                <a:ea typeface="Poppins"/>
                <a:cs typeface="Poppins"/>
                <a:sym typeface="Poppins"/>
              </a:rPr>
              <a:t>e</a:t>
            </a:r>
            <a:r>
              <a:rPr lang="en-US" sz="1800" spc="-36">
                <a:solidFill>
                  <a:srgbClr val="145DA0"/>
                </a:solidFill>
                <a:latin typeface="Poppins"/>
                <a:ea typeface="Poppins"/>
                <a:cs typeface="Poppins"/>
                <a:sym typeface="Poppins"/>
              </a:rPr>
              <a:t> </a:t>
            </a:r>
            <a:r>
              <a:rPr lang="en-US" sz="1800" spc="-36" strike="noStrike" u="none">
                <a:solidFill>
                  <a:srgbClr val="145DA0"/>
                </a:solidFill>
                <a:latin typeface="Poppins"/>
                <a:ea typeface="Poppins"/>
                <a:cs typeface="Poppins"/>
                <a:sym typeface="Poppins"/>
              </a:rPr>
              <a:t>mo</a:t>
            </a:r>
            <a:r>
              <a:rPr lang="en-US" sz="1800" spc="-36">
                <a:solidFill>
                  <a:srgbClr val="145DA0"/>
                </a:solidFill>
                <a:latin typeface="Poppins"/>
                <a:ea typeface="Poppins"/>
                <a:cs typeface="Poppins"/>
                <a:sym typeface="Poppins"/>
              </a:rPr>
              <a:t>de</a:t>
            </a:r>
            <a:r>
              <a:rPr lang="en-US" sz="1800" spc="-36" strike="noStrike" u="none">
                <a:solidFill>
                  <a:srgbClr val="145DA0"/>
                </a:solidFill>
                <a:latin typeface="Poppins"/>
                <a:ea typeface="Poppins"/>
                <a:cs typeface="Poppins"/>
                <a:sym typeface="Poppins"/>
              </a:rPr>
              <a:t>l</a:t>
            </a:r>
            <a:r>
              <a:rPr lang="en-US" sz="1800" spc="-36">
                <a:solidFill>
                  <a:srgbClr val="145DA0"/>
                </a:solidFill>
                <a:latin typeface="Poppins"/>
                <a:ea typeface="Poppins"/>
                <a:cs typeface="Poppins"/>
                <a:sym typeface="Poppins"/>
              </a:rPr>
              <a:t> genera</a:t>
            </a:r>
            <a:r>
              <a:rPr lang="en-US" sz="1800" spc="-36" strike="noStrike" u="none">
                <a:solidFill>
                  <a:srgbClr val="145DA0"/>
                </a:solidFill>
                <a:latin typeface="Poppins"/>
                <a:ea typeface="Poppins"/>
                <a:cs typeface="Poppins"/>
                <a:sym typeface="Poppins"/>
              </a:rPr>
              <a:t>l</a:t>
            </a:r>
            <a:r>
              <a:rPr lang="en-US" sz="1800" spc="-36">
                <a:solidFill>
                  <a:srgbClr val="145DA0"/>
                </a:solidFill>
                <a:latin typeface="Poppins"/>
                <a:ea typeface="Poppins"/>
                <a:cs typeface="Poppins"/>
                <a:sym typeface="Poppins"/>
              </a:rPr>
              <a:t>i</a:t>
            </a:r>
            <a:r>
              <a:rPr lang="en-US" sz="1800" spc="-36" strike="noStrike" u="none">
                <a:solidFill>
                  <a:srgbClr val="145DA0"/>
                </a:solidFill>
                <a:latin typeface="Poppins"/>
                <a:ea typeface="Poppins"/>
                <a:cs typeface="Poppins"/>
                <a:sym typeface="Poppins"/>
              </a:rPr>
              <a:t>zes</a:t>
            </a:r>
            <a:r>
              <a:rPr lang="en-US" sz="1800" spc="-36">
                <a:solidFill>
                  <a:srgbClr val="145DA0"/>
                </a:solidFill>
                <a:latin typeface="Poppins"/>
                <a:ea typeface="Poppins"/>
                <a:cs typeface="Poppins"/>
                <a:sym typeface="Poppins"/>
              </a:rPr>
              <a:t> </a:t>
            </a:r>
            <a:r>
              <a:rPr lang="en-US" sz="1800" spc="-36" strike="noStrike" u="none">
                <a:solidFill>
                  <a:srgbClr val="145DA0"/>
                </a:solidFill>
                <a:latin typeface="Poppins"/>
                <a:ea typeface="Poppins"/>
                <a:cs typeface="Poppins"/>
                <a:sym typeface="Poppins"/>
              </a:rPr>
              <a:t>w</a:t>
            </a:r>
            <a:r>
              <a:rPr lang="en-US" sz="1800" spc="-36">
                <a:solidFill>
                  <a:srgbClr val="145DA0"/>
                </a:solidFill>
                <a:latin typeface="Poppins"/>
                <a:ea typeface="Poppins"/>
                <a:cs typeface="Poppins"/>
                <a:sym typeface="Poppins"/>
              </a:rPr>
              <a:t>e</a:t>
            </a:r>
            <a:r>
              <a:rPr lang="en-US" sz="1800" spc="-36" strike="noStrike" u="none">
                <a:solidFill>
                  <a:srgbClr val="145DA0"/>
                </a:solidFill>
                <a:latin typeface="Poppins"/>
                <a:ea typeface="Poppins"/>
                <a:cs typeface="Poppins"/>
                <a:sym typeface="Poppins"/>
              </a:rPr>
              <a:t>ll</a:t>
            </a:r>
            <a:r>
              <a:rPr lang="en-US" sz="1800" spc="-36">
                <a:solidFill>
                  <a:srgbClr val="145DA0"/>
                </a:solidFill>
                <a:latin typeface="Poppins"/>
                <a:ea typeface="Poppins"/>
                <a:cs typeface="Poppins"/>
                <a:sym typeface="Poppins"/>
              </a:rPr>
              <a:t> to </a:t>
            </a:r>
            <a:r>
              <a:rPr lang="en-US" sz="1800" spc="-36" strike="noStrike" u="none">
                <a:solidFill>
                  <a:srgbClr val="145DA0"/>
                </a:solidFill>
                <a:latin typeface="Poppins"/>
                <a:ea typeface="Poppins"/>
                <a:cs typeface="Poppins"/>
                <a:sym typeface="Poppins"/>
              </a:rPr>
              <a:t>u</a:t>
            </a:r>
            <a:r>
              <a:rPr lang="en-US" sz="1800" spc="-36">
                <a:solidFill>
                  <a:srgbClr val="145DA0"/>
                </a:solidFill>
                <a:latin typeface="Poppins"/>
                <a:ea typeface="Poppins"/>
                <a:cs typeface="Poppins"/>
                <a:sym typeface="Poppins"/>
              </a:rPr>
              <a:t>nse</a:t>
            </a:r>
            <a:r>
              <a:rPr lang="en-US" sz="1800" spc="-36" strike="noStrike" u="none">
                <a:solidFill>
                  <a:srgbClr val="145DA0"/>
                </a:solidFill>
                <a:latin typeface="Poppins"/>
                <a:ea typeface="Poppins"/>
                <a:cs typeface="Poppins"/>
                <a:sym typeface="Poppins"/>
              </a:rPr>
              <a:t>en</a:t>
            </a:r>
            <a:r>
              <a:rPr lang="en-US" sz="1800" spc="-36">
                <a:solidFill>
                  <a:srgbClr val="145DA0"/>
                </a:solidFill>
                <a:latin typeface="Poppins"/>
                <a:ea typeface="Poppins"/>
                <a:cs typeface="Poppins"/>
                <a:sym typeface="Poppins"/>
              </a:rPr>
              <a:t> d</a:t>
            </a:r>
            <a:r>
              <a:rPr lang="en-US" sz="1800" spc="-36" strike="noStrike" u="none">
                <a:solidFill>
                  <a:srgbClr val="145DA0"/>
                </a:solidFill>
                <a:latin typeface="Poppins"/>
                <a:ea typeface="Poppins"/>
                <a:cs typeface="Poppins"/>
                <a:sym typeface="Poppins"/>
              </a:rPr>
              <a:t>ata.</a:t>
            </a:r>
          </a:p>
          <a:p>
            <a:pPr algn="ctr" marL="388620" indent="-194310" lvl="1">
              <a:lnSpc>
                <a:spcPts val="2520"/>
              </a:lnSpc>
              <a:buFont typeface="Arial"/>
              <a:buChar char="•"/>
            </a:pPr>
          </a:p>
        </p:txBody>
      </p:sp>
      <p:sp>
        <p:nvSpPr>
          <p:cNvPr name="TextBox 24" id="24"/>
          <p:cNvSpPr txBox="true"/>
          <p:nvPr/>
        </p:nvSpPr>
        <p:spPr>
          <a:xfrm rot="0">
            <a:off x="7410296" y="2860889"/>
            <a:ext cx="3490991" cy="439633"/>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Cross-Validation</a:t>
            </a:r>
          </a:p>
        </p:txBody>
      </p:sp>
      <p:sp>
        <p:nvSpPr>
          <p:cNvPr name="TextBox 25" id="25"/>
          <p:cNvSpPr txBox="true"/>
          <p:nvPr/>
        </p:nvSpPr>
        <p:spPr>
          <a:xfrm rot="0">
            <a:off x="11767299" y="3992780"/>
            <a:ext cx="4196704" cy="3469005"/>
          </a:xfrm>
          <a:prstGeom prst="rect">
            <a:avLst/>
          </a:prstGeom>
        </p:spPr>
        <p:txBody>
          <a:bodyPr anchor="t" rtlCol="false" tIns="0" lIns="0" bIns="0" rIns="0">
            <a:spAutoFit/>
          </a:bodyPr>
          <a:lstStyle/>
          <a:p>
            <a:pPr algn="ctr" marL="388620" indent="-194310" lvl="1">
              <a:lnSpc>
                <a:spcPts val="2520"/>
              </a:lnSpc>
              <a:spcBef>
                <a:spcPct val="0"/>
              </a:spcBef>
              <a:buFont typeface="Arial"/>
              <a:buChar char="•"/>
            </a:pPr>
            <a:r>
              <a:rPr lang="en-US" sz="1800" spc="-36" strike="noStrike" u="none">
                <a:solidFill>
                  <a:srgbClr val="145DA0"/>
                </a:solidFill>
                <a:latin typeface="Poppins"/>
                <a:ea typeface="Poppins"/>
                <a:cs typeface="Poppins"/>
                <a:sym typeface="Poppins"/>
              </a:rPr>
              <a:t>Feature Importance Graphs: Visual representation of the contribution of each feature.</a:t>
            </a:r>
          </a:p>
          <a:p>
            <a:pPr algn="ctr" marL="388620" indent="-194310" lvl="1">
              <a:lnSpc>
                <a:spcPts val="2520"/>
              </a:lnSpc>
              <a:spcBef>
                <a:spcPct val="0"/>
              </a:spcBef>
              <a:buFont typeface="Arial"/>
              <a:buChar char="•"/>
            </a:pPr>
            <a:r>
              <a:rPr lang="en-US" sz="1800" spc="-36" strike="noStrike" u="none">
                <a:solidFill>
                  <a:srgbClr val="145DA0"/>
                </a:solidFill>
                <a:latin typeface="Poppins"/>
                <a:ea typeface="Poppins"/>
                <a:cs typeface="Poppins"/>
                <a:sym typeface="Poppins"/>
              </a:rPr>
              <a:t>Confusion Matrix: Provides insight into true positives, false positives, true negatives, and false negatives.</a:t>
            </a:r>
          </a:p>
          <a:p>
            <a:pPr algn="ctr" marL="388620" indent="-194310" lvl="1">
              <a:lnSpc>
                <a:spcPts val="2520"/>
              </a:lnSpc>
              <a:spcBef>
                <a:spcPct val="0"/>
              </a:spcBef>
              <a:buFont typeface="Arial"/>
              <a:buChar char="•"/>
            </a:pPr>
            <a:r>
              <a:rPr lang="en-US" sz="1800" spc="-36" strike="noStrike" u="none">
                <a:solidFill>
                  <a:srgbClr val="145DA0"/>
                </a:solidFill>
                <a:latin typeface="Poppins"/>
                <a:ea typeface="Poppins"/>
                <a:cs typeface="Poppins"/>
                <a:sym typeface="Poppins"/>
              </a:rPr>
              <a:t>ROC-AUC Curves: Measures the trade-off between sensitivity and specificity.</a:t>
            </a:r>
          </a:p>
          <a:p>
            <a:pPr algn="ctr" marL="388620" indent="-194310" lvl="1">
              <a:lnSpc>
                <a:spcPts val="2520"/>
              </a:lnSpc>
              <a:spcBef>
                <a:spcPct val="0"/>
              </a:spcBef>
              <a:buFont typeface="Arial"/>
              <a:buChar char="•"/>
            </a:pPr>
          </a:p>
        </p:txBody>
      </p:sp>
      <p:sp>
        <p:nvSpPr>
          <p:cNvPr name="TextBox 26" id="26"/>
          <p:cNvSpPr txBox="true"/>
          <p:nvPr/>
        </p:nvSpPr>
        <p:spPr>
          <a:xfrm rot="0">
            <a:off x="11968405" y="2860889"/>
            <a:ext cx="3891288" cy="439633"/>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Visualization Tools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3266830"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51D40"/>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465227" y="643730"/>
            <a:ext cx="7922504" cy="1571623"/>
          </a:xfrm>
          <a:prstGeom prst="rect">
            <a:avLst/>
          </a:prstGeom>
        </p:spPr>
        <p:txBody>
          <a:bodyPr anchor="t" rtlCol="false" tIns="0" lIns="0" bIns="0" rIns="0">
            <a:spAutoFit/>
          </a:bodyPr>
          <a:lstStyle/>
          <a:p>
            <a:pPr algn="l" marL="0" indent="0" lvl="0">
              <a:lnSpc>
                <a:spcPts val="6300"/>
              </a:lnSpc>
              <a:spcBef>
                <a:spcPct val="0"/>
              </a:spcBef>
            </a:pPr>
            <a:r>
              <a:rPr lang="en-US" sz="4500">
                <a:solidFill>
                  <a:srgbClr val="051D40"/>
                </a:solidFill>
                <a:latin typeface="Open Sans Extra Bold"/>
                <a:ea typeface="Open Sans Extra Bold"/>
                <a:cs typeface="Open Sans Extra Bold"/>
                <a:sym typeface="Open Sans Extra Bold"/>
              </a:rPr>
              <a:t> Extensions and Variants of Random Forest</a:t>
            </a:r>
          </a:p>
        </p:txBody>
      </p:sp>
      <p:grpSp>
        <p:nvGrpSpPr>
          <p:cNvPr name="Group 6" id="6"/>
          <p:cNvGrpSpPr/>
          <p:nvPr/>
        </p:nvGrpSpPr>
        <p:grpSpPr>
          <a:xfrm rot="0">
            <a:off x="-1595820" y="-1782102"/>
            <a:ext cx="3564204" cy="35642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4700679" y="7074186"/>
            <a:ext cx="5946973" cy="594697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492054" y="7769978"/>
            <a:ext cx="12416921" cy="774666"/>
          </a:xfrm>
          <a:custGeom>
            <a:avLst/>
            <a:gdLst/>
            <a:ahLst/>
            <a:cxnLst/>
            <a:rect r="r" b="b" t="t" l="l"/>
            <a:pathLst>
              <a:path h="774666" w="12416921">
                <a:moveTo>
                  <a:pt x="0" y="0"/>
                </a:moveTo>
                <a:lnTo>
                  <a:pt x="12416921" y="0"/>
                </a:lnTo>
                <a:lnTo>
                  <a:pt x="12416921" y="774666"/>
                </a:lnTo>
                <a:lnTo>
                  <a:pt x="0" y="774666"/>
                </a:lnTo>
                <a:lnTo>
                  <a:pt x="0" y="0"/>
                </a:lnTo>
                <a:close/>
              </a:path>
            </a:pathLst>
          </a:custGeom>
          <a:blipFill>
            <a:blip r:embed="rId2"/>
            <a:stretch>
              <a:fillRect l="0" t="-216567" r="0" b="0"/>
            </a:stretch>
          </a:blipFill>
        </p:spPr>
      </p:sp>
      <p:grpSp>
        <p:nvGrpSpPr>
          <p:cNvPr name="Group 13" id="13"/>
          <p:cNvGrpSpPr/>
          <p:nvPr/>
        </p:nvGrpSpPr>
        <p:grpSpPr>
          <a:xfrm rot="0">
            <a:off x="492054" y="4808011"/>
            <a:ext cx="12416921" cy="4836338"/>
            <a:chOff x="0" y="0"/>
            <a:chExt cx="3003039" cy="1169671"/>
          </a:xfrm>
        </p:grpSpPr>
        <p:sp>
          <p:nvSpPr>
            <p:cNvPr name="Freeform 14" id="14"/>
            <p:cNvSpPr/>
            <p:nvPr/>
          </p:nvSpPr>
          <p:spPr>
            <a:xfrm flipH="false" flipV="false" rot="0">
              <a:off x="0" y="0"/>
              <a:ext cx="3003039" cy="1169671"/>
            </a:xfrm>
            <a:custGeom>
              <a:avLst/>
              <a:gdLst/>
              <a:ahLst/>
              <a:cxnLst/>
              <a:rect r="r" b="b" t="t" l="l"/>
              <a:pathLst>
                <a:path h="1169671" w="3003039">
                  <a:moveTo>
                    <a:pt x="8729" y="0"/>
                  </a:moveTo>
                  <a:lnTo>
                    <a:pt x="2994310" y="0"/>
                  </a:lnTo>
                  <a:cubicBezTo>
                    <a:pt x="2999131" y="0"/>
                    <a:pt x="3003039" y="3908"/>
                    <a:pt x="3003039" y="8729"/>
                  </a:cubicBezTo>
                  <a:lnTo>
                    <a:pt x="3003039" y="1160942"/>
                  </a:lnTo>
                  <a:cubicBezTo>
                    <a:pt x="3003039" y="1165763"/>
                    <a:pt x="2999131" y="1169671"/>
                    <a:pt x="2994310" y="1169671"/>
                  </a:cubicBezTo>
                  <a:lnTo>
                    <a:pt x="8729" y="1169671"/>
                  </a:lnTo>
                  <a:cubicBezTo>
                    <a:pt x="3908" y="1169671"/>
                    <a:pt x="0" y="1165763"/>
                    <a:pt x="0" y="1160942"/>
                  </a:cubicBezTo>
                  <a:lnTo>
                    <a:pt x="0" y="8729"/>
                  </a:lnTo>
                  <a:cubicBezTo>
                    <a:pt x="0" y="3908"/>
                    <a:pt x="3908" y="0"/>
                    <a:pt x="8729" y="0"/>
                  </a:cubicBezTo>
                  <a:close/>
                </a:path>
              </a:pathLst>
            </a:custGeom>
            <a:solidFill>
              <a:srgbClr val="00569E"/>
            </a:solidFill>
          </p:spPr>
        </p:sp>
        <p:sp>
          <p:nvSpPr>
            <p:cNvPr name="TextBox 15" id="15"/>
            <p:cNvSpPr txBox="true"/>
            <p:nvPr/>
          </p:nvSpPr>
          <p:spPr>
            <a:xfrm>
              <a:off x="0" y="-38100"/>
              <a:ext cx="3003039" cy="120777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465227" y="2714401"/>
            <a:ext cx="3031870" cy="1930052"/>
            <a:chOff x="0" y="0"/>
            <a:chExt cx="1017650" cy="647824"/>
          </a:xfrm>
        </p:grpSpPr>
        <p:sp>
          <p:nvSpPr>
            <p:cNvPr name="Freeform 17" id="17"/>
            <p:cNvSpPr/>
            <p:nvPr/>
          </p:nvSpPr>
          <p:spPr>
            <a:xfrm flipH="false" flipV="false" rot="0">
              <a:off x="0" y="0"/>
              <a:ext cx="1017650" cy="647824"/>
            </a:xfrm>
            <a:custGeom>
              <a:avLst/>
              <a:gdLst/>
              <a:ahLst/>
              <a:cxnLst/>
              <a:rect r="r" b="b" t="t" l="l"/>
              <a:pathLst>
                <a:path h="647824" w="1017650">
                  <a:moveTo>
                    <a:pt x="117462" y="0"/>
                  </a:moveTo>
                  <a:lnTo>
                    <a:pt x="900189" y="0"/>
                  </a:lnTo>
                  <a:cubicBezTo>
                    <a:pt x="931341" y="0"/>
                    <a:pt x="961218" y="12375"/>
                    <a:pt x="983246" y="34404"/>
                  </a:cubicBezTo>
                  <a:cubicBezTo>
                    <a:pt x="1005275" y="56432"/>
                    <a:pt x="1017650" y="86309"/>
                    <a:pt x="1017650" y="117462"/>
                  </a:cubicBezTo>
                  <a:lnTo>
                    <a:pt x="1017650" y="530362"/>
                  </a:lnTo>
                  <a:cubicBezTo>
                    <a:pt x="1017650" y="595234"/>
                    <a:pt x="965061" y="647824"/>
                    <a:pt x="900189" y="647824"/>
                  </a:cubicBezTo>
                  <a:lnTo>
                    <a:pt x="117462" y="647824"/>
                  </a:lnTo>
                  <a:cubicBezTo>
                    <a:pt x="86309" y="647824"/>
                    <a:pt x="56432" y="635448"/>
                    <a:pt x="34404" y="613420"/>
                  </a:cubicBezTo>
                  <a:cubicBezTo>
                    <a:pt x="12375" y="591392"/>
                    <a:pt x="0" y="561515"/>
                    <a:pt x="0" y="530362"/>
                  </a:cubicBezTo>
                  <a:lnTo>
                    <a:pt x="0" y="117462"/>
                  </a:lnTo>
                  <a:cubicBezTo>
                    <a:pt x="0" y="86309"/>
                    <a:pt x="12375" y="56432"/>
                    <a:pt x="34404" y="34404"/>
                  </a:cubicBezTo>
                  <a:cubicBezTo>
                    <a:pt x="56432" y="12375"/>
                    <a:pt x="86309" y="0"/>
                    <a:pt x="117462"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18" id="18"/>
            <p:cNvSpPr txBox="true"/>
            <p:nvPr/>
          </p:nvSpPr>
          <p:spPr>
            <a:xfrm>
              <a:off x="0" y="-66675"/>
              <a:ext cx="1017650" cy="714499"/>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Extra Trees (Extremely Randomized Trees)</a:t>
              </a:r>
            </a:p>
          </p:txBody>
        </p:sp>
      </p:grpSp>
      <p:grpSp>
        <p:nvGrpSpPr>
          <p:cNvPr name="Group 19" id="19"/>
          <p:cNvGrpSpPr/>
          <p:nvPr/>
        </p:nvGrpSpPr>
        <p:grpSpPr>
          <a:xfrm rot="0">
            <a:off x="5426479" y="3055268"/>
            <a:ext cx="3018884" cy="1491902"/>
            <a:chOff x="0" y="0"/>
            <a:chExt cx="1013291" cy="500758"/>
          </a:xfrm>
        </p:grpSpPr>
        <p:sp>
          <p:nvSpPr>
            <p:cNvPr name="Freeform 20" id="20"/>
            <p:cNvSpPr/>
            <p:nvPr/>
          </p:nvSpPr>
          <p:spPr>
            <a:xfrm flipH="false" flipV="false" rot="0">
              <a:off x="0" y="0"/>
              <a:ext cx="1013291" cy="500758"/>
            </a:xfrm>
            <a:custGeom>
              <a:avLst/>
              <a:gdLst/>
              <a:ahLst/>
              <a:cxnLst/>
              <a:rect r="r" b="b" t="t" l="l"/>
              <a:pathLst>
                <a:path h="500758" w="1013291">
                  <a:moveTo>
                    <a:pt x="117967" y="0"/>
                  </a:moveTo>
                  <a:lnTo>
                    <a:pt x="895324" y="0"/>
                  </a:lnTo>
                  <a:cubicBezTo>
                    <a:pt x="926611" y="0"/>
                    <a:pt x="956616" y="12429"/>
                    <a:pt x="978739" y="34552"/>
                  </a:cubicBezTo>
                  <a:cubicBezTo>
                    <a:pt x="1000863" y="56675"/>
                    <a:pt x="1013291" y="86680"/>
                    <a:pt x="1013291" y="117967"/>
                  </a:cubicBezTo>
                  <a:lnTo>
                    <a:pt x="1013291" y="382791"/>
                  </a:lnTo>
                  <a:cubicBezTo>
                    <a:pt x="1013291" y="447943"/>
                    <a:pt x="960476" y="500758"/>
                    <a:pt x="895324" y="500758"/>
                  </a:cubicBezTo>
                  <a:lnTo>
                    <a:pt x="117967" y="500758"/>
                  </a:lnTo>
                  <a:cubicBezTo>
                    <a:pt x="86680" y="500758"/>
                    <a:pt x="56675" y="488330"/>
                    <a:pt x="34552" y="466207"/>
                  </a:cubicBezTo>
                  <a:cubicBezTo>
                    <a:pt x="12429" y="444084"/>
                    <a:pt x="0" y="414078"/>
                    <a:pt x="0" y="382791"/>
                  </a:cubicBezTo>
                  <a:lnTo>
                    <a:pt x="0" y="117967"/>
                  </a:lnTo>
                  <a:cubicBezTo>
                    <a:pt x="0" y="52816"/>
                    <a:pt x="52816" y="0"/>
                    <a:pt x="117967"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1" id="21"/>
            <p:cNvSpPr txBox="true"/>
            <p:nvPr/>
          </p:nvSpPr>
          <p:spPr>
            <a:xfrm>
              <a:off x="0" y="-66675"/>
              <a:ext cx="1013291" cy="567433"/>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Random Forest with Boosting</a:t>
              </a:r>
            </a:p>
          </p:txBody>
        </p:sp>
      </p:grpSp>
      <p:grpSp>
        <p:nvGrpSpPr>
          <p:cNvPr name="Group 22" id="22"/>
          <p:cNvGrpSpPr/>
          <p:nvPr/>
        </p:nvGrpSpPr>
        <p:grpSpPr>
          <a:xfrm rot="0">
            <a:off x="9601827" y="3055268"/>
            <a:ext cx="2907796" cy="1491902"/>
            <a:chOff x="0" y="0"/>
            <a:chExt cx="976004" cy="500758"/>
          </a:xfrm>
        </p:grpSpPr>
        <p:sp>
          <p:nvSpPr>
            <p:cNvPr name="Freeform 23" id="23"/>
            <p:cNvSpPr/>
            <p:nvPr/>
          </p:nvSpPr>
          <p:spPr>
            <a:xfrm flipH="false" flipV="false" rot="0">
              <a:off x="0" y="0"/>
              <a:ext cx="976004" cy="500758"/>
            </a:xfrm>
            <a:custGeom>
              <a:avLst/>
              <a:gdLst/>
              <a:ahLst/>
              <a:cxnLst/>
              <a:rect r="r" b="b" t="t" l="l"/>
              <a:pathLst>
                <a:path h="500758" w="976004">
                  <a:moveTo>
                    <a:pt x="122474" y="0"/>
                  </a:moveTo>
                  <a:lnTo>
                    <a:pt x="853531" y="0"/>
                  </a:lnTo>
                  <a:cubicBezTo>
                    <a:pt x="886013" y="0"/>
                    <a:pt x="917164" y="12903"/>
                    <a:pt x="940133" y="35872"/>
                  </a:cubicBezTo>
                  <a:cubicBezTo>
                    <a:pt x="963101" y="58840"/>
                    <a:pt x="976004" y="89992"/>
                    <a:pt x="976004" y="122474"/>
                  </a:cubicBezTo>
                  <a:lnTo>
                    <a:pt x="976004" y="378285"/>
                  </a:lnTo>
                  <a:cubicBezTo>
                    <a:pt x="976004" y="410767"/>
                    <a:pt x="963101" y="441918"/>
                    <a:pt x="940133" y="464887"/>
                  </a:cubicBezTo>
                  <a:cubicBezTo>
                    <a:pt x="917164" y="487855"/>
                    <a:pt x="886013" y="500758"/>
                    <a:pt x="853531" y="500758"/>
                  </a:cubicBezTo>
                  <a:lnTo>
                    <a:pt x="122474" y="500758"/>
                  </a:lnTo>
                  <a:cubicBezTo>
                    <a:pt x="89992" y="500758"/>
                    <a:pt x="58840" y="487855"/>
                    <a:pt x="35872" y="464887"/>
                  </a:cubicBezTo>
                  <a:cubicBezTo>
                    <a:pt x="12903" y="441918"/>
                    <a:pt x="0" y="410767"/>
                    <a:pt x="0" y="378285"/>
                  </a:cubicBezTo>
                  <a:lnTo>
                    <a:pt x="0" y="122474"/>
                  </a:lnTo>
                  <a:cubicBezTo>
                    <a:pt x="0" y="89992"/>
                    <a:pt x="12903" y="58840"/>
                    <a:pt x="35872" y="35872"/>
                  </a:cubicBezTo>
                  <a:cubicBezTo>
                    <a:pt x="58840" y="12903"/>
                    <a:pt x="89992" y="0"/>
                    <a:pt x="122474"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4" id="24"/>
            <p:cNvSpPr txBox="true"/>
            <p:nvPr/>
          </p:nvSpPr>
          <p:spPr>
            <a:xfrm>
              <a:off x="0" y="-66675"/>
              <a:ext cx="976004" cy="567433"/>
            </a:xfrm>
            <a:prstGeom prst="rect">
              <a:avLst/>
            </a:prstGeom>
          </p:spPr>
          <p:txBody>
            <a:bodyPr anchor="ctr" rtlCol="false" tIns="0" lIns="0" bIns="0" rIns="0"/>
            <a:lstStyle/>
            <a:p>
              <a:pPr algn="ctr" marL="0" indent="0" lvl="0">
                <a:lnSpc>
                  <a:spcPts val="3480"/>
                </a:lnSpc>
                <a:spcBef>
                  <a:spcPct val="0"/>
                </a:spcBef>
              </a:pPr>
              <a:r>
                <a:rPr lang="en-US" b="true" sz="2486">
                  <a:solidFill>
                    <a:srgbClr val="FFFFFF"/>
                  </a:solidFill>
                  <a:latin typeface="Poppins Bold"/>
                  <a:ea typeface="Poppins Bold"/>
                  <a:cs typeface="Poppins Bold"/>
                  <a:sym typeface="Poppins Bold"/>
                </a:rPr>
                <a:t>Differences with Gradient Boosted Trees</a:t>
              </a:r>
            </a:p>
          </p:txBody>
        </p:sp>
      </p:grpSp>
      <p:sp>
        <p:nvSpPr>
          <p:cNvPr name="TextBox 25" id="25"/>
          <p:cNvSpPr txBox="true"/>
          <p:nvPr/>
        </p:nvSpPr>
        <p:spPr>
          <a:xfrm rot="0">
            <a:off x="1420498" y="5095875"/>
            <a:ext cx="2898363" cy="3538599"/>
          </a:xfrm>
          <a:prstGeom prst="rect">
            <a:avLst/>
          </a:prstGeom>
        </p:spPr>
        <p:txBody>
          <a:bodyPr anchor="t" rtlCol="false" tIns="0" lIns="0" bIns="0" rIns="0">
            <a:spAutoFit/>
          </a:bodyPr>
          <a:lstStyle/>
          <a:p>
            <a:pPr algn="ctr" marL="391979" indent="-195989" lvl="1">
              <a:lnSpc>
                <a:spcPts val="2541"/>
              </a:lnSpc>
              <a:buFont typeface="Arial"/>
              <a:buChar char="•"/>
            </a:pPr>
            <a:r>
              <a:rPr lang="en-US" sz="1815" spc="-36">
                <a:solidFill>
                  <a:srgbClr val="FDFDFD"/>
                </a:solidFill>
                <a:latin typeface="Poppins"/>
                <a:ea typeface="Poppins"/>
                <a:cs typeface="Poppins"/>
                <a:sym typeface="Poppins"/>
              </a:rPr>
              <a:t>Method: Uses fully randomized splits when building trees.</a:t>
            </a:r>
          </a:p>
          <a:p>
            <a:pPr algn="ctr" marL="391979" indent="-195989" lvl="1">
              <a:lnSpc>
                <a:spcPts val="2541"/>
              </a:lnSpc>
              <a:buFont typeface="Arial"/>
              <a:buChar char="•"/>
            </a:pPr>
            <a:r>
              <a:rPr lang="en-US" sz="1815" spc="-36">
                <a:solidFill>
                  <a:srgbClr val="FDFDFD"/>
                </a:solidFill>
                <a:latin typeface="Poppins"/>
                <a:ea typeface="Poppins"/>
                <a:cs typeface="Poppins"/>
                <a:sym typeface="Poppins"/>
              </a:rPr>
              <a:t>Pros: Faster training due to reduced complexity in splitting.</a:t>
            </a:r>
          </a:p>
          <a:p>
            <a:pPr algn="ctr" marL="391979" indent="-195989" lvl="1">
              <a:lnSpc>
                <a:spcPts val="2541"/>
              </a:lnSpc>
              <a:spcBef>
                <a:spcPct val="0"/>
              </a:spcBef>
              <a:buFont typeface="Arial"/>
              <a:buChar char="•"/>
            </a:pPr>
            <a:r>
              <a:rPr lang="en-US" sz="1815" spc="-36">
                <a:solidFill>
                  <a:srgbClr val="FDFDFD"/>
                </a:solidFill>
                <a:latin typeface="Poppins"/>
                <a:ea typeface="Poppins"/>
                <a:cs typeface="Poppins"/>
                <a:sym typeface="Poppins"/>
              </a:rPr>
              <a:t>Cons: May be less stable but more efficient with large datasets.</a:t>
            </a:r>
          </a:p>
          <a:p>
            <a:pPr algn="ctr" marL="0" indent="0" lvl="0">
              <a:lnSpc>
                <a:spcPts val="2541"/>
              </a:lnSpc>
              <a:spcBef>
                <a:spcPct val="0"/>
              </a:spcBef>
            </a:pPr>
          </a:p>
        </p:txBody>
      </p:sp>
      <p:sp>
        <p:nvSpPr>
          <p:cNvPr name="TextBox 26" id="26"/>
          <p:cNvSpPr txBox="true"/>
          <p:nvPr/>
        </p:nvSpPr>
        <p:spPr>
          <a:xfrm rot="0">
            <a:off x="4957036" y="5095875"/>
            <a:ext cx="3462775" cy="4110735"/>
          </a:xfrm>
          <a:prstGeom prst="rect">
            <a:avLst/>
          </a:prstGeom>
        </p:spPr>
        <p:txBody>
          <a:bodyPr anchor="t" rtlCol="false" tIns="0" lIns="0" bIns="0" rIns="0">
            <a:spAutoFit/>
          </a:bodyPr>
          <a:lstStyle/>
          <a:p>
            <a:pPr algn="ctr" marL="385249" indent="-192625" lvl="1">
              <a:lnSpc>
                <a:spcPts val="2498"/>
              </a:lnSpc>
              <a:buFont typeface="Arial"/>
              <a:buChar char="•"/>
            </a:pPr>
            <a:r>
              <a:rPr lang="en-US" sz="1784" spc="-35">
                <a:solidFill>
                  <a:srgbClr val="FDFDFD"/>
                </a:solidFill>
                <a:latin typeface="Poppins"/>
                <a:ea typeface="Poppins"/>
                <a:cs typeface="Poppins"/>
                <a:sym typeface="Poppins"/>
              </a:rPr>
              <a:t>Hybrid Models: Combines the parallel structure of Random Forests with sequential boosting techniques (e.g., AdaBoost, Gradient Boosting).</a:t>
            </a:r>
          </a:p>
          <a:p>
            <a:pPr algn="ctr" marL="385249" indent="-192625" lvl="1">
              <a:lnSpc>
                <a:spcPts val="2498"/>
              </a:lnSpc>
              <a:buFont typeface="Arial"/>
              <a:buChar char="•"/>
            </a:pPr>
            <a:r>
              <a:rPr lang="en-US" sz="1784" spc="-35">
                <a:solidFill>
                  <a:srgbClr val="FDFDFD"/>
                </a:solidFill>
                <a:latin typeface="Poppins"/>
                <a:ea typeface="Poppins"/>
                <a:cs typeface="Poppins"/>
                <a:sym typeface="Poppins"/>
              </a:rPr>
              <a:t>Pros: Improved accuracy by addressing bias and variance simultaneously.</a:t>
            </a:r>
          </a:p>
          <a:p>
            <a:pPr algn="ctr" marL="385249" indent="-192625" lvl="1">
              <a:lnSpc>
                <a:spcPts val="2498"/>
              </a:lnSpc>
              <a:spcBef>
                <a:spcPct val="0"/>
              </a:spcBef>
              <a:buFont typeface="Arial"/>
              <a:buChar char="•"/>
            </a:pPr>
            <a:r>
              <a:rPr lang="en-US" sz="1784" spc="-35">
                <a:solidFill>
                  <a:srgbClr val="FDFDFD"/>
                </a:solidFill>
                <a:latin typeface="Poppins"/>
                <a:ea typeface="Poppins"/>
                <a:cs typeface="Poppins"/>
                <a:sym typeface="Poppins"/>
              </a:rPr>
              <a:t>Cons: Higher computational cost compared to standard Random Forest.</a:t>
            </a:r>
          </a:p>
          <a:p>
            <a:pPr algn="ctr" marL="0" indent="0" lvl="0">
              <a:lnSpc>
                <a:spcPts val="2498"/>
              </a:lnSpc>
              <a:spcBef>
                <a:spcPct val="0"/>
              </a:spcBef>
            </a:pPr>
          </a:p>
        </p:txBody>
      </p:sp>
      <p:sp>
        <p:nvSpPr>
          <p:cNvPr name="TextBox 27" id="27"/>
          <p:cNvSpPr txBox="true"/>
          <p:nvPr/>
        </p:nvSpPr>
        <p:spPr>
          <a:xfrm rot="0">
            <a:off x="9055576" y="5006045"/>
            <a:ext cx="3601042" cy="4426768"/>
          </a:xfrm>
          <a:prstGeom prst="rect">
            <a:avLst/>
          </a:prstGeom>
        </p:spPr>
        <p:txBody>
          <a:bodyPr anchor="t" rtlCol="false" tIns="0" lIns="0" bIns="0" rIns="0">
            <a:spAutoFit/>
          </a:bodyPr>
          <a:lstStyle/>
          <a:p>
            <a:pPr algn="ctr" marL="385249" indent="-192625" lvl="1">
              <a:lnSpc>
                <a:spcPts val="2498"/>
              </a:lnSpc>
              <a:buFont typeface="Arial"/>
              <a:buChar char="•"/>
            </a:pPr>
            <a:r>
              <a:rPr lang="en-US" sz="1784" spc="-35">
                <a:solidFill>
                  <a:srgbClr val="FDFDFD"/>
                </a:solidFill>
                <a:latin typeface="Poppins"/>
                <a:ea typeface="Poppins"/>
                <a:cs typeface="Poppins"/>
                <a:sym typeface="Poppins"/>
              </a:rPr>
              <a:t>Random Forest: Grows trees in parallel to reduce variance.</a:t>
            </a:r>
          </a:p>
          <a:p>
            <a:pPr algn="ctr" marL="385249" indent="-192625" lvl="1">
              <a:lnSpc>
                <a:spcPts val="2498"/>
              </a:lnSpc>
              <a:buFont typeface="Arial"/>
              <a:buChar char="•"/>
            </a:pPr>
            <a:r>
              <a:rPr lang="en-US" sz="1784" spc="-35">
                <a:solidFill>
                  <a:srgbClr val="FDFDFD"/>
                </a:solidFill>
                <a:latin typeface="Poppins"/>
                <a:ea typeface="Poppins"/>
                <a:cs typeface="Poppins"/>
                <a:sym typeface="Poppins"/>
              </a:rPr>
              <a:t>Gradient Boosted Trees: Grows trees sequentially to reduce bias, making them more suited for complex patterns.</a:t>
            </a:r>
          </a:p>
          <a:p>
            <a:pPr algn="ctr" marL="385249" indent="-192625" lvl="1">
              <a:lnSpc>
                <a:spcPts val="2498"/>
              </a:lnSpc>
              <a:spcBef>
                <a:spcPct val="0"/>
              </a:spcBef>
              <a:buFont typeface="Arial"/>
              <a:buChar char="•"/>
            </a:pPr>
            <a:r>
              <a:rPr lang="en-US" sz="1784" spc="-35">
                <a:solidFill>
                  <a:srgbClr val="FDFDFD"/>
                </a:solidFill>
                <a:latin typeface="Poppins"/>
                <a:ea typeface="Poppins"/>
                <a:cs typeface="Poppins"/>
                <a:sym typeface="Poppins"/>
              </a:rPr>
              <a:t>Use Cases: Random Forests excel in interpretability, while boosting methods perform better in accuracy for structured data.</a:t>
            </a:r>
          </a:p>
          <a:p>
            <a:pPr algn="ctr" marL="0" indent="0" lvl="0">
              <a:lnSpc>
                <a:spcPts val="2498"/>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288127" y="1703629"/>
            <a:ext cx="7429665" cy="3857596"/>
            <a:chOff x="0" y="0"/>
            <a:chExt cx="1956784" cy="1015992"/>
          </a:xfrm>
        </p:grpSpPr>
        <p:sp>
          <p:nvSpPr>
            <p:cNvPr name="Freeform 3" id="3"/>
            <p:cNvSpPr/>
            <p:nvPr/>
          </p:nvSpPr>
          <p:spPr>
            <a:xfrm flipH="false" flipV="false" rot="0">
              <a:off x="0" y="0"/>
              <a:ext cx="1956784" cy="1015992"/>
            </a:xfrm>
            <a:custGeom>
              <a:avLst/>
              <a:gdLst/>
              <a:ahLst/>
              <a:cxnLst/>
              <a:rect r="r" b="b" t="t" l="l"/>
              <a:pathLst>
                <a:path h="1015992" w="1956784">
                  <a:moveTo>
                    <a:pt x="83362" y="0"/>
                  </a:moveTo>
                  <a:lnTo>
                    <a:pt x="1873422" y="0"/>
                  </a:lnTo>
                  <a:cubicBezTo>
                    <a:pt x="1895531" y="0"/>
                    <a:pt x="1916735" y="8783"/>
                    <a:pt x="1932368" y="24416"/>
                  </a:cubicBezTo>
                  <a:cubicBezTo>
                    <a:pt x="1948001" y="40050"/>
                    <a:pt x="1956784" y="61253"/>
                    <a:pt x="1956784" y="83362"/>
                  </a:cubicBezTo>
                  <a:lnTo>
                    <a:pt x="1956784" y="932630"/>
                  </a:lnTo>
                  <a:cubicBezTo>
                    <a:pt x="1956784" y="954739"/>
                    <a:pt x="1948001" y="975943"/>
                    <a:pt x="1932368" y="991576"/>
                  </a:cubicBezTo>
                  <a:cubicBezTo>
                    <a:pt x="1916735" y="1007210"/>
                    <a:pt x="1895531" y="1015992"/>
                    <a:pt x="1873422" y="1015992"/>
                  </a:cubicBezTo>
                  <a:lnTo>
                    <a:pt x="83362" y="1015992"/>
                  </a:lnTo>
                  <a:cubicBezTo>
                    <a:pt x="37323" y="1015992"/>
                    <a:pt x="0" y="978670"/>
                    <a:pt x="0" y="932630"/>
                  </a:cubicBezTo>
                  <a:lnTo>
                    <a:pt x="0" y="83362"/>
                  </a:lnTo>
                  <a:cubicBezTo>
                    <a:pt x="0" y="61253"/>
                    <a:pt x="8783" y="40050"/>
                    <a:pt x="24416" y="24416"/>
                  </a:cubicBezTo>
                  <a:cubicBezTo>
                    <a:pt x="40050" y="8783"/>
                    <a:pt x="61253" y="0"/>
                    <a:pt x="83362" y="0"/>
                  </a:cubicBezTo>
                  <a:close/>
                </a:path>
              </a:pathLst>
            </a:custGeom>
            <a:solidFill>
              <a:srgbClr val="5B98BA"/>
            </a:solidFill>
            <a:ln w="190500" cap="rnd">
              <a:solidFill>
                <a:srgbClr val="00569E"/>
              </a:solidFill>
              <a:prstDash val="solid"/>
              <a:round/>
            </a:ln>
          </p:spPr>
        </p:sp>
        <p:sp>
          <p:nvSpPr>
            <p:cNvPr name="TextBox 4" id="4"/>
            <p:cNvSpPr txBox="true"/>
            <p:nvPr/>
          </p:nvSpPr>
          <p:spPr>
            <a:xfrm>
              <a:off x="0" y="-38100"/>
              <a:ext cx="1956784" cy="105409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894907" y="447287"/>
            <a:ext cx="8773418" cy="771523"/>
          </a:xfrm>
          <a:prstGeom prst="rect">
            <a:avLst/>
          </a:prstGeom>
        </p:spPr>
        <p:txBody>
          <a:bodyPr anchor="t" rtlCol="false" tIns="0" lIns="0" bIns="0" rIns="0">
            <a:spAutoFit/>
          </a:bodyPr>
          <a:lstStyle/>
          <a:p>
            <a:pPr algn="ctr" marL="0" indent="0" lvl="0">
              <a:lnSpc>
                <a:spcPts val="6300"/>
              </a:lnSpc>
              <a:spcBef>
                <a:spcPct val="0"/>
              </a:spcBef>
            </a:pPr>
            <a:r>
              <a:rPr lang="en-US" b="true" sz="4500" strike="noStrike" u="none">
                <a:solidFill>
                  <a:srgbClr val="051D40"/>
                </a:solidFill>
                <a:latin typeface="Open Sans Extra Bold"/>
                <a:ea typeface="Open Sans Extra Bold"/>
                <a:cs typeface="Open Sans Extra Bold"/>
                <a:sym typeface="Open Sans Extra Bold"/>
              </a:rPr>
              <a:t>Future of Random Forest in AI</a:t>
            </a:r>
          </a:p>
        </p:txBody>
      </p:sp>
      <p:sp>
        <p:nvSpPr>
          <p:cNvPr name="TextBox 6" id="6"/>
          <p:cNvSpPr txBox="true"/>
          <p:nvPr/>
        </p:nvSpPr>
        <p:spPr>
          <a:xfrm rot="0">
            <a:off x="3125988" y="2272296"/>
            <a:ext cx="3753942" cy="441675"/>
          </a:xfrm>
          <a:prstGeom prst="rect">
            <a:avLst/>
          </a:prstGeom>
        </p:spPr>
        <p:txBody>
          <a:bodyPr anchor="t" rtlCol="false" tIns="0" lIns="0" bIns="0" rIns="0">
            <a:spAutoFit/>
          </a:bodyPr>
          <a:lstStyle/>
          <a:p>
            <a:pPr algn="ctr" marL="0" indent="0" lvl="0">
              <a:lnSpc>
                <a:spcPts val="3480"/>
              </a:lnSpc>
              <a:spcBef>
                <a:spcPct val="0"/>
              </a:spcBef>
            </a:pPr>
            <a:r>
              <a:rPr lang="en-US" b="true" sz="2486" strike="noStrike" u="none">
                <a:solidFill>
                  <a:srgbClr val="000000"/>
                </a:solidFill>
                <a:latin typeface="Poppins Bold"/>
                <a:ea typeface="Poppins Bold"/>
                <a:cs typeface="Poppins Bold"/>
                <a:sym typeface="Poppins Bold"/>
              </a:rPr>
              <a:t>Trends in Development</a:t>
            </a:r>
          </a:p>
        </p:txBody>
      </p:sp>
      <p:sp>
        <p:nvSpPr>
          <p:cNvPr name="TextBox 7" id="7"/>
          <p:cNvSpPr txBox="true"/>
          <p:nvPr/>
        </p:nvSpPr>
        <p:spPr>
          <a:xfrm rot="0">
            <a:off x="2386214" y="2930355"/>
            <a:ext cx="5233490" cy="1985439"/>
          </a:xfrm>
          <a:prstGeom prst="rect">
            <a:avLst/>
          </a:prstGeom>
        </p:spPr>
        <p:txBody>
          <a:bodyPr anchor="t" rtlCol="false" tIns="0" lIns="0" bIns="0" rIns="0">
            <a:spAutoFit/>
          </a:bodyPr>
          <a:lstStyle/>
          <a:p>
            <a:pPr algn="ctr">
              <a:lnSpc>
                <a:spcPts val="2653"/>
              </a:lnSpc>
              <a:spcBef>
                <a:spcPct val="0"/>
              </a:spcBef>
            </a:pPr>
            <a:r>
              <a:rPr lang="en-US" b="true" sz="1895">
                <a:solidFill>
                  <a:srgbClr val="FDFDFD"/>
                </a:solidFill>
                <a:latin typeface="Open Sans Extra Bold"/>
                <a:ea typeface="Open Sans Extra Bold"/>
                <a:cs typeface="Open Sans Extra Bold"/>
                <a:sym typeface="Open Sans Extra Bold"/>
              </a:rPr>
              <a:t>Real-Time Processing: Advancements in distributed computing and hardware acceleration enable faster predictions.</a:t>
            </a:r>
          </a:p>
          <a:p>
            <a:pPr algn="ctr">
              <a:lnSpc>
                <a:spcPts val="2653"/>
              </a:lnSpc>
              <a:spcBef>
                <a:spcPct val="0"/>
              </a:spcBef>
            </a:pPr>
            <a:r>
              <a:rPr lang="en-US" b="true" sz="1895">
                <a:solidFill>
                  <a:srgbClr val="FDFDFD"/>
                </a:solidFill>
                <a:latin typeface="Open Sans Extra Bold"/>
                <a:ea typeface="Open Sans Extra Bold"/>
                <a:cs typeface="Open Sans Extra Bold"/>
                <a:sym typeface="Open Sans Extra Bold"/>
              </a:rPr>
              <a:t>Handling Large-Scale Data: Adaptations like distributed Random Forest algorithms (e.g., H2O, Spark MLlib).</a:t>
            </a:r>
          </a:p>
        </p:txBody>
      </p:sp>
      <p:grpSp>
        <p:nvGrpSpPr>
          <p:cNvPr name="Group 8" id="8"/>
          <p:cNvGrpSpPr/>
          <p:nvPr/>
        </p:nvGrpSpPr>
        <p:grpSpPr>
          <a:xfrm rot="0">
            <a:off x="9570209" y="1703629"/>
            <a:ext cx="7429665" cy="3857596"/>
            <a:chOff x="0" y="0"/>
            <a:chExt cx="1956784" cy="1015992"/>
          </a:xfrm>
        </p:grpSpPr>
        <p:sp>
          <p:nvSpPr>
            <p:cNvPr name="Freeform 9" id="9"/>
            <p:cNvSpPr/>
            <p:nvPr/>
          </p:nvSpPr>
          <p:spPr>
            <a:xfrm flipH="false" flipV="false" rot="0">
              <a:off x="0" y="0"/>
              <a:ext cx="1956784" cy="1015992"/>
            </a:xfrm>
            <a:custGeom>
              <a:avLst/>
              <a:gdLst/>
              <a:ahLst/>
              <a:cxnLst/>
              <a:rect r="r" b="b" t="t" l="l"/>
              <a:pathLst>
                <a:path h="1015992" w="1956784">
                  <a:moveTo>
                    <a:pt x="83362" y="0"/>
                  </a:moveTo>
                  <a:lnTo>
                    <a:pt x="1873422" y="0"/>
                  </a:lnTo>
                  <a:cubicBezTo>
                    <a:pt x="1895531" y="0"/>
                    <a:pt x="1916735" y="8783"/>
                    <a:pt x="1932368" y="24416"/>
                  </a:cubicBezTo>
                  <a:cubicBezTo>
                    <a:pt x="1948001" y="40050"/>
                    <a:pt x="1956784" y="61253"/>
                    <a:pt x="1956784" y="83362"/>
                  </a:cubicBezTo>
                  <a:lnTo>
                    <a:pt x="1956784" y="932630"/>
                  </a:lnTo>
                  <a:cubicBezTo>
                    <a:pt x="1956784" y="954739"/>
                    <a:pt x="1948001" y="975943"/>
                    <a:pt x="1932368" y="991576"/>
                  </a:cubicBezTo>
                  <a:cubicBezTo>
                    <a:pt x="1916735" y="1007210"/>
                    <a:pt x="1895531" y="1015992"/>
                    <a:pt x="1873422" y="1015992"/>
                  </a:cubicBezTo>
                  <a:lnTo>
                    <a:pt x="83362" y="1015992"/>
                  </a:lnTo>
                  <a:cubicBezTo>
                    <a:pt x="37323" y="1015992"/>
                    <a:pt x="0" y="978670"/>
                    <a:pt x="0" y="932630"/>
                  </a:cubicBezTo>
                  <a:lnTo>
                    <a:pt x="0" y="83362"/>
                  </a:lnTo>
                  <a:cubicBezTo>
                    <a:pt x="0" y="61253"/>
                    <a:pt x="8783" y="40050"/>
                    <a:pt x="24416" y="24416"/>
                  </a:cubicBezTo>
                  <a:cubicBezTo>
                    <a:pt x="40050" y="8783"/>
                    <a:pt x="61253" y="0"/>
                    <a:pt x="83362" y="0"/>
                  </a:cubicBezTo>
                  <a:close/>
                </a:path>
              </a:pathLst>
            </a:custGeom>
            <a:solidFill>
              <a:srgbClr val="5B98BA"/>
            </a:solidFill>
            <a:ln w="190500" cap="rnd">
              <a:solidFill>
                <a:srgbClr val="00569E"/>
              </a:solidFill>
              <a:prstDash val="solid"/>
              <a:round/>
            </a:ln>
          </p:spPr>
        </p:sp>
        <p:sp>
          <p:nvSpPr>
            <p:cNvPr name="TextBox 10" id="10"/>
            <p:cNvSpPr txBox="true"/>
            <p:nvPr/>
          </p:nvSpPr>
          <p:spPr>
            <a:xfrm>
              <a:off x="0" y="-38100"/>
              <a:ext cx="1956784" cy="1054092"/>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2076904" y="2224258"/>
            <a:ext cx="2416274" cy="441675"/>
          </a:xfrm>
          <a:prstGeom prst="rect">
            <a:avLst/>
          </a:prstGeom>
        </p:spPr>
        <p:txBody>
          <a:bodyPr anchor="t" rtlCol="false" tIns="0" lIns="0" bIns="0" rIns="0">
            <a:spAutoFit/>
          </a:bodyPr>
          <a:lstStyle/>
          <a:p>
            <a:pPr algn="ctr" marL="0" indent="0" lvl="0">
              <a:lnSpc>
                <a:spcPts val="3480"/>
              </a:lnSpc>
              <a:spcBef>
                <a:spcPct val="0"/>
              </a:spcBef>
            </a:pPr>
            <a:r>
              <a:rPr lang="en-US" b="true" sz="2486" strike="noStrike" u="none">
                <a:solidFill>
                  <a:srgbClr val="000000"/>
                </a:solidFill>
                <a:latin typeface="Poppins Bold"/>
                <a:ea typeface="Poppins Bold"/>
                <a:cs typeface="Poppins Bold"/>
                <a:sym typeface="Poppins Bold"/>
              </a:rPr>
              <a:t>Improvements</a:t>
            </a:r>
          </a:p>
        </p:txBody>
      </p:sp>
      <p:sp>
        <p:nvSpPr>
          <p:cNvPr name="TextBox 12" id="12"/>
          <p:cNvSpPr txBox="true"/>
          <p:nvPr/>
        </p:nvSpPr>
        <p:spPr>
          <a:xfrm rot="0">
            <a:off x="10576784" y="3122888"/>
            <a:ext cx="5416513" cy="1656715"/>
          </a:xfrm>
          <a:prstGeom prst="rect">
            <a:avLst/>
          </a:prstGeom>
        </p:spPr>
        <p:txBody>
          <a:bodyPr anchor="t" rtlCol="false" tIns="0" lIns="0" bIns="0" rIns="0">
            <a:spAutoFit/>
          </a:bodyPr>
          <a:lstStyle/>
          <a:p>
            <a:pPr algn="ctr">
              <a:lnSpc>
                <a:spcPts val="2659"/>
              </a:lnSpc>
              <a:spcBef>
                <a:spcPct val="0"/>
              </a:spcBef>
            </a:pPr>
            <a:r>
              <a:rPr lang="en-US" b="true" sz="1899">
                <a:solidFill>
                  <a:srgbClr val="FDFDFD"/>
                </a:solidFill>
                <a:latin typeface="Open Sans Extra Bold"/>
                <a:ea typeface="Open Sans Extra Bold"/>
                <a:cs typeface="Open Sans Extra Bold"/>
                <a:sym typeface="Open Sans Extra Bold"/>
              </a:rPr>
              <a:t>Efficiency: Optimized algorithms to reduce memory usage and computation time.</a:t>
            </a:r>
          </a:p>
          <a:p>
            <a:pPr algn="ctr">
              <a:lnSpc>
                <a:spcPts val="2659"/>
              </a:lnSpc>
              <a:spcBef>
                <a:spcPct val="0"/>
              </a:spcBef>
            </a:pPr>
            <a:r>
              <a:rPr lang="en-US" b="true" sz="1899">
                <a:solidFill>
                  <a:srgbClr val="FDFDFD"/>
                </a:solidFill>
                <a:latin typeface="Open Sans Extra Bold"/>
                <a:ea typeface="Open Sans Extra Bold"/>
                <a:cs typeface="Open Sans Extra Bold"/>
                <a:sym typeface="Open Sans Extra Bold"/>
              </a:rPr>
              <a:t>Enhanced Interpretability: Techniques like SHAP (SHapley Additive exPlanations) to explain model decisions at a deeper level</a:t>
            </a:r>
          </a:p>
        </p:txBody>
      </p:sp>
      <p:grpSp>
        <p:nvGrpSpPr>
          <p:cNvPr name="Group 13" id="13"/>
          <p:cNvGrpSpPr/>
          <p:nvPr/>
        </p:nvGrpSpPr>
        <p:grpSpPr>
          <a:xfrm rot="0">
            <a:off x="1288127" y="5859422"/>
            <a:ext cx="7429665" cy="3880673"/>
            <a:chOff x="0" y="0"/>
            <a:chExt cx="1956784" cy="1022070"/>
          </a:xfrm>
        </p:grpSpPr>
        <p:sp>
          <p:nvSpPr>
            <p:cNvPr name="Freeform 14" id="14"/>
            <p:cNvSpPr/>
            <p:nvPr/>
          </p:nvSpPr>
          <p:spPr>
            <a:xfrm flipH="false" flipV="false" rot="0">
              <a:off x="0" y="0"/>
              <a:ext cx="1956784" cy="1022070"/>
            </a:xfrm>
            <a:custGeom>
              <a:avLst/>
              <a:gdLst/>
              <a:ahLst/>
              <a:cxnLst/>
              <a:rect r="r" b="b" t="t" l="l"/>
              <a:pathLst>
                <a:path h="1022070" w="1956784">
                  <a:moveTo>
                    <a:pt x="83362" y="0"/>
                  </a:moveTo>
                  <a:lnTo>
                    <a:pt x="1873422" y="0"/>
                  </a:lnTo>
                  <a:cubicBezTo>
                    <a:pt x="1895531" y="0"/>
                    <a:pt x="1916735" y="8783"/>
                    <a:pt x="1932368" y="24416"/>
                  </a:cubicBezTo>
                  <a:cubicBezTo>
                    <a:pt x="1948001" y="40050"/>
                    <a:pt x="1956784" y="61253"/>
                    <a:pt x="1956784" y="83362"/>
                  </a:cubicBezTo>
                  <a:lnTo>
                    <a:pt x="1956784" y="938708"/>
                  </a:lnTo>
                  <a:cubicBezTo>
                    <a:pt x="1956784" y="960817"/>
                    <a:pt x="1948001" y="982020"/>
                    <a:pt x="1932368" y="997654"/>
                  </a:cubicBezTo>
                  <a:cubicBezTo>
                    <a:pt x="1916735" y="1013287"/>
                    <a:pt x="1895531" y="1022070"/>
                    <a:pt x="1873422" y="1022070"/>
                  </a:cubicBezTo>
                  <a:lnTo>
                    <a:pt x="83362" y="1022070"/>
                  </a:lnTo>
                  <a:cubicBezTo>
                    <a:pt x="37323" y="1022070"/>
                    <a:pt x="0" y="984748"/>
                    <a:pt x="0" y="938708"/>
                  </a:cubicBezTo>
                  <a:lnTo>
                    <a:pt x="0" y="83362"/>
                  </a:lnTo>
                  <a:cubicBezTo>
                    <a:pt x="0" y="61253"/>
                    <a:pt x="8783" y="40050"/>
                    <a:pt x="24416" y="24416"/>
                  </a:cubicBezTo>
                  <a:cubicBezTo>
                    <a:pt x="40050" y="8783"/>
                    <a:pt x="61253" y="0"/>
                    <a:pt x="83362" y="0"/>
                  </a:cubicBezTo>
                  <a:close/>
                </a:path>
              </a:pathLst>
            </a:custGeom>
            <a:solidFill>
              <a:srgbClr val="5B98BA"/>
            </a:solidFill>
            <a:ln w="190500" cap="rnd">
              <a:solidFill>
                <a:srgbClr val="00569E"/>
              </a:solidFill>
              <a:prstDash val="solid"/>
              <a:round/>
            </a:ln>
          </p:spPr>
        </p:sp>
        <p:sp>
          <p:nvSpPr>
            <p:cNvPr name="TextBox 15" id="15"/>
            <p:cNvSpPr txBox="true"/>
            <p:nvPr/>
          </p:nvSpPr>
          <p:spPr>
            <a:xfrm>
              <a:off x="0" y="-38100"/>
              <a:ext cx="1956784" cy="106017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6" id="16"/>
          <p:cNvSpPr txBox="true"/>
          <p:nvPr/>
        </p:nvSpPr>
        <p:spPr>
          <a:xfrm rot="0">
            <a:off x="3809834" y="6264700"/>
            <a:ext cx="2323406" cy="441675"/>
          </a:xfrm>
          <a:prstGeom prst="rect">
            <a:avLst/>
          </a:prstGeom>
        </p:spPr>
        <p:txBody>
          <a:bodyPr anchor="t" rtlCol="false" tIns="0" lIns="0" bIns="0" rIns="0">
            <a:spAutoFit/>
          </a:bodyPr>
          <a:lstStyle/>
          <a:p>
            <a:pPr algn="ctr" marL="0" indent="0" lvl="0">
              <a:lnSpc>
                <a:spcPts val="3480"/>
              </a:lnSpc>
              <a:spcBef>
                <a:spcPct val="0"/>
              </a:spcBef>
            </a:pPr>
            <a:r>
              <a:rPr lang="en-US" b="true" sz="2486" strike="noStrike" u="none">
                <a:solidFill>
                  <a:srgbClr val="000000"/>
                </a:solidFill>
                <a:latin typeface="Poppins Bold"/>
                <a:ea typeface="Poppins Bold"/>
                <a:cs typeface="Poppins Bold"/>
                <a:sym typeface="Poppins Bold"/>
              </a:rPr>
              <a:t>Hybrid Models</a:t>
            </a:r>
          </a:p>
        </p:txBody>
      </p:sp>
      <p:sp>
        <p:nvSpPr>
          <p:cNvPr name="TextBox 17" id="17"/>
          <p:cNvSpPr txBox="true"/>
          <p:nvPr/>
        </p:nvSpPr>
        <p:spPr>
          <a:xfrm rot="0">
            <a:off x="2041584" y="6816832"/>
            <a:ext cx="5859906" cy="2323465"/>
          </a:xfrm>
          <a:prstGeom prst="rect">
            <a:avLst/>
          </a:prstGeom>
        </p:spPr>
        <p:txBody>
          <a:bodyPr anchor="t" rtlCol="false" tIns="0" lIns="0" bIns="0" rIns="0">
            <a:spAutoFit/>
          </a:bodyPr>
          <a:lstStyle/>
          <a:p>
            <a:pPr algn="ctr">
              <a:lnSpc>
                <a:spcPts val="2659"/>
              </a:lnSpc>
              <a:spcBef>
                <a:spcPct val="0"/>
              </a:spcBef>
            </a:pPr>
            <a:r>
              <a:rPr lang="en-US" b="true" sz="1899">
                <a:solidFill>
                  <a:srgbClr val="FDFDFD"/>
                </a:solidFill>
                <a:latin typeface="Open Sans Extra Bold"/>
                <a:ea typeface="Open Sans Extra Bold"/>
                <a:cs typeface="Open Sans Extra Bold"/>
                <a:sym typeface="Open Sans Extra Bold"/>
              </a:rPr>
              <a:t>Integration with Neural Networks: Creating ensemble models where Random Forests handle tabular data and neural networks manage unstructured data.</a:t>
            </a:r>
          </a:p>
          <a:p>
            <a:pPr algn="ctr">
              <a:lnSpc>
                <a:spcPts val="2659"/>
              </a:lnSpc>
              <a:spcBef>
                <a:spcPct val="0"/>
              </a:spcBef>
            </a:pPr>
            <a:r>
              <a:rPr lang="en-US" b="true" sz="1899">
                <a:solidFill>
                  <a:srgbClr val="FDFDFD"/>
                </a:solidFill>
                <a:latin typeface="Open Sans Extra Bold"/>
                <a:ea typeface="Open Sans Extra Bold"/>
                <a:cs typeface="Open Sans Extra Bold"/>
                <a:sym typeface="Open Sans Extra Bold"/>
              </a:rPr>
              <a:t>Use Case Examples: Fraud detection systems, hybrid recommendation engines, and medical diagnostic tools.</a:t>
            </a:r>
          </a:p>
        </p:txBody>
      </p:sp>
      <p:grpSp>
        <p:nvGrpSpPr>
          <p:cNvPr name="Group 18" id="18"/>
          <p:cNvGrpSpPr/>
          <p:nvPr/>
        </p:nvGrpSpPr>
        <p:grpSpPr>
          <a:xfrm rot="0">
            <a:off x="9570209" y="5882499"/>
            <a:ext cx="7429665" cy="3857596"/>
            <a:chOff x="0" y="0"/>
            <a:chExt cx="1956784" cy="1015992"/>
          </a:xfrm>
        </p:grpSpPr>
        <p:sp>
          <p:nvSpPr>
            <p:cNvPr name="Freeform 19" id="19"/>
            <p:cNvSpPr/>
            <p:nvPr/>
          </p:nvSpPr>
          <p:spPr>
            <a:xfrm flipH="false" flipV="false" rot="0">
              <a:off x="0" y="0"/>
              <a:ext cx="1956784" cy="1015992"/>
            </a:xfrm>
            <a:custGeom>
              <a:avLst/>
              <a:gdLst/>
              <a:ahLst/>
              <a:cxnLst/>
              <a:rect r="r" b="b" t="t" l="l"/>
              <a:pathLst>
                <a:path h="1015992" w="1956784">
                  <a:moveTo>
                    <a:pt x="83362" y="0"/>
                  </a:moveTo>
                  <a:lnTo>
                    <a:pt x="1873422" y="0"/>
                  </a:lnTo>
                  <a:cubicBezTo>
                    <a:pt x="1895531" y="0"/>
                    <a:pt x="1916735" y="8783"/>
                    <a:pt x="1932368" y="24416"/>
                  </a:cubicBezTo>
                  <a:cubicBezTo>
                    <a:pt x="1948001" y="40050"/>
                    <a:pt x="1956784" y="61253"/>
                    <a:pt x="1956784" y="83362"/>
                  </a:cubicBezTo>
                  <a:lnTo>
                    <a:pt x="1956784" y="932630"/>
                  </a:lnTo>
                  <a:cubicBezTo>
                    <a:pt x="1956784" y="954739"/>
                    <a:pt x="1948001" y="975943"/>
                    <a:pt x="1932368" y="991576"/>
                  </a:cubicBezTo>
                  <a:cubicBezTo>
                    <a:pt x="1916735" y="1007210"/>
                    <a:pt x="1895531" y="1015992"/>
                    <a:pt x="1873422" y="1015992"/>
                  </a:cubicBezTo>
                  <a:lnTo>
                    <a:pt x="83362" y="1015992"/>
                  </a:lnTo>
                  <a:cubicBezTo>
                    <a:pt x="37323" y="1015992"/>
                    <a:pt x="0" y="978670"/>
                    <a:pt x="0" y="932630"/>
                  </a:cubicBezTo>
                  <a:lnTo>
                    <a:pt x="0" y="83362"/>
                  </a:lnTo>
                  <a:cubicBezTo>
                    <a:pt x="0" y="61253"/>
                    <a:pt x="8783" y="40050"/>
                    <a:pt x="24416" y="24416"/>
                  </a:cubicBezTo>
                  <a:cubicBezTo>
                    <a:pt x="40050" y="8783"/>
                    <a:pt x="61253" y="0"/>
                    <a:pt x="83362" y="0"/>
                  </a:cubicBezTo>
                  <a:close/>
                </a:path>
              </a:pathLst>
            </a:custGeom>
            <a:solidFill>
              <a:srgbClr val="5B98BA"/>
            </a:solidFill>
            <a:ln w="190500" cap="rnd">
              <a:solidFill>
                <a:srgbClr val="00569E"/>
              </a:solidFill>
              <a:prstDash val="solid"/>
              <a:round/>
            </a:ln>
          </p:spPr>
        </p:sp>
        <p:sp>
          <p:nvSpPr>
            <p:cNvPr name="TextBox 20" id="20"/>
            <p:cNvSpPr txBox="true"/>
            <p:nvPr/>
          </p:nvSpPr>
          <p:spPr>
            <a:xfrm>
              <a:off x="0" y="-38100"/>
              <a:ext cx="1956784" cy="1054092"/>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2554890" y="6216661"/>
            <a:ext cx="1460302" cy="441675"/>
          </a:xfrm>
          <a:prstGeom prst="rect">
            <a:avLst/>
          </a:prstGeom>
        </p:spPr>
        <p:txBody>
          <a:bodyPr anchor="t" rtlCol="false" tIns="0" lIns="0" bIns="0" rIns="0">
            <a:spAutoFit/>
          </a:bodyPr>
          <a:lstStyle/>
          <a:p>
            <a:pPr algn="ctr" marL="0" indent="0" lvl="0">
              <a:lnSpc>
                <a:spcPts val="3480"/>
              </a:lnSpc>
              <a:spcBef>
                <a:spcPct val="0"/>
              </a:spcBef>
            </a:pPr>
            <a:r>
              <a:rPr lang="en-US" b="true" sz="2486" strike="noStrike" u="none">
                <a:solidFill>
                  <a:srgbClr val="000000"/>
                </a:solidFill>
                <a:latin typeface="Poppins Bold"/>
                <a:ea typeface="Poppins Bold"/>
                <a:cs typeface="Poppins Bold"/>
                <a:sym typeface="Poppins Bold"/>
              </a:rPr>
              <a:t>Role in AI</a:t>
            </a:r>
          </a:p>
        </p:txBody>
      </p:sp>
      <p:sp>
        <p:nvSpPr>
          <p:cNvPr name="TextBox 22" id="22"/>
          <p:cNvSpPr txBox="true"/>
          <p:nvPr/>
        </p:nvSpPr>
        <p:spPr>
          <a:xfrm rot="0">
            <a:off x="10785007" y="6816832"/>
            <a:ext cx="5000068" cy="2323465"/>
          </a:xfrm>
          <a:prstGeom prst="rect">
            <a:avLst/>
          </a:prstGeom>
        </p:spPr>
        <p:txBody>
          <a:bodyPr anchor="t" rtlCol="false" tIns="0" lIns="0" bIns="0" rIns="0">
            <a:spAutoFit/>
          </a:bodyPr>
          <a:lstStyle/>
          <a:p>
            <a:pPr algn="ctr">
              <a:lnSpc>
                <a:spcPts val="2659"/>
              </a:lnSpc>
              <a:spcBef>
                <a:spcPct val="0"/>
              </a:spcBef>
            </a:pPr>
            <a:r>
              <a:rPr lang="en-US" b="true" sz="1899">
                <a:solidFill>
                  <a:srgbClr val="FDFDFD"/>
                </a:solidFill>
                <a:latin typeface="Open Sans Extra Bold"/>
                <a:ea typeface="Open Sans Extra Bold"/>
                <a:cs typeface="Open Sans Extra Bold"/>
                <a:sym typeface="Open Sans Extra Bold"/>
              </a:rPr>
              <a:t>Balancing Interpretability &amp; Performance: Stays crucial in regulated industries (e.g., finance, healthcare) where model transparency is needed.</a:t>
            </a:r>
          </a:p>
          <a:p>
            <a:pPr algn="ctr">
              <a:lnSpc>
                <a:spcPts val="2659"/>
              </a:lnSpc>
              <a:spcBef>
                <a:spcPct val="0"/>
              </a:spcBef>
            </a:pPr>
            <a:r>
              <a:rPr lang="en-US" b="true" sz="1899">
                <a:solidFill>
                  <a:srgbClr val="FDFDFD"/>
                </a:solidFill>
                <a:latin typeface="Open Sans Extra Bold"/>
                <a:ea typeface="Open Sans Extra Bold"/>
                <a:cs typeface="Open Sans Extra Bold"/>
                <a:sym typeface="Open Sans Extra Bold"/>
              </a:rPr>
              <a:t>Complementing Deep Learning: Used for preprocessing, feature selection, and interpreting complex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DAGT0BwcVsw</dc:identifier>
  <dcterms:modified xsi:type="dcterms:W3CDTF">2011-08-01T06:04:30Z</dcterms:modified>
  <cp:revision>1</cp:revision>
  <dc:title>White and Blue Professional Modern Technology Pitch Deck Presentation</dc:title>
</cp:coreProperties>
</file>