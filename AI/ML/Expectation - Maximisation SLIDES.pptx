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 id="2147483673" r:id="rId2"/>
  </p:sldMasterIdLst>
  <p:notesMasterIdLst>
    <p:notesMasterId r:id="rId33"/>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Lst>
  <p:sldSz cx="9144000" cy="5143500" type="screen16x9"/>
  <p:notesSz cx="6858000" cy="9144000"/>
  <p:embeddedFontLst>
    <p:embeddedFont>
      <p:font typeface="Calibri" panose="020F0502020204030204" pitchFamily="34" charset="0"/>
      <p:regular r:id="rId34"/>
      <p:bold r:id="rId35"/>
      <p:italic r:id="rId36"/>
      <p:boldItalic r:id="rId37"/>
    </p:embeddedFont>
    <p:embeddedFont>
      <p:font typeface="Century Gothic" panose="020B0502020202020204" pitchFamily="34" charset="0"/>
      <p:regular r:id="rId38"/>
      <p:bold r:id="rId39"/>
      <p:italic r:id="rId40"/>
      <p:boldItalic r:id="rId41"/>
    </p:embeddedFont>
    <p:embeddedFont>
      <p:font typeface="Microsoft Yahei" panose="020B0503020204020204" pitchFamily="34" charset="-122"/>
      <p:regular r:id="rId42"/>
      <p:bold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FC94B7D-6D7E-4C86-9630-A69211CD34F1}">
  <a:tblStyle styleId="{AFC94B7D-6D7E-4C86-9630-A69211CD34F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7"/>
    <p:restoredTop sz="94694"/>
  </p:normalViewPr>
  <p:slideViewPr>
    <p:cSldViewPr snapToGrid="0">
      <p:cViewPr varScale="1">
        <p:scale>
          <a:sx n="161" d="100"/>
          <a:sy n="161" d="100"/>
        </p:scale>
        <p:origin x="480" y="20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6.fntdata"/><Relationship Id="rId21" Type="http://schemas.openxmlformats.org/officeDocument/2006/relationships/slide" Target="slides/slide19.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3.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font" Target="fonts/font2.fntdata"/><Relationship Id="rId43" Type="http://schemas.openxmlformats.org/officeDocument/2006/relationships/font" Target="fonts/font10.fntdata"/><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2d34ea31434_2_1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 name="Google Shape;201;g2d34ea31434_2_14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2" name="Google Shape;202;g2d34ea31434_2_14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30ade600d21_1_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7" name="Google Shape;207;g30ade600d21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0ade600d21_1_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3" name="Google Shape;213;g30ade600d21_1_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30ade600d21_1_18: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g30ade600d21_1_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30ade600d21_1_2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7" name="Google Shape;227;g30ade600d21_1_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0ade600d21_0_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4" name="Google Shape;234;g30ade600d21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30ade600d21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30ade600d21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2d34ea31434_2_163: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8" name="Google Shape;248;g2d34ea31434_2_1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2d34ea31434_0_1: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4" name="Google Shape;254;g2d34ea31434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d3fe242d77_0_8: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0" name="Google Shape;260;g2d3fe242d77_0_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2d34ea31434_0_23: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6" name="Google Shape;266;g2d34ea31434_0_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2d37043ed5f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2d37043ed5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2d38268e80e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2d38268e80e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2d38268e80e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2d38268e80e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2d34ea31434_0_17: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7" name="Google Shape;297;g2d34ea31434_0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2d3fe242d77_0_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3" name="Google Shape;303;g2d3fe242d77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2d34ea31434_0_1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9" name="Google Shape;309;g2d34ea31434_0_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2d3fe242d77_0_43: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1" name="Google Shape;321;g2d3fe242d77_0_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2d38268e80e_0_27: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7" name="Google Shape;327;g2d38268e80e_0_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g2d38268e80e_0_48: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7" name="Google Shape;337;g2d38268e80e_0_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2d3fe242d77_0_49: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8" name="Google Shape;348;g2d3fe242d77_0_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2d3fe242d77_0_16: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4" name="Google Shape;354;g2d3fe242d77_0_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2d3fe242d77_0_29: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2" name="Google Shape;362;g2d3fe242d77_0_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g2d34e812ba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2d34e812ba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g2d34e812ba0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6" name="Google Shape;376;g2d34e812ba0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2d34e812ba0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 name="Google Shape;382;g2d34e812ba0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2d34e812ba0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2d34e812ba0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g2d34e812ba0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4" name="Google Shape;394;g2d34e812ba0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2d34e812ba0_0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1" name="Google Shape;401;g2d34e812ba0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g30b64f1f8d9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7" name="Google Shape;407;g30b64f1f8d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封面样式2-首页3">
  <p:cSld name="封面样式2-首页3">
    <p:spTree>
      <p:nvGrpSpPr>
        <p:cNvPr id="1" name="Shape 56"/>
        <p:cNvGrpSpPr/>
        <p:nvPr/>
      </p:nvGrpSpPr>
      <p:grpSpPr>
        <a:xfrm>
          <a:off x="0" y="0"/>
          <a:ext cx="0" cy="0"/>
          <a:chOff x="0" y="0"/>
          <a:chExt cx="0" cy="0"/>
        </a:xfrm>
      </p:grpSpPr>
      <p:sp>
        <p:nvSpPr>
          <p:cNvPr id="57" name="Google Shape;57;p14"/>
          <p:cNvSpPr/>
          <p:nvPr/>
        </p:nvSpPr>
        <p:spPr>
          <a:xfrm>
            <a:off x="0" y="0"/>
            <a:ext cx="9144000" cy="5143500"/>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lt1"/>
              </a:buClr>
              <a:buSzPts val="1400"/>
              <a:buFont typeface="Calibri"/>
              <a:buNone/>
            </a:pPr>
            <a:endParaRPr sz="1400" b="0" i="0" u="none" strike="noStrike" cap="none">
              <a:solidFill>
                <a:srgbClr val="FFFFFF"/>
              </a:solidFill>
              <a:latin typeface="Microsoft Yahei"/>
              <a:ea typeface="Microsoft Yahei"/>
              <a:cs typeface="Microsoft Yahei"/>
              <a:sym typeface="Microsoft Yahei"/>
            </a:endParaRPr>
          </a:p>
        </p:txBody>
      </p:sp>
      <p:sp>
        <p:nvSpPr>
          <p:cNvPr id="58" name="Google Shape;58;p14"/>
          <p:cNvSpPr/>
          <p:nvPr/>
        </p:nvSpPr>
        <p:spPr>
          <a:xfrm rot="1916941">
            <a:off x="-471709" y="-453301"/>
            <a:ext cx="9689249" cy="7760567"/>
          </a:xfrm>
          <a:custGeom>
            <a:avLst/>
            <a:gdLst/>
            <a:ahLst/>
            <a:cxnLst/>
            <a:rect l="l" t="t" r="r" b="b"/>
            <a:pathLst>
              <a:path w="12918999" h="10347422" extrusionOk="0">
                <a:moveTo>
                  <a:pt x="3910821" y="3392979"/>
                </a:moveTo>
                <a:cubicBezTo>
                  <a:pt x="5934272" y="2157348"/>
                  <a:pt x="8056184" y="1066634"/>
                  <a:pt x="10262073" y="135295"/>
                </a:cubicBezTo>
                <a:lnTo>
                  <a:pt x="10593809" y="0"/>
                </a:lnTo>
                <a:lnTo>
                  <a:pt x="12918999" y="3728462"/>
                </a:lnTo>
                <a:lnTo>
                  <a:pt x="11966464" y="4224159"/>
                </a:lnTo>
                <a:cubicBezTo>
                  <a:pt x="8816355" y="5904658"/>
                  <a:pt x="5833798" y="7857148"/>
                  <a:pt x="3050273" y="10050202"/>
                </a:cubicBezTo>
                <a:lnTo>
                  <a:pt x="2678241" y="10347422"/>
                </a:lnTo>
                <a:lnTo>
                  <a:pt x="0" y="6052840"/>
                </a:lnTo>
                <a:lnTo>
                  <a:pt x="4301" y="6049545"/>
                </a:lnTo>
                <a:cubicBezTo>
                  <a:pt x="990558" y="5305797"/>
                  <a:pt x="2006380" y="4599047"/>
                  <a:pt x="3049697" y="3931365"/>
                </a:cubicBezTo>
                <a:cubicBezTo>
                  <a:pt x="3334701" y="3748973"/>
                  <a:pt x="3621756" y="3569497"/>
                  <a:pt x="3910821" y="3392979"/>
                </a:cubicBezTo>
                <a:close/>
              </a:path>
            </a:pathLst>
          </a:custGeom>
          <a:gradFill>
            <a:gsLst>
              <a:gs pos="0">
                <a:srgbClr val="FFFFFF">
                  <a:alpha val="0"/>
                </a:srgbClr>
              </a:gs>
              <a:gs pos="100000">
                <a:srgbClr val="8BC145">
                  <a:alpha val="14901"/>
                </a:srgbClr>
              </a:gs>
            </a:gsLst>
            <a:lin ang="5400000" scaled="0"/>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lt1"/>
              </a:buClr>
              <a:buSzPts val="1400"/>
              <a:buFont typeface="Calibri"/>
              <a:buNone/>
            </a:pPr>
            <a:endParaRPr sz="1400" b="0" i="0" u="none" strike="noStrike" cap="none">
              <a:solidFill>
                <a:srgbClr val="FFFFFF"/>
              </a:solidFill>
              <a:latin typeface="Microsoft Yahei"/>
              <a:ea typeface="Microsoft Yahei"/>
              <a:cs typeface="Microsoft Yahei"/>
              <a:sym typeface="Microsoft Yahei"/>
            </a:endParaRPr>
          </a:p>
        </p:txBody>
      </p:sp>
      <p:sp>
        <p:nvSpPr>
          <p:cNvPr id="59" name="Google Shape;59;p14"/>
          <p:cNvSpPr/>
          <p:nvPr/>
        </p:nvSpPr>
        <p:spPr>
          <a:xfrm rot="2885786">
            <a:off x="815947" y="-2227196"/>
            <a:ext cx="8132812" cy="9116366"/>
          </a:xfrm>
          <a:custGeom>
            <a:avLst/>
            <a:gdLst/>
            <a:ahLst/>
            <a:cxnLst/>
            <a:rect l="l" t="t" r="r" b="b"/>
            <a:pathLst>
              <a:path w="10843749" h="12155155" extrusionOk="0">
                <a:moveTo>
                  <a:pt x="6051751" y="1433305"/>
                </a:moveTo>
                <a:cubicBezTo>
                  <a:pt x="6310424" y="1148193"/>
                  <a:pt x="6572461" y="866201"/>
                  <a:pt x="6837805" y="587393"/>
                </a:cubicBezTo>
                <a:lnTo>
                  <a:pt x="7410328" y="0"/>
                </a:lnTo>
                <a:lnTo>
                  <a:pt x="10843749" y="3081016"/>
                </a:lnTo>
                <a:lnTo>
                  <a:pt x="2700969" y="12155155"/>
                </a:lnTo>
                <a:lnTo>
                  <a:pt x="0" y="9731411"/>
                </a:lnTo>
                <a:lnTo>
                  <a:pt x="261077" y="9278934"/>
                </a:lnTo>
                <a:cubicBezTo>
                  <a:pt x="1926385" y="6466781"/>
                  <a:pt x="3869211" y="3838947"/>
                  <a:pt x="6051751" y="1433305"/>
                </a:cubicBezTo>
                <a:close/>
              </a:path>
            </a:pathLst>
          </a:custGeom>
          <a:gradFill>
            <a:gsLst>
              <a:gs pos="0">
                <a:srgbClr val="FFFFFF">
                  <a:alpha val="0"/>
                </a:srgbClr>
              </a:gs>
              <a:gs pos="100000">
                <a:srgbClr val="8BC145">
                  <a:alpha val="10980"/>
                </a:srgbClr>
              </a:gs>
            </a:gsLst>
            <a:lin ang="5400000" scaled="0"/>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lt1"/>
              </a:buClr>
              <a:buSzPts val="1400"/>
              <a:buFont typeface="Calibri"/>
              <a:buNone/>
            </a:pPr>
            <a:endParaRPr sz="1400" b="0" i="0" u="none" strike="noStrike" cap="none">
              <a:solidFill>
                <a:srgbClr val="FFFFFF"/>
              </a:solidFill>
              <a:latin typeface="Microsoft Yahei"/>
              <a:ea typeface="Microsoft Yahei"/>
              <a:cs typeface="Microsoft Yahei"/>
              <a:sym typeface="Microsoft Yahei"/>
            </a:endParaRPr>
          </a:p>
        </p:txBody>
      </p:sp>
      <p:sp>
        <p:nvSpPr>
          <p:cNvPr id="60" name="Google Shape;60;p14"/>
          <p:cNvSpPr/>
          <p:nvPr/>
        </p:nvSpPr>
        <p:spPr>
          <a:xfrm rot="1846855">
            <a:off x="-230461" y="-404772"/>
            <a:ext cx="9488117" cy="8649362"/>
          </a:xfrm>
          <a:custGeom>
            <a:avLst/>
            <a:gdLst/>
            <a:ahLst/>
            <a:cxnLst/>
            <a:rect l="l" t="t" r="r" b="b"/>
            <a:pathLst>
              <a:path w="12650822" h="11532482" extrusionOk="0">
                <a:moveTo>
                  <a:pt x="7956679" y="1195248"/>
                </a:moveTo>
                <a:cubicBezTo>
                  <a:pt x="8621077" y="803084"/>
                  <a:pt x="9295272" y="425195"/>
                  <a:pt x="9978822" y="62012"/>
                </a:cubicBezTo>
                <a:lnTo>
                  <a:pt x="10098991" y="0"/>
                </a:lnTo>
                <a:lnTo>
                  <a:pt x="12650822" y="4283979"/>
                </a:lnTo>
                <a:lnTo>
                  <a:pt x="12245569" y="4531370"/>
                </a:lnTo>
                <a:cubicBezTo>
                  <a:pt x="9012618" y="6531229"/>
                  <a:pt x="5974903" y="8805712"/>
                  <a:pt x="3166697" y="11321300"/>
                </a:cubicBezTo>
                <a:lnTo>
                  <a:pt x="2933905" y="11532482"/>
                </a:lnTo>
                <a:lnTo>
                  <a:pt x="1718627" y="9865697"/>
                </a:lnTo>
                <a:lnTo>
                  <a:pt x="0" y="6980488"/>
                </a:lnTo>
                <a:lnTo>
                  <a:pt x="22022" y="6960742"/>
                </a:lnTo>
                <a:cubicBezTo>
                  <a:pt x="1511041" y="5644986"/>
                  <a:pt x="3079104" y="4413194"/>
                  <a:pt x="4718407" y="3273000"/>
                </a:cubicBezTo>
                <a:cubicBezTo>
                  <a:pt x="5769244" y="2542106"/>
                  <a:pt x="6849352" y="1848853"/>
                  <a:pt x="7956679" y="1195248"/>
                </a:cubicBezTo>
                <a:close/>
              </a:path>
            </a:pathLst>
          </a:custGeom>
          <a:gradFill>
            <a:gsLst>
              <a:gs pos="0">
                <a:srgbClr val="FFFFFF">
                  <a:alpha val="2745"/>
                </a:srgbClr>
              </a:gs>
              <a:gs pos="100000">
                <a:srgbClr val="8BC145">
                  <a:alpha val="17647"/>
                </a:srgbClr>
              </a:gs>
            </a:gsLst>
            <a:lin ang="5400000" scaled="0"/>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lt1"/>
              </a:buClr>
              <a:buSzPts val="1400"/>
              <a:buFont typeface="Calibri"/>
              <a:buNone/>
            </a:pPr>
            <a:endParaRPr sz="1400" b="0" i="0" u="none" strike="noStrike" cap="none">
              <a:solidFill>
                <a:srgbClr val="FFFFFF"/>
              </a:solidFill>
              <a:latin typeface="Microsoft Yahei"/>
              <a:ea typeface="Microsoft Yahei"/>
              <a:cs typeface="Microsoft Yahei"/>
              <a:sym typeface="Microsoft Yahei"/>
            </a:endParaRPr>
          </a:p>
        </p:txBody>
      </p:sp>
      <p:sp>
        <p:nvSpPr>
          <p:cNvPr id="61" name="Google Shape;61;p14"/>
          <p:cNvSpPr/>
          <p:nvPr/>
        </p:nvSpPr>
        <p:spPr>
          <a:xfrm>
            <a:off x="-1" y="2248731"/>
            <a:ext cx="9143999" cy="2742011"/>
          </a:xfrm>
          <a:custGeom>
            <a:avLst/>
            <a:gdLst/>
            <a:ahLst/>
            <a:cxnLst/>
            <a:rect l="l" t="t" r="r" b="b"/>
            <a:pathLst>
              <a:path w="12191999" h="3656014" extrusionOk="0">
                <a:moveTo>
                  <a:pt x="6096002" y="0"/>
                </a:moveTo>
                <a:cubicBezTo>
                  <a:pt x="8104174" y="0"/>
                  <a:pt x="9969760" y="209519"/>
                  <a:pt x="11517301" y="568339"/>
                </a:cubicBezTo>
                <a:lnTo>
                  <a:pt x="12191999" y="741496"/>
                </a:lnTo>
                <a:lnTo>
                  <a:pt x="12191999" y="3656014"/>
                </a:lnTo>
                <a:lnTo>
                  <a:pt x="0" y="3656014"/>
                </a:lnTo>
                <a:lnTo>
                  <a:pt x="0" y="741497"/>
                </a:lnTo>
                <a:lnTo>
                  <a:pt x="674702" y="568339"/>
                </a:lnTo>
                <a:cubicBezTo>
                  <a:pt x="2222243" y="209519"/>
                  <a:pt x="4087830" y="0"/>
                  <a:pt x="6096002" y="0"/>
                </a:cubicBezTo>
                <a:close/>
              </a:path>
            </a:pathLst>
          </a:custGeom>
          <a:solidFill>
            <a:schemeClr val="lt1"/>
          </a:solidFill>
          <a:ln>
            <a:noFill/>
          </a:ln>
          <a:effectLst>
            <a:outerShdw blurRad="381000" sx="102000" sy="102000" algn="ctr" rotWithShape="0">
              <a:srgbClr val="000000">
                <a:alpha val="9803"/>
              </a:srgbClr>
            </a:outerShdw>
          </a:effectLst>
        </p:spPr>
        <p:txBody>
          <a:bodyPr spcFirstLastPara="1" wrap="square" lIns="68575" tIns="34275" rIns="68575" bIns="34275" anchor="ctr" anchorCtr="0">
            <a:noAutofit/>
          </a:bodyPr>
          <a:lstStyle/>
          <a:p>
            <a:pPr marL="0" marR="0" lvl="0" indent="0" algn="ctr" rtl="0">
              <a:lnSpc>
                <a:spcPct val="130000"/>
              </a:lnSpc>
              <a:spcBef>
                <a:spcPts val="0"/>
              </a:spcBef>
              <a:spcAft>
                <a:spcPts val="0"/>
              </a:spcAft>
              <a:buClr>
                <a:schemeClr val="lt1"/>
              </a:buClr>
              <a:buSzPts val="1400"/>
              <a:buFont typeface="Calibri"/>
              <a:buNone/>
            </a:pPr>
            <a:endParaRPr sz="1400" b="0" i="0" u="none" strike="noStrike" cap="none">
              <a:solidFill>
                <a:srgbClr val="FFFFFF"/>
              </a:solidFill>
              <a:latin typeface="Microsoft Yahei"/>
              <a:ea typeface="Microsoft Yahei"/>
              <a:cs typeface="Microsoft Yahei"/>
              <a:sym typeface="Microsoft Yahei"/>
            </a:endParaRPr>
          </a:p>
        </p:txBody>
      </p:sp>
      <p:sp>
        <p:nvSpPr>
          <p:cNvPr id="62" name="Google Shape;62;p14"/>
          <p:cNvSpPr/>
          <p:nvPr/>
        </p:nvSpPr>
        <p:spPr>
          <a:xfrm>
            <a:off x="-1" y="2264690"/>
            <a:ext cx="9143999" cy="2742011"/>
          </a:xfrm>
          <a:custGeom>
            <a:avLst/>
            <a:gdLst/>
            <a:ahLst/>
            <a:cxnLst/>
            <a:rect l="l" t="t" r="r" b="b"/>
            <a:pathLst>
              <a:path w="12191999" h="3656014" extrusionOk="0">
                <a:moveTo>
                  <a:pt x="6096002" y="0"/>
                </a:moveTo>
                <a:cubicBezTo>
                  <a:pt x="8104174" y="0"/>
                  <a:pt x="9969760" y="209519"/>
                  <a:pt x="11517301" y="568339"/>
                </a:cubicBezTo>
                <a:lnTo>
                  <a:pt x="12191999" y="741496"/>
                </a:lnTo>
                <a:lnTo>
                  <a:pt x="12191999" y="3656014"/>
                </a:lnTo>
                <a:lnTo>
                  <a:pt x="0" y="3656014"/>
                </a:lnTo>
                <a:lnTo>
                  <a:pt x="0" y="741497"/>
                </a:lnTo>
                <a:lnTo>
                  <a:pt x="674702" y="568339"/>
                </a:lnTo>
                <a:cubicBezTo>
                  <a:pt x="2222243" y="209519"/>
                  <a:pt x="4087830" y="0"/>
                  <a:pt x="6096002" y="0"/>
                </a:cubicBezTo>
                <a:close/>
              </a:path>
            </a:pathLst>
          </a:custGeom>
          <a:solidFill>
            <a:schemeClr val="accent4"/>
          </a:solidFill>
          <a:ln>
            <a:noFill/>
          </a:ln>
        </p:spPr>
        <p:txBody>
          <a:bodyPr spcFirstLastPara="1" wrap="square" lIns="68575" tIns="34275" rIns="68575" bIns="34275" anchor="ctr" anchorCtr="0">
            <a:noAutofit/>
          </a:bodyPr>
          <a:lstStyle/>
          <a:p>
            <a:pPr marL="0" marR="0" lvl="0" indent="0" algn="ctr" rtl="0">
              <a:lnSpc>
                <a:spcPct val="130000"/>
              </a:lnSpc>
              <a:spcBef>
                <a:spcPts val="0"/>
              </a:spcBef>
              <a:spcAft>
                <a:spcPts val="0"/>
              </a:spcAft>
              <a:buClr>
                <a:schemeClr val="lt1"/>
              </a:buClr>
              <a:buSzPts val="1400"/>
              <a:buFont typeface="Calibri"/>
              <a:buNone/>
            </a:pPr>
            <a:endParaRPr sz="1400" b="0" i="0" u="none" strike="noStrike" cap="none">
              <a:solidFill>
                <a:srgbClr val="FFFFFF"/>
              </a:solidFill>
              <a:latin typeface="Microsoft Yahei"/>
              <a:ea typeface="Microsoft Yahei"/>
              <a:cs typeface="Microsoft Yahei"/>
              <a:sym typeface="Microsoft Yahei"/>
            </a:endParaRPr>
          </a:p>
        </p:txBody>
      </p:sp>
      <p:sp>
        <p:nvSpPr>
          <p:cNvPr id="63" name="Google Shape;63;p14"/>
          <p:cNvSpPr/>
          <p:nvPr/>
        </p:nvSpPr>
        <p:spPr>
          <a:xfrm rot="2676034">
            <a:off x="-1261063" y="3765999"/>
            <a:ext cx="2522128" cy="2557542"/>
          </a:xfrm>
          <a:custGeom>
            <a:avLst/>
            <a:gdLst/>
            <a:ahLst/>
            <a:cxnLst/>
            <a:rect l="l" t="t" r="r" b="b"/>
            <a:pathLst>
              <a:path w="3362838" h="3410056" extrusionOk="0">
                <a:moveTo>
                  <a:pt x="0" y="0"/>
                </a:moveTo>
                <a:lnTo>
                  <a:pt x="3362838" y="3410056"/>
                </a:lnTo>
                <a:lnTo>
                  <a:pt x="3362837" y="3410056"/>
                </a:lnTo>
                <a:lnTo>
                  <a:pt x="0" y="1"/>
                </a:lnTo>
                <a:close/>
              </a:path>
            </a:pathLst>
          </a:custGeom>
          <a:gradFill>
            <a:gsLst>
              <a:gs pos="0">
                <a:srgbClr val="FFFFFF">
                  <a:alpha val="0"/>
                </a:srgbClr>
              </a:gs>
              <a:gs pos="100000">
                <a:schemeClr val="accent2"/>
              </a:gs>
            </a:gsLst>
            <a:lin ang="5400000" scaled="0"/>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lt1"/>
              </a:buClr>
              <a:buSzPts val="1400"/>
              <a:buFont typeface="Calibri"/>
              <a:buNone/>
            </a:pPr>
            <a:endParaRPr sz="1400" b="0" i="0" u="none" strike="noStrike" cap="none">
              <a:solidFill>
                <a:srgbClr val="FFFFFF"/>
              </a:solidFill>
              <a:latin typeface="Microsoft Yahei"/>
              <a:ea typeface="Microsoft Yahei"/>
              <a:cs typeface="Microsoft Yahei"/>
              <a:sym typeface="Microsoft Yahei"/>
            </a:endParaRPr>
          </a:p>
        </p:txBody>
      </p:sp>
      <p:sp>
        <p:nvSpPr>
          <p:cNvPr id="64" name="Google Shape;64;p14"/>
          <p:cNvSpPr/>
          <p:nvPr/>
        </p:nvSpPr>
        <p:spPr>
          <a:xfrm>
            <a:off x="1" y="2401490"/>
            <a:ext cx="9143999" cy="2742011"/>
          </a:xfrm>
          <a:custGeom>
            <a:avLst/>
            <a:gdLst/>
            <a:ahLst/>
            <a:cxnLst/>
            <a:rect l="l" t="t" r="r" b="b"/>
            <a:pathLst>
              <a:path w="12191999" h="3656014" extrusionOk="0">
                <a:moveTo>
                  <a:pt x="6096002" y="0"/>
                </a:moveTo>
                <a:cubicBezTo>
                  <a:pt x="8104174" y="0"/>
                  <a:pt x="9969760" y="209519"/>
                  <a:pt x="11517301" y="568339"/>
                </a:cubicBezTo>
                <a:lnTo>
                  <a:pt x="12191999" y="741496"/>
                </a:lnTo>
                <a:lnTo>
                  <a:pt x="12191999" y="3656014"/>
                </a:lnTo>
                <a:lnTo>
                  <a:pt x="0" y="3656014"/>
                </a:lnTo>
                <a:lnTo>
                  <a:pt x="0" y="741497"/>
                </a:lnTo>
                <a:lnTo>
                  <a:pt x="674702" y="568339"/>
                </a:lnTo>
                <a:cubicBezTo>
                  <a:pt x="2222243" y="209519"/>
                  <a:pt x="4087830" y="0"/>
                  <a:pt x="6096002" y="0"/>
                </a:cubicBezTo>
                <a:close/>
              </a:path>
            </a:pathLst>
          </a:custGeom>
          <a:solidFill>
            <a:schemeClr val="lt1"/>
          </a:solidFill>
          <a:ln>
            <a:noFill/>
          </a:ln>
          <a:effectLst>
            <a:outerShdw blurRad="381000" sx="102000" sy="102000" algn="ctr" rotWithShape="0">
              <a:srgbClr val="000000">
                <a:alpha val="9803"/>
              </a:srgbClr>
            </a:outerShdw>
          </a:effectLst>
        </p:spPr>
        <p:txBody>
          <a:bodyPr spcFirstLastPara="1" wrap="square" lIns="68575" tIns="34275" rIns="68575" bIns="34275" anchor="ctr" anchorCtr="0">
            <a:noAutofit/>
          </a:bodyPr>
          <a:lstStyle/>
          <a:p>
            <a:pPr marL="0" marR="0" lvl="0" indent="0" algn="ctr" rtl="0">
              <a:lnSpc>
                <a:spcPct val="130000"/>
              </a:lnSpc>
              <a:spcBef>
                <a:spcPts val="0"/>
              </a:spcBef>
              <a:spcAft>
                <a:spcPts val="0"/>
              </a:spcAft>
              <a:buClr>
                <a:schemeClr val="lt1"/>
              </a:buClr>
              <a:buSzPts val="1400"/>
              <a:buFont typeface="Calibri"/>
              <a:buNone/>
            </a:pPr>
            <a:endParaRPr sz="1400" b="0" i="0" u="none" strike="noStrike" cap="none">
              <a:solidFill>
                <a:srgbClr val="FFFFFF"/>
              </a:solidFill>
              <a:latin typeface="Microsoft Yahei"/>
              <a:ea typeface="Microsoft Yahei"/>
              <a:cs typeface="Microsoft Yahei"/>
              <a:sym typeface="Microsoft Yahei"/>
            </a:endParaRPr>
          </a:p>
        </p:txBody>
      </p:sp>
      <p:sp>
        <p:nvSpPr>
          <p:cNvPr id="65" name="Google Shape;65;p14"/>
          <p:cNvSpPr txBox="1">
            <a:spLocks noGrp="1"/>
          </p:cNvSpPr>
          <p:nvPr>
            <p:ph type="title"/>
          </p:nvPr>
        </p:nvSpPr>
        <p:spPr>
          <a:xfrm>
            <a:off x="386954" y="2818568"/>
            <a:ext cx="8370093" cy="992579"/>
          </a:xfrm>
          <a:prstGeom prst="rect">
            <a:avLst/>
          </a:prstGeom>
          <a:noFill/>
          <a:ln>
            <a:noFill/>
          </a:ln>
        </p:spPr>
        <p:txBody>
          <a:bodyPr spcFirstLastPara="1" wrap="square" lIns="0" tIns="34275" rIns="68575" bIns="34275" anchor="ctr" anchorCtr="0">
            <a:spAutoFit/>
          </a:bodyPr>
          <a:lstStyle>
            <a:lvl1pPr lvl="0" algn="ctr">
              <a:lnSpc>
                <a:spcPct val="100000"/>
              </a:lnSpc>
              <a:spcBef>
                <a:spcPts val="0"/>
              </a:spcBef>
              <a:spcAft>
                <a:spcPts val="0"/>
              </a:spcAft>
              <a:buClr>
                <a:schemeClr val="dk1"/>
              </a:buClr>
              <a:buSzPts val="3000"/>
              <a:buFont typeface="Calibri"/>
              <a:buNone/>
              <a:defRPr sz="3000" b="1">
                <a:solidFill>
                  <a:schemeClr val="dk1"/>
                </a:solidFill>
                <a:latin typeface="Calibri"/>
                <a:ea typeface="Calibri"/>
                <a:cs typeface="Calibri"/>
                <a:sym typeface="Calibri"/>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6" name="Google Shape;66;p14"/>
          <p:cNvSpPr txBox="1">
            <a:spLocks noGrp="1"/>
          </p:cNvSpPr>
          <p:nvPr>
            <p:ph type="body" idx="1"/>
          </p:nvPr>
        </p:nvSpPr>
        <p:spPr>
          <a:xfrm>
            <a:off x="1606022" y="4146164"/>
            <a:ext cx="5931958" cy="279307"/>
          </a:xfrm>
          <a:prstGeom prst="rect">
            <a:avLst/>
          </a:prstGeom>
          <a:noFill/>
          <a:ln>
            <a:noFill/>
          </a:ln>
        </p:spPr>
        <p:txBody>
          <a:bodyPr spcFirstLastPara="1" wrap="square" lIns="0" tIns="34275" rIns="68575" bIns="34275" anchor="ctr" anchorCtr="0">
            <a:spAutoFit/>
          </a:bodyPr>
          <a:lstStyle>
            <a:lvl1pPr marL="457200" lvl="0" indent="-228600" algn="ctr">
              <a:lnSpc>
                <a:spcPct val="130000"/>
              </a:lnSpc>
              <a:spcBef>
                <a:spcPts val="800"/>
              </a:spcBef>
              <a:spcAft>
                <a:spcPts val="0"/>
              </a:spcAft>
              <a:buClr>
                <a:srgbClr val="262626"/>
              </a:buClr>
              <a:buSzPts val="1100"/>
              <a:buNone/>
              <a:defRPr sz="1100">
                <a:solidFill>
                  <a:srgbClr val="262626"/>
                </a:solidFill>
              </a:defRPr>
            </a:lvl1pPr>
            <a:lvl2pPr marL="914400" lvl="1" indent="-317500" algn="l">
              <a:lnSpc>
                <a:spcPct val="90000"/>
              </a:lnSpc>
              <a:spcBef>
                <a:spcPts val="400"/>
              </a:spcBef>
              <a:spcAft>
                <a:spcPts val="0"/>
              </a:spcAft>
              <a:buClr>
                <a:schemeClr val="dk1"/>
              </a:buClr>
              <a:buSzPts val="1400"/>
              <a:buChar char="•"/>
              <a:defRPr sz="1400"/>
            </a:lvl2pPr>
            <a:lvl3pPr marL="1371600" lvl="2" indent="-317500" algn="l">
              <a:lnSpc>
                <a:spcPct val="90000"/>
              </a:lnSpc>
              <a:spcBef>
                <a:spcPts val="400"/>
              </a:spcBef>
              <a:spcAft>
                <a:spcPts val="0"/>
              </a:spcAft>
              <a:buClr>
                <a:schemeClr val="dk1"/>
              </a:buClr>
              <a:buSzPts val="1400"/>
              <a:buChar char="•"/>
              <a:defRPr sz="1400"/>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cxnSp>
        <p:nvCxnSpPr>
          <p:cNvPr id="67" name="Google Shape;67;p14"/>
          <p:cNvCxnSpPr/>
          <p:nvPr/>
        </p:nvCxnSpPr>
        <p:spPr>
          <a:xfrm>
            <a:off x="1581392" y="3971564"/>
            <a:ext cx="5981218" cy="0"/>
          </a:xfrm>
          <a:prstGeom prst="straightConnector1">
            <a:avLst/>
          </a:prstGeom>
          <a:noFill/>
          <a:ln w="38100" cap="flat" cmpd="sng">
            <a:solidFill>
              <a:schemeClr val="accent1"/>
            </a:solidFill>
            <a:prstDash val="solid"/>
            <a:miter lim="800000"/>
            <a:headEnd type="none" w="sm" len="sm"/>
            <a:tailEnd type="none" w="sm" len="sm"/>
          </a:ln>
        </p:spPr>
      </p:cxnSp>
      <p:pic>
        <p:nvPicPr>
          <p:cNvPr id="68" name="Google Shape;68;p14"/>
          <p:cNvPicPr preferRelativeResize="0"/>
          <p:nvPr/>
        </p:nvPicPr>
        <p:blipFill rotWithShape="1">
          <a:blip r:embed="rId2">
            <a:alphaModFix/>
          </a:blip>
          <a:srcRect/>
          <a:stretch/>
        </p:blipFill>
        <p:spPr>
          <a:xfrm>
            <a:off x="2899650" y="708628"/>
            <a:ext cx="3383156" cy="946953"/>
          </a:xfrm>
          <a:prstGeom prst="rect">
            <a:avLst/>
          </a:prstGeom>
          <a:noFill/>
          <a:ln>
            <a:noFill/>
          </a:ln>
        </p:spPr>
      </p:pic>
      <p:sp>
        <p:nvSpPr>
          <p:cNvPr id="69" name="Google Shape;69;p14"/>
          <p:cNvSpPr txBox="1"/>
          <p:nvPr/>
        </p:nvSpPr>
        <p:spPr>
          <a:xfrm>
            <a:off x="113133" y="4566516"/>
            <a:ext cx="1617390" cy="463073"/>
          </a:xfrm>
          <a:prstGeom prst="rect">
            <a:avLst/>
          </a:prstGeom>
          <a:noFill/>
          <a:ln>
            <a:noFill/>
          </a:ln>
        </p:spPr>
        <p:txBody>
          <a:bodyPr spcFirstLastPara="1" wrap="square" lIns="135000" tIns="135000" rIns="135000" bIns="135000" anchor="t" anchorCtr="0">
            <a:spAutoFit/>
          </a:bodyPr>
          <a:lstStyle/>
          <a:p>
            <a:pPr marL="0" marR="0" lvl="0" indent="0" algn="l" rtl="0">
              <a:lnSpc>
                <a:spcPct val="130000"/>
              </a:lnSpc>
              <a:spcBef>
                <a:spcPts val="0"/>
              </a:spcBef>
              <a:spcAft>
                <a:spcPts val="0"/>
              </a:spcAft>
              <a:buClr>
                <a:srgbClr val="A2A2A2"/>
              </a:buClr>
              <a:buSzPts val="1100"/>
              <a:buFont typeface="Microsoft Yahei"/>
              <a:buNone/>
            </a:pPr>
            <a:r>
              <a:rPr lang="fr" sz="1100" b="1" i="0" u="none" strike="noStrike" cap="none">
                <a:solidFill>
                  <a:srgbClr val="A2A2A2"/>
                </a:solidFill>
                <a:latin typeface="Microsoft Yahei"/>
                <a:ea typeface="Microsoft Yahei"/>
                <a:cs typeface="Microsoft Yahei"/>
                <a:sym typeface="Microsoft Yahei"/>
              </a:rPr>
              <a:t>BIT</a:t>
            </a:r>
            <a:r>
              <a:rPr lang="fr" sz="1100" b="0" i="0" u="none" strike="noStrike" cap="none">
                <a:solidFill>
                  <a:srgbClr val="A2A2A2"/>
                </a:solidFill>
                <a:latin typeface="Microsoft Yahei"/>
                <a:ea typeface="Microsoft Yahei"/>
                <a:cs typeface="Microsoft Yahei"/>
                <a:sym typeface="Microsoft Yahei"/>
              </a:rPr>
              <a:t> </a:t>
            </a:r>
            <a:r>
              <a:rPr lang="fr" sz="1100" b="1" i="0" u="none" strike="noStrike" cap="none">
                <a:solidFill>
                  <a:srgbClr val="A2A2A2"/>
                </a:solidFill>
                <a:latin typeface="Microsoft Yahei"/>
                <a:ea typeface="Microsoft Yahei"/>
                <a:cs typeface="Microsoft Yahei"/>
                <a:sym typeface="Microsoft Yahei"/>
              </a:rPr>
              <a:t>|</a:t>
            </a:r>
            <a:r>
              <a:rPr lang="fr" sz="1100" b="0" i="0" u="none" strike="noStrike" cap="none">
                <a:solidFill>
                  <a:srgbClr val="A2A2A2"/>
                </a:solidFill>
                <a:latin typeface="Microsoft Yahei"/>
                <a:ea typeface="Microsoft Yahei"/>
                <a:cs typeface="Microsoft Yahei"/>
                <a:sym typeface="Microsoft Yahei"/>
              </a:rPr>
              <a:t> </a:t>
            </a:r>
            <a:r>
              <a:rPr lang="fr" sz="1100" b="1" i="0" u="none" strike="noStrike" cap="none">
                <a:solidFill>
                  <a:srgbClr val="A2A2A2"/>
                </a:solidFill>
                <a:latin typeface="Microsoft Yahei"/>
                <a:ea typeface="Microsoft Yahei"/>
                <a:cs typeface="Microsoft Yahei"/>
                <a:sym typeface="Microsoft Yahei"/>
              </a:rPr>
              <a:t>SINCE 1940</a:t>
            </a:r>
            <a:endParaRPr sz="1100" b="1" i="0" u="none" strike="noStrike" cap="none">
              <a:solidFill>
                <a:srgbClr val="A2A2A2"/>
              </a:solidFill>
              <a:latin typeface="Arial"/>
              <a:ea typeface="Arial"/>
              <a:cs typeface="Arial"/>
              <a:sym typeface="Arial"/>
            </a:endParaRPr>
          </a:p>
        </p:txBody>
      </p:sp>
      <p:grpSp>
        <p:nvGrpSpPr>
          <p:cNvPr id="70" name="Google Shape;70;p14"/>
          <p:cNvGrpSpPr/>
          <p:nvPr/>
        </p:nvGrpSpPr>
        <p:grpSpPr>
          <a:xfrm>
            <a:off x="7704359" y="4731292"/>
            <a:ext cx="1222182" cy="148932"/>
            <a:chOff x="10272478" y="6308389"/>
            <a:chExt cx="1629576" cy="198576"/>
          </a:xfrm>
        </p:grpSpPr>
        <p:grpSp>
          <p:nvGrpSpPr>
            <p:cNvPr id="71" name="Google Shape;71;p14"/>
            <p:cNvGrpSpPr/>
            <p:nvPr/>
          </p:nvGrpSpPr>
          <p:grpSpPr>
            <a:xfrm>
              <a:off x="11216726" y="6310650"/>
              <a:ext cx="685328" cy="194486"/>
              <a:chOff x="2373567" y="1096524"/>
              <a:chExt cx="2578404" cy="731714"/>
            </a:xfrm>
          </p:grpSpPr>
          <p:sp>
            <p:nvSpPr>
              <p:cNvPr id="72" name="Google Shape;72;p14"/>
              <p:cNvSpPr/>
              <p:nvPr/>
            </p:nvSpPr>
            <p:spPr>
              <a:xfrm>
                <a:off x="3797881" y="1143043"/>
                <a:ext cx="576140" cy="649652"/>
              </a:xfrm>
              <a:custGeom>
                <a:avLst/>
                <a:gdLst/>
                <a:ahLst/>
                <a:cxnLst/>
                <a:rect l="l" t="t" r="r" b="b"/>
                <a:pathLst>
                  <a:path w="125" h="142" extrusionOk="0">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entury Gothic"/>
                  <a:ea typeface="Century Gothic"/>
                  <a:cs typeface="Century Gothic"/>
                  <a:sym typeface="Century Gothic"/>
                </a:endParaRPr>
              </a:p>
            </p:txBody>
          </p:sp>
          <p:sp>
            <p:nvSpPr>
              <p:cNvPr id="73" name="Google Shape;73;p14"/>
              <p:cNvSpPr/>
              <p:nvPr/>
            </p:nvSpPr>
            <p:spPr>
              <a:xfrm>
                <a:off x="4620306" y="1237050"/>
                <a:ext cx="331665" cy="499208"/>
              </a:xfrm>
              <a:custGeom>
                <a:avLst/>
                <a:gdLst/>
                <a:ahLst/>
                <a:cxnLst/>
                <a:rect l="l" t="t" r="r" b="b"/>
                <a:pathLst>
                  <a:path w="72" h="109" extrusionOk="0">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entury Gothic"/>
                  <a:ea typeface="Century Gothic"/>
                  <a:cs typeface="Century Gothic"/>
                  <a:sym typeface="Century Gothic"/>
                </a:endParaRPr>
              </a:p>
            </p:txBody>
          </p:sp>
          <p:grpSp>
            <p:nvGrpSpPr>
              <p:cNvPr id="74" name="Google Shape;74;p14"/>
              <p:cNvGrpSpPr/>
              <p:nvPr/>
            </p:nvGrpSpPr>
            <p:grpSpPr>
              <a:xfrm>
                <a:off x="2373567" y="1096524"/>
                <a:ext cx="589817" cy="731714"/>
                <a:chOff x="5548313" y="2084388"/>
                <a:chExt cx="547688" cy="679451"/>
              </a:xfrm>
            </p:grpSpPr>
            <p:sp>
              <p:nvSpPr>
                <p:cNvPr id="75" name="Google Shape;75;p14"/>
                <p:cNvSpPr/>
                <p:nvPr/>
              </p:nvSpPr>
              <p:spPr>
                <a:xfrm>
                  <a:off x="5548313" y="2084388"/>
                  <a:ext cx="547688" cy="446088"/>
                </a:xfrm>
                <a:custGeom>
                  <a:avLst/>
                  <a:gdLst/>
                  <a:ahLst/>
                  <a:cxnLst/>
                  <a:rect l="l" t="t" r="r" b="b"/>
                  <a:pathLst>
                    <a:path w="128" h="105" extrusionOk="0">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entury Gothic"/>
                    <a:ea typeface="Century Gothic"/>
                    <a:cs typeface="Century Gothic"/>
                    <a:sym typeface="Century Gothic"/>
                  </a:endParaRPr>
                </a:p>
              </p:txBody>
            </p:sp>
            <p:sp>
              <p:nvSpPr>
                <p:cNvPr id="76" name="Google Shape;76;p14"/>
                <p:cNvSpPr/>
                <p:nvPr/>
              </p:nvSpPr>
              <p:spPr>
                <a:xfrm>
                  <a:off x="5664200" y="2355851"/>
                  <a:ext cx="341313" cy="407988"/>
                </a:xfrm>
                <a:custGeom>
                  <a:avLst/>
                  <a:gdLst/>
                  <a:ahLst/>
                  <a:cxnLst/>
                  <a:rect l="l" t="t" r="r" b="b"/>
                  <a:pathLst>
                    <a:path w="80" h="96" extrusionOk="0">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entury Gothic"/>
                    <a:ea typeface="Century Gothic"/>
                    <a:cs typeface="Century Gothic"/>
                    <a:sym typeface="Century Gothic"/>
                  </a:endParaRPr>
                </a:p>
              </p:txBody>
            </p:sp>
          </p:grpSp>
          <p:grpSp>
            <p:nvGrpSpPr>
              <p:cNvPr id="77" name="Google Shape;77;p14"/>
              <p:cNvGrpSpPr/>
              <p:nvPr/>
            </p:nvGrpSpPr>
            <p:grpSpPr>
              <a:xfrm>
                <a:off x="3194779" y="1296598"/>
                <a:ext cx="356817" cy="382445"/>
                <a:chOff x="3792874" y="3156423"/>
                <a:chExt cx="331330" cy="355128"/>
              </a:xfrm>
            </p:grpSpPr>
            <p:sp>
              <p:nvSpPr>
                <p:cNvPr id="78" name="Google Shape;78;p14"/>
                <p:cNvSpPr/>
                <p:nvPr/>
              </p:nvSpPr>
              <p:spPr>
                <a:xfrm>
                  <a:off x="3792874" y="3235325"/>
                  <a:ext cx="152877" cy="246063"/>
                </a:xfrm>
                <a:custGeom>
                  <a:avLst/>
                  <a:gdLst/>
                  <a:ahLst/>
                  <a:cxnLst/>
                  <a:rect l="l" t="t" r="r" b="b"/>
                  <a:pathLst>
                    <a:path w="39" h="58" extrusionOk="0">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entury Gothic"/>
                    <a:ea typeface="Century Gothic"/>
                    <a:cs typeface="Century Gothic"/>
                    <a:sym typeface="Century Gothic"/>
                  </a:endParaRPr>
                </a:p>
              </p:txBody>
            </p:sp>
            <p:sp>
              <p:nvSpPr>
                <p:cNvPr id="79" name="Google Shape;79;p14"/>
                <p:cNvSpPr/>
                <p:nvPr/>
              </p:nvSpPr>
              <p:spPr>
                <a:xfrm>
                  <a:off x="3957518" y="3164747"/>
                  <a:ext cx="166686" cy="346804"/>
                </a:xfrm>
                <a:custGeom>
                  <a:avLst/>
                  <a:gdLst/>
                  <a:ahLst/>
                  <a:cxnLst/>
                  <a:rect l="l" t="t" r="r" b="b"/>
                  <a:pathLst>
                    <a:path w="47" h="88" extrusionOk="0">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entury Gothic"/>
                    <a:ea typeface="Century Gothic"/>
                    <a:cs typeface="Century Gothic"/>
                    <a:sym typeface="Century Gothic"/>
                  </a:endParaRPr>
                </a:p>
              </p:txBody>
            </p:sp>
            <p:sp>
              <p:nvSpPr>
                <p:cNvPr id="80" name="Google Shape;80;p14"/>
                <p:cNvSpPr/>
                <p:nvPr/>
              </p:nvSpPr>
              <p:spPr>
                <a:xfrm>
                  <a:off x="3879593" y="3156423"/>
                  <a:ext cx="109753" cy="63837"/>
                </a:xfrm>
                <a:custGeom>
                  <a:avLst/>
                  <a:gdLst/>
                  <a:ahLst/>
                  <a:cxnLst/>
                  <a:rect l="l" t="t" r="r" b="b"/>
                  <a:pathLst>
                    <a:path w="26" h="19" extrusionOk="0">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entury Gothic"/>
                    <a:ea typeface="Century Gothic"/>
                    <a:cs typeface="Century Gothic"/>
                    <a:sym typeface="Century Gothic"/>
                  </a:endParaRPr>
                </a:p>
              </p:txBody>
            </p:sp>
          </p:grpSp>
        </p:grpSp>
        <p:grpSp>
          <p:nvGrpSpPr>
            <p:cNvPr id="81" name="Google Shape;81;p14"/>
            <p:cNvGrpSpPr/>
            <p:nvPr/>
          </p:nvGrpSpPr>
          <p:grpSpPr>
            <a:xfrm>
              <a:off x="10272478" y="6308389"/>
              <a:ext cx="721622" cy="198576"/>
              <a:chOff x="2372715" y="161759"/>
              <a:chExt cx="2714952" cy="747103"/>
            </a:xfrm>
          </p:grpSpPr>
          <p:grpSp>
            <p:nvGrpSpPr>
              <p:cNvPr id="82" name="Google Shape;82;p14"/>
              <p:cNvGrpSpPr/>
              <p:nvPr/>
            </p:nvGrpSpPr>
            <p:grpSpPr>
              <a:xfrm>
                <a:off x="3804781" y="283376"/>
                <a:ext cx="521428" cy="548788"/>
                <a:chOff x="6113463" y="3541713"/>
                <a:chExt cx="484188" cy="509588"/>
              </a:xfrm>
            </p:grpSpPr>
            <p:sp>
              <p:nvSpPr>
                <p:cNvPr id="83" name="Google Shape;83;p14"/>
                <p:cNvSpPr/>
                <p:nvPr/>
              </p:nvSpPr>
              <p:spPr>
                <a:xfrm>
                  <a:off x="6113463" y="3579813"/>
                  <a:ext cx="252413" cy="428625"/>
                </a:xfrm>
                <a:custGeom>
                  <a:avLst/>
                  <a:gdLst/>
                  <a:ahLst/>
                  <a:cxnLst/>
                  <a:rect l="l" t="t" r="r" b="b"/>
                  <a:pathLst>
                    <a:path w="59" h="101" extrusionOk="0">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entury Gothic"/>
                    <a:ea typeface="Century Gothic"/>
                    <a:cs typeface="Century Gothic"/>
                    <a:sym typeface="Century Gothic"/>
                  </a:endParaRPr>
                </a:p>
              </p:txBody>
            </p:sp>
            <p:sp>
              <p:nvSpPr>
                <p:cNvPr id="84" name="Google Shape;84;p14"/>
                <p:cNvSpPr/>
                <p:nvPr/>
              </p:nvSpPr>
              <p:spPr>
                <a:xfrm>
                  <a:off x="6361113" y="3541713"/>
                  <a:ext cx="236538" cy="509588"/>
                </a:xfrm>
                <a:custGeom>
                  <a:avLst/>
                  <a:gdLst/>
                  <a:ahLst/>
                  <a:cxnLst/>
                  <a:rect l="l" t="t" r="r" b="b"/>
                  <a:pathLst>
                    <a:path w="55" h="120" extrusionOk="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entury Gothic"/>
                    <a:ea typeface="Century Gothic"/>
                    <a:cs typeface="Century Gothic"/>
                    <a:sym typeface="Century Gothic"/>
                  </a:endParaRPr>
                </a:p>
              </p:txBody>
            </p:sp>
          </p:grpSp>
          <p:grpSp>
            <p:nvGrpSpPr>
              <p:cNvPr id="85" name="Google Shape;85;p14"/>
              <p:cNvGrpSpPr/>
              <p:nvPr/>
            </p:nvGrpSpPr>
            <p:grpSpPr>
              <a:xfrm>
                <a:off x="2372715" y="161759"/>
                <a:ext cx="591521" cy="747103"/>
                <a:chOff x="6108700" y="2066926"/>
                <a:chExt cx="549275" cy="693738"/>
              </a:xfrm>
            </p:grpSpPr>
            <p:sp>
              <p:nvSpPr>
                <p:cNvPr id="86" name="Google Shape;86;p14"/>
                <p:cNvSpPr/>
                <p:nvPr/>
              </p:nvSpPr>
              <p:spPr>
                <a:xfrm>
                  <a:off x="6108700" y="2066926"/>
                  <a:ext cx="549275" cy="655638"/>
                </a:xfrm>
                <a:custGeom>
                  <a:avLst/>
                  <a:gdLst/>
                  <a:ahLst/>
                  <a:cxnLst/>
                  <a:rect l="l" t="t" r="r" b="b"/>
                  <a:pathLst>
                    <a:path w="128" h="154" extrusionOk="0">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entury Gothic"/>
                    <a:ea typeface="Century Gothic"/>
                    <a:cs typeface="Century Gothic"/>
                    <a:sym typeface="Century Gothic"/>
                  </a:endParaRPr>
                </a:p>
              </p:txBody>
            </p:sp>
            <p:sp>
              <p:nvSpPr>
                <p:cNvPr id="87" name="Google Shape;87;p14"/>
                <p:cNvSpPr/>
                <p:nvPr/>
              </p:nvSpPr>
              <p:spPr>
                <a:xfrm>
                  <a:off x="6259513" y="2578101"/>
                  <a:ext cx="68263" cy="182563"/>
                </a:xfrm>
                <a:custGeom>
                  <a:avLst/>
                  <a:gdLst/>
                  <a:ahLst/>
                  <a:cxnLst/>
                  <a:rect l="l" t="t" r="r" b="b"/>
                  <a:pathLst>
                    <a:path w="16" h="43" extrusionOk="0">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entury Gothic"/>
                    <a:ea typeface="Century Gothic"/>
                    <a:cs typeface="Century Gothic"/>
                    <a:sym typeface="Century Gothic"/>
                  </a:endParaRPr>
                </a:p>
              </p:txBody>
            </p:sp>
          </p:grpSp>
          <p:grpSp>
            <p:nvGrpSpPr>
              <p:cNvPr id="88" name="Google Shape;88;p14"/>
              <p:cNvGrpSpPr/>
              <p:nvPr/>
            </p:nvGrpSpPr>
            <p:grpSpPr>
              <a:xfrm>
                <a:off x="3173775" y="375308"/>
                <a:ext cx="396626" cy="341923"/>
                <a:chOff x="6186488" y="2930526"/>
                <a:chExt cx="368300" cy="317500"/>
              </a:xfrm>
            </p:grpSpPr>
            <p:sp>
              <p:nvSpPr>
                <p:cNvPr id="89" name="Google Shape;89;p14"/>
                <p:cNvSpPr/>
                <p:nvPr/>
              </p:nvSpPr>
              <p:spPr>
                <a:xfrm>
                  <a:off x="6310313" y="2930526"/>
                  <a:ext cx="244475" cy="317500"/>
                </a:xfrm>
                <a:custGeom>
                  <a:avLst/>
                  <a:gdLst/>
                  <a:ahLst/>
                  <a:cxnLst/>
                  <a:rect l="l" t="t" r="r" b="b"/>
                  <a:pathLst>
                    <a:path w="57" h="75" extrusionOk="0">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entury Gothic"/>
                    <a:ea typeface="Century Gothic"/>
                    <a:cs typeface="Century Gothic"/>
                    <a:sym typeface="Century Gothic"/>
                  </a:endParaRPr>
                </a:p>
              </p:txBody>
            </p:sp>
            <p:sp>
              <p:nvSpPr>
                <p:cNvPr id="90" name="Google Shape;90;p14"/>
                <p:cNvSpPr/>
                <p:nvPr/>
              </p:nvSpPr>
              <p:spPr>
                <a:xfrm>
                  <a:off x="6186488" y="3009901"/>
                  <a:ext cx="123825" cy="234950"/>
                </a:xfrm>
                <a:custGeom>
                  <a:avLst/>
                  <a:gdLst/>
                  <a:ahLst/>
                  <a:cxnLst/>
                  <a:rect l="l" t="t" r="r" b="b"/>
                  <a:pathLst>
                    <a:path w="29" h="55" extrusionOk="0">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entury Gothic"/>
                    <a:ea typeface="Century Gothic"/>
                    <a:cs typeface="Century Gothic"/>
                    <a:sym typeface="Century Gothic"/>
                  </a:endParaRPr>
                </a:p>
              </p:txBody>
            </p:sp>
            <p:sp>
              <p:nvSpPr>
                <p:cNvPr id="91" name="Google Shape;91;p14"/>
                <p:cNvSpPr/>
                <p:nvPr/>
              </p:nvSpPr>
              <p:spPr>
                <a:xfrm>
                  <a:off x="6259513" y="2933701"/>
                  <a:ext cx="114300" cy="73025"/>
                </a:xfrm>
                <a:custGeom>
                  <a:avLst/>
                  <a:gdLst/>
                  <a:ahLst/>
                  <a:cxnLst/>
                  <a:rect l="l" t="t" r="r" b="b"/>
                  <a:pathLst>
                    <a:path w="27" h="17" extrusionOk="0">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entury Gothic"/>
                    <a:ea typeface="Century Gothic"/>
                    <a:cs typeface="Century Gothic"/>
                    <a:sym typeface="Century Gothic"/>
                  </a:endParaRPr>
                </a:p>
              </p:txBody>
            </p:sp>
          </p:grpSp>
          <p:grpSp>
            <p:nvGrpSpPr>
              <p:cNvPr id="92" name="Google Shape;92;p14"/>
              <p:cNvGrpSpPr/>
              <p:nvPr/>
            </p:nvGrpSpPr>
            <p:grpSpPr>
              <a:xfrm>
                <a:off x="4613354" y="313344"/>
                <a:ext cx="474313" cy="479486"/>
                <a:chOff x="11893474" y="1994534"/>
                <a:chExt cx="286683" cy="289808"/>
              </a:xfrm>
            </p:grpSpPr>
            <p:sp>
              <p:nvSpPr>
                <p:cNvPr id="93" name="Google Shape;93;p14"/>
                <p:cNvSpPr/>
                <p:nvPr/>
              </p:nvSpPr>
              <p:spPr>
                <a:xfrm>
                  <a:off x="11976099" y="1994534"/>
                  <a:ext cx="204058" cy="285679"/>
                </a:xfrm>
                <a:custGeom>
                  <a:avLst/>
                  <a:gdLst/>
                  <a:ahLst/>
                  <a:cxnLst/>
                  <a:rect l="l" t="t" r="r" b="b"/>
                  <a:pathLst>
                    <a:path w="72" h="102" extrusionOk="0">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entury Gothic"/>
                    <a:ea typeface="Century Gothic"/>
                    <a:cs typeface="Century Gothic"/>
                    <a:sym typeface="Century Gothic"/>
                  </a:endParaRPr>
                </a:p>
              </p:txBody>
            </p:sp>
            <p:sp>
              <p:nvSpPr>
                <p:cNvPr id="94" name="Google Shape;94;p14"/>
                <p:cNvSpPr/>
                <p:nvPr/>
              </p:nvSpPr>
              <p:spPr>
                <a:xfrm>
                  <a:off x="11893474" y="2009126"/>
                  <a:ext cx="109877" cy="275216"/>
                </a:xfrm>
                <a:custGeom>
                  <a:avLst/>
                  <a:gdLst/>
                  <a:ahLst/>
                  <a:cxnLst/>
                  <a:rect l="l" t="t" r="r" b="b"/>
                  <a:pathLst>
                    <a:path w="39" h="98" extrusionOk="0">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Century Gothic"/>
                    <a:ea typeface="Century Gothic"/>
                    <a:cs typeface="Century Gothic"/>
                    <a:sym typeface="Century Gothic"/>
                  </a:endParaRPr>
                </a:p>
              </p:txBody>
            </p:sp>
          </p:grpSp>
        </p:grpSp>
      </p:grpSp>
    </p:spTree>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内页样式1-常规">
  <p:cSld name="内页样式1-常规">
    <p:spTree>
      <p:nvGrpSpPr>
        <p:cNvPr id="1" name="Shape 95"/>
        <p:cNvGrpSpPr/>
        <p:nvPr/>
      </p:nvGrpSpPr>
      <p:grpSpPr>
        <a:xfrm>
          <a:off x="0" y="0"/>
          <a:ext cx="0" cy="0"/>
          <a:chOff x="0" y="0"/>
          <a:chExt cx="0" cy="0"/>
        </a:xfrm>
      </p:grpSpPr>
      <p:cxnSp>
        <p:nvCxnSpPr>
          <p:cNvPr id="96" name="Google Shape;96;p15"/>
          <p:cNvCxnSpPr/>
          <p:nvPr/>
        </p:nvCxnSpPr>
        <p:spPr>
          <a:xfrm>
            <a:off x="1162567" y="647368"/>
            <a:ext cx="7738967" cy="0"/>
          </a:xfrm>
          <a:prstGeom prst="straightConnector1">
            <a:avLst/>
          </a:prstGeom>
          <a:noFill/>
          <a:ln w="28575" cap="flat" cmpd="sng">
            <a:solidFill>
              <a:schemeClr val="accent3"/>
            </a:solidFill>
            <a:prstDash val="solid"/>
            <a:miter lim="800000"/>
            <a:headEnd type="none" w="sm" len="sm"/>
            <a:tailEnd type="none" w="sm" len="sm"/>
          </a:ln>
        </p:spPr>
      </p:cxnSp>
      <p:sp>
        <p:nvSpPr>
          <p:cNvPr id="97" name="Google Shape;97;p15"/>
          <p:cNvSpPr/>
          <p:nvPr/>
        </p:nvSpPr>
        <p:spPr>
          <a:xfrm>
            <a:off x="8366562" y="4641056"/>
            <a:ext cx="534972" cy="502444"/>
          </a:xfrm>
          <a:prstGeom prst="rect">
            <a:avLst/>
          </a:prstGeom>
          <a:solidFill>
            <a:schemeClr val="accent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98" name="Google Shape;98;p15"/>
          <p:cNvSpPr/>
          <p:nvPr/>
        </p:nvSpPr>
        <p:spPr>
          <a:xfrm>
            <a:off x="238974" y="0"/>
            <a:ext cx="786551" cy="654844"/>
          </a:xfrm>
          <a:prstGeom prst="rect">
            <a:avLst/>
          </a:prstGeom>
          <a:solidFill>
            <a:schemeClr val="accent1"/>
          </a:solidFill>
          <a:ln w="12700"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99" name="Google Shape;99;p15"/>
          <p:cNvSpPr txBox="1">
            <a:spLocks noGrp="1"/>
          </p:cNvSpPr>
          <p:nvPr>
            <p:ph type="title"/>
          </p:nvPr>
        </p:nvSpPr>
        <p:spPr>
          <a:xfrm>
            <a:off x="1204913" y="258238"/>
            <a:ext cx="6482886" cy="360098"/>
          </a:xfrm>
          <a:prstGeom prst="rect">
            <a:avLst/>
          </a:prstGeom>
          <a:noFill/>
          <a:ln>
            <a:noFill/>
          </a:ln>
        </p:spPr>
        <p:txBody>
          <a:bodyPr spcFirstLastPara="1" wrap="square" lIns="68575" tIns="34275" rIns="68575" bIns="34275" anchor="ctr" anchorCtr="0">
            <a:spAutoFit/>
          </a:bodyPr>
          <a:lstStyle>
            <a:lvl1pPr lvl="0" algn="l">
              <a:lnSpc>
                <a:spcPct val="90000"/>
              </a:lnSpc>
              <a:spcBef>
                <a:spcPts val="0"/>
              </a:spcBef>
              <a:spcAft>
                <a:spcPts val="0"/>
              </a:spcAft>
              <a:buClr>
                <a:schemeClr val="dk1"/>
              </a:buClr>
              <a:buSzPts val="2100"/>
              <a:buFont typeface="Microsoft Yahei"/>
              <a:buNone/>
              <a:defRPr sz="2100" b="1">
                <a:latin typeface="Microsoft Yahei"/>
                <a:ea typeface="Microsoft Yahei"/>
                <a:cs typeface="Microsoft Yahei"/>
                <a:sym typeface="Microsoft Yahei"/>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00" name="Google Shape;100;p15"/>
          <p:cNvSpPr/>
          <p:nvPr/>
        </p:nvSpPr>
        <p:spPr>
          <a:xfrm>
            <a:off x="238973" y="4641056"/>
            <a:ext cx="8133254" cy="502444"/>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101" name="Google Shape;101;p15"/>
          <p:cNvSpPr txBox="1"/>
          <p:nvPr/>
        </p:nvSpPr>
        <p:spPr>
          <a:xfrm>
            <a:off x="8424863" y="4764881"/>
            <a:ext cx="413147" cy="254794"/>
          </a:xfrm>
          <a:prstGeom prst="rect">
            <a:avLst/>
          </a:prstGeom>
          <a:noFill/>
          <a:ln>
            <a:noFill/>
          </a:ln>
        </p:spPr>
        <p:txBody>
          <a:bodyPr spcFirstLastPara="1" wrap="square" lIns="68575" tIns="34275" rIns="68575" bIns="34275" anchor="ctr" anchorCtr="0">
            <a:spAutoFit/>
          </a:bodyPr>
          <a:lstStyle/>
          <a:p>
            <a:pPr marL="0" marR="0" lvl="0" indent="0" algn="ctr" rtl="0">
              <a:spcBef>
                <a:spcPts val="0"/>
              </a:spcBef>
              <a:spcAft>
                <a:spcPts val="0"/>
              </a:spcAft>
              <a:buNone/>
            </a:pPr>
            <a:fld id="{00000000-1234-1234-1234-123412341234}" type="slidenum">
              <a:rPr lang="fr" sz="1200" b="0" i="0" u="none" strike="noStrike" cap="none">
                <a:solidFill>
                  <a:srgbClr val="F2F2F2"/>
                </a:solidFill>
                <a:latin typeface="Microsoft Yahei"/>
                <a:ea typeface="Microsoft Yahei"/>
                <a:cs typeface="Microsoft Yahei"/>
                <a:sym typeface="Microsoft Yahei"/>
              </a:rPr>
              <a:t>‹#›</a:t>
            </a:fld>
            <a:endParaRPr sz="1200" b="0" i="0" u="none" strike="noStrike" cap="none">
              <a:solidFill>
                <a:srgbClr val="F2F2F2"/>
              </a:solidFill>
              <a:latin typeface="Microsoft Yahei"/>
              <a:ea typeface="Microsoft Yahei"/>
              <a:cs typeface="Microsoft Yahei"/>
              <a:sym typeface="Microsoft Yahei"/>
            </a:endParaRPr>
          </a:p>
        </p:txBody>
      </p:sp>
      <p:sp>
        <p:nvSpPr>
          <p:cNvPr id="102" name="Google Shape;102;p15"/>
          <p:cNvSpPr/>
          <p:nvPr/>
        </p:nvSpPr>
        <p:spPr>
          <a:xfrm>
            <a:off x="1034181" y="-1209"/>
            <a:ext cx="125311" cy="656053"/>
          </a:xfrm>
          <a:prstGeom prst="rect">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grpSp>
        <p:nvGrpSpPr>
          <p:cNvPr id="103" name="Google Shape;103;p15"/>
          <p:cNvGrpSpPr/>
          <p:nvPr/>
        </p:nvGrpSpPr>
        <p:grpSpPr>
          <a:xfrm>
            <a:off x="449206" y="4799999"/>
            <a:ext cx="1906960" cy="207374"/>
            <a:chOff x="598941" y="6399999"/>
            <a:chExt cx="2542613" cy="276499"/>
          </a:xfrm>
        </p:grpSpPr>
        <p:grpSp>
          <p:nvGrpSpPr>
            <p:cNvPr id="104" name="Google Shape;104;p15"/>
            <p:cNvGrpSpPr/>
            <p:nvPr/>
          </p:nvGrpSpPr>
          <p:grpSpPr>
            <a:xfrm>
              <a:off x="2055693" y="6402621"/>
              <a:ext cx="1085861" cy="270805"/>
              <a:chOff x="10340336" y="2247899"/>
              <a:chExt cx="2724438" cy="679451"/>
            </a:xfrm>
          </p:grpSpPr>
          <p:sp>
            <p:nvSpPr>
              <p:cNvPr id="105" name="Google Shape;105;p15"/>
              <p:cNvSpPr/>
              <p:nvPr/>
            </p:nvSpPr>
            <p:spPr>
              <a:xfrm>
                <a:off x="11868131" y="2285206"/>
                <a:ext cx="534988" cy="603250"/>
              </a:xfrm>
              <a:custGeom>
                <a:avLst/>
                <a:gdLst/>
                <a:ahLst/>
                <a:cxnLst/>
                <a:rect l="l" t="t" r="r" b="b"/>
                <a:pathLst>
                  <a:path w="125" h="142" extrusionOk="0">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solidFill>
                <a:schemeClr val="l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06" name="Google Shape;106;p15"/>
              <p:cNvSpPr/>
              <p:nvPr/>
            </p:nvSpPr>
            <p:spPr>
              <a:xfrm>
                <a:off x="12756799" y="2388393"/>
                <a:ext cx="307975" cy="463550"/>
              </a:xfrm>
              <a:custGeom>
                <a:avLst/>
                <a:gdLst/>
                <a:ahLst/>
                <a:cxnLst/>
                <a:rect l="l" t="t" r="r" b="b"/>
                <a:pathLst>
                  <a:path w="72" h="109" extrusionOk="0">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solidFill>
                <a:schemeClr val="l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nvGrpSpPr>
              <p:cNvPr id="107" name="Google Shape;107;p15"/>
              <p:cNvGrpSpPr/>
              <p:nvPr/>
            </p:nvGrpSpPr>
            <p:grpSpPr>
              <a:xfrm>
                <a:off x="10340336" y="2247899"/>
                <a:ext cx="547688" cy="679451"/>
                <a:chOff x="5548313" y="2084388"/>
                <a:chExt cx="547688" cy="679451"/>
              </a:xfrm>
            </p:grpSpPr>
            <p:sp>
              <p:nvSpPr>
                <p:cNvPr id="108" name="Google Shape;108;p15"/>
                <p:cNvSpPr/>
                <p:nvPr/>
              </p:nvSpPr>
              <p:spPr>
                <a:xfrm>
                  <a:off x="5548313" y="2084388"/>
                  <a:ext cx="547688" cy="446088"/>
                </a:xfrm>
                <a:custGeom>
                  <a:avLst/>
                  <a:gdLst/>
                  <a:ahLst/>
                  <a:cxnLst/>
                  <a:rect l="l" t="t" r="r" b="b"/>
                  <a:pathLst>
                    <a:path w="128" h="105" extrusionOk="0">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solidFill>
                  <a:schemeClr val="l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09" name="Google Shape;109;p15"/>
                <p:cNvSpPr/>
                <p:nvPr/>
              </p:nvSpPr>
              <p:spPr>
                <a:xfrm>
                  <a:off x="5664200" y="2355851"/>
                  <a:ext cx="341313" cy="407988"/>
                </a:xfrm>
                <a:custGeom>
                  <a:avLst/>
                  <a:gdLst/>
                  <a:ahLst/>
                  <a:cxnLst/>
                  <a:rect l="l" t="t" r="r" b="b"/>
                  <a:pathLst>
                    <a:path w="80" h="96" extrusionOk="0">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solidFill>
                  <a:schemeClr val="l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grpSp>
            <p:nvGrpSpPr>
              <p:cNvPr id="110" name="Google Shape;110;p15"/>
              <p:cNvGrpSpPr/>
              <p:nvPr/>
            </p:nvGrpSpPr>
            <p:grpSpPr>
              <a:xfrm>
                <a:off x="11192276" y="2400300"/>
                <a:ext cx="322175" cy="373063"/>
                <a:chOff x="3792874" y="3138488"/>
                <a:chExt cx="322175" cy="373063"/>
              </a:xfrm>
            </p:grpSpPr>
            <p:sp>
              <p:nvSpPr>
                <p:cNvPr id="111" name="Google Shape;111;p15"/>
                <p:cNvSpPr/>
                <p:nvPr/>
              </p:nvSpPr>
              <p:spPr>
                <a:xfrm>
                  <a:off x="3792874" y="3235325"/>
                  <a:ext cx="112625" cy="246063"/>
                </a:xfrm>
                <a:custGeom>
                  <a:avLst/>
                  <a:gdLst/>
                  <a:ahLst/>
                  <a:cxnLst/>
                  <a:rect l="l" t="t" r="r" b="b"/>
                  <a:pathLst>
                    <a:path w="39" h="58" extrusionOk="0">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solidFill>
                  <a:schemeClr val="l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12" name="Google Shape;112;p15"/>
                <p:cNvSpPr/>
                <p:nvPr/>
              </p:nvSpPr>
              <p:spPr>
                <a:xfrm>
                  <a:off x="3980111" y="3138488"/>
                  <a:ext cx="134938" cy="373063"/>
                </a:xfrm>
                <a:custGeom>
                  <a:avLst/>
                  <a:gdLst/>
                  <a:ahLst/>
                  <a:cxnLst/>
                  <a:rect l="l" t="t" r="r" b="b"/>
                  <a:pathLst>
                    <a:path w="47" h="88" extrusionOk="0">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solidFill>
                  <a:schemeClr val="l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13" name="Google Shape;113;p15"/>
                <p:cNvSpPr/>
                <p:nvPr/>
              </p:nvSpPr>
              <p:spPr>
                <a:xfrm>
                  <a:off x="3872924" y="3138488"/>
                  <a:ext cx="75438" cy="79375"/>
                </a:xfrm>
                <a:custGeom>
                  <a:avLst/>
                  <a:gdLst/>
                  <a:ahLst/>
                  <a:cxnLst/>
                  <a:rect l="l" t="t" r="r" b="b"/>
                  <a:pathLst>
                    <a:path w="26" h="19" extrusionOk="0">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solidFill>
                  <a:schemeClr val="l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grpSp>
        <p:grpSp>
          <p:nvGrpSpPr>
            <p:cNvPr id="114" name="Google Shape;114;p15"/>
            <p:cNvGrpSpPr/>
            <p:nvPr/>
          </p:nvGrpSpPr>
          <p:grpSpPr>
            <a:xfrm>
              <a:off x="598941" y="6399999"/>
              <a:ext cx="1102619" cy="276499"/>
              <a:chOff x="6738929" y="2270918"/>
              <a:chExt cx="2766486" cy="693738"/>
            </a:xfrm>
          </p:grpSpPr>
          <p:grpSp>
            <p:nvGrpSpPr>
              <p:cNvPr id="115" name="Google Shape;115;p15"/>
              <p:cNvGrpSpPr/>
              <p:nvPr/>
            </p:nvGrpSpPr>
            <p:grpSpPr>
              <a:xfrm>
                <a:off x="8180494" y="2355056"/>
                <a:ext cx="484188" cy="509588"/>
                <a:chOff x="6113463" y="3541713"/>
                <a:chExt cx="484188" cy="509588"/>
              </a:xfrm>
            </p:grpSpPr>
            <p:sp>
              <p:nvSpPr>
                <p:cNvPr id="116" name="Google Shape;116;p15"/>
                <p:cNvSpPr/>
                <p:nvPr/>
              </p:nvSpPr>
              <p:spPr>
                <a:xfrm>
                  <a:off x="6113463" y="3579813"/>
                  <a:ext cx="252413" cy="428625"/>
                </a:xfrm>
                <a:custGeom>
                  <a:avLst/>
                  <a:gdLst/>
                  <a:ahLst/>
                  <a:cxnLst/>
                  <a:rect l="l" t="t" r="r" b="b"/>
                  <a:pathLst>
                    <a:path w="59" h="101" extrusionOk="0">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solidFill>
                  <a:schemeClr val="l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17" name="Google Shape;117;p15"/>
                <p:cNvSpPr/>
                <p:nvPr/>
              </p:nvSpPr>
              <p:spPr>
                <a:xfrm>
                  <a:off x="6361113" y="3541713"/>
                  <a:ext cx="236538" cy="509588"/>
                </a:xfrm>
                <a:custGeom>
                  <a:avLst/>
                  <a:gdLst/>
                  <a:ahLst/>
                  <a:cxnLst/>
                  <a:rect l="l" t="t" r="r" b="b"/>
                  <a:pathLst>
                    <a:path w="55" h="120" extrusionOk="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solidFill>
                  <a:schemeClr val="l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grpSp>
            <p:nvGrpSpPr>
              <p:cNvPr id="118" name="Google Shape;118;p15"/>
              <p:cNvGrpSpPr/>
              <p:nvPr/>
            </p:nvGrpSpPr>
            <p:grpSpPr>
              <a:xfrm>
                <a:off x="6738929" y="2270918"/>
                <a:ext cx="549275" cy="693738"/>
                <a:chOff x="6108700" y="2066926"/>
                <a:chExt cx="549275" cy="693738"/>
              </a:xfrm>
            </p:grpSpPr>
            <p:sp>
              <p:nvSpPr>
                <p:cNvPr id="119" name="Google Shape;119;p15"/>
                <p:cNvSpPr/>
                <p:nvPr/>
              </p:nvSpPr>
              <p:spPr>
                <a:xfrm>
                  <a:off x="6108700" y="2066926"/>
                  <a:ext cx="549275" cy="655638"/>
                </a:xfrm>
                <a:custGeom>
                  <a:avLst/>
                  <a:gdLst/>
                  <a:ahLst/>
                  <a:cxnLst/>
                  <a:rect l="l" t="t" r="r" b="b"/>
                  <a:pathLst>
                    <a:path w="128" h="154" extrusionOk="0">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solidFill>
                  <a:schemeClr val="l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20" name="Google Shape;120;p15"/>
                <p:cNvSpPr/>
                <p:nvPr/>
              </p:nvSpPr>
              <p:spPr>
                <a:xfrm>
                  <a:off x="6259513" y="2578101"/>
                  <a:ext cx="68263" cy="182563"/>
                </a:xfrm>
                <a:custGeom>
                  <a:avLst/>
                  <a:gdLst/>
                  <a:ahLst/>
                  <a:cxnLst/>
                  <a:rect l="l" t="t" r="r" b="b"/>
                  <a:pathLst>
                    <a:path w="16" h="43" extrusionOk="0">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solidFill>
                  <a:schemeClr val="l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grpSp>
            <p:nvGrpSpPr>
              <p:cNvPr id="121" name="Google Shape;121;p15"/>
              <p:cNvGrpSpPr/>
              <p:nvPr/>
            </p:nvGrpSpPr>
            <p:grpSpPr>
              <a:xfrm>
                <a:off x="7532962" y="2451100"/>
                <a:ext cx="368300" cy="317500"/>
                <a:chOff x="6186488" y="2930526"/>
                <a:chExt cx="368300" cy="317500"/>
              </a:xfrm>
            </p:grpSpPr>
            <p:sp>
              <p:nvSpPr>
                <p:cNvPr id="122" name="Google Shape;122;p15"/>
                <p:cNvSpPr/>
                <p:nvPr/>
              </p:nvSpPr>
              <p:spPr>
                <a:xfrm>
                  <a:off x="6310313" y="2930526"/>
                  <a:ext cx="244475" cy="317500"/>
                </a:xfrm>
                <a:custGeom>
                  <a:avLst/>
                  <a:gdLst/>
                  <a:ahLst/>
                  <a:cxnLst/>
                  <a:rect l="l" t="t" r="r" b="b"/>
                  <a:pathLst>
                    <a:path w="57" h="75" extrusionOk="0">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solidFill>
                  <a:schemeClr val="l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23" name="Google Shape;123;p15"/>
                <p:cNvSpPr/>
                <p:nvPr/>
              </p:nvSpPr>
              <p:spPr>
                <a:xfrm>
                  <a:off x="6186488" y="3009901"/>
                  <a:ext cx="123825" cy="234950"/>
                </a:xfrm>
                <a:custGeom>
                  <a:avLst/>
                  <a:gdLst/>
                  <a:ahLst/>
                  <a:cxnLst/>
                  <a:rect l="l" t="t" r="r" b="b"/>
                  <a:pathLst>
                    <a:path w="29" h="55" extrusionOk="0">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solidFill>
                  <a:schemeClr val="l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24" name="Google Shape;124;p15"/>
                <p:cNvSpPr/>
                <p:nvPr/>
              </p:nvSpPr>
              <p:spPr>
                <a:xfrm>
                  <a:off x="6259513" y="2933701"/>
                  <a:ext cx="114300" cy="73025"/>
                </a:xfrm>
                <a:custGeom>
                  <a:avLst/>
                  <a:gdLst/>
                  <a:ahLst/>
                  <a:cxnLst/>
                  <a:rect l="l" t="t" r="r" b="b"/>
                  <a:pathLst>
                    <a:path w="27" h="17" extrusionOk="0">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solidFill>
                  <a:schemeClr val="l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sp>
            <p:nvSpPr>
              <p:cNvPr id="125" name="Google Shape;125;p15"/>
              <p:cNvSpPr/>
              <p:nvPr/>
            </p:nvSpPr>
            <p:spPr>
              <a:xfrm>
                <a:off x="9065451" y="2270918"/>
                <a:ext cx="439964" cy="615950"/>
              </a:xfrm>
              <a:custGeom>
                <a:avLst/>
                <a:gdLst/>
                <a:ahLst/>
                <a:cxnLst/>
                <a:rect l="l" t="t" r="r" b="b"/>
                <a:pathLst>
                  <a:path w="72" h="102" extrusionOk="0">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solidFill>
                <a:schemeClr val="l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26" name="Google Shape;126;p15"/>
              <p:cNvSpPr/>
              <p:nvPr/>
            </p:nvSpPr>
            <p:spPr>
              <a:xfrm>
                <a:off x="8878184" y="2293480"/>
                <a:ext cx="236904" cy="593388"/>
              </a:xfrm>
              <a:custGeom>
                <a:avLst/>
                <a:gdLst/>
                <a:ahLst/>
                <a:cxnLst/>
                <a:rect l="l" t="t" r="r" b="b"/>
                <a:pathLst>
                  <a:path w="39" h="98" extrusionOk="0">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solidFill>
                <a:schemeClr val="l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grpSp>
      <p:pic>
        <p:nvPicPr>
          <p:cNvPr id="127" name="Google Shape;127;p15"/>
          <p:cNvPicPr preferRelativeResize="0"/>
          <p:nvPr/>
        </p:nvPicPr>
        <p:blipFill rotWithShape="1">
          <a:blip r:embed="rId2">
            <a:alphaModFix/>
          </a:blip>
          <a:srcRect/>
          <a:stretch/>
        </p:blipFill>
        <p:spPr>
          <a:xfrm>
            <a:off x="7378363" y="260504"/>
            <a:ext cx="1476917" cy="324742"/>
          </a:xfrm>
          <a:prstGeom prst="rect">
            <a:avLst/>
          </a:prstGeom>
          <a:noFill/>
          <a:ln>
            <a:noFill/>
          </a:ln>
        </p:spPr>
      </p:pic>
      <p:cxnSp>
        <p:nvCxnSpPr>
          <p:cNvPr id="128" name="Google Shape;128;p15"/>
          <p:cNvCxnSpPr/>
          <p:nvPr/>
        </p:nvCxnSpPr>
        <p:spPr>
          <a:xfrm>
            <a:off x="1024856" y="-13366"/>
            <a:ext cx="0" cy="809564"/>
          </a:xfrm>
          <a:prstGeom prst="straightConnector1">
            <a:avLst/>
          </a:prstGeom>
          <a:noFill/>
          <a:ln w="12700" cap="flat" cmpd="sng">
            <a:solidFill>
              <a:schemeClr val="lt1"/>
            </a:solidFill>
            <a:prstDash val="solid"/>
            <a:miter lim="800000"/>
            <a:headEnd type="none" w="sm" len="sm"/>
            <a:tailEnd type="none" w="sm" len="sm"/>
          </a:ln>
        </p:spPr>
      </p:cxnSp>
      <p:cxnSp>
        <p:nvCxnSpPr>
          <p:cNvPr id="129" name="Google Shape;129;p15"/>
          <p:cNvCxnSpPr/>
          <p:nvPr/>
        </p:nvCxnSpPr>
        <p:spPr>
          <a:xfrm>
            <a:off x="8366562" y="4589840"/>
            <a:ext cx="0" cy="570474"/>
          </a:xfrm>
          <a:prstGeom prst="straightConnector1">
            <a:avLst/>
          </a:prstGeom>
          <a:noFill/>
          <a:ln w="12700" cap="flat" cmpd="sng">
            <a:solidFill>
              <a:schemeClr val="lt1"/>
            </a:solidFill>
            <a:prstDash val="solid"/>
            <a:miter lim="800000"/>
            <a:headEnd type="none" w="sm" len="sm"/>
            <a:tailEnd type="none" w="sm" len="sm"/>
          </a:ln>
        </p:spPr>
      </p:cxnSp>
    </p:spTree>
  </p:cSld>
  <p:clrMapOvr>
    <a:masterClrMapping/>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0"/>
        <p:cNvGrpSpPr/>
        <p:nvPr/>
      </p:nvGrpSpPr>
      <p:grpSpPr>
        <a:xfrm>
          <a:off x="0" y="0"/>
          <a:ext cx="0" cy="0"/>
          <a:chOff x="0" y="0"/>
          <a:chExt cx="0" cy="0"/>
        </a:xfrm>
      </p:grpSpPr>
      <p:sp>
        <p:nvSpPr>
          <p:cNvPr id="131" name="Google Shape;131;p16"/>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2" name="Google Shape;132;p16"/>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33" name="Google Shape;133;p1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4" name="Google Shape;134;p16"/>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5" name="Google Shape;135;p16"/>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1pPr>
            <a:lvl2pPr marL="0" marR="0" lvl="1"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2pPr>
            <a:lvl3pPr marL="0" marR="0" lvl="2"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3pPr>
            <a:lvl4pPr marL="0" marR="0" lvl="3"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4pPr>
            <a:lvl5pPr marL="0" marR="0" lvl="4"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5pPr>
            <a:lvl6pPr marL="0" marR="0" lvl="5"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6pPr>
            <a:lvl7pPr marL="0" marR="0" lvl="6"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7pPr>
            <a:lvl8pPr marL="0" marR="0" lvl="7"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8pPr>
            <a:lvl9pPr marL="0" marR="0" lvl="8"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9pPr>
          </a:lstStyle>
          <a:p>
            <a:pPr marL="0" lvl="0" indent="0" algn="r"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36"/>
        <p:cNvGrpSpPr/>
        <p:nvPr/>
      </p:nvGrpSpPr>
      <p:grpSpPr>
        <a:xfrm>
          <a:off x="0" y="0"/>
          <a:ext cx="0" cy="0"/>
          <a:chOff x="0" y="0"/>
          <a:chExt cx="0" cy="0"/>
        </a:xfrm>
      </p:grpSpPr>
      <p:sp>
        <p:nvSpPr>
          <p:cNvPr id="137" name="Google Shape;137;p17"/>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8" name="Google Shape;138;p17"/>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39" name="Google Shape;139;p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40" name="Google Shape;140;p1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41" name="Google Shape;141;p17"/>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1pPr>
            <a:lvl2pPr marL="0" marR="0" lvl="1"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2pPr>
            <a:lvl3pPr marL="0" marR="0" lvl="2"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3pPr>
            <a:lvl4pPr marL="0" marR="0" lvl="3"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4pPr>
            <a:lvl5pPr marL="0" marR="0" lvl="4"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5pPr>
            <a:lvl6pPr marL="0" marR="0" lvl="5"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6pPr>
            <a:lvl7pPr marL="0" marR="0" lvl="6"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7pPr>
            <a:lvl8pPr marL="0" marR="0" lvl="7"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8pPr>
            <a:lvl9pPr marL="0" marR="0" lvl="8"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9pPr>
          </a:lstStyle>
          <a:p>
            <a:pPr marL="0" lvl="0" indent="0" algn="r"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2"/>
        <p:cNvGrpSpPr/>
        <p:nvPr/>
      </p:nvGrpSpPr>
      <p:grpSpPr>
        <a:xfrm>
          <a:off x="0" y="0"/>
          <a:ext cx="0" cy="0"/>
          <a:chOff x="0" y="0"/>
          <a:chExt cx="0" cy="0"/>
        </a:xfrm>
      </p:grpSpPr>
      <p:sp>
        <p:nvSpPr>
          <p:cNvPr id="143" name="Google Shape;143;p18"/>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44" name="Google Shape;144;p18"/>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145" name="Google Shape;145;p18"/>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46" name="Google Shape;146;p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47" name="Google Shape;147;p1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1pPr>
            <a:lvl2pPr marL="0" marR="0" lvl="1"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2pPr>
            <a:lvl3pPr marL="0" marR="0" lvl="2"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3pPr>
            <a:lvl4pPr marL="0" marR="0" lvl="3"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4pPr>
            <a:lvl5pPr marL="0" marR="0" lvl="4"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5pPr>
            <a:lvl6pPr marL="0" marR="0" lvl="5"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6pPr>
            <a:lvl7pPr marL="0" marR="0" lvl="6"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7pPr>
            <a:lvl8pPr marL="0" marR="0" lvl="7"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8pPr>
            <a:lvl9pPr marL="0" marR="0" lvl="8"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9pPr>
          </a:lstStyle>
          <a:p>
            <a:pPr marL="0" lvl="0" indent="0" algn="r"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48"/>
        <p:cNvGrpSpPr/>
        <p:nvPr/>
      </p:nvGrpSpPr>
      <p:grpSpPr>
        <a:xfrm>
          <a:off x="0" y="0"/>
          <a:ext cx="0" cy="0"/>
          <a:chOff x="0" y="0"/>
          <a:chExt cx="0" cy="0"/>
        </a:xfrm>
      </p:grpSpPr>
      <p:sp>
        <p:nvSpPr>
          <p:cNvPr id="149" name="Google Shape;149;p1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50" name="Google Shape;150;p19"/>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51" name="Google Shape;151;p19"/>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52" name="Google Shape;152;p19"/>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3" name="Google Shape;153;p19"/>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4" name="Google Shape;154;p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1pPr>
            <a:lvl2pPr marL="0" marR="0" lvl="1"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2pPr>
            <a:lvl3pPr marL="0" marR="0" lvl="2"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3pPr>
            <a:lvl4pPr marL="0" marR="0" lvl="3"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4pPr>
            <a:lvl5pPr marL="0" marR="0" lvl="4"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5pPr>
            <a:lvl6pPr marL="0" marR="0" lvl="5"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6pPr>
            <a:lvl7pPr marL="0" marR="0" lvl="6"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7pPr>
            <a:lvl8pPr marL="0" marR="0" lvl="7"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8pPr>
            <a:lvl9pPr marL="0" marR="0" lvl="8"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9pPr>
          </a:lstStyle>
          <a:p>
            <a:pPr marL="0" lvl="0" indent="0" algn="r"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55"/>
        <p:cNvGrpSpPr/>
        <p:nvPr/>
      </p:nvGrpSpPr>
      <p:grpSpPr>
        <a:xfrm>
          <a:off x="0" y="0"/>
          <a:ext cx="0" cy="0"/>
          <a:chOff x="0" y="0"/>
          <a:chExt cx="0" cy="0"/>
        </a:xfrm>
      </p:grpSpPr>
      <p:sp>
        <p:nvSpPr>
          <p:cNvPr id="156" name="Google Shape;156;p20"/>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57" name="Google Shape;157;p20"/>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158" name="Google Shape;158;p20"/>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59" name="Google Shape;159;p20"/>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160" name="Google Shape;160;p20"/>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61" name="Google Shape;161;p2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2" name="Google Shape;162;p20"/>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3" name="Google Shape;163;p20"/>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1pPr>
            <a:lvl2pPr marL="0" marR="0" lvl="1"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2pPr>
            <a:lvl3pPr marL="0" marR="0" lvl="2"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3pPr>
            <a:lvl4pPr marL="0" marR="0" lvl="3"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4pPr>
            <a:lvl5pPr marL="0" marR="0" lvl="4"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5pPr>
            <a:lvl6pPr marL="0" marR="0" lvl="5"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6pPr>
            <a:lvl7pPr marL="0" marR="0" lvl="6"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7pPr>
            <a:lvl8pPr marL="0" marR="0" lvl="7"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8pPr>
            <a:lvl9pPr marL="0" marR="0" lvl="8"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9pPr>
          </a:lstStyle>
          <a:p>
            <a:pPr marL="0" lvl="0" indent="0" algn="r"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64"/>
        <p:cNvGrpSpPr/>
        <p:nvPr/>
      </p:nvGrpSpPr>
      <p:grpSpPr>
        <a:xfrm>
          <a:off x="0" y="0"/>
          <a:ext cx="0" cy="0"/>
          <a:chOff x="0" y="0"/>
          <a:chExt cx="0" cy="0"/>
        </a:xfrm>
      </p:grpSpPr>
      <p:sp>
        <p:nvSpPr>
          <p:cNvPr id="165" name="Google Shape;165;p2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66" name="Google Shape;166;p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7" name="Google Shape;167;p2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8" name="Google Shape;168;p21"/>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1pPr>
            <a:lvl2pPr marL="0" marR="0" lvl="1"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2pPr>
            <a:lvl3pPr marL="0" marR="0" lvl="2"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3pPr>
            <a:lvl4pPr marL="0" marR="0" lvl="3"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4pPr>
            <a:lvl5pPr marL="0" marR="0" lvl="4"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5pPr>
            <a:lvl6pPr marL="0" marR="0" lvl="5"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6pPr>
            <a:lvl7pPr marL="0" marR="0" lvl="6"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7pPr>
            <a:lvl8pPr marL="0" marR="0" lvl="7"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8pPr>
            <a:lvl9pPr marL="0" marR="0" lvl="8"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9pPr>
          </a:lstStyle>
          <a:p>
            <a:pPr marL="0" lvl="0" indent="0" algn="r"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9"/>
        <p:cNvGrpSpPr/>
        <p:nvPr/>
      </p:nvGrpSpPr>
      <p:grpSpPr>
        <a:xfrm>
          <a:off x="0" y="0"/>
          <a:ext cx="0" cy="0"/>
          <a:chOff x="0" y="0"/>
          <a:chExt cx="0" cy="0"/>
        </a:xfrm>
      </p:grpSpPr>
      <p:sp>
        <p:nvSpPr>
          <p:cNvPr id="170" name="Google Shape;170;p2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71" name="Google Shape;171;p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72" name="Google Shape;172;p2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1pPr>
            <a:lvl2pPr marL="0" marR="0" lvl="1"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2pPr>
            <a:lvl3pPr marL="0" marR="0" lvl="2"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3pPr>
            <a:lvl4pPr marL="0" marR="0" lvl="3"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4pPr>
            <a:lvl5pPr marL="0" marR="0" lvl="4"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5pPr>
            <a:lvl6pPr marL="0" marR="0" lvl="5"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6pPr>
            <a:lvl7pPr marL="0" marR="0" lvl="6"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7pPr>
            <a:lvl8pPr marL="0" marR="0" lvl="7"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8pPr>
            <a:lvl9pPr marL="0" marR="0" lvl="8"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9pPr>
          </a:lstStyle>
          <a:p>
            <a:pPr marL="0" lvl="0" indent="0" algn="r"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73"/>
        <p:cNvGrpSpPr/>
        <p:nvPr/>
      </p:nvGrpSpPr>
      <p:grpSpPr>
        <a:xfrm>
          <a:off x="0" y="0"/>
          <a:ext cx="0" cy="0"/>
          <a:chOff x="0" y="0"/>
          <a:chExt cx="0" cy="0"/>
        </a:xfrm>
      </p:grpSpPr>
      <p:sp>
        <p:nvSpPr>
          <p:cNvPr id="174" name="Google Shape;174;p2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75" name="Google Shape;175;p23"/>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176" name="Google Shape;176;p23"/>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77" name="Google Shape;177;p2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78" name="Google Shape;178;p2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79" name="Google Shape;179;p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1pPr>
            <a:lvl2pPr marL="0" marR="0" lvl="1"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2pPr>
            <a:lvl3pPr marL="0" marR="0" lvl="2"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3pPr>
            <a:lvl4pPr marL="0" marR="0" lvl="3"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4pPr>
            <a:lvl5pPr marL="0" marR="0" lvl="4"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5pPr>
            <a:lvl6pPr marL="0" marR="0" lvl="5"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6pPr>
            <a:lvl7pPr marL="0" marR="0" lvl="6"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7pPr>
            <a:lvl8pPr marL="0" marR="0" lvl="7"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8pPr>
            <a:lvl9pPr marL="0" marR="0" lvl="8"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9pPr>
          </a:lstStyle>
          <a:p>
            <a:pPr marL="0" lvl="0" indent="0" algn="r"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80"/>
        <p:cNvGrpSpPr/>
        <p:nvPr/>
      </p:nvGrpSpPr>
      <p:grpSpPr>
        <a:xfrm>
          <a:off x="0" y="0"/>
          <a:ext cx="0" cy="0"/>
          <a:chOff x="0" y="0"/>
          <a:chExt cx="0" cy="0"/>
        </a:xfrm>
      </p:grpSpPr>
      <p:sp>
        <p:nvSpPr>
          <p:cNvPr id="181" name="Google Shape;181;p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82" name="Google Shape;182;p24"/>
          <p:cNvSpPr>
            <a:spLocks noGrp="1"/>
          </p:cNvSpPr>
          <p:nvPr>
            <p:ph type="pic" idx="2"/>
          </p:nvPr>
        </p:nvSpPr>
        <p:spPr>
          <a:xfrm>
            <a:off x="3887391" y="740569"/>
            <a:ext cx="4629150" cy="3655219"/>
          </a:xfrm>
          <a:prstGeom prst="rect">
            <a:avLst/>
          </a:prstGeom>
          <a:noFill/>
          <a:ln>
            <a:noFill/>
          </a:ln>
        </p:spPr>
      </p:sp>
      <p:sp>
        <p:nvSpPr>
          <p:cNvPr id="183" name="Google Shape;183;p24"/>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84" name="Google Shape;184;p24"/>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85" name="Google Shape;185;p2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86" name="Google Shape;186;p2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1pPr>
            <a:lvl2pPr marL="0" marR="0" lvl="1"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2pPr>
            <a:lvl3pPr marL="0" marR="0" lvl="2"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3pPr>
            <a:lvl4pPr marL="0" marR="0" lvl="3"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4pPr>
            <a:lvl5pPr marL="0" marR="0" lvl="4"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5pPr>
            <a:lvl6pPr marL="0" marR="0" lvl="5"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6pPr>
            <a:lvl7pPr marL="0" marR="0" lvl="6"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7pPr>
            <a:lvl8pPr marL="0" marR="0" lvl="7"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8pPr>
            <a:lvl9pPr marL="0" marR="0" lvl="8"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9pPr>
          </a:lstStyle>
          <a:p>
            <a:pPr marL="0" lvl="0" indent="0" algn="r"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87"/>
        <p:cNvGrpSpPr/>
        <p:nvPr/>
      </p:nvGrpSpPr>
      <p:grpSpPr>
        <a:xfrm>
          <a:off x="0" y="0"/>
          <a:ext cx="0" cy="0"/>
          <a:chOff x="0" y="0"/>
          <a:chExt cx="0" cy="0"/>
        </a:xfrm>
      </p:grpSpPr>
      <p:sp>
        <p:nvSpPr>
          <p:cNvPr id="188" name="Google Shape;188;p25"/>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89" name="Google Shape;189;p25"/>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90" name="Google Shape;190;p25"/>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91" name="Google Shape;191;p25"/>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92" name="Google Shape;192;p2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1pPr>
            <a:lvl2pPr marL="0" marR="0" lvl="1"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2pPr>
            <a:lvl3pPr marL="0" marR="0" lvl="2"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3pPr>
            <a:lvl4pPr marL="0" marR="0" lvl="3"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4pPr>
            <a:lvl5pPr marL="0" marR="0" lvl="4"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5pPr>
            <a:lvl6pPr marL="0" marR="0" lvl="5"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6pPr>
            <a:lvl7pPr marL="0" marR="0" lvl="6"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7pPr>
            <a:lvl8pPr marL="0" marR="0" lvl="7"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8pPr>
            <a:lvl9pPr marL="0" marR="0" lvl="8"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9pPr>
          </a:lstStyle>
          <a:p>
            <a:pPr marL="0" lvl="0" indent="0" algn="r"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93"/>
        <p:cNvGrpSpPr/>
        <p:nvPr/>
      </p:nvGrpSpPr>
      <p:grpSpPr>
        <a:xfrm>
          <a:off x="0" y="0"/>
          <a:ext cx="0" cy="0"/>
          <a:chOff x="0" y="0"/>
          <a:chExt cx="0" cy="0"/>
        </a:xfrm>
      </p:grpSpPr>
      <p:sp>
        <p:nvSpPr>
          <p:cNvPr id="194" name="Google Shape;194;p26"/>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5" name="Google Shape;195;p2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96" name="Google Shape;196;p2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97" name="Google Shape;197;p26"/>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98" name="Google Shape;198;p26"/>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1pPr>
            <a:lvl2pPr marL="0" marR="0" lvl="1"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2pPr>
            <a:lvl3pPr marL="0" marR="0" lvl="2"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3pPr>
            <a:lvl4pPr marL="0" marR="0" lvl="3"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4pPr>
            <a:lvl5pPr marL="0" marR="0" lvl="4"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5pPr>
            <a:lvl6pPr marL="0" marR="0" lvl="5"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6pPr>
            <a:lvl7pPr marL="0" marR="0" lvl="6"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7pPr>
            <a:lvl8pPr marL="0" marR="0" lvl="7"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8pPr>
            <a:lvl9pPr marL="0" marR="0" lvl="8" indent="0" algn="r">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9pPr>
          </a:lstStyle>
          <a:p>
            <a:pPr marL="0" lvl="0" indent="0" algn="r" rtl="0">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f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52" name="Google Shape;52;p13"/>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53" name="Google Shape;53;p1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54" name="Google Shape;54;p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55" name="Google Shape;55;p1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1pPr>
            <a:lvl2pPr marL="0" marR="0" lvl="1" indent="0" algn="r" rtl="0">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2pPr>
            <a:lvl3pPr marL="0" marR="0" lvl="2" indent="0" algn="r" rtl="0">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3pPr>
            <a:lvl4pPr marL="0" marR="0" lvl="3" indent="0" algn="r" rtl="0">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4pPr>
            <a:lvl5pPr marL="0" marR="0" lvl="4" indent="0" algn="r" rtl="0">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5pPr>
            <a:lvl6pPr marL="0" marR="0" lvl="5" indent="0" algn="r" rtl="0">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6pPr>
            <a:lvl7pPr marL="0" marR="0" lvl="6" indent="0" algn="r" rtl="0">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7pPr>
            <a:lvl8pPr marL="0" marR="0" lvl="7" indent="0" algn="r" rtl="0">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8pPr>
            <a:lvl9pPr marL="0" marR="0" lvl="8" indent="0" algn="r" rtl="0">
              <a:lnSpc>
                <a:spcPct val="100000"/>
              </a:lnSpc>
              <a:spcBef>
                <a:spcPts val="0"/>
              </a:spcBef>
              <a:spcAft>
                <a:spcPts val="0"/>
              </a:spcAft>
              <a:buClr>
                <a:srgbClr val="888888"/>
              </a:buClr>
              <a:buSzPts val="900"/>
              <a:buFont typeface="Microsoft Yahei"/>
              <a:buNone/>
              <a:defRPr sz="900" b="0" i="0" u="none" strike="noStrike" cap="none">
                <a:solidFill>
                  <a:srgbClr val="888888"/>
                </a:solidFill>
                <a:latin typeface="Microsoft Yahei"/>
                <a:ea typeface="Microsoft Yahei"/>
                <a:cs typeface="Microsoft Yahei"/>
                <a:sym typeface="Microsoft Yahei"/>
              </a:defRPr>
            </a:lvl9pPr>
          </a:lstStyle>
          <a:p>
            <a:pPr marL="0" lvl="0" indent="0" algn="r" rtl="0">
              <a:spcBef>
                <a:spcPts val="0"/>
              </a:spcBef>
              <a:spcAft>
                <a:spcPts val="0"/>
              </a:spcAft>
              <a:buNone/>
            </a:pPr>
            <a:fld id="{00000000-1234-1234-1234-123412341234}" type="slidenum">
              <a:rPr lang="fr"/>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Lst>
  <p:transition spd="med">
    <p:fad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3.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hyperlink" Target="https://colab.research.google.com/drive/1HM0AeJqRtW_w116nMSzPTyGkJ2yHBrH7?usp=sharing"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3.xml"/><Relationship Id="rId5" Type="http://schemas.openxmlformats.org/officeDocument/2006/relationships/hyperlink" Target="https://colab.research.google.com/drive/1HM0AeJqRtW_w116nMSzPTyGkJ2yHBrH7?usp=sharing" TargetMode="Externa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hyperlink" Target="https://colab.research.google.com/drive/1HM0AeJqRtW_w116nMSzPTyGkJ2yHBrH7?usp=sharing"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hyperlink" Target="https://www.statlect.com/fundamentals-of-statistics/EM-algorithm" TargetMode="External"/><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13.xml"/><Relationship Id="rId5" Type="http://schemas.openxmlformats.org/officeDocument/2006/relationships/image" Target="../media/image18.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13.xml"/><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7"/>
          <p:cNvSpPr txBox="1">
            <a:spLocks noGrp="1"/>
          </p:cNvSpPr>
          <p:nvPr>
            <p:ph type="title"/>
          </p:nvPr>
        </p:nvSpPr>
        <p:spPr>
          <a:xfrm>
            <a:off x="386954" y="2818568"/>
            <a:ext cx="8370093" cy="992579"/>
          </a:xfrm>
          <a:prstGeom prst="rect">
            <a:avLst/>
          </a:prstGeom>
          <a:noFill/>
          <a:ln>
            <a:noFill/>
          </a:ln>
        </p:spPr>
        <p:txBody>
          <a:bodyPr spcFirstLastPara="1" wrap="square" lIns="0" tIns="34275" rIns="68575" bIns="34275" anchor="ctr" anchorCtr="0">
            <a:spAutoFit/>
          </a:bodyPr>
          <a:lstStyle/>
          <a:p>
            <a:pPr marL="0" lvl="0" indent="0" algn="ctr" rtl="0">
              <a:lnSpc>
                <a:spcPct val="100000"/>
              </a:lnSpc>
              <a:spcBef>
                <a:spcPts val="0"/>
              </a:spcBef>
              <a:spcAft>
                <a:spcPts val="0"/>
              </a:spcAft>
              <a:buClr>
                <a:schemeClr val="dk1"/>
              </a:buClr>
              <a:buSzPts val="3000"/>
              <a:buFont typeface="Calibri"/>
              <a:buNone/>
            </a:pPr>
            <a:r>
              <a:rPr lang="fr" dirty="0" err="1"/>
              <a:t>最大期望算法</a:t>
            </a:r>
            <a:br>
              <a:rPr lang="fr" dirty="0"/>
            </a:br>
            <a:r>
              <a:rPr lang="fr" dirty="0"/>
              <a:t>EM </a:t>
            </a:r>
            <a:r>
              <a:rPr lang="fr" dirty="0" err="1"/>
              <a:t>algorithm</a:t>
            </a:r>
            <a:endParaRPr dirty="0"/>
          </a:p>
        </p:txBody>
      </p:sp>
      <p:sp>
        <p:nvSpPr>
          <p:cNvPr id="2" name="TextBox 1">
            <a:extLst>
              <a:ext uri="{FF2B5EF4-FFF2-40B4-BE49-F238E27FC236}">
                <a16:creationId xmlns:a16="http://schemas.microsoft.com/office/drawing/2014/main" id="{1A55A7A9-AFCC-CEC8-0C8A-095E3D39716A}"/>
              </a:ext>
            </a:extLst>
          </p:cNvPr>
          <p:cNvSpPr txBox="1"/>
          <p:nvPr/>
        </p:nvSpPr>
        <p:spPr>
          <a:xfrm>
            <a:off x="1598212" y="4055164"/>
            <a:ext cx="5947575" cy="307777"/>
          </a:xfrm>
          <a:prstGeom prst="rect">
            <a:avLst/>
          </a:prstGeom>
          <a:noFill/>
        </p:spPr>
        <p:txBody>
          <a:bodyPr wrap="square" rtlCol="0">
            <a:spAutoFit/>
          </a:bodyPr>
          <a:lstStyle/>
          <a:p>
            <a:pPr algn="ctr"/>
            <a:r>
              <a:rPr lang="en-SK" dirty="0"/>
              <a:t>Tristan Dobos, </a:t>
            </a:r>
            <a:r>
              <a:rPr lang="en-GB" dirty="0"/>
              <a:t>Killian</a:t>
            </a:r>
            <a:r>
              <a:rPr lang="en-SK" dirty="0"/>
              <a:t> Laturelle, Rémi Soave </a:t>
            </a:r>
          </a:p>
        </p:txBody>
      </p:sp>
    </p:spTree>
  </p:cSld>
  <p:clrMapOvr>
    <a:masterClrMapping/>
  </p:clrMapOvr>
  <p:transition spd="med">
    <p:pu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28"/>
          <p:cNvSpPr txBox="1">
            <a:spLocks noGrp="1"/>
          </p:cNvSpPr>
          <p:nvPr>
            <p:ph type="title"/>
          </p:nvPr>
        </p:nvSpPr>
        <p:spPr>
          <a:xfrm>
            <a:off x="1204913" y="258238"/>
            <a:ext cx="6483000" cy="360300"/>
          </a:xfrm>
          <a:prstGeom prst="rect">
            <a:avLst/>
          </a:prstGeom>
          <a:noFill/>
          <a:ln>
            <a:noFill/>
          </a:ln>
        </p:spPr>
        <p:txBody>
          <a:bodyPr spcFirstLastPara="1" wrap="square" lIns="68575" tIns="34275" rIns="68575" bIns="34275" anchor="ctr" anchorCtr="0">
            <a:spAutoFit/>
          </a:bodyPr>
          <a:lstStyle/>
          <a:p>
            <a:pPr marL="0" lvl="0" indent="0" algn="l" rtl="0">
              <a:lnSpc>
                <a:spcPct val="90000"/>
              </a:lnSpc>
              <a:spcBef>
                <a:spcPts val="0"/>
              </a:spcBef>
              <a:spcAft>
                <a:spcPts val="0"/>
              </a:spcAft>
              <a:buClr>
                <a:schemeClr val="dk1"/>
              </a:buClr>
              <a:buSzPts val="2100"/>
              <a:buFont typeface="Microsoft Yahei"/>
              <a:buNone/>
            </a:pPr>
            <a:r>
              <a:rPr lang="fr"/>
              <a:t>Introduction</a:t>
            </a:r>
            <a:endParaRPr/>
          </a:p>
        </p:txBody>
      </p:sp>
      <p:sp>
        <p:nvSpPr>
          <p:cNvPr id="210" name="Google Shape;210;p28"/>
          <p:cNvSpPr txBox="1"/>
          <p:nvPr/>
        </p:nvSpPr>
        <p:spPr>
          <a:xfrm>
            <a:off x="1204929" y="1073388"/>
            <a:ext cx="6483000" cy="3263400"/>
          </a:xfrm>
          <a:prstGeom prst="rect">
            <a:avLst/>
          </a:prstGeom>
          <a:noFill/>
          <a:ln w="19050" cap="flat" cmpd="sng">
            <a:solidFill>
              <a:srgbClr val="000000"/>
            </a:solidFill>
            <a:prstDash val="solid"/>
            <a:round/>
            <a:headEnd type="none" w="sm" len="sm"/>
            <a:tailEnd type="none" w="sm" len="sm"/>
          </a:ln>
        </p:spPr>
        <p:txBody>
          <a:bodyPr spcFirstLastPara="1" wrap="square" lIns="68575" tIns="34275" rIns="68575" bIns="34275" anchor="t" anchorCtr="0">
            <a:normAutofit fontScale="92500" lnSpcReduction="10000"/>
          </a:bodyPr>
          <a:lstStyle/>
          <a:p>
            <a:pPr marL="0" lvl="0" indent="0" algn="ctr" rtl="0">
              <a:lnSpc>
                <a:spcPct val="120000"/>
              </a:lnSpc>
              <a:spcBef>
                <a:spcPts val="0"/>
              </a:spcBef>
              <a:spcAft>
                <a:spcPts val="0"/>
              </a:spcAft>
              <a:buClr>
                <a:schemeClr val="dk1"/>
              </a:buClr>
              <a:buSzPct val="39285"/>
              <a:buFont typeface="Arial"/>
              <a:buNone/>
            </a:pPr>
            <a:r>
              <a:rPr lang="fr" sz="2800" b="1">
                <a:solidFill>
                  <a:srgbClr val="424242"/>
                </a:solidFill>
                <a:latin typeface="Microsoft Yahei"/>
                <a:ea typeface="Microsoft Yahei"/>
                <a:cs typeface="Microsoft Yahei"/>
                <a:sym typeface="Microsoft Yahei"/>
              </a:rPr>
              <a:t>This presentation explores the Expectation-Maximization (EM) algorithm, an iterative statistical method used to estimate parameters in probabilistic models, particularly when data is incomplete or involves hidden variables.</a:t>
            </a:r>
            <a:endParaRPr sz="2800" b="1">
              <a:solidFill>
                <a:srgbClr val="424242"/>
              </a:solidFill>
              <a:latin typeface="Microsoft Yahei"/>
              <a:ea typeface="Microsoft Yahei"/>
              <a:cs typeface="Microsoft Yahei"/>
              <a:sym typeface="Microsoft Yahei"/>
            </a:endParaRPr>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29"/>
          <p:cNvSpPr txBox="1">
            <a:spLocks noGrp="1"/>
          </p:cNvSpPr>
          <p:nvPr>
            <p:ph type="title"/>
          </p:nvPr>
        </p:nvSpPr>
        <p:spPr>
          <a:xfrm>
            <a:off x="1204913" y="258238"/>
            <a:ext cx="6483000" cy="360300"/>
          </a:xfrm>
          <a:prstGeom prst="rect">
            <a:avLst/>
          </a:prstGeom>
          <a:noFill/>
          <a:ln>
            <a:noFill/>
          </a:ln>
        </p:spPr>
        <p:txBody>
          <a:bodyPr spcFirstLastPara="1" wrap="square" lIns="68575" tIns="34275" rIns="68575" bIns="34275" anchor="ctr" anchorCtr="0">
            <a:spAutoFit/>
          </a:bodyPr>
          <a:lstStyle/>
          <a:p>
            <a:pPr marL="0" lvl="0" indent="0" algn="l" rtl="0">
              <a:lnSpc>
                <a:spcPct val="90000"/>
              </a:lnSpc>
              <a:spcBef>
                <a:spcPts val="0"/>
              </a:spcBef>
              <a:spcAft>
                <a:spcPts val="0"/>
              </a:spcAft>
              <a:buClr>
                <a:schemeClr val="dk1"/>
              </a:buClr>
              <a:buSzPts val="2100"/>
              <a:buFont typeface="Microsoft Yahei"/>
              <a:buNone/>
            </a:pPr>
            <a:r>
              <a:rPr lang="fr"/>
              <a:t>Introduction</a:t>
            </a:r>
            <a:endParaRPr/>
          </a:p>
        </p:txBody>
      </p:sp>
      <p:sp>
        <p:nvSpPr>
          <p:cNvPr id="216" name="Google Shape;216;p29"/>
          <p:cNvSpPr txBox="1"/>
          <p:nvPr/>
        </p:nvSpPr>
        <p:spPr>
          <a:xfrm>
            <a:off x="345425" y="937125"/>
            <a:ext cx="8202000" cy="477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fr" sz="1900" b="1">
                <a:solidFill>
                  <a:srgbClr val="121212"/>
                </a:solidFill>
              </a:rPr>
              <a:t>What is the Expectation-Maximization Algorithm (EM)?</a:t>
            </a:r>
            <a:endParaRPr sz="1900" b="1">
              <a:solidFill>
                <a:srgbClr val="121212"/>
              </a:solidFill>
            </a:endParaRPr>
          </a:p>
        </p:txBody>
      </p:sp>
      <p:sp>
        <p:nvSpPr>
          <p:cNvPr id="217" name="Google Shape;217;p29"/>
          <p:cNvSpPr txBox="1"/>
          <p:nvPr/>
        </p:nvSpPr>
        <p:spPr>
          <a:xfrm>
            <a:off x="407100" y="1554775"/>
            <a:ext cx="8329800" cy="2262600"/>
          </a:xfrm>
          <a:prstGeom prst="rect">
            <a:avLst/>
          </a:prstGeom>
          <a:noFill/>
          <a:ln>
            <a:noFill/>
          </a:ln>
        </p:spPr>
        <p:txBody>
          <a:bodyPr spcFirstLastPara="1" wrap="square" lIns="91425" tIns="91425" rIns="91425" bIns="91425" anchor="t" anchorCtr="0">
            <a:spAutoFit/>
          </a:bodyPr>
          <a:lstStyle/>
          <a:p>
            <a:pPr marL="457200" lvl="0" indent="-355600" algn="l" rtl="0">
              <a:lnSpc>
                <a:spcPct val="115000"/>
              </a:lnSpc>
              <a:spcBef>
                <a:spcPts val="0"/>
              </a:spcBef>
              <a:spcAft>
                <a:spcPts val="0"/>
              </a:spcAft>
              <a:buClr>
                <a:srgbClr val="424242"/>
              </a:buClr>
              <a:buSzPts val="2000"/>
              <a:buFont typeface="Microsoft Yahei"/>
              <a:buAutoNum type="arabicPeriod"/>
            </a:pPr>
            <a:r>
              <a:rPr lang="fr" sz="2000">
                <a:solidFill>
                  <a:srgbClr val="424242"/>
                </a:solidFill>
                <a:latin typeface="Microsoft Yahei"/>
                <a:ea typeface="Microsoft Yahei"/>
                <a:cs typeface="Microsoft Yahei"/>
                <a:sym typeface="Microsoft Yahei"/>
              </a:rPr>
              <a:t>Iterative statistical algorithm for parameter estimation in probabilistic models.</a:t>
            </a:r>
            <a:endParaRPr sz="2000">
              <a:solidFill>
                <a:srgbClr val="424242"/>
              </a:solidFill>
              <a:latin typeface="Microsoft Yahei"/>
              <a:ea typeface="Microsoft Yahei"/>
              <a:cs typeface="Microsoft Yahei"/>
              <a:sym typeface="Microsoft Yahei"/>
            </a:endParaRPr>
          </a:p>
          <a:p>
            <a:pPr marL="457200" lvl="0" indent="-355600" algn="l" rtl="0">
              <a:lnSpc>
                <a:spcPct val="115000"/>
              </a:lnSpc>
              <a:spcBef>
                <a:spcPts val="0"/>
              </a:spcBef>
              <a:spcAft>
                <a:spcPts val="0"/>
              </a:spcAft>
              <a:buClr>
                <a:srgbClr val="424242"/>
              </a:buClr>
              <a:buSzPts val="2000"/>
              <a:buFont typeface="Microsoft Yahei"/>
              <a:buAutoNum type="arabicPeriod"/>
            </a:pPr>
            <a:r>
              <a:rPr lang="fr" sz="2000">
                <a:solidFill>
                  <a:srgbClr val="424242"/>
                </a:solidFill>
                <a:latin typeface="Microsoft Yahei"/>
                <a:ea typeface="Microsoft Yahei"/>
                <a:cs typeface="Microsoft Yahei"/>
                <a:sym typeface="Microsoft Yahei"/>
              </a:rPr>
              <a:t>Effective with incomplete data or hidden variables.</a:t>
            </a:r>
            <a:endParaRPr sz="2000">
              <a:solidFill>
                <a:srgbClr val="424242"/>
              </a:solidFill>
              <a:latin typeface="Microsoft Yahei"/>
              <a:ea typeface="Microsoft Yahei"/>
              <a:cs typeface="Microsoft Yahei"/>
              <a:sym typeface="Microsoft Yahei"/>
            </a:endParaRPr>
          </a:p>
          <a:p>
            <a:pPr marL="457200" lvl="0" indent="-355600" algn="l" rtl="0">
              <a:lnSpc>
                <a:spcPct val="115000"/>
              </a:lnSpc>
              <a:spcBef>
                <a:spcPts val="0"/>
              </a:spcBef>
              <a:spcAft>
                <a:spcPts val="0"/>
              </a:spcAft>
              <a:buClr>
                <a:srgbClr val="424242"/>
              </a:buClr>
              <a:buSzPts val="2000"/>
              <a:buFont typeface="Microsoft Yahei"/>
              <a:buAutoNum type="arabicPeriod"/>
            </a:pPr>
            <a:r>
              <a:rPr lang="fr" sz="2000">
                <a:solidFill>
                  <a:srgbClr val="424242"/>
                </a:solidFill>
                <a:latin typeface="Microsoft Yahei"/>
                <a:ea typeface="Microsoft Yahei"/>
                <a:cs typeface="Microsoft Yahei"/>
                <a:sym typeface="Microsoft Yahei"/>
              </a:rPr>
              <a:t>Maximizes likelihood despite missing information.</a:t>
            </a:r>
            <a:endParaRPr sz="2000">
              <a:solidFill>
                <a:srgbClr val="424242"/>
              </a:solidFill>
              <a:latin typeface="Microsoft Yahei"/>
              <a:ea typeface="Microsoft Yahei"/>
              <a:cs typeface="Microsoft Yahei"/>
              <a:sym typeface="Microsoft Yahei"/>
            </a:endParaRPr>
          </a:p>
          <a:p>
            <a:pPr marL="457200" lvl="0" indent="-355600" algn="l" rtl="0">
              <a:lnSpc>
                <a:spcPct val="115000"/>
              </a:lnSpc>
              <a:spcBef>
                <a:spcPts val="0"/>
              </a:spcBef>
              <a:spcAft>
                <a:spcPts val="0"/>
              </a:spcAft>
              <a:buClr>
                <a:srgbClr val="424242"/>
              </a:buClr>
              <a:buSzPts val="2000"/>
              <a:buFont typeface="Microsoft Yahei"/>
              <a:buAutoNum type="arabicPeriod"/>
            </a:pPr>
            <a:r>
              <a:rPr lang="fr" sz="2000">
                <a:solidFill>
                  <a:srgbClr val="424242"/>
                </a:solidFill>
                <a:latin typeface="Microsoft Yahei"/>
                <a:ea typeface="Microsoft Yahei"/>
                <a:cs typeface="Microsoft Yahei"/>
                <a:sym typeface="Microsoft Yahei"/>
              </a:rPr>
              <a:t>Commonly used in clustering (Gaussian Mixture Models) and Hidden Markov Models.</a:t>
            </a:r>
            <a:endParaRPr sz="2000">
              <a:solidFill>
                <a:srgbClr val="424242"/>
              </a:solidFill>
              <a:latin typeface="Microsoft Yahei"/>
              <a:ea typeface="Microsoft Yahei"/>
              <a:cs typeface="Microsoft Yahei"/>
              <a:sym typeface="Microsoft Yahei"/>
            </a:endParaRP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30"/>
          <p:cNvSpPr txBox="1">
            <a:spLocks noGrp="1"/>
          </p:cNvSpPr>
          <p:nvPr>
            <p:ph type="title"/>
          </p:nvPr>
        </p:nvSpPr>
        <p:spPr>
          <a:xfrm>
            <a:off x="1204913" y="258238"/>
            <a:ext cx="6483000" cy="360300"/>
          </a:xfrm>
          <a:prstGeom prst="rect">
            <a:avLst/>
          </a:prstGeom>
          <a:noFill/>
          <a:ln>
            <a:noFill/>
          </a:ln>
        </p:spPr>
        <p:txBody>
          <a:bodyPr spcFirstLastPara="1" wrap="square" lIns="68575" tIns="34275" rIns="68575" bIns="34275" anchor="ctr" anchorCtr="0">
            <a:spAutoFit/>
          </a:bodyPr>
          <a:lstStyle/>
          <a:p>
            <a:pPr marL="0" lvl="0" indent="0" algn="l" rtl="0">
              <a:lnSpc>
                <a:spcPct val="90000"/>
              </a:lnSpc>
              <a:spcBef>
                <a:spcPts val="0"/>
              </a:spcBef>
              <a:spcAft>
                <a:spcPts val="0"/>
              </a:spcAft>
              <a:buClr>
                <a:schemeClr val="dk1"/>
              </a:buClr>
              <a:buSzPts val="2100"/>
              <a:buFont typeface="Microsoft Yahei"/>
              <a:buNone/>
            </a:pPr>
            <a:r>
              <a:rPr lang="fr"/>
              <a:t>Motivation for the EM Algorithm</a:t>
            </a:r>
            <a:endParaRPr/>
          </a:p>
        </p:txBody>
      </p:sp>
      <p:sp>
        <p:nvSpPr>
          <p:cNvPr id="223" name="Google Shape;223;p30"/>
          <p:cNvSpPr txBox="1"/>
          <p:nvPr/>
        </p:nvSpPr>
        <p:spPr>
          <a:xfrm>
            <a:off x="345425" y="937125"/>
            <a:ext cx="8202000" cy="477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fr" sz="1900" b="1">
                <a:solidFill>
                  <a:srgbClr val="121212"/>
                </a:solidFill>
                <a:latin typeface="Microsoft Yahei"/>
                <a:ea typeface="Microsoft Yahei"/>
                <a:cs typeface="Microsoft Yahei"/>
                <a:sym typeface="Microsoft Yahei"/>
              </a:rPr>
              <a:t>Why Do We Need the EM Algorithm?</a:t>
            </a:r>
            <a:endParaRPr sz="1900" b="1">
              <a:solidFill>
                <a:srgbClr val="121212"/>
              </a:solidFill>
              <a:latin typeface="Microsoft Yahei"/>
              <a:ea typeface="Microsoft Yahei"/>
              <a:cs typeface="Microsoft Yahei"/>
              <a:sym typeface="Microsoft Yahei"/>
            </a:endParaRPr>
          </a:p>
        </p:txBody>
      </p:sp>
      <p:sp>
        <p:nvSpPr>
          <p:cNvPr id="224" name="Google Shape;224;p30"/>
          <p:cNvSpPr txBox="1"/>
          <p:nvPr/>
        </p:nvSpPr>
        <p:spPr>
          <a:xfrm>
            <a:off x="407100" y="1554775"/>
            <a:ext cx="8329800" cy="2801400"/>
          </a:xfrm>
          <a:prstGeom prst="rect">
            <a:avLst/>
          </a:prstGeom>
          <a:noFill/>
          <a:ln>
            <a:noFill/>
          </a:ln>
        </p:spPr>
        <p:txBody>
          <a:bodyPr spcFirstLastPara="1" wrap="square" lIns="91425" tIns="91425" rIns="91425" bIns="91425" anchor="t" anchorCtr="0">
            <a:spAutoFit/>
          </a:bodyPr>
          <a:lstStyle/>
          <a:p>
            <a:pPr marL="457200" lvl="0" indent="-355600" algn="l" rtl="0">
              <a:lnSpc>
                <a:spcPct val="150000"/>
              </a:lnSpc>
              <a:spcBef>
                <a:spcPts val="0"/>
              </a:spcBef>
              <a:spcAft>
                <a:spcPts val="0"/>
              </a:spcAft>
              <a:buClr>
                <a:srgbClr val="424242"/>
              </a:buClr>
              <a:buSzPts val="2000"/>
              <a:buFont typeface="Microsoft Yahei"/>
              <a:buChar char="●"/>
            </a:pPr>
            <a:r>
              <a:rPr lang="fr" sz="2000">
                <a:solidFill>
                  <a:srgbClr val="424242"/>
                </a:solidFill>
              </a:rPr>
              <a:t>Real-world data is often incomplete.</a:t>
            </a:r>
            <a:endParaRPr sz="2000">
              <a:solidFill>
                <a:srgbClr val="424242"/>
              </a:solidFill>
            </a:endParaRPr>
          </a:p>
          <a:p>
            <a:pPr marL="457200" lvl="0" indent="-355600" algn="l" rtl="0">
              <a:lnSpc>
                <a:spcPct val="150000"/>
              </a:lnSpc>
              <a:spcBef>
                <a:spcPts val="0"/>
              </a:spcBef>
              <a:spcAft>
                <a:spcPts val="0"/>
              </a:spcAft>
              <a:buClr>
                <a:srgbClr val="424242"/>
              </a:buClr>
              <a:buSzPts val="2000"/>
              <a:buFont typeface="Microsoft Yahei"/>
              <a:buChar char="●"/>
            </a:pPr>
            <a:r>
              <a:rPr lang="fr" sz="2000">
                <a:solidFill>
                  <a:srgbClr val="424242"/>
                </a:solidFill>
              </a:rPr>
              <a:t>Challenges in parameter computation without true labels.</a:t>
            </a:r>
            <a:endParaRPr sz="2000">
              <a:solidFill>
                <a:srgbClr val="424242"/>
              </a:solidFill>
            </a:endParaRPr>
          </a:p>
          <a:p>
            <a:pPr marL="457200" lvl="0" indent="-355600" algn="l" rtl="0">
              <a:lnSpc>
                <a:spcPct val="150000"/>
              </a:lnSpc>
              <a:spcBef>
                <a:spcPts val="0"/>
              </a:spcBef>
              <a:spcAft>
                <a:spcPts val="0"/>
              </a:spcAft>
              <a:buClr>
                <a:srgbClr val="424242"/>
              </a:buClr>
              <a:buSzPts val="2000"/>
              <a:buFont typeface="Microsoft Yahei"/>
              <a:buChar char="●"/>
            </a:pPr>
            <a:r>
              <a:rPr lang="fr" sz="2000">
                <a:solidFill>
                  <a:srgbClr val="424242"/>
                </a:solidFill>
              </a:rPr>
              <a:t>Direct maximization of likelihood is complex or impossible.</a:t>
            </a:r>
            <a:endParaRPr sz="2000">
              <a:solidFill>
                <a:srgbClr val="424242"/>
              </a:solidFill>
            </a:endParaRPr>
          </a:p>
          <a:p>
            <a:pPr marL="457200" lvl="0" indent="-355600" algn="l" rtl="0">
              <a:lnSpc>
                <a:spcPct val="150000"/>
              </a:lnSpc>
              <a:spcBef>
                <a:spcPts val="0"/>
              </a:spcBef>
              <a:spcAft>
                <a:spcPts val="0"/>
              </a:spcAft>
              <a:buClr>
                <a:srgbClr val="424242"/>
              </a:buClr>
              <a:buSzPts val="2000"/>
              <a:buFont typeface="Microsoft Yahei"/>
              <a:buChar char="●"/>
            </a:pPr>
            <a:r>
              <a:rPr lang="fr" sz="2000">
                <a:solidFill>
                  <a:srgbClr val="424242"/>
                </a:solidFill>
              </a:rPr>
              <a:t>EM algorithm provides a structured, iterative approach.</a:t>
            </a:r>
            <a:endParaRPr sz="2000">
              <a:solidFill>
                <a:srgbClr val="424242"/>
              </a:solidFill>
            </a:endParaRPr>
          </a:p>
          <a:p>
            <a:pPr marL="457200" lvl="0" indent="-355600" algn="l" rtl="0">
              <a:lnSpc>
                <a:spcPct val="150000"/>
              </a:lnSpc>
              <a:spcBef>
                <a:spcPts val="0"/>
              </a:spcBef>
              <a:spcAft>
                <a:spcPts val="0"/>
              </a:spcAft>
              <a:buClr>
                <a:srgbClr val="424242"/>
              </a:buClr>
              <a:buSzPts val="2000"/>
              <a:buFont typeface="Microsoft Yahei"/>
              <a:buChar char="●"/>
            </a:pPr>
            <a:r>
              <a:rPr lang="fr" sz="2000">
                <a:solidFill>
                  <a:srgbClr val="424242"/>
                </a:solidFill>
              </a:rPr>
              <a:t>Estimates latent variables and adjusts model parameters iteratively.</a:t>
            </a:r>
            <a:endParaRPr sz="2000">
              <a:solidFill>
                <a:srgbClr val="424242"/>
              </a:solidFill>
            </a:endParaRPr>
          </a:p>
          <a:p>
            <a:pPr marL="914400" lvl="0" indent="0" algn="l" rtl="0">
              <a:lnSpc>
                <a:spcPct val="115000"/>
              </a:lnSpc>
              <a:spcBef>
                <a:spcPts val="0"/>
              </a:spcBef>
              <a:spcAft>
                <a:spcPts val="0"/>
              </a:spcAft>
              <a:buNone/>
            </a:pPr>
            <a:endParaRPr sz="2000">
              <a:solidFill>
                <a:srgbClr val="424242"/>
              </a:solidFill>
              <a:latin typeface="Microsoft Yahei"/>
              <a:ea typeface="Microsoft Yahei"/>
              <a:cs typeface="Microsoft Yahei"/>
              <a:sym typeface="Microsoft Yahei"/>
            </a:endParaRPr>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1"/>
          <p:cNvSpPr txBox="1">
            <a:spLocks noGrp="1"/>
          </p:cNvSpPr>
          <p:nvPr>
            <p:ph type="title"/>
          </p:nvPr>
        </p:nvSpPr>
        <p:spPr>
          <a:xfrm>
            <a:off x="1204913" y="258238"/>
            <a:ext cx="6483000" cy="360300"/>
          </a:xfrm>
          <a:prstGeom prst="rect">
            <a:avLst/>
          </a:prstGeom>
          <a:noFill/>
          <a:ln>
            <a:noFill/>
          </a:ln>
        </p:spPr>
        <p:txBody>
          <a:bodyPr spcFirstLastPara="1" wrap="square" lIns="68575" tIns="34275" rIns="68575" bIns="34275" anchor="ctr" anchorCtr="0">
            <a:spAutoFit/>
          </a:bodyPr>
          <a:lstStyle/>
          <a:p>
            <a:pPr marL="0" lvl="0" indent="0" algn="l" rtl="0">
              <a:lnSpc>
                <a:spcPct val="90000"/>
              </a:lnSpc>
              <a:spcBef>
                <a:spcPts val="0"/>
              </a:spcBef>
              <a:spcAft>
                <a:spcPts val="0"/>
              </a:spcAft>
              <a:buClr>
                <a:schemeClr val="dk1"/>
              </a:buClr>
              <a:buSzPts val="2100"/>
              <a:buFont typeface="Microsoft Yahei"/>
              <a:buNone/>
            </a:pPr>
            <a:r>
              <a:rPr lang="fr">
                <a:latin typeface="Calibri"/>
                <a:ea typeface="Calibri"/>
                <a:cs typeface="Calibri"/>
                <a:sym typeface="Calibri"/>
              </a:rPr>
              <a:t>Structure of the EM Algorithm</a:t>
            </a:r>
            <a:endParaRPr sz="3000"/>
          </a:p>
        </p:txBody>
      </p:sp>
      <p:sp>
        <p:nvSpPr>
          <p:cNvPr id="230" name="Google Shape;230;p31"/>
          <p:cNvSpPr txBox="1"/>
          <p:nvPr/>
        </p:nvSpPr>
        <p:spPr>
          <a:xfrm>
            <a:off x="345425" y="937125"/>
            <a:ext cx="8202000" cy="813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fr" sz="1900" b="1">
                <a:solidFill>
                  <a:srgbClr val="121212"/>
                </a:solidFill>
                <a:latin typeface="Microsoft Yahei"/>
                <a:ea typeface="Microsoft Yahei"/>
                <a:cs typeface="Microsoft Yahei"/>
                <a:sym typeface="Microsoft Yahei"/>
              </a:rPr>
              <a:t>The Two Key Steps of the EM Algorithm</a:t>
            </a:r>
            <a:endParaRPr sz="1900" b="1">
              <a:solidFill>
                <a:srgbClr val="121212"/>
              </a:solidFill>
              <a:latin typeface="Microsoft Yahei"/>
              <a:ea typeface="Microsoft Yahei"/>
              <a:cs typeface="Microsoft Yahei"/>
              <a:sym typeface="Microsoft Yahei"/>
            </a:endParaRPr>
          </a:p>
          <a:p>
            <a:pPr marL="0" lvl="0" indent="0" algn="l" rtl="0">
              <a:lnSpc>
                <a:spcPct val="115000"/>
              </a:lnSpc>
              <a:spcBef>
                <a:spcPts val="0"/>
              </a:spcBef>
              <a:spcAft>
                <a:spcPts val="0"/>
              </a:spcAft>
              <a:buNone/>
            </a:pPr>
            <a:endParaRPr sz="1900" b="1">
              <a:solidFill>
                <a:srgbClr val="121212"/>
              </a:solidFill>
            </a:endParaRPr>
          </a:p>
        </p:txBody>
      </p:sp>
      <p:sp>
        <p:nvSpPr>
          <p:cNvPr id="231" name="Google Shape;231;p31"/>
          <p:cNvSpPr txBox="1"/>
          <p:nvPr/>
        </p:nvSpPr>
        <p:spPr>
          <a:xfrm>
            <a:off x="407100" y="1554775"/>
            <a:ext cx="8329800" cy="2846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fr" sz="1900">
                <a:solidFill>
                  <a:schemeClr val="accent1"/>
                </a:solidFill>
              </a:rPr>
              <a:t>Expectation Step (E-step):</a:t>
            </a:r>
            <a:r>
              <a:rPr lang="fr" sz="1900">
                <a:solidFill>
                  <a:srgbClr val="424242"/>
                </a:solidFill>
              </a:rPr>
              <a:t> estimate hidden data values based on current parameters.</a:t>
            </a:r>
            <a:br>
              <a:rPr lang="fr" sz="1900">
                <a:solidFill>
                  <a:srgbClr val="424242"/>
                </a:solidFill>
              </a:rPr>
            </a:br>
            <a:endParaRPr sz="1900">
              <a:solidFill>
                <a:srgbClr val="424242"/>
              </a:solidFill>
            </a:endParaRPr>
          </a:p>
          <a:p>
            <a:pPr marL="0" lvl="0" indent="0" algn="l" rtl="0">
              <a:lnSpc>
                <a:spcPct val="115000"/>
              </a:lnSpc>
              <a:spcBef>
                <a:spcPts val="0"/>
              </a:spcBef>
              <a:spcAft>
                <a:spcPts val="0"/>
              </a:spcAft>
              <a:buNone/>
            </a:pPr>
            <a:r>
              <a:rPr lang="fr" sz="1900">
                <a:solidFill>
                  <a:schemeClr val="accent1"/>
                </a:solidFill>
              </a:rPr>
              <a:t>Maximization Step (M-step):</a:t>
            </a:r>
            <a:r>
              <a:rPr lang="fr" sz="1900">
                <a:solidFill>
                  <a:srgbClr val="424242"/>
                </a:solidFill>
              </a:rPr>
              <a:t> update parameters to maximize likelihood with new estimates.</a:t>
            </a:r>
            <a:br>
              <a:rPr lang="fr" sz="1900">
                <a:solidFill>
                  <a:srgbClr val="424242"/>
                </a:solidFill>
              </a:rPr>
            </a:br>
            <a:endParaRPr sz="1900">
              <a:solidFill>
                <a:srgbClr val="424242"/>
              </a:solidFill>
            </a:endParaRPr>
          </a:p>
          <a:p>
            <a:pPr marL="0" lvl="0" indent="0" algn="l" rtl="0">
              <a:lnSpc>
                <a:spcPct val="115000"/>
              </a:lnSpc>
              <a:spcBef>
                <a:spcPts val="0"/>
              </a:spcBef>
              <a:spcAft>
                <a:spcPts val="0"/>
              </a:spcAft>
              <a:buClr>
                <a:schemeClr val="dk1"/>
              </a:buClr>
              <a:buSzPts val="1100"/>
              <a:buFont typeface="Arial"/>
              <a:buNone/>
            </a:pPr>
            <a:r>
              <a:rPr lang="fr" sz="1900">
                <a:solidFill>
                  <a:srgbClr val="424242"/>
                </a:solidFill>
              </a:rPr>
              <a:t>Process continues until convergence with no significant parameter change.</a:t>
            </a:r>
            <a:endParaRPr sz="1900">
              <a:solidFill>
                <a:srgbClr val="424242"/>
              </a:solidFill>
            </a:endParaRPr>
          </a:p>
          <a:p>
            <a:pPr marL="0" lvl="0" indent="0" algn="l" rtl="0">
              <a:lnSpc>
                <a:spcPct val="115000"/>
              </a:lnSpc>
              <a:spcBef>
                <a:spcPts val="0"/>
              </a:spcBef>
              <a:spcAft>
                <a:spcPts val="0"/>
              </a:spcAft>
              <a:buNone/>
            </a:pPr>
            <a:endParaRPr sz="2000">
              <a:solidFill>
                <a:srgbClr val="424242"/>
              </a:solidFill>
              <a:latin typeface="Microsoft Yahei"/>
              <a:ea typeface="Microsoft Yahei"/>
              <a:cs typeface="Microsoft Yahei"/>
              <a:sym typeface="Microsoft Yahei"/>
            </a:endParaRPr>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32"/>
          <p:cNvSpPr txBox="1">
            <a:spLocks noGrp="1"/>
          </p:cNvSpPr>
          <p:nvPr>
            <p:ph type="title"/>
          </p:nvPr>
        </p:nvSpPr>
        <p:spPr>
          <a:xfrm>
            <a:off x="1204913" y="258238"/>
            <a:ext cx="6483000" cy="360300"/>
          </a:xfrm>
          <a:prstGeom prst="rect">
            <a:avLst/>
          </a:prstGeom>
          <a:noFill/>
          <a:ln>
            <a:noFill/>
          </a:ln>
        </p:spPr>
        <p:txBody>
          <a:bodyPr spcFirstLastPara="1" wrap="square" lIns="68575" tIns="34275" rIns="68575" bIns="34275" anchor="ctr" anchorCtr="0">
            <a:spAutoFit/>
          </a:bodyPr>
          <a:lstStyle/>
          <a:p>
            <a:pPr marL="0" lvl="0" indent="0" algn="l" rtl="0">
              <a:lnSpc>
                <a:spcPct val="90000"/>
              </a:lnSpc>
              <a:spcBef>
                <a:spcPts val="0"/>
              </a:spcBef>
              <a:spcAft>
                <a:spcPts val="0"/>
              </a:spcAft>
              <a:buClr>
                <a:schemeClr val="dk1"/>
              </a:buClr>
              <a:buSzPts val="2100"/>
              <a:buFont typeface="Microsoft Yahei"/>
              <a:buNone/>
            </a:pPr>
            <a:r>
              <a:rPr lang="fr">
                <a:solidFill>
                  <a:srgbClr val="262626"/>
                </a:solidFill>
              </a:rPr>
              <a:t>Formal Steps of the EM Algorithm</a:t>
            </a:r>
            <a:endParaRPr>
              <a:solidFill>
                <a:srgbClr val="262626"/>
              </a:solidFill>
            </a:endParaRPr>
          </a:p>
        </p:txBody>
      </p:sp>
      <p:sp>
        <p:nvSpPr>
          <p:cNvPr id="237" name="Google Shape;237;p32"/>
          <p:cNvSpPr txBox="1"/>
          <p:nvPr/>
        </p:nvSpPr>
        <p:spPr>
          <a:xfrm>
            <a:off x="231750" y="732625"/>
            <a:ext cx="8680500" cy="3882600"/>
          </a:xfrm>
          <a:prstGeom prst="rect">
            <a:avLst/>
          </a:prstGeom>
          <a:noFill/>
          <a:ln>
            <a:noFill/>
          </a:ln>
        </p:spPr>
        <p:txBody>
          <a:bodyPr spcFirstLastPara="1" wrap="square" lIns="68575" tIns="34275" rIns="68575" bIns="34275" anchor="t" anchorCtr="0">
            <a:noAutofit/>
          </a:bodyPr>
          <a:lstStyle/>
          <a:p>
            <a:pPr marL="0" marR="0" lvl="0" indent="0" algn="l" rtl="0">
              <a:lnSpc>
                <a:spcPct val="90000"/>
              </a:lnSpc>
              <a:spcBef>
                <a:spcPts val="0"/>
              </a:spcBef>
              <a:spcAft>
                <a:spcPts val="0"/>
              </a:spcAft>
              <a:buNone/>
            </a:pPr>
            <a:r>
              <a:rPr lang="fr" sz="1700">
                <a:solidFill>
                  <a:srgbClr val="424242"/>
                </a:solidFill>
                <a:latin typeface="Calibri"/>
                <a:ea typeface="Calibri"/>
                <a:cs typeface="Calibri"/>
                <a:sym typeface="Calibri"/>
              </a:rPr>
              <a:t>1. E-STEP - Expectation Step : </a:t>
            </a:r>
            <a:endParaRPr sz="1700">
              <a:solidFill>
                <a:srgbClr val="424242"/>
              </a:solidFill>
              <a:latin typeface="Calibri"/>
              <a:ea typeface="Calibri"/>
              <a:cs typeface="Calibri"/>
              <a:sym typeface="Calibri"/>
            </a:endParaRPr>
          </a:p>
          <a:p>
            <a:pPr marL="0" marR="0" lvl="0" indent="457200" algn="l" rtl="0">
              <a:lnSpc>
                <a:spcPct val="90000"/>
              </a:lnSpc>
              <a:spcBef>
                <a:spcPts val="0"/>
              </a:spcBef>
              <a:spcAft>
                <a:spcPts val="0"/>
              </a:spcAft>
              <a:buNone/>
            </a:pPr>
            <a:r>
              <a:rPr lang="fr" sz="1500">
                <a:solidFill>
                  <a:srgbClr val="424242"/>
                </a:solidFill>
                <a:latin typeface="Calibri"/>
                <a:ea typeface="Calibri"/>
                <a:cs typeface="Calibri"/>
                <a:sym typeface="Calibri"/>
              </a:rPr>
              <a:t>In this step, the algorithm computes the expected value of the log-likelihood function, with respect to the conditional distribution of the hidden variables given the observed data and the current estimates of the parameters. The idea is to estimate the missing data or latent variables based on the observed data and the current model parameters.</a:t>
            </a:r>
            <a:endParaRPr sz="1500">
              <a:solidFill>
                <a:srgbClr val="424242"/>
              </a:solidFill>
              <a:latin typeface="Calibri"/>
              <a:ea typeface="Calibri"/>
              <a:cs typeface="Calibri"/>
              <a:sym typeface="Calibri"/>
            </a:endParaRPr>
          </a:p>
          <a:p>
            <a:pPr marL="0" marR="0" lvl="0" indent="0" algn="l" rtl="0">
              <a:lnSpc>
                <a:spcPct val="90000"/>
              </a:lnSpc>
              <a:spcBef>
                <a:spcPts val="500"/>
              </a:spcBef>
              <a:spcAft>
                <a:spcPts val="0"/>
              </a:spcAft>
              <a:buClr>
                <a:schemeClr val="dk1"/>
              </a:buClr>
              <a:buSzPts val="1100"/>
              <a:buFont typeface="Arial"/>
              <a:buNone/>
            </a:pPr>
            <a:endParaRPr sz="1500">
              <a:solidFill>
                <a:srgbClr val="424242"/>
              </a:solidFill>
              <a:latin typeface="Calibri"/>
              <a:ea typeface="Calibri"/>
              <a:cs typeface="Calibri"/>
              <a:sym typeface="Calibri"/>
            </a:endParaRPr>
          </a:p>
          <a:p>
            <a:pPr marL="0" marR="0" lvl="0" indent="0" algn="l" rtl="0">
              <a:lnSpc>
                <a:spcPct val="90000"/>
              </a:lnSpc>
              <a:spcBef>
                <a:spcPts val="500"/>
              </a:spcBef>
              <a:spcAft>
                <a:spcPts val="0"/>
              </a:spcAft>
              <a:buNone/>
            </a:pPr>
            <a:endParaRPr sz="1700">
              <a:solidFill>
                <a:srgbClr val="424242"/>
              </a:solidFill>
              <a:latin typeface="Calibri"/>
              <a:ea typeface="Calibri"/>
              <a:cs typeface="Calibri"/>
              <a:sym typeface="Calibri"/>
            </a:endParaRPr>
          </a:p>
          <a:p>
            <a:pPr marL="0" marR="0" lvl="0" indent="0" algn="l" rtl="0">
              <a:lnSpc>
                <a:spcPct val="90000"/>
              </a:lnSpc>
              <a:spcBef>
                <a:spcPts val="500"/>
              </a:spcBef>
              <a:spcAft>
                <a:spcPts val="0"/>
              </a:spcAft>
              <a:buNone/>
            </a:pPr>
            <a:r>
              <a:rPr lang="fr" sz="1700">
                <a:solidFill>
                  <a:srgbClr val="424242"/>
                </a:solidFill>
                <a:latin typeface="Calibri"/>
                <a:ea typeface="Calibri"/>
                <a:cs typeface="Calibri"/>
                <a:sym typeface="Calibri"/>
              </a:rPr>
              <a:t>2. M-STEP - Maximization Step :</a:t>
            </a:r>
            <a:endParaRPr sz="1700">
              <a:solidFill>
                <a:srgbClr val="424242"/>
              </a:solidFill>
            </a:endParaRPr>
          </a:p>
          <a:p>
            <a:pPr marL="0" marR="0" lvl="0" indent="457200" algn="l" rtl="0">
              <a:lnSpc>
                <a:spcPct val="90000"/>
              </a:lnSpc>
              <a:spcBef>
                <a:spcPts val="500"/>
              </a:spcBef>
              <a:spcAft>
                <a:spcPts val="0"/>
              </a:spcAft>
              <a:buNone/>
            </a:pPr>
            <a:r>
              <a:rPr lang="fr" sz="1500">
                <a:solidFill>
                  <a:srgbClr val="424242"/>
                </a:solidFill>
                <a:latin typeface="Calibri"/>
                <a:ea typeface="Calibri"/>
                <a:cs typeface="Calibri"/>
                <a:sym typeface="Calibri"/>
              </a:rPr>
              <a:t>In this step, the algorithm updates the parameters by maximizing the expected log-likelihood obtained in the E-step. The goal here is to find the parameters that maximize the expected likelihood calculated in the E-step.</a:t>
            </a:r>
            <a:endParaRPr sz="1500">
              <a:solidFill>
                <a:srgbClr val="424242"/>
              </a:solidFill>
              <a:latin typeface="Calibri"/>
              <a:ea typeface="Calibri"/>
              <a:cs typeface="Calibri"/>
              <a:sym typeface="Calibri"/>
            </a:endParaRPr>
          </a:p>
          <a:p>
            <a:pPr marL="0" lvl="0" indent="0" algn="l" rtl="0">
              <a:lnSpc>
                <a:spcPct val="115000"/>
              </a:lnSpc>
              <a:spcBef>
                <a:spcPts val="0"/>
              </a:spcBef>
              <a:spcAft>
                <a:spcPts val="0"/>
              </a:spcAft>
              <a:buNone/>
            </a:pPr>
            <a:endParaRPr sz="1700">
              <a:solidFill>
                <a:srgbClr val="424242"/>
              </a:solidFill>
              <a:latin typeface="Calibri"/>
              <a:ea typeface="Calibri"/>
              <a:cs typeface="Calibri"/>
              <a:sym typeface="Calibri"/>
            </a:endParaRPr>
          </a:p>
          <a:p>
            <a:pPr marL="0" lvl="0" indent="0" algn="l" rtl="0">
              <a:lnSpc>
                <a:spcPct val="115000"/>
              </a:lnSpc>
              <a:spcBef>
                <a:spcPts val="1200"/>
              </a:spcBef>
              <a:spcAft>
                <a:spcPts val="0"/>
              </a:spcAft>
              <a:buNone/>
            </a:pPr>
            <a:r>
              <a:rPr lang="fr" sz="1700">
                <a:solidFill>
                  <a:srgbClr val="424242"/>
                </a:solidFill>
                <a:latin typeface="Calibri"/>
                <a:ea typeface="Calibri"/>
                <a:cs typeface="Calibri"/>
                <a:sym typeface="Calibri"/>
              </a:rPr>
              <a:t>3. Convergence:</a:t>
            </a:r>
            <a:br>
              <a:rPr lang="fr" sz="1700">
                <a:solidFill>
                  <a:srgbClr val="424242"/>
                </a:solidFill>
                <a:latin typeface="Calibri"/>
                <a:ea typeface="Calibri"/>
                <a:cs typeface="Calibri"/>
                <a:sym typeface="Calibri"/>
              </a:rPr>
            </a:br>
            <a:r>
              <a:rPr lang="fr" sz="1500">
                <a:solidFill>
                  <a:srgbClr val="424242"/>
                </a:solidFill>
                <a:latin typeface="Calibri"/>
                <a:ea typeface="Calibri"/>
                <a:cs typeface="Calibri"/>
                <a:sym typeface="Calibri"/>
              </a:rPr>
              <a:t>We repeat the E-step and M-step until the parameters stabilize, meaning the difference between parameter values from one iteration to the next becomes very small. This is when we say the algorithm has converged.</a:t>
            </a:r>
            <a:endParaRPr sz="1500">
              <a:solidFill>
                <a:srgbClr val="424242"/>
              </a:solidFill>
              <a:latin typeface="Calibri"/>
              <a:ea typeface="Calibri"/>
              <a:cs typeface="Calibri"/>
              <a:sym typeface="Calibri"/>
            </a:endParaRPr>
          </a:p>
          <a:p>
            <a:pPr marL="0" marR="0" lvl="0" indent="0" algn="l" rtl="0">
              <a:lnSpc>
                <a:spcPct val="90000"/>
              </a:lnSpc>
              <a:spcBef>
                <a:spcPts val="1200"/>
              </a:spcBef>
              <a:spcAft>
                <a:spcPts val="0"/>
              </a:spcAft>
              <a:buNone/>
            </a:pPr>
            <a:endParaRPr sz="1500">
              <a:solidFill>
                <a:srgbClr val="424242"/>
              </a:solidFill>
              <a:latin typeface="Calibri"/>
              <a:ea typeface="Calibri"/>
              <a:cs typeface="Calibri"/>
              <a:sym typeface="Calibri"/>
            </a:endParaRPr>
          </a:p>
          <a:p>
            <a:pPr marL="0" marR="0" lvl="0" indent="76200" algn="l" rtl="0">
              <a:lnSpc>
                <a:spcPct val="90000"/>
              </a:lnSpc>
              <a:spcBef>
                <a:spcPts val="500"/>
              </a:spcBef>
              <a:spcAft>
                <a:spcPts val="0"/>
              </a:spcAft>
              <a:buClr>
                <a:schemeClr val="dk1"/>
              </a:buClr>
              <a:buSzPts val="1100"/>
              <a:buFont typeface="Arial"/>
              <a:buNone/>
            </a:pPr>
            <a:endParaRPr sz="1100">
              <a:solidFill>
                <a:schemeClr val="lt1"/>
              </a:solidFill>
              <a:highlight>
                <a:schemeClr val="dk1"/>
              </a:highlight>
              <a:latin typeface="Calibri"/>
              <a:ea typeface="Calibri"/>
              <a:cs typeface="Calibri"/>
              <a:sym typeface="Calibri"/>
            </a:endParaRPr>
          </a:p>
        </p:txBody>
      </p:sp>
      <p:pic>
        <p:nvPicPr>
          <p:cNvPr id="238" name="Google Shape;238;p32" descr="A black text on a white background&#10;&#10;Description automatically generated"/>
          <p:cNvPicPr preferRelativeResize="0"/>
          <p:nvPr/>
        </p:nvPicPr>
        <p:blipFill rotWithShape="1">
          <a:blip r:embed="rId3">
            <a:alphaModFix/>
          </a:blip>
          <a:srcRect t="23816" b="15978"/>
          <a:stretch/>
        </p:blipFill>
        <p:spPr>
          <a:xfrm>
            <a:off x="2943675" y="1908300"/>
            <a:ext cx="3572850" cy="360300"/>
          </a:xfrm>
          <a:prstGeom prst="rect">
            <a:avLst/>
          </a:prstGeom>
          <a:noFill/>
          <a:ln>
            <a:noFill/>
          </a:ln>
        </p:spPr>
      </p:pic>
      <p:pic>
        <p:nvPicPr>
          <p:cNvPr id="239" name="Google Shape;239;p32" descr="A black text on a white background&#10;&#10;Description automatically generated"/>
          <p:cNvPicPr preferRelativeResize="0"/>
          <p:nvPr/>
        </p:nvPicPr>
        <p:blipFill rotWithShape="1">
          <a:blip r:embed="rId4">
            <a:alphaModFix/>
          </a:blip>
          <a:srcRect t="18251" b="11979"/>
          <a:stretch/>
        </p:blipFill>
        <p:spPr>
          <a:xfrm>
            <a:off x="3260575" y="3316100"/>
            <a:ext cx="2811300" cy="457925"/>
          </a:xfrm>
          <a:prstGeom prst="rect">
            <a:avLst/>
          </a:prstGeom>
          <a:solidFill>
            <a:schemeClr val="lt1"/>
          </a:solidFill>
          <a:ln>
            <a:noFill/>
          </a:ln>
        </p:spPr>
      </p:pic>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33"/>
          <p:cNvSpPr txBox="1">
            <a:spLocks noGrp="1"/>
          </p:cNvSpPr>
          <p:nvPr>
            <p:ph type="title"/>
          </p:nvPr>
        </p:nvSpPr>
        <p:spPr>
          <a:xfrm>
            <a:off x="1204913" y="258238"/>
            <a:ext cx="6483000" cy="360300"/>
          </a:xfrm>
          <a:prstGeom prst="rect">
            <a:avLst/>
          </a:prstGeom>
        </p:spPr>
        <p:txBody>
          <a:bodyPr spcFirstLastPara="1" wrap="square" lIns="68575" tIns="34275" rIns="68575" bIns="34275" anchor="ctr" anchorCtr="0">
            <a:spAutoFit/>
          </a:bodyPr>
          <a:lstStyle/>
          <a:p>
            <a:pPr marL="0" lvl="0" indent="0" algn="l" rtl="0">
              <a:spcBef>
                <a:spcPts val="0"/>
              </a:spcBef>
              <a:spcAft>
                <a:spcPts val="0"/>
              </a:spcAft>
              <a:buNone/>
            </a:pPr>
            <a:r>
              <a:rPr lang="fr"/>
              <a:t>Schema</a:t>
            </a:r>
            <a:endParaRPr/>
          </a:p>
        </p:txBody>
      </p:sp>
      <p:pic>
        <p:nvPicPr>
          <p:cNvPr id="245" name="Google Shape;245;p33"/>
          <p:cNvPicPr preferRelativeResize="0"/>
          <p:nvPr/>
        </p:nvPicPr>
        <p:blipFill>
          <a:blip r:embed="rId3">
            <a:alphaModFix/>
          </a:blip>
          <a:stretch>
            <a:fillRect/>
          </a:stretch>
        </p:blipFill>
        <p:spPr>
          <a:xfrm>
            <a:off x="1187551" y="714374"/>
            <a:ext cx="6768900" cy="3807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34"/>
          <p:cNvSpPr txBox="1">
            <a:spLocks noGrp="1"/>
          </p:cNvSpPr>
          <p:nvPr>
            <p:ph type="title"/>
          </p:nvPr>
        </p:nvSpPr>
        <p:spPr>
          <a:xfrm>
            <a:off x="1204913" y="258238"/>
            <a:ext cx="6482886" cy="360098"/>
          </a:xfrm>
          <a:prstGeom prst="rect">
            <a:avLst/>
          </a:prstGeom>
          <a:noFill/>
          <a:ln>
            <a:noFill/>
          </a:ln>
        </p:spPr>
        <p:txBody>
          <a:bodyPr spcFirstLastPara="1" wrap="square" lIns="68575" tIns="34275" rIns="68575" bIns="34275" anchor="ctr" anchorCtr="0">
            <a:spAutoFit/>
          </a:bodyPr>
          <a:lstStyle/>
          <a:p>
            <a:pPr marL="0" lvl="0" indent="0" algn="l" rtl="0">
              <a:lnSpc>
                <a:spcPct val="90000"/>
              </a:lnSpc>
              <a:spcBef>
                <a:spcPts val="0"/>
              </a:spcBef>
              <a:spcAft>
                <a:spcPts val="0"/>
              </a:spcAft>
              <a:buClr>
                <a:schemeClr val="dk1"/>
              </a:buClr>
              <a:buSzPts val="2100"/>
              <a:buFont typeface="Microsoft Yahei"/>
              <a:buNone/>
            </a:pPr>
            <a:r>
              <a:rPr lang="fr"/>
              <a:t>The execution</a:t>
            </a:r>
            <a:endParaRPr/>
          </a:p>
        </p:txBody>
      </p:sp>
      <p:sp>
        <p:nvSpPr>
          <p:cNvPr id="251" name="Google Shape;251;p34"/>
          <p:cNvSpPr txBox="1"/>
          <p:nvPr/>
        </p:nvSpPr>
        <p:spPr>
          <a:xfrm>
            <a:off x="704179" y="1286363"/>
            <a:ext cx="6482886" cy="3263503"/>
          </a:xfrm>
          <a:prstGeom prst="rect">
            <a:avLst/>
          </a:prstGeom>
          <a:noFill/>
          <a:ln>
            <a:noFill/>
          </a:ln>
        </p:spPr>
        <p:txBody>
          <a:bodyPr spcFirstLastPara="1" wrap="square" lIns="68575" tIns="34275" rIns="68575" bIns="34275" anchor="t" anchorCtr="0">
            <a:normAutofit/>
          </a:bodyPr>
          <a:lstStyle/>
          <a:p>
            <a:pPr marL="0" marR="0" lvl="0" indent="0" algn="l" rtl="0">
              <a:spcBef>
                <a:spcPts val="0"/>
              </a:spcBef>
              <a:spcAft>
                <a:spcPts val="0"/>
              </a:spcAft>
              <a:buNone/>
            </a:pPr>
            <a:r>
              <a:rPr lang="fr" sz="1400" b="1">
                <a:solidFill>
                  <a:schemeClr val="dk1"/>
                </a:solidFill>
                <a:latin typeface="Calibri"/>
                <a:ea typeface="Calibri"/>
                <a:cs typeface="Calibri"/>
                <a:sym typeface="Calibri"/>
              </a:rPr>
              <a:t>Iterative Process:</a:t>
            </a:r>
            <a:endParaRPr sz="1400" b="1">
              <a:solidFill>
                <a:schemeClr val="dk1"/>
              </a:solidFill>
              <a:latin typeface="Calibri"/>
              <a:ea typeface="Calibri"/>
              <a:cs typeface="Calibri"/>
              <a:sym typeface="Calibri"/>
            </a:endParaRPr>
          </a:p>
          <a:p>
            <a:pPr marL="254000" marR="0" lvl="0" indent="-254000" algn="l" rtl="0">
              <a:spcBef>
                <a:spcPts val="0"/>
              </a:spcBef>
              <a:spcAft>
                <a:spcPts val="0"/>
              </a:spcAft>
              <a:buClr>
                <a:schemeClr val="dk1"/>
              </a:buClr>
              <a:buSzPts val="1400"/>
              <a:buFont typeface="Calibri"/>
              <a:buAutoNum type="arabicPeriod"/>
            </a:pPr>
            <a:r>
              <a:rPr lang="fr" sz="1400" b="1">
                <a:solidFill>
                  <a:schemeClr val="dk1"/>
                </a:solidFill>
                <a:latin typeface="Calibri"/>
                <a:ea typeface="Calibri"/>
                <a:cs typeface="Calibri"/>
                <a:sym typeface="Calibri"/>
              </a:rPr>
              <a:t>Initialize</a:t>
            </a:r>
            <a:r>
              <a:rPr lang="fr" sz="1400">
                <a:solidFill>
                  <a:schemeClr val="dk1"/>
                </a:solidFill>
                <a:latin typeface="Calibri"/>
                <a:ea typeface="Calibri"/>
                <a:cs typeface="Calibri"/>
                <a:sym typeface="Calibri"/>
              </a:rPr>
              <a:t> the model parameters θ</a:t>
            </a:r>
            <a:r>
              <a:rPr lang="fr" sz="1400" baseline="30000">
                <a:solidFill>
                  <a:schemeClr val="dk1"/>
                </a:solidFill>
                <a:latin typeface="Calibri"/>
                <a:ea typeface="Calibri"/>
                <a:cs typeface="Calibri"/>
                <a:sym typeface="Calibri"/>
              </a:rPr>
              <a:t>(0)</a:t>
            </a:r>
            <a:endParaRPr sz="1400">
              <a:solidFill>
                <a:schemeClr val="dk1"/>
              </a:solidFill>
              <a:latin typeface="Calibri"/>
              <a:ea typeface="Calibri"/>
              <a:cs typeface="Calibri"/>
              <a:sym typeface="Calibri"/>
            </a:endParaRPr>
          </a:p>
          <a:p>
            <a:pPr marL="254000" marR="0" lvl="0" indent="-254000" algn="l" rtl="0">
              <a:spcBef>
                <a:spcPts val="0"/>
              </a:spcBef>
              <a:spcAft>
                <a:spcPts val="0"/>
              </a:spcAft>
              <a:buClr>
                <a:schemeClr val="dk1"/>
              </a:buClr>
              <a:buSzPts val="1400"/>
              <a:buFont typeface="Calibri"/>
              <a:buAutoNum type="arabicPeriod"/>
            </a:pPr>
            <a:r>
              <a:rPr lang="fr" sz="1400" b="1">
                <a:solidFill>
                  <a:schemeClr val="dk1"/>
                </a:solidFill>
                <a:latin typeface="Calibri"/>
                <a:ea typeface="Calibri"/>
                <a:cs typeface="Calibri"/>
                <a:sym typeface="Calibri"/>
              </a:rPr>
              <a:t>Repeat</a:t>
            </a:r>
            <a:r>
              <a:rPr lang="fr" sz="1400">
                <a:solidFill>
                  <a:schemeClr val="dk1"/>
                </a:solidFill>
                <a:latin typeface="Calibri"/>
                <a:ea typeface="Calibri"/>
                <a:cs typeface="Calibri"/>
                <a:sym typeface="Calibri"/>
              </a:rPr>
              <a:t> until convergence:</a:t>
            </a:r>
            <a:endParaRPr sz="1100"/>
          </a:p>
          <a:p>
            <a:pPr marL="558800" marR="0" lvl="1" indent="-215900" algn="l" rtl="0">
              <a:spcBef>
                <a:spcPts val="0"/>
              </a:spcBef>
              <a:spcAft>
                <a:spcPts val="0"/>
              </a:spcAft>
              <a:buClr>
                <a:schemeClr val="dk1"/>
              </a:buClr>
              <a:buSzPts val="1400"/>
              <a:buFont typeface="Calibri"/>
              <a:buAutoNum type="arabicPeriod"/>
            </a:pPr>
            <a:r>
              <a:rPr lang="fr" sz="1400" b="0" i="0" u="none" strike="noStrike" cap="none">
                <a:solidFill>
                  <a:schemeClr val="dk1"/>
                </a:solidFill>
                <a:latin typeface="Calibri"/>
                <a:ea typeface="Calibri"/>
                <a:cs typeface="Calibri"/>
                <a:sym typeface="Calibri"/>
              </a:rPr>
              <a:t>E-step: Calculate the expected log-likelihood using current parameters.</a:t>
            </a:r>
            <a:endParaRPr sz="1100"/>
          </a:p>
          <a:p>
            <a:pPr marL="558800" marR="0" lvl="1" indent="-215900" algn="l" rtl="0">
              <a:spcBef>
                <a:spcPts val="0"/>
              </a:spcBef>
              <a:spcAft>
                <a:spcPts val="0"/>
              </a:spcAft>
              <a:buClr>
                <a:schemeClr val="dk1"/>
              </a:buClr>
              <a:buSzPts val="1400"/>
              <a:buFont typeface="Calibri"/>
              <a:buAutoNum type="arabicPeriod"/>
            </a:pPr>
            <a:r>
              <a:rPr lang="fr" sz="1400" b="0" i="0" u="none" strike="noStrike" cap="none">
                <a:solidFill>
                  <a:schemeClr val="dk1"/>
                </a:solidFill>
                <a:latin typeface="Calibri"/>
                <a:ea typeface="Calibri"/>
                <a:cs typeface="Calibri"/>
                <a:sym typeface="Calibri"/>
              </a:rPr>
              <a:t>M-step: Update the parameters by maximizing the expected log-likelihood.</a:t>
            </a:r>
            <a:endParaRPr sz="110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35"/>
          <p:cNvSpPr txBox="1">
            <a:spLocks noGrp="1"/>
          </p:cNvSpPr>
          <p:nvPr>
            <p:ph type="title"/>
          </p:nvPr>
        </p:nvSpPr>
        <p:spPr>
          <a:xfrm>
            <a:off x="1204913" y="258238"/>
            <a:ext cx="6483000" cy="360300"/>
          </a:xfrm>
          <a:prstGeom prst="rect">
            <a:avLst/>
          </a:prstGeom>
          <a:noFill/>
          <a:ln>
            <a:noFill/>
          </a:ln>
        </p:spPr>
        <p:txBody>
          <a:bodyPr spcFirstLastPara="1" wrap="square" lIns="68575" tIns="34275" rIns="68575" bIns="34275" anchor="ctr" anchorCtr="0">
            <a:spAutoFit/>
          </a:bodyPr>
          <a:lstStyle/>
          <a:p>
            <a:pPr marL="0" lvl="0" indent="0" algn="l" rtl="0">
              <a:lnSpc>
                <a:spcPct val="90000"/>
              </a:lnSpc>
              <a:spcBef>
                <a:spcPts val="0"/>
              </a:spcBef>
              <a:spcAft>
                <a:spcPts val="0"/>
              </a:spcAft>
              <a:buClr>
                <a:schemeClr val="dk1"/>
              </a:buClr>
              <a:buSzPts val="2100"/>
              <a:buFont typeface="Microsoft Yahei"/>
              <a:buNone/>
            </a:pPr>
            <a:r>
              <a:rPr lang="fr"/>
              <a:t>First example</a:t>
            </a:r>
            <a:endParaRPr/>
          </a:p>
        </p:txBody>
      </p:sp>
      <p:pic>
        <p:nvPicPr>
          <p:cNvPr id="257" name="Google Shape;257;p35"/>
          <p:cNvPicPr preferRelativeResize="0"/>
          <p:nvPr/>
        </p:nvPicPr>
        <p:blipFill>
          <a:blip r:embed="rId3">
            <a:alphaModFix/>
          </a:blip>
          <a:stretch>
            <a:fillRect/>
          </a:stretch>
        </p:blipFill>
        <p:spPr>
          <a:xfrm>
            <a:off x="210350" y="1979963"/>
            <a:ext cx="8839199" cy="1183570"/>
          </a:xfrm>
          <a:prstGeom prst="rect">
            <a:avLst/>
          </a:prstGeom>
          <a:noFill/>
          <a:ln>
            <a:noFill/>
          </a:ln>
        </p:spPr>
      </p:pic>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36"/>
          <p:cNvSpPr txBox="1">
            <a:spLocks noGrp="1"/>
          </p:cNvSpPr>
          <p:nvPr>
            <p:ph type="title"/>
          </p:nvPr>
        </p:nvSpPr>
        <p:spPr>
          <a:xfrm>
            <a:off x="1204913" y="258238"/>
            <a:ext cx="6483000" cy="360300"/>
          </a:xfrm>
          <a:prstGeom prst="rect">
            <a:avLst/>
          </a:prstGeom>
          <a:noFill/>
          <a:ln>
            <a:noFill/>
          </a:ln>
        </p:spPr>
        <p:txBody>
          <a:bodyPr spcFirstLastPara="1" wrap="square" lIns="68575" tIns="34275" rIns="68575" bIns="34275" anchor="ctr" anchorCtr="0">
            <a:spAutoFit/>
          </a:bodyPr>
          <a:lstStyle/>
          <a:p>
            <a:pPr marL="0" lvl="0" indent="0" algn="l" rtl="0">
              <a:lnSpc>
                <a:spcPct val="90000"/>
              </a:lnSpc>
              <a:spcBef>
                <a:spcPts val="0"/>
              </a:spcBef>
              <a:spcAft>
                <a:spcPts val="0"/>
              </a:spcAft>
              <a:buClr>
                <a:schemeClr val="dk1"/>
              </a:buClr>
              <a:buSzPts val="2100"/>
              <a:buFont typeface="Microsoft Yahei"/>
              <a:buNone/>
            </a:pPr>
            <a:r>
              <a:rPr lang="fr"/>
              <a:t>What is GMM?</a:t>
            </a:r>
            <a:endParaRPr/>
          </a:p>
        </p:txBody>
      </p:sp>
      <p:sp>
        <p:nvSpPr>
          <p:cNvPr id="263" name="Google Shape;263;p36"/>
          <p:cNvSpPr txBox="1"/>
          <p:nvPr/>
        </p:nvSpPr>
        <p:spPr>
          <a:xfrm>
            <a:off x="350875" y="935675"/>
            <a:ext cx="7687800" cy="2219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fr" sz="1100">
                <a:solidFill>
                  <a:schemeClr val="dk1"/>
                </a:solidFill>
              </a:rPr>
              <a:t>A </a:t>
            </a:r>
            <a:r>
              <a:rPr lang="fr" sz="1100" b="1">
                <a:solidFill>
                  <a:schemeClr val="dk1"/>
                </a:solidFill>
              </a:rPr>
              <a:t>Gaussian Mixture Model (GMM)</a:t>
            </a:r>
            <a:r>
              <a:rPr lang="fr" sz="1100">
                <a:solidFill>
                  <a:schemeClr val="dk1"/>
                </a:solidFill>
              </a:rPr>
              <a:t> is a probabilistic model used to represent a mixture of multiple Gaussian distributions. It is primarily used for clustering and density estimation. A GMM assumes that data points are generated from a mixture of several Gaussian distributions, each with its own mean and covariance.</a:t>
            </a:r>
            <a:endParaRPr sz="1100">
              <a:solidFill>
                <a:schemeClr val="dk1"/>
              </a:solidFill>
            </a:endParaRPr>
          </a:p>
          <a:p>
            <a:pPr marL="0" lvl="0" indent="0" algn="l" rtl="0">
              <a:lnSpc>
                <a:spcPct val="115000"/>
              </a:lnSpc>
              <a:spcBef>
                <a:spcPts val="1200"/>
              </a:spcBef>
              <a:spcAft>
                <a:spcPts val="0"/>
              </a:spcAft>
              <a:buNone/>
            </a:pPr>
            <a:r>
              <a:rPr lang="fr" sz="1100">
                <a:solidFill>
                  <a:schemeClr val="dk1"/>
                </a:solidFill>
              </a:rPr>
              <a:t>Key components of a GMM:</a:t>
            </a:r>
            <a:endParaRPr sz="1100">
              <a:solidFill>
                <a:schemeClr val="dk1"/>
              </a:solidFill>
            </a:endParaRPr>
          </a:p>
          <a:p>
            <a:pPr marL="457200" lvl="0" indent="-298450" algn="l" rtl="0">
              <a:lnSpc>
                <a:spcPct val="115000"/>
              </a:lnSpc>
              <a:spcBef>
                <a:spcPts val="1200"/>
              </a:spcBef>
              <a:spcAft>
                <a:spcPts val="0"/>
              </a:spcAft>
              <a:buClr>
                <a:schemeClr val="dk1"/>
              </a:buClr>
              <a:buSzPts val="1100"/>
              <a:buAutoNum type="arabicPeriod"/>
            </a:pPr>
            <a:r>
              <a:rPr lang="fr" sz="1100" b="1">
                <a:solidFill>
                  <a:schemeClr val="dk1"/>
                </a:solidFill>
              </a:rPr>
              <a:t>Gaussian components</a:t>
            </a:r>
            <a:r>
              <a:rPr lang="fr" sz="1100">
                <a:solidFill>
                  <a:schemeClr val="dk1"/>
                </a:solidFill>
              </a:rPr>
              <a:t>: Each component in the mixture is a Gaussian (normal) distribution, characterized by:</a:t>
            </a:r>
            <a:endParaRPr sz="1100">
              <a:solidFill>
                <a:schemeClr val="dk1"/>
              </a:solidFill>
            </a:endParaRPr>
          </a:p>
          <a:p>
            <a:pPr marL="914400" lvl="1" indent="-298450" algn="l" rtl="0">
              <a:lnSpc>
                <a:spcPct val="115000"/>
              </a:lnSpc>
              <a:spcBef>
                <a:spcPts val="0"/>
              </a:spcBef>
              <a:spcAft>
                <a:spcPts val="0"/>
              </a:spcAft>
              <a:buClr>
                <a:schemeClr val="dk1"/>
              </a:buClr>
              <a:buSzPts val="1100"/>
              <a:buChar char="○"/>
            </a:pPr>
            <a:r>
              <a:rPr lang="fr" sz="1100">
                <a:solidFill>
                  <a:schemeClr val="dk1"/>
                </a:solidFill>
              </a:rPr>
              <a:t>Mean (μ) - the center of the distribution</a:t>
            </a:r>
            <a:endParaRPr sz="1100">
              <a:solidFill>
                <a:schemeClr val="dk1"/>
              </a:solidFill>
            </a:endParaRPr>
          </a:p>
          <a:p>
            <a:pPr marL="914400" lvl="1" indent="-298450" algn="l" rtl="0">
              <a:lnSpc>
                <a:spcPct val="115000"/>
              </a:lnSpc>
              <a:spcBef>
                <a:spcPts val="0"/>
              </a:spcBef>
              <a:spcAft>
                <a:spcPts val="0"/>
              </a:spcAft>
              <a:buClr>
                <a:schemeClr val="dk1"/>
              </a:buClr>
              <a:buSzPts val="1100"/>
              <a:buChar char="○"/>
            </a:pPr>
            <a:r>
              <a:rPr lang="fr" sz="1100">
                <a:solidFill>
                  <a:schemeClr val="dk1"/>
                </a:solidFill>
              </a:rPr>
              <a:t>Covariance (Σ) - the spread and orientation of the distribution</a:t>
            </a:r>
            <a:endParaRPr sz="1100">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fr" sz="1100" b="1">
                <a:solidFill>
                  <a:schemeClr val="dk1"/>
                </a:solidFill>
              </a:rPr>
              <a:t>Mixture weights</a:t>
            </a:r>
            <a:r>
              <a:rPr lang="fr" sz="1100">
                <a:solidFill>
                  <a:schemeClr val="dk1"/>
                </a:solidFill>
              </a:rPr>
              <a:t>: Each Gaussian has an associated weight (π) that represents the proportion of data points generated by that Gaussian.</a:t>
            </a:r>
            <a:endParaRPr sz="1100">
              <a:solidFill>
                <a:schemeClr val="dk1"/>
              </a:solidFill>
            </a:endParaRPr>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pic>
        <p:nvPicPr>
          <p:cNvPr id="268" name="Google Shape;268;p37"/>
          <p:cNvPicPr preferRelativeResize="0"/>
          <p:nvPr/>
        </p:nvPicPr>
        <p:blipFill>
          <a:blip r:embed="rId3">
            <a:alphaModFix/>
          </a:blip>
          <a:stretch>
            <a:fillRect/>
          </a:stretch>
        </p:blipFill>
        <p:spPr>
          <a:xfrm>
            <a:off x="1057675" y="904329"/>
            <a:ext cx="4648876" cy="3459874"/>
          </a:xfrm>
          <a:prstGeom prst="rect">
            <a:avLst/>
          </a:prstGeom>
          <a:noFill/>
          <a:ln>
            <a:noFill/>
          </a:ln>
        </p:spPr>
      </p:pic>
      <p:pic>
        <p:nvPicPr>
          <p:cNvPr id="269" name="Google Shape;269;p37"/>
          <p:cNvPicPr preferRelativeResize="0"/>
          <p:nvPr/>
        </p:nvPicPr>
        <p:blipFill>
          <a:blip r:embed="rId4">
            <a:alphaModFix/>
          </a:blip>
          <a:stretch>
            <a:fillRect/>
          </a:stretch>
        </p:blipFill>
        <p:spPr>
          <a:xfrm>
            <a:off x="1057676" y="933139"/>
            <a:ext cx="4557475" cy="3402245"/>
          </a:xfrm>
          <a:prstGeom prst="rect">
            <a:avLst/>
          </a:prstGeom>
          <a:noFill/>
          <a:ln>
            <a:noFill/>
          </a:ln>
        </p:spPr>
      </p:pic>
      <p:sp>
        <p:nvSpPr>
          <p:cNvPr id="270" name="Google Shape;270;p37"/>
          <p:cNvSpPr txBox="1">
            <a:spLocks noGrp="1"/>
          </p:cNvSpPr>
          <p:nvPr>
            <p:ph type="title"/>
          </p:nvPr>
        </p:nvSpPr>
        <p:spPr>
          <a:xfrm>
            <a:off x="1204913" y="258238"/>
            <a:ext cx="6483000" cy="360300"/>
          </a:xfrm>
          <a:prstGeom prst="rect">
            <a:avLst/>
          </a:prstGeom>
          <a:noFill/>
          <a:ln>
            <a:noFill/>
          </a:ln>
        </p:spPr>
        <p:txBody>
          <a:bodyPr spcFirstLastPara="1" wrap="square" lIns="68575" tIns="34275" rIns="68575" bIns="34275" anchor="ctr" anchorCtr="0">
            <a:spAutoFit/>
          </a:bodyPr>
          <a:lstStyle/>
          <a:p>
            <a:pPr marL="0" lvl="0" indent="0" algn="l" rtl="0">
              <a:lnSpc>
                <a:spcPct val="90000"/>
              </a:lnSpc>
              <a:spcBef>
                <a:spcPts val="0"/>
              </a:spcBef>
              <a:spcAft>
                <a:spcPts val="0"/>
              </a:spcAft>
              <a:buClr>
                <a:schemeClr val="dk1"/>
              </a:buClr>
              <a:buSzPts val="2100"/>
              <a:buFont typeface="Microsoft Yahei"/>
              <a:buNone/>
            </a:pPr>
            <a:r>
              <a:rPr lang="fr"/>
              <a:t>The execution - easy example</a:t>
            </a:r>
            <a:endParaRPr/>
          </a:p>
        </p:txBody>
      </p:sp>
      <p:pic>
        <p:nvPicPr>
          <p:cNvPr id="271" name="Google Shape;271;p37"/>
          <p:cNvPicPr preferRelativeResize="0"/>
          <p:nvPr/>
        </p:nvPicPr>
        <p:blipFill>
          <a:blip r:embed="rId5">
            <a:alphaModFix/>
          </a:blip>
          <a:stretch>
            <a:fillRect/>
          </a:stretch>
        </p:blipFill>
        <p:spPr>
          <a:xfrm>
            <a:off x="1072875" y="952154"/>
            <a:ext cx="4557475" cy="3391592"/>
          </a:xfrm>
          <a:prstGeom prst="rect">
            <a:avLst/>
          </a:prstGeom>
          <a:noFill/>
          <a:ln>
            <a:noFill/>
          </a:ln>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38"/>
          <p:cNvSpPr txBox="1">
            <a:spLocks noGrp="1"/>
          </p:cNvSpPr>
          <p:nvPr>
            <p:ph type="title"/>
          </p:nvPr>
        </p:nvSpPr>
        <p:spPr>
          <a:xfrm>
            <a:off x="1204913" y="258238"/>
            <a:ext cx="6483000" cy="360300"/>
          </a:xfrm>
          <a:prstGeom prst="rect">
            <a:avLst/>
          </a:prstGeom>
        </p:spPr>
        <p:txBody>
          <a:bodyPr spcFirstLastPara="1" wrap="square" lIns="68575" tIns="34275" rIns="68575" bIns="34275" anchor="ctr" anchorCtr="0">
            <a:spAutoFit/>
          </a:bodyPr>
          <a:lstStyle/>
          <a:p>
            <a:pPr marL="0" lvl="0" indent="0" algn="l" rtl="0">
              <a:spcBef>
                <a:spcPts val="0"/>
              </a:spcBef>
              <a:spcAft>
                <a:spcPts val="0"/>
              </a:spcAft>
              <a:buNone/>
            </a:pPr>
            <a:r>
              <a:rPr lang="fr"/>
              <a:t>Converging to the final classification</a:t>
            </a:r>
            <a:endParaRPr/>
          </a:p>
        </p:txBody>
      </p:sp>
      <p:pic>
        <p:nvPicPr>
          <p:cNvPr id="277" name="Google Shape;277;p38"/>
          <p:cNvPicPr preferRelativeResize="0"/>
          <p:nvPr/>
        </p:nvPicPr>
        <p:blipFill>
          <a:blip r:embed="rId3">
            <a:alphaModFix/>
          </a:blip>
          <a:stretch>
            <a:fillRect/>
          </a:stretch>
        </p:blipFill>
        <p:spPr>
          <a:xfrm>
            <a:off x="152400" y="770938"/>
            <a:ext cx="8839201" cy="351079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39"/>
          <p:cNvSpPr txBox="1">
            <a:spLocks noGrp="1"/>
          </p:cNvSpPr>
          <p:nvPr>
            <p:ph type="title"/>
          </p:nvPr>
        </p:nvSpPr>
        <p:spPr>
          <a:xfrm>
            <a:off x="1204913" y="258238"/>
            <a:ext cx="6483000" cy="360300"/>
          </a:xfrm>
          <a:prstGeom prst="rect">
            <a:avLst/>
          </a:prstGeom>
        </p:spPr>
        <p:txBody>
          <a:bodyPr spcFirstLastPara="1" wrap="square" lIns="68575" tIns="34275" rIns="68575" bIns="34275" anchor="ctr" anchorCtr="0">
            <a:spAutoFit/>
          </a:bodyPr>
          <a:lstStyle/>
          <a:p>
            <a:pPr marL="0" lvl="0" indent="0" algn="l" rtl="0">
              <a:spcBef>
                <a:spcPts val="0"/>
              </a:spcBef>
              <a:spcAft>
                <a:spcPts val="0"/>
              </a:spcAft>
              <a:buNone/>
            </a:pPr>
            <a:endParaRPr/>
          </a:p>
        </p:txBody>
      </p:sp>
      <p:pic>
        <p:nvPicPr>
          <p:cNvPr id="283" name="Google Shape;283;p39"/>
          <p:cNvPicPr preferRelativeResize="0"/>
          <p:nvPr/>
        </p:nvPicPr>
        <p:blipFill>
          <a:blip r:embed="rId3">
            <a:alphaModFix/>
          </a:blip>
          <a:stretch>
            <a:fillRect/>
          </a:stretch>
        </p:blipFill>
        <p:spPr>
          <a:xfrm>
            <a:off x="250325" y="770950"/>
            <a:ext cx="5280471" cy="2239525"/>
          </a:xfrm>
          <a:prstGeom prst="rect">
            <a:avLst/>
          </a:prstGeom>
          <a:noFill/>
          <a:ln>
            <a:noFill/>
          </a:ln>
        </p:spPr>
      </p:pic>
      <p:sp>
        <p:nvSpPr>
          <p:cNvPr id="284" name="Google Shape;284;p39"/>
          <p:cNvSpPr txBox="1"/>
          <p:nvPr/>
        </p:nvSpPr>
        <p:spPr>
          <a:xfrm>
            <a:off x="232525" y="4250950"/>
            <a:ext cx="8253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
                <a:solidFill>
                  <a:schemeClr val="dk1"/>
                </a:solidFill>
                <a:latin typeface="Calibri"/>
                <a:ea typeface="Calibri"/>
                <a:cs typeface="Calibri"/>
                <a:sym typeface="Calibri"/>
              </a:rPr>
              <a:t>code: </a:t>
            </a:r>
            <a:r>
              <a:rPr lang="fr" u="sng">
                <a:solidFill>
                  <a:schemeClr val="hlink"/>
                </a:solidFill>
                <a:latin typeface="Calibri"/>
                <a:ea typeface="Calibri"/>
                <a:cs typeface="Calibri"/>
                <a:sym typeface="Calibri"/>
                <a:hlinkClick r:id="rId4"/>
              </a:rPr>
              <a:t>source</a:t>
            </a:r>
            <a:endParaRPr>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40"/>
          <p:cNvSpPr txBox="1">
            <a:spLocks noGrp="1"/>
          </p:cNvSpPr>
          <p:nvPr>
            <p:ph type="title"/>
          </p:nvPr>
        </p:nvSpPr>
        <p:spPr>
          <a:xfrm>
            <a:off x="1204913" y="258238"/>
            <a:ext cx="6483000" cy="360300"/>
          </a:xfrm>
          <a:prstGeom prst="rect">
            <a:avLst/>
          </a:prstGeom>
        </p:spPr>
        <p:txBody>
          <a:bodyPr spcFirstLastPara="1" wrap="square" lIns="68575" tIns="34275" rIns="68575" bIns="34275" anchor="ctr" anchorCtr="0">
            <a:spAutoFit/>
          </a:bodyPr>
          <a:lstStyle/>
          <a:p>
            <a:pPr marL="0" lvl="0" indent="0" algn="l" rtl="0">
              <a:spcBef>
                <a:spcPts val="0"/>
              </a:spcBef>
              <a:spcAft>
                <a:spcPts val="0"/>
              </a:spcAft>
              <a:buNone/>
            </a:pPr>
            <a:endParaRPr/>
          </a:p>
        </p:txBody>
      </p:sp>
      <p:pic>
        <p:nvPicPr>
          <p:cNvPr id="290" name="Google Shape;290;p40"/>
          <p:cNvPicPr preferRelativeResize="0"/>
          <p:nvPr/>
        </p:nvPicPr>
        <p:blipFill>
          <a:blip r:embed="rId3">
            <a:alphaModFix/>
          </a:blip>
          <a:stretch>
            <a:fillRect/>
          </a:stretch>
        </p:blipFill>
        <p:spPr>
          <a:xfrm>
            <a:off x="316775" y="722225"/>
            <a:ext cx="6872549" cy="1781775"/>
          </a:xfrm>
          <a:prstGeom prst="rect">
            <a:avLst/>
          </a:prstGeom>
          <a:noFill/>
          <a:ln>
            <a:noFill/>
          </a:ln>
        </p:spPr>
      </p:pic>
      <p:pic>
        <p:nvPicPr>
          <p:cNvPr id="291" name="Google Shape;291;p40"/>
          <p:cNvPicPr preferRelativeResize="0"/>
          <p:nvPr/>
        </p:nvPicPr>
        <p:blipFill>
          <a:blip r:embed="rId4">
            <a:alphaModFix/>
          </a:blip>
          <a:stretch>
            <a:fillRect/>
          </a:stretch>
        </p:blipFill>
        <p:spPr>
          <a:xfrm>
            <a:off x="294850" y="2607675"/>
            <a:ext cx="6916400" cy="1853025"/>
          </a:xfrm>
          <a:prstGeom prst="rect">
            <a:avLst/>
          </a:prstGeom>
          <a:noFill/>
          <a:ln>
            <a:noFill/>
          </a:ln>
        </p:spPr>
      </p:pic>
      <p:sp>
        <p:nvSpPr>
          <p:cNvPr id="292" name="Google Shape;292;p40"/>
          <p:cNvSpPr txBox="1"/>
          <p:nvPr/>
        </p:nvSpPr>
        <p:spPr>
          <a:xfrm>
            <a:off x="6183000" y="1380050"/>
            <a:ext cx="3014400" cy="66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sz="2100">
                <a:solidFill>
                  <a:srgbClr val="FF0000"/>
                </a:solidFill>
                <a:latin typeface="Calibri"/>
                <a:ea typeface="Calibri"/>
                <a:cs typeface="Calibri"/>
                <a:sym typeface="Calibri"/>
              </a:rPr>
              <a:t>E-step</a:t>
            </a:r>
            <a:endParaRPr sz="2100">
              <a:solidFill>
                <a:srgbClr val="FF0000"/>
              </a:solidFill>
              <a:latin typeface="Calibri"/>
              <a:ea typeface="Calibri"/>
              <a:cs typeface="Calibri"/>
              <a:sym typeface="Calibri"/>
            </a:endParaRPr>
          </a:p>
          <a:p>
            <a:pPr marL="0" lvl="0" indent="0" algn="l" rtl="0">
              <a:spcBef>
                <a:spcPts val="0"/>
              </a:spcBef>
              <a:spcAft>
                <a:spcPts val="0"/>
              </a:spcAft>
              <a:buNone/>
            </a:pPr>
            <a:r>
              <a:rPr lang="fr" sz="2100">
                <a:solidFill>
                  <a:srgbClr val="FF0000"/>
                </a:solidFill>
                <a:latin typeface="Calibri"/>
                <a:ea typeface="Calibri"/>
                <a:cs typeface="Calibri"/>
                <a:sym typeface="Calibri"/>
              </a:rPr>
              <a:t>calculate the probabilities</a:t>
            </a:r>
            <a:endParaRPr sz="2100">
              <a:solidFill>
                <a:srgbClr val="FF0000"/>
              </a:solidFill>
              <a:latin typeface="Calibri"/>
              <a:ea typeface="Calibri"/>
              <a:cs typeface="Calibri"/>
              <a:sym typeface="Calibri"/>
            </a:endParaRPr>
          </a:p>
        </p:txBody>
      </p:sp>
      <p:sp>
        <p:nvSpPr>
          <p:cNvPr id="293" name="Google Shape;293;p40"/>
          <p:cNvSpPr txBox="1"/>
          <p:nvPr/>
        </p:nvSpPr>
        <p:spPr>
          <a:xfrm>
            <a:off x="6236450" y="2991625"/>
            <a:ext cx="3014400" cy="66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sz="2100">
                <a:solidFill>
                  <a:srgbClr val="FF0000"/>
                </a:solidFill>
                <a:latin typeface="Calibri"/>
                <a:ea typeface="Calibri"/>
                <a:cs typeface="Calibri"/>
                <a:sym typeface="Calibri"/>
              </a:rPr>
              <a:t>M-step</a:t>
            </a:r>
            <a:endParaRPr sz="2100">
              <a:solidFill>
                <a:srgbClr val="FF0000"/>
              </a:solidFill>
              <a:latin typeface="Calibri"/>
              <a:ea typeface="Calibri"/>
              <a:cs typeface="Calibri"/>
              <a:sym typeface="Calibri"/>
            </a:endParaRPr>
          </a:p>
          <a:p>
            <a:pPr marL="0" lvl="0" indent="0" algn="l" rtl="0">
              <a:spcBef>
                <a:spcPts val="0"/>
              </a:spcBef>
              <a:spcAft>
                <a:spcPts val="0"/>
              </a:spcAft>
              <a:buNone/>
            </a:pPr>
            <a:r>
              <a:rPr lang="fr" sz="2100">
                <a:solidFill>
                  <a:srgbClr val="FF0000"/>
                </a:solidFill>
                <a:latin typeface="Calibri"/>
                <a:ea typeface="Calibri"/>
                <a:cs typeface="Calibri"/>
                <a:sym typeface="Calibri"/>
              </a:rPr>
              <a:t>update the parameters</a:t>
            </a:r>
            <a:endParaRPr sz="2100">
              <a:solidFill>
                <a:srgbClr val="FF0000"/>
              </a:solidFill>
              <a:latin typeface="Calibri"/>
              <a:ea typeface="Calibri"/>
              <a:cs typeface="Calibri"/>
              <a:sym typeface="Calibri"/>
            </a:endParaRPr>
          </a:p>
        </p:txBody>
      </p:sp>
      <p:sp>
        <p:nvSpPr>
          <p:cNvPr id="294" name="Google Shape;294;p40"/>
          <p:cNvSpPr txBox="1"/>
          <p:nvPr/>
        </p:nvSpPr>
        <p:spPr>
          <a:xfrm>
            <a:off x="232525" y="4327150"/>
            <a:ext cx="8253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
                <a:solidFill>
                  <a:schemeClr val="dk1"/>
                </a:solidFill>
                <a:latin typeface="Calibri"/>
                <a:ea typeface="Calibri"/>
                <a:cs typeface="Calibri"/>
                <a:sym typeface="Calibri"/>
              </a:rPr>
              <a:t>code: </a:t>
            </a:r>
            <a:r>
              <a:rPr lang="fr" u="sng">
                <a:solidFill>
                  <a:schemeClr val="hlink"/>
                </a:solidFill>
                <a:latin typeface="Calibri"/>
                <a:ea typeface="Calibri"/>
                <a:cs typeface="Calibri"/>
                <a:sym typeface="Calibri"/>
                <a:hlinkClick r:id="rId5"/>
              </a:rPr>
              <a:t>source</a:t>
            </a:r>
            <a:endParaRPr>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41"/>
          <p:cNvSpPr txBox="1">
            <a:spLocks noGrp="1"/>
          </p:cNvSpPr>
          <p:nvPr>
            <p:ph type="title"/>
          </p:nvPr>
        </p:nvSpPr>
        <p:spPr>
          <a:xfrm>
            <a:off x="1204913" y="258238"/>
            <a:ext cx="6483000" cy="360300"/>
          </a:xfrm>
          <a:prstGeom prst="rect">
            <a:avLst/>
          </a:prstGeom>
          <a:noFill/>
          <a:ln>
            <a:noFill/>
          </a:ln>
        </p:spPr>
        <p:txBody>
          <a:bodyPr spcFirstLastPara="1" wrap="square" lIns="68575" tIns="34275" rIns="68575" bIns="34275" anchor="ctr" anchorCtr="0">
            <a:spAutoFit/>
          </a:bodyPr>
          <a:lstStyle/>
          <a:p>
            <a:pPr marL="0" lvl="0" indent="0" algn="l" rtl="0">
              <a:lnSpc>
                <a:spcPct val="90000"/>
              </a:lnSpc>
              <a:spcBef>
                <a:spcPts val="0"/>
              </a:spcBef>
              <a:spcAft>
                <a:spcPts val="0"/>
              </a:spcAft>
              <a:buClr>
                <a:schemeClr val="dk1"/>
              </a:buClr>
              <a:buSzPts val="2100"/>
              <a:buFont typeface="Microsoft Yahei"/>
              <a:buNone/>
            </a:pPr>
            <a:r>
              <a:rPr lang="fr"/>
              <a:t>First example</a:t>
            </a:r>
            <a:endParaRPr/>
          </a:p>
        </p:txBody>
      </p:sp>
      <p:pic>
        <p:nvPicPr>
          <p:cNvPr id="300" name="Google Shape;300;p41"/>
          <p:cNvPicPr preferRelativeResize="0"/>
          <p:nvPr/>
        </p:nvPicPr>
        <p:blipFill>
          <a:blip r:embed="rId3">
            <a:alphaModFix/>
          </a:blip>
          <a:stretch>
            <a:fillRect/>
          </a:stretch>
        </p:blipFill>
        <p:spPr>
          <a:xfrm>
            <a:off x="152400" y="2023463"/>
            <a:ext cx="8839200" cy="1096557"/>
          </a:xfrm>
          <a:prstGeom prst="rect">
            <a:avLst/>
          </a:prstGeom>
          <a:noFill/>
          <a:ln>
            <a:noFill/>
          </a:ln>
        </p:spPr>
      </p:pic>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42"/>
          <p:cNvSpPr txBox="1">
            <a:spLocks noGrp="1"/>
          </p:cNvSpPr>
          <p:nvPr>
            <p:ph type="title"/>
          </p:nvPr>
        </p:nvSpPr>
        <p:spPr>
          <a:xfrm>
            <a:off x="1204913" y="258238"/>
            <a:ext cx="6483000" cy="360300"/>
          </a:xfrm>
          <a:prstGeom prst="rect">
            <a:avLst/>
          </a:prstGeom>
          <a:noFill/>
          <a:ln>
            <a:noFill/>
          </a:ln>
        </p:spPr>
        <p:txBody>
          <a:bodyPr spcFirstLastPara="1" wrap="square" lIns="68575" tIns="34275" rIns="68575" bIns="34275" anchor="ctr" anchorCtr="0">
            <a:spAutoFit/>
          </a:bodyPr>
          <a:lstStyle/>
          <a:p>
            <a:pPr marL="0" lvl="0" indent="0" algn="l" rtl="0">
              <a:lnSpc>
                <a:spcPct val="90000"/>
              </a:lnSpc>
              <a:spcBef>
                <a:spcPts val="0"/>
              </a:spcBef>
              <a:spcAft>
                <a:spcPts val="0"/>
              </a:spcAft>
              <a:buClr>
                <a:schemeClr val="dk1"/>
              </a:buClr>
              <a:buSzPts val="2100"/>
              <a:buFont typeface="Microsoft Yahei"/>
              <a:buNone/>
            </a:pPr>
            <a:r>
              <a:rPr lang="fr"/>
              <a:t>HMM and Vitebri algorithm explanation</a:t>
            </a:r>
            <a:endParaRPr/>
          </a:p>
        </p:txBody>
      </p:sp>
      <p:sp>
        <p:nvSpPr>
          <p:cNvPr id="306" name="Google Shape;306;p42"/>
          <p:cNvSpPr txBox="1"/>
          <p:nvPr/>
        </p:nvSpPr>
        <p:spPr>
          <a:xfrm>
            <a:off x="265350" y="703500"/>
            <a:ext cx="8613300" cy="3736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fr" sz="1100">
                <a:solidFill>
                  <a:schemeClr val="dk1"/>
                </a:solidFill>
              </a:rPr>
              <a:t>A </a:t>
            </a:r>
            <a:r>
              <a:rPr lang="fr" sz="1100" b="1">
                <a:solidFill>
                  <a:schemeClr val="dk1"/>
                </a:solidFill>
              </a:rPr>
              <a:t>Hidden Markov Model (HMM)</a:t>
            </a:r>
            <a:r>
              <a:rPr lang="fr" sz="1100">
                <a:solidFill>
                  <a:schemeClr val="dk1"/>
                </a:solidFill>
              </a:rPr>
              <a:t> is a statistical model used to represent systems that have hidden states which can be inferred through observable events. In an HMM, we have:</a:t>
            </a:r>
            <a:endParaRPr sz="1100">
              <a:solidFill>
                <a:schemeClr val="dk1"/>
              </a:solidFill>
            </a:endParaRPr>
          </a:p>
          <a:p>
            <a:pPr marL="457200" lvl="0" indent="-298450" algn="l" rtl="0">
              <a:lnSpc>
                <a:spcPct val="115000"/>
              </a:lnSpc>
              <a:spcBef>
                <a:spcPts val="1200"/>
              </a:spcBef>
              <a:spcAft>
                <a:spcPts val="0"/>
              </a:spcAft>
              <a:buClr>
                <a:schemeClr val="dk1"/>
              </a:buClr>
              <a:buSzPts val="1100"/>
              <a:buAutoNum type="arabicPeriod"/>
            </a:pPr>
            <a:r>
              <a:rPr lang="fr" sz="1100" b="1">
                <a:solidFill>
                  <a:schemeClr val="dk1"/>
                </a:solidFill>
              </a:rPr>
              <a:t>States</a:t>
            </a:r>
            <a:r>
              <a:rPr lang="fr" sz="1100">
                <a:solidFill>
                  <a:schemeClr val="dk1"/>
                </a:solidFill>
              </a:rPr>
              <a:t>: These represent the possible conditions or positions of the system, which are hidden and not directly observable.</a:t>
            </a:r>
            <a:endParaRPr sz="1100">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fr" sz="1100" b="1">
                <a:solidFill>
                  <a:schemeClr val="dk1"/>
                </a:solidFill>
              </a:rPr>
              <a:t>Observations</a:t>
            </a:r>
            <a:r>
              <a:rPr lang="fr" sz="1100">
                <a:solidFill>
                  <a:schemeClr val="dk1"/>
                </a:solidFill>
              </a:rPr>
              <a:t>: These are the observable events or signals influenced by the hidden states.</a:t>
            </a:r>
            <a:endParaRPr sz="1100">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fr" sz="1100" b="1">
                <a:solidFill>
                  <a:schemeClr val="dk1"/>
                </a:solidFill>
              </a:rPr>
              <a:t>Transition Probabilities</a:t>
            </a:r>
            <a:r>
              <a:rPr lang="fr" sz="1100">
                <a:solidFill>
                  <a:schemeClr val="dk1"/>
                </a:solidFill>
              </a:rPr>
              <a:t>: These define the probabilities of moving from one hidden state to another.</a:t>
            </a:r>
            <a:endParaRPr sz="1100">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fr" sz="1100" b="1">
                <a:solidFill>
                  <a:schemeClr val="dk1"/>
                </a:solidFill>
              </a:rPr>
              <a:t>Emission Probabilities</a:t>
            </a:r>
            <a:r>
              <a:rPr lang="fr" sz="1100">
                <a:solidFill>
                  <a:schemeClr val="dk1"/>
                </a:solidFill>
              </a:rPr>
              <a:t>: These are the probabilities of an observable event occurring given a hidden state.</a:t>
            </a:r>
            <a:endParaRPr sz="1100">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fr" sz="1100" b="1">
                <a:solidFill>
                  <a:schemeClr val="dk1"/>
                </a:solidFill>
              </a:rPr>
              <a:t>Initial Probabilities</a:t>
            </a:r>
            <a:r>
              <a:rPr lang="fr" sz="1100">
                <a:solidFill>
                  <a:schemeClr val="dk1"/>
                </a:solidFill>
              </a:rPr>
              <a:t>: These define the probability of starting in each state.</a:t>
            </a:r>
            <a:endParaRPr sz="1100">
              <a:solidFill>
                <a:schemeClr val="dk1"/>
              </a:solidFill>
            </a:endParaRPr>
          </a:p>
          <a:p>
            <a:pPr marL="0" lvl="0" indent="0" algn="l" rtl="0">
              <a:lnSpc>
                <a:spcPct val="115000"/>
              </a:lnSpc>
              <a:spcBef>
                <a:spcPts val="1200"/>
              </a:spcBef>
              <a:spcAft>
                <a:spcPts val="0"/>
              </a:spcAft>
              <a:buNone/>
            </a:pPr>
            <a:r>
              <a:rPr lang="fr" sz="1100">
                <a:solidFill>
                  <a:schemeClr val="dk1"/>
                </a:solidFill>
              </a:rPr>
              <a:t>The </a:t>
            </a:r>
            <a:r>
              <a:rPr lang="fr" sz="1100" b="1">
                <a:solidFill>
                  <a:schemeClr val="dk1"/>
                </a:solidFill>
              </a:rPr>
              <a:t>Viterbi Algorithm</a:t>
            </a:r>
            <a:r>
              <a:rPr lang="fr" sz="1100">
                <a:solidFill>
                  <a:schemeClr val="dk1"/>
                </a:solidFill>
              </a:rPr>
              <a:t> is a dynamic programming algorithm used to find the most likely sequence of hidden states (the "best path") that results in a given sequence of observed events. It is often used for decoding the hidden state sequence in HMMs. The algorithm works by:</a:t>
            </a:r>
            <a:endParaRPr sz="1100">
              <a:solidFill>
                <a:schemeClr val="dk1"/>
              </a:solidFill>
            </a:endParaRPr>
          </a:p>
          <a:p>
            <a:pPr marL="457200" lvl="0" indent="-298450" algn="l" rtl="0">
              <a:lnSpc>
                <a:spcPct val="115000"/>
              </a:lnSpc>
              <a:spcBef>
                <a:spcPts val="1200"/>
              </a:spcBef>
              <a:spcAft>
                <a:spcPts val="0"/>
              </a:spcAft>
              <a:buClr>
                <a:schemeClr val="dk1"/>
              </a:buClr>
              <a:buSzPts val="1100"/>
              <a:buAutoNum type="arabicPeriod"/>
            </a:pPr>
            <a:r>
              <a:rPr lang="fr" sz="1100" b="1">
                <a:solidFill>
                  <a:schemeClr val="dk1"/>
                </a:solidFill>
              </a:rPr>
              <a:t>Initialization</a:t>
            </a:r>
            <a:r>
              <a:rPr lang="fr" sz="1100">
                <a:solidFill>
                  <a:schemeClr val="dk1"/>
                </a:solidFill>
              </a:rPr>
              <a:t>: It sets the starting probabilities for all possible initial states.</a:t>
            </a:r>
            <a:endParaRPr sz="1100">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fr" sz="1100" b="1">
                <a:solidFill>
                  <a:schemeClr val="dk1"/>
                </a:solidFill>
              </a:rPr>
              <a:t>Recursion</a:t>
            </a:r>
            <a:r>
              <a:rPr lang="fr" sz="1100">
                <a:solidFill>
                  <a:schemeClr val="dk1"/>
                </a:solidFill>
              </a:rPr>
              <a:t>: It calculates the most probable path to each state at each time step by considering the transition probabilities from previous states and the emission probabilities for the current observation.</a:t>
            </a:r>
            <a:endParaRPr sz="1100">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fr" sz="1100" b="1">
                <a:solidFill>
                  <a:schemeClr val="dk1"/>
                </a:solidFill>
              </a:rPr>
              <a:t>Termination</a:t>
            </a:r>
            <a:r>
              <a:rPr lang="fr" sz="1100">
                <a:solidFill>
                  <a:schemeClr val="dk1"/>
                </a:solidFill>
              </a:rPr>
              <a:t>: It selects the state sequence with the highest probability as the final solution.</a:t>
            </a:r>
            <a:endParaRPr sz="1100">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fr" sz="1100" b="1">
                <a:solidFill>
                  <a:schemeClr val="dk1"/>
                </a:solidFill>
              </a:rPr>
              <a:t>Backtracking</a:t>
            </a:r>
            <a:r>
              <a:rPr lang="fr" sz="1100">
                <a:solidFill>
                  <a:schemeClr val="dk1"/>
                </a:solidFill>
              </a:rPr>
              <a:t>: This step helps to recover the optimal sequence of hidden states by tracing back from the most probable end state.</a:t>
            </a:r>
            <a:endParaRPr sz="1100">
              <a:solidFill>
                <a:schemeClr val="dk1"/>
              </a:solidFill>
            </a:endParaRPr>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43"/>
          <p:cNvSpPr txBox="1">
            <a:spLocks noGrp="1"/>
          </p:cNvSpPr>
          <p:nvPr>
            <p:ph type="title"/>
          </p:nvPr>
        </p:nvSpPr>
        <p:spPr>
          <a:xfrm>
            <a:off x="1204913" y="258238"/>
            <a:ext cx="6483000" cy="360300"/>
          </a:xfrm>
          <a:prstGeom prst="rect">
            <a:avLst/>
          </a:prstGeom>
          <a:noFill/>
          <a:ln>
            <a:noFill/>
          </a:ln>
        </p:spPr>
        <p:txBody>
          <a:bodyPr spcFirstLastPara="1" wrap="square" lIns="68575" tIns="34275" rIns="68575" bIns="34275" anchor="ctr" anchorCtr="0">
            <a:spAutoFit/>
          </a:bodyPr>
          <a:lstStyle/>
          <a:p>
            <a:pPr marL="0" lvl="0" indent="0" algn="l" rtl="0">
              <a:lnSpc>
                <a:spcPct val="90000"/>
              </a:lnSpc>
              <a:spcBef>
                <a:spcPts val="0"/>
              </a:spcBef>
              <a:spcAft>
                <a:spcPts val="0"/>
              </a:spcAft>
              <a:buClr>
                <a:schemeClr val="dk1"/>
              </a:buClr>
              <a:buSzPts val="2100"/>
              <a:buFont typeface="Microsoft Yahei"/>
              <a:buNone/>
            </a:pPr>
            <a:r>
              <a:rPr lang="fr"/>
              <a:t>The execution</a:t>
            </a:r>
            <a:endParaRPr/>
          </a:p>
        </p:txBody>
      </p:sp>
      <p:sp>
        <p:nvSpPr>
          <p:cNvPr id="312" name="Google Shape;312;p43"/>
          <p:cNvSpPr txBox="1"/>
          <p:nvPr/>
        </p:nvSpPr>
        <p:spPr>
          <a:xfrm>
            <a:off x="704179" y="1286363"/>
            <a:ext cx="6483000" cy="3263400"/>
          </a:xfrm>
          <a:prstGeom prst="rect">
            <a:avLst/>
          </a:prstGeom>
          <a:noFill/>
          <a:ln>
            <a:noFill/>
          </a:ln>
        </p:spPr>
        <p:txBody>
          <a:bodyPr spcFirstLastPara="1" wrap="square" lIns="68575" tIns="34275" rIns="68575" bIns="34275" anchor="t" anchorCtr="0">
            <a:normAutofit/>
          </a:bodyPr>
          <a:lstStyle/>
          <a:p>
            <a:pPr marL="0" marR="0" lvl="0" indent="0" algn="l" rtl="0">
              <a:spcBef>
                <a:spcPts val="0"/>
              </a:spcBef>
              <a:spcAft>
                <a:spcPts val="0"/>
              </a:spcAft>
              <a:buNone/>
            </a:pPr>
            <a:endParaRPr sz="1100"/>
          </a:p>
        </p:txBody>
      </p:sp>
      <p:pic>
        <p:nvPicPr>
          <p:cNvPr id="313" name="Google Shape;313;p43"/>
          <p:cNvPicPr preferRelativeResize="0"/>
          <p:nvPr/>
        </p:nvPicPr>
        <p:blipFill>
          <a:blip r:embed="rId3">
            <a:alphaModFix/>
          </a:blip>
          <a:stretch>
            <a:fillRect/>
          </a:stretch>
        </p:blipFill>
        <p:spPr>
          <a:xfrm>
            <a:off x="1108300" y="743200"/>
            <a:ext cx="4856661" cy="3806575"/>
          </a:xfrm>
          <a:prstGeom prst="rect">
            <a:avLst/>
          </a:prstGeom>
          <a:noFill/>
          <a:ln>
            <a:noFill/>
          </a:ln>
        </p:spPr>
      </p:pic>
      <p:sp>
        <p:nvSpPr>
          <p:cNvPr id="314" name="Google Shape;314;p43"/>
          <p:cNvSpPr/>
          <p:nvPr/>
        </p:nvSpPr>
        <p:spPr>
          <a:xfrm>
            <a:off x="1469100" y="1433475"/>
            <a:ext cx="3899700" cy="360300"/>
          </a:xfrm>
          <a:prstGeom prst="rect">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15" name="Google Shape;315;p43"/>
          <p:cNvSpPr/>
          <p:nvPr/>
        </p:nvSpPr>
        <p:spPr>
          <a:xfrm>
            <a:off x="1416725" y="3900825"/>
            <a:ext cx="4121400" cy="488700"/>
          </a:xfrm>
          <a:prstGeom prst="rect">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16" name="Google Shape;316;p43"/>
          <p:cNvSpPr txBox="1"/>
          <p:nvPr/>
        </p:nvSpPr>
        <p:spPr>
          <a:xfrm>
            <a:off x="5417300" y="1326625"/>
            <a:ext cx="3014400" cy="66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sz="2100">
                <a:solidFill>
                  <a:srgbClr val="FF0000"/>
                </a:solidFill>
                <a:latin typeface="Calibri"/>
                <a:ea typeface="Calibri"/>
                <a:cs typeface="Calibri"/>
                <a:sym typeface="Calibri"/>
              </a:rPr>
              <a:t>E-step</a:t>
            </a:r>
            <a:endParaRPr sz="2100">
              <a:solidFill>
                <a:srgbClr val="FF0000"/>
              </a:solidFill>
              <a:latin typeface="Calibri"/>
              <a:ea typeface="Calibri"/>
              <a:cs typeface="Calibri"/>
              <a:sym typeface="Calibri"/>
            </a:endParaRPr>
          </a:p>
          <a:p>
            <a:pPr marL="0" lvl="0" indent="0" algn="l" rtl="0">
              <a:spcBef>
                <a:spcPts val="0"/>
              </a:spcBef>
              <a:spcAft>
                <a:spcPts val="0"/>
              </a:spcAft>
              <a:buNone/>
            </a:pPr>
            <a:r>
              <a:rPr lang="fr" sz="2100">
                <a:solidFill>
                  <a:srgbClr val="FF0000"/>
                </a:solidFill>
                <a:latin typeface="Calibri"/>
                <a:ea typeface="Calibri"/>
                <a:cs typeface="Calibri"/>
                <a:sym typeface="Calibri"/>
              </a:rPr>
              <a:t>calculate the probabilities</a:t>
            </a:r>
            <a:endParaRPr sz="2100">
              <a:solidFill>
                <a:srgbClr val="FF0000"/>
              </a:solidFill>
              <a:latin typeface="Calibri"/>
              <a:ea typeface="Calibri"/>
              <a:cs typeface="Calibri"/>
              <a:sym typeface="Calibri"/>
            </a:endParaRPr>
          </a:p>
        </p:txBody>
      </p:sp>
      <p:sp>
        <p:nvSpPr>
          <p:cNvPr id="317" name="Google Shape;317;p43"/>
          <p:cNvSpPr txBox="1"/>
          <p:nvPr/>
        </p:nvSpPr>
        <p:spPr>
          <a:xfrm>
            <a:off x="5667675" y="3881975"/>
            <a:ext cx="3014400" cy="66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sz="2100">
                <a:solidFill>
                  <a:srgbClr val="FF0000"/>
                </a:solidFill>
                <a:latin typeface="Calibri"/>
                <a:ea typeface="Calibri"/>
                <a:cs typeface="Calibri"/>
                <a:sym typeface="Calibri"/>
              </a:rPr>
              <a:t>M-step</a:t>
            </a:r>
            <a:endParaRPr sz="2100">
              <a:solidFill>
                <a:srgbClr val="FF0000"/>
              </a:solidFill>
              <a:latin typeface="Calibri"/>
              <a:ea typeface="Calibri"/>
              <a:cs typeface="Calibri"/>
              <a:sym typeface="Calibri"/>
            </a:endParaRPr>
          </a:p>
          <a:p>
            <a:pPr marL="0" lvl="0" indent="0" algn="l" rtl="0">
              <a:spcBef>
                <a:spcPts val="0"/>
              </a:spcBef>
              <a:spcAft>
                <a:spcPts val="0"/>
              </a:spcAft>
              <a:buNone/>
            </a:pPr>
            <a:r>
              <a:rPr lang="fr" sz="2100">
                <a:solidFill>
                  <a:srgbClr val="FF0000"/>
                </a:solidFill>
                <a:latin typeface="Calibri"/>
                <a:ea typeface="Calibri"/>
                <a:cs typeface="Calibri"/>
                <a:sym typeface="Calibri"/>
              </a:rPr>
              <a:t>update the parameters</a:t>
            </a:r>
            <a:endParaRPr sz="2100">
              <a:solidFill>
                <a:srgbClr val="FF0000"/>
              </a:solidFill>
              <a:latin typeface="Calibri"/>
              <a:ea typeface="Calibri"/>
              <a:cs typeface="Calibri"/>
              <a:sym typeface="Calibri"/>
            </a:endParaRPr>
          </a:p>
        </p:txBody>
      </p:sp>
      <p:sp>
        <p:nvSpPr>
          <p:cNvPr id="318" name="Google Shape;318;p43"/>
          <p:cNvSpPr txBox="1"/>
          <p:nvPr/>
        </p:nvSpPr>
        <p:spPr>
          <a:xfrm>
            <a:off x="232525" y="4327150"/>
            <a:ext cx="8253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
                <a:solidFill>
                  <a:schemeClr val="dk1"/>
                </a:solidFill>
                <a:latin typeface="Calibri"/>
                <a:ea typeface="Calibri"/>
                <a:cs typeface="Calibri"/>
                <a:sym typeface="Calibri"/>
              </a:rPr>
              <a:t>code: </a:t>
            </a:r>
            <a:r>
              <a:rPr lang="fr" u="sng">
                <a:solidFill>
                  <a:schemeClr val="hlink"/>
                </a:solidFill>
                <a:latin typeface="Calibri"/>
                <a:ea typeface="Calibri"/>
                <a:cs typeface="Calibri"/>
                <a:sym typeface="Calibri"/>
                <a:hlinkClick r:id="rId4"/>
              </a:rPr>
              <a:t>source</a:t>
            </a:r>
            <a:endParaRPr>
              <a:solidFill>
                <a:schemeClr val="dk1"/>
              </a:solidFill>
              <a:latin typeface="Calibri"/>
              <a:ea typeface="Calibri"/>
              <a:cs typeface="Calibri"/>
              <a:sym typeface="Calibri"/>
            </a:endParaRPr>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44"/>
          <p:cNvSpPr txBox="1">
            <a:spLocks noGrp="1"/>
          </p:cNvSpPr>
          <p:nvPr>
            <p:ph type="title"/>
          </p:nvPr>
        </p:nvSpPr>
        <p:spPr>
          <a:xfrm>
            <a:off x="1204913" y="258238"/>
            <a:ext cx="6483000" cy="360300"/>
          </a:xfrm>
          <a:prstGeom prst="rect">
            <a:avLst/>
          </a:prstGeom>
          <a:noFill/>
          <a:ln>
            <a:noFill/>
          </a:ln>
        </p:spPr>
        <p:txBody>
          <a:bodyPr spcFirstLastPara="1" wrap="square" lIns="68575" tIns="34275" rIns="68575" bIns="34275" anchor="ctr" anchorCtr="0">
            <a:spAutoFit/>
          </a:bodyPr>
          <a:lstStyle/>
          <a:p>
            <a:pPr marL="0" lvl="0" indent="0" algn="l" rtl="0">
              <a:lnSpc>
                <a:spcPct val="90000"/>
              </a:lnSpc>
              <a:spcBef>
                <a:spcPts val="0"/>
              </a:spcBef>
              <a:spcAft>
                <a:spcPts val="0"/>
              </a:spcAft>
              <a:buClr>
                <a:schemeClr val="dk1"/>
              </a:buClr>
              <a:buSzPts val="2100"/>
              <a:buFont typeface="Microsoft Yahei"/>
              <a:buNone/>
            </a:pPr>
            <a:r>
              <a:rPr lang="fr"/>
              <a:t>First example</a:t>
            </a:r>
            <a:endParaRPr/>
          </a:p>
        </p:txBody>
      </p:sp>
      <p:sp>
        <p:nvSpPr>
          <p:cNvPr id="324" name="Google Shape;324;p44"/>
          <p:cNvSpPr txBox="1"/>
          <p:nvPr/>
        </p:nvSpPr>
        <p:spPr>
          <a:xfrm>
            <a:off x="2078700" y="1830750"/>
            <a:ext cx="4986600" cy="741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 sz="4600" b="1">
                <a:solidFill>
                  <a:schemeClr val="dk1"/>
                </a:solidFill>
                <a:latin typeface="Calibri"/>
                <a:ea typeface="Calibri"/>
                <a:cs typeface="Calibri"/>
                <a:sym typeface="Calibri"/>
              </a:rPr>
              <a:t>Convergence</a:t>
            </a:r>
            <a:endParaRPr sz="4600" b="1">
              <a:solidFill>
                <a:schemeClr val="dk1"/>
              </a:solidFill>
              <a:latin typeface="Calibri"/>
              <a:ea typeface="Calibri"/>
              <a:cs typeface="Calibri"/>
              <a:sym typeface="Calibri"/>
            </a:endParaRPr>
          </a:p>
          <a:p>
            <a:pPr marL="0" lvl="0" indent="0" algn="ctr" rtl="0">
              <a:spcBef>
                <a:spcPts val="0"/>
              </a:spcBef>
              <a:spcAft>
                <a:spcPts val="0"/>
              </a:spcAft>
              <a:buNone/>
            </a:pPr>
            <a:r>
              <a:rPr lang="fr" sz="4600" b="1">
                <a:solidFill>
                  <a:schemeClr val="dk1"/>
                </a:solidFill>
                <a:latin typeface="Calibri"/>
                <a:ea typeface="Calibri"/>
                <a:cs typeface="Calibri"/>
                <a:sym typeface="Calibri"/>
              </a:rPr>
              <a:t>(why this works)</a:t>
            </a:r>
            <a:endParaRPr sz="4600" b="1">
              <a:solidFill>
                <a:schemeClr val="dk1"/>
              </a:solidFill>
              <a:latin typeface="Calibri"/>
              <a:ea typeface="Calibri"/>
              <a:cs typeface="Calibri"/>
              <a:sym typeface="Calibri"/>
            </a:endParaRPr>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45"/>
          <p:cNvSpPr txBox="1">
            <a:spLocks noGrp="1"/>
          </p:cNvSpPr>
          <p:nvPr>
            <p:ph type="title"/>
          </p:nvPr>
        </p:nvSpPr>
        <p:spPr>
          <a:xfrm>
            <a:off x="1204913" y="258238"/>
            <a:ext cx="6483000" cy="360300"/>
          </a:xfrm>
          <a:prstGeom prst="rect">
            <a:avLst/>
          </a:prstGeom>
          <a:noFill/>
          <a:ln>
            <a:noFill/>
          </a:ln>
        </p:spPr>
        <p:txBody>
          <a:bodyPr spcFirstLastPara="1" wrap="square" lIns="68575" tIns="34275" rIns="68575" bIns="34275" anchor="ctr" anchorCtr="0">
            <a:spAutoFit/>
          </a:bodyPr>
          <a:lstStyle/>
          <a:p>
            <a:pPr marL="0" lvl="0" indent="0" algn="l" rtl="0">
              <a:lnSpc>
                <a:spcPct val="90000"/>
              </a:lnSpc>
              <a:spcBef>
                <a:spcPts val="0"/>
              </a:spcBef>
              <a:spcAft>
                <a:spcPts val="0"/>
              </a:spcAft>
              <a:buClr>
                <a:schemeClr val="dk1"/>
              </a:buClr>
              <a:buSzPts val="2100"/>
              <a:buFont typeface="Microsoft Yahei"/>
              <a:buNone/>
            </a:pPr>
            <a:r>
              <a:rPr lang="fr"/>
              <a:t>Proof of convergence</a:t>
            </a:r>
            <a:endParaRPr/>
          </a:p>
        </p:txBody>
      </p:sp>
      <p:sp>
        <p:nvSpPr>
          <p:cNvPr id="330" name="Google Shape;330;p45"/>
          <p:cNvSpPr txBox="1"/>
          <p:nvPr/>
        </p:nvSpPr>
        <p:spPr>
          <a:xfrm>
            <a:off x="3205275" y="1932075"/>
            <a:ext cx="2955900" cy="82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sz="2100" i="1" dirty="0">
                <a:solidFill>
                  <a:schemeClr val="dk1"/>
                </a:solidFill>
                <a:latin typeface="Calibri"/>
                <a:ea typeface="Calibri"/>
                <a:cs typeface="Calibri"/>
                <a:sym typeface="Calibri"/>
              </a:rPr>
              <a:t>p(</a:t>
            </a:r>
            <a:r>
              <a:rPr lang="fr" sz="2100" i="1" dirty="0" err="1">
                <a:solidFill>
                  <a:schemeClr val="dk1"/>
                </a:solidFill>
                <a:latin typeface="Calibri"/>
                <a:ea typeface="Calibri"/>
                <a:cs typeface="Calibri"/>
                <a:sym typeface="Calibri"/>
              </a:rPr>
              <a:t>x|θ</a:t>
            </a:r>
            <a:r>
              <a:rPr lang="fr" sz="2100" i="1" baseline="-25000" dirty="0" err="1">
                <a:solidFill>
                  <a:schemeClr val="dk1"/>
                </a:solidFill>
                <a:latin typeface="Calibri"/>
                <a:ea typeface="Calibri"/>
                <a:cs typeface="Calibri"/>
                <a:sym typeface="Calibri"/>
              </a:rPr>
              <a:t>j</a:t>
            </a:r>
            <a:r>
              <a:rPr lang="fr" sz="2100" i="1" dirty="0">
                <a:solidFill>
                  <a:schemeClr val="dk1"/>
                </a:solidFill>
                <a:latin typeface="Calibri"/>
                <a:ea typeface="Calibri"/>
                <a:cs typeface="Calibri"/>
                <a:sym typeface="Calibri"/>
              </a:rPr>
              <a:t>) ≥  p(x|θ</a:t>
            </a:r>
            <a:r>
              <a:rPr lang="fr" sz="2100" i="1" baseline="-25000" dirty="0">
                <a:solidFill>
                  <a:schemeClr val="dk1"/>
                </a:solidFill>
                <a:latin typeface="Calibri"/>
                <a:ea typeface="Calibri"/>
                <a:cs typeface="Calibri"/>
                <a:sym typeface="Calibri"/>
              </a:rPr>
              <a:t>j-1</a:t>
            </a:r>
            <a:r>
              <a:rPr lang="fr" sz="2100" i="1" dirty="0">
                <a:solidFill>
                  <a:schemeClr val="dk1"/>
                </a:solidFill>
                <a:latin typeface="Calibri"/>
                <a:ea typeface="Calibri"/>
                <a:cs typeface="Calibri"/>
                <a:sym typeface="Calibri"/>
              </a:rPr>
              <a:t>)</a:t>
            </a:r>
            <a:endParaRPr sz="2100" i="1" dirty="0">
              <a:solidFill>
                <a:schemeClr val="dk1"/>
              </a:solidFill>
              <a:latin typeface="Calibri"/>
              <a:ea typeface="Calibri"/>
              <a:cs typeface="Calibri"/>
              <a:sym typeface="Calibri"/>
            </a:endParaRPr>
          </a:p>
        </p:txBody>
      </p:sp>
      <p:sp>
        <p:nvSpPr>
          <p:cNvPr id="331" name="Google Shape;331;p45"/>
          <p:cNvSpPr txBox="1"/>
          <p:nvPr/>
        </p:nvSpPr>
        <p:spPr>
          <a:xfrm>
            <a:off x="462975" y="934875"/>
            <a:ext cx="8333700" cy="99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sz="2100">
                <a:solidFill>
                  <a:schemeClr val="dk1"/>
                </a:solidFill>
                <a:latin typeface="Calibri"/>
                <a:ea typeface="Calibri"/>
                <a:cs typeface="Calibri"/>
                <a:sym typeface="Calibri"/>
              </a:rPr>
              <a:t>This algorithm is </a:t>
            </a:r>
            <a:r>
              <a:rPr lang="fr" sz="2100">
                <a:solidFill>
                  <a:srgbClr val="FF0000"/>
                </a:solidFill>
                <a:latin typeface="Calibri"/>
                <a:ea typeface="Calibri"/>
                <a:cs typeface="Calibri"/>
                <a:sym typeface="Calibri"/>
              </a:rPr>
              <a:t>not guaranteed</a:t>
            </a:r>
            <a:r>
              <a:rPr lang="fr" sz="2100">
                <a:solidFill>
                  <a:schemeClr val="dk1"/>
                </a:solidFill>
                <a:latin typeface="Calibri"/>
                <a:ea typeface="Calibri"/>
                <a:cs typeface="Calibri"/>
                <a:sym typeface="Calibri"/>
              </a:rPr>
              <a:t> to converge to </a:t>
            </a:r>
            <a:r>
              <a:rPr lang="fr" sz="2100">
                <a:solidFill>
                  <a:srgbClr val="FF0000"/>
                </a:solidFill>
                <a:latin typeface="Calibri"/>
                <a:ea typeface="Calibri"/>
                <a:cs typeface="Calibri"/>
                <a:sym typeface="Calibri"/>
              </a:rPr>
              <a:t>global maximum</a:t>
            </a:r>
            <a:r>
              <a:rPr lang="fr" sz="2100">
                <a:solidFill>
                  <a:schemeClr val="dk1"/>
                </a:solidFill>
                <a:latin typeface="Calibri"/>
                <a:ea typeface="Calibri"/>
                <a:cs typeface="Calibri"/>
                <a:sym typeface="Calibri"/>
              </a:rPr>
              <a:t>, however, it has the important property that the likelihood is guaranteed to </a:t>
            </a:r>
            <a:r>
              <a:rPr lang="fr" sz="2100">
                <a:solidFill>
                  <a:srgbClr val="00FF00"/>
                </a:solidFill>
                <a:latin typeface="Calibri"/>
                <a:ea typeface="Calibri"/>
                <a:cs typeface="Calibri"/>
                <a:sym typeface="Calibri"/>
              </a:rPr>
              <a:t>increase at each iteration:</a:t>
            </a:r>
            <a:endParaRPr sz="2100">
              <a:solidFill>
                <a:srgbClr val="00FF00"/>
              </a:solidFill>
              <a:latin typeface="Calibri"/>
              <a:ea typeface="Calibri"/>
              <a:cs typeface="Calibri"/>
              <a:sym typeface="Calibri"/>
            </a:endParaRPr>
          </a:p>
        </p:txBody>
      </p:sp>
      <p:sp>
        <p:nvSpPr>
          <p:cNvPr id="332" name="Google Shape;332;p45"/>
          <p:cNvSpPr txBox="1"/>
          <p:nvPr/>
        </p:nvSpPr>
        <p:spPr>
          <a:xfrm>
            <a:off x="258200" y="4226400"/>
            <a:ext cx="4158000" cy="91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sz="2100">
                <a:solidFill>
                  <a:schemeClr val="dk1"/>
                </a:solidFill>
                <a:latin typeface="Calibri"/>
                <a:ea typeface="Calibri"/>
                <a:cs typeface="Calibri"/>
                <a:sym typeface="Calibri"/>
              </a:rPr>
              <a:t>full proof: </a:t>
            </a:r>
            <a:r>
              <a:rPr lang="fr" sz="2100" u="sng">
                <a:solidFill>
                  <a:schemeClr val="hlink"/>
                </a:solidFill>
                <a:latin typeface="Calibri"/>
                <a:ea typeface="Calibri"/>
                <a:cs typeface="Calibri"/>
                <a:sym typeface="Calibri"/>
                <a:hlinkClick r:id="rId3"/>
              </a:rPr>
              <a:t>here</a:t>
            </a:r>
            <a:endParaRPr sz="2100">
              <a:solidFill>
                <a:schemeClr val="dk1"/>
              </a:solidFill>
              <a:latin typeface="Calibri"/>
              <a:ea typeface="Calibri"/>
              <a:cs typeface="Calibri"/>
              <a:sym typeface="Calibri"/>
            </a:endParaRPr>
          </a:p>
        </p:txBody>
      </p:sp>
      <p:sp>
        <p:nvSpPr>
          <p:cNvPr id="333" name="Google Shape;333;p45"/>
          <p:cNvSpPr txBox="1"/>
          <p:nvPr/>
        </p:nvSpPr>
        <p:spPr>
          <a:xfrm>
            <a:off x="2476200" y="2965925"/>
            <a:ext cx="3587100" cy="828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 sz="2100" i="1">
                <a:solidFill>
                  <a:schemeClr val="dk1"/>
                </a:solidFill>
                <a:latin typeface="Calibri"/>
                <a:ea typeface="Calibri"/>
                <a:cs typeface="Calibri"/>
                <a:sym typeface="Calibri"/>
              </a:rPr>
              <a:t>ln[p(x|θ</a:t>
            </a:r>
            <a:r>
              <a:rPr lang="fr" sz="2100" i="1" baseline="-25000">
                <a:solidFill>
                  <a:schemeClr val="dk1"/>
                </a:solidFill>
                <a:latin typeface="Calibri"/>
                <a:ea typeface="Calibri"/>
                <a:cs typeface="Calibri"/>
                <a:sym typeface="Calibri"/>
              </a:rPr>
              <a:t>j</a:t>
            </a:r>
            <a:r>
              <a:rPr lang="fr" sz="2100" i="1">
                <a:solidFill>
                  <a:schemeClr val="dk1"/>
                </a:solidFill>
                <a:latin typeface="Calibri"/>
                <a:ea typeface="Calibri"/>
                <a:cs typeface="Calibri"/>
                <a:sym typeface="Calibri"/>
              </a:rPr>
              <a:t>)] ≥  ln[p(x|θ</a:t>
            </a:r>
            <a:r>
              <a:rPr lang="fr" sz="2100" i="1" baseline="-25000">
                <a:solidFill>
                  <a:schemeClr val="dk1"/>
                </a:solidFill>
                <a:latin typeface="Calibri"/>
                <a:ea typeface="Calibri"/>
                <a:cs typeface="Calibri"/>
                <a:sym typeface="Calibri"/>
              </a:rPr>
              <a:t>j-1</a:t>
            </a:r>
            <a:r>
              <a:rPr lang="fr" sz="2100" i="1">
                <a:solidFill>
                  <a:schemeClr val="dk1"/>
                </a:solidFill>
                <a:latin typeface="Calibri"/>
                <a:ea typeface="Calibri"/>
                <a:cs typeface="Calibri"/>
                <a:sym typeface="Calibri"/>
              </a:rPr>
              <a:t>)]</a:t>
            </a:r>
            <a:endParaRPr sz="2100" i="1">
              <a:solidFill>
                <a:schemeClr val="dk1"/>
              </a:solidFill>
              <a:latin typeface="Calibri"/>
              <a:ea typeface="Calibri"/>
              <a:cs typeface="Calibri"/>
              <a:sym typeface="Calibri"/>
            </a:endParaRPr>
          </a:p>
          <a:p>
            <a:pPr marL="0" lvl="0" indent="0" algn="ctr" rtl="0">
              <a:spcBef>
                <a:spcPts val="0"/>
              </a:spcBef>
              <a:spcAft>
                <a:spcPts val="0"/>
              </a:spcAft>
              <a:buNone/>
            </a:pPr>
            <a:r>
              <a:rPr lang="fr" sz="2100">
                <a:solidFill>
                  <a:schemeClr val="dk1"/>
                </a:solidFill>
                <a:latin typeface="Calibri"/>
                <a:ea typeface="Calibri"/>
                <a:cs typeface="Calibri"/>
                <a:sym typeface="Calibri"/>
              </a:rPr>
              <a:t>or</a:t>
            </a:r>
            <a:endParaRPr sz="2100">
              <a:solidFill>
                <a:schemeClr val="dk1"/>
              </a:solidFill>
              <a:latin typeface="Calibri"/>
              <a:ea typeface="Calibri"/>
              <a:cs typeface="Calibri"/>
              <a:sym typeface="Calibri"/>
            </a:endParaRPr>
          </a:p>
          <a:p>
            <a:pPr marL="0" lvl="0" indent="0" algn="ctr" rtl="0">
              <a:spcBef>
                <a:spcPts val="0"/>
              </a:spcBef>
              <a:spcAft>
                <a:spcPts val="0"/>
              </a:spcAft>
              <a:buClr>
                <a:schemeClr val="dk1"/>
              </a:buClr>
              <a:buSzPts val="1100"/>
              <a:buFont typeface="Arial"/>
              <a:buNone/>
            </a:pPr>
            <a:r>
              <a:rPr lang="fr" sz="2100" i="1">
                <a:solidFill>
                  <a:schemeClr val="dk1"/>
                </a:solidFill>
                <a:latin typeface="Calibri"/>
                <a:ea typeface="Calibri"/>
                <a:cs typeface="Calibri"/>
                <a:sym typeface="Calibri"/>
              </a:rPr>
              <a:t>ln[p(x|θ</a:t>
            </a:r>
            <a:r>
              <a:rPr lang="fr" sz="2100" i="1" baseline="-25000">
                <a:solidFill>
                  <a:schemeClr val="dk1"/>
                </a:solidFill>
                <a:latin typeface="Calibri"/>
                <a:ea typeface="Calibri"/>
                <a:cs typeface="Calibri"/>
                <a:sym typeface="Calibri"/>
              </a:rPr>
              <a:t>j</a:t>
            </a:r>
            <a:r>
              <a:rPr lang="fr" sz="2100" i="1">
                <a:solidFill>
                  <a:schemeClr val="dk1"/>
                </a:solidFill>
                <a:latin typeface="Calibri"/>
                <a:ea typeface="Calibri"/>
                <a:cs typeface="Calibri"/>
                <a:sym typeface="Calibri"/>
              </a:rPr>
              <a:t>)] -  ln[p(x|θ</a:t>
            </a:r>
            <a:r>
              <a:rPr lang="fr" sz="2100" i="1" baseline="-25000">
                <a:solidFill>
                  <a:schemeClr val="dk1"/>
                </a:solidFill>
                <a:latin typeface="Calibri"/>
                <a:ea typeface="Calibri"/>
                <a:cs typeface="Calibri"/>
                <a:sym typeface="Calibri"/>
              </a:rPr>
              <a:t>j-1</a:t>
            </a:r>
            <a:r>
              <a:rPr lang="fr" sz="2100" i="1">
                <a:solidFill>
                  <a:schemeClr val="dk1"/>
                </a:solidFill>
                <a:latin typeface="Calibri"/>
                <a:ea typeface="Calibri"/>
                <a:cs typeface="Calibri"/>
                <a:sym typeface="Calibri"/>
              </a:rPr>
              <a:t>)] ≥ 0</a:t>
            </a:r>
            <a:endParaRPr sz="2100" i="1">
              <a:solidFill>
                <a:schemeClr val="dk1"/>
              </a:solidFill>
              <a:latin typeface="Calibri"/>
              <a:ea typeface="Calibri"/>
              <a:cs typeface="Calibri"/>
              <a:sym typeface="Calibri"/>
            </a:endParaRPr>
          </a:p>
          <a:p>
            <a:pPr marL="0" lvl="0" indent="0" algn="ctr" rtl="0">
              <a:spcBef>
                <a:spcPts val="0"/>
              </a:spcBef>
              <a:spcAft>
                <a:spcPts val="0"/>
              </a:spcAft>
              <a:buNone/>
            </a:pPr>
            <a:endParaRPr sz="2100">
              <a:solidFill>
                <a:schemeClr val="dk1"/>
              </a:solidFill>
              <a:latin typeface="Calibri"/>
              <a:ea typeface="Calibri"/>
              <a:cs typeface="Calibri"/>
              <a:sym typeface="Calibri"/>
            </a:endParaRPr>
          </a:p>
        </p:txBody>
      </p:sp>
      <p:sp>
        <p:nvSpPr>
          <p:cNvPr id="334" name="Google Shape;334;p45"/>
          <p:cNvSpPr txBox="1"/>
          <p:nvPr/>
        </p:nvSpPr>
        <p:spPr>
          <a:xfrm>
            <a:off x="592600" y="2580650"/>
            <a:ext cx="1256400" cy="99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sz="2100">
                <a:solidFill>
                  <a:schemeClr val="dk1"/>
                </a:solidFill>
                <a:latin typeface="Calibri"/>
                <a:ea typeface="Calibri"/>
                <a:cs typeface="Calibri"/>
                <a:sym typeface="Calibri"/>
              </a:rPr>
              <a:t>because</a:t>
            </a:r>
            <a:endParaRPr sz="2100">
              <a:solidFill>
                <a:srgbClr val="00FF00"/>
              </a:solidFill>
              <a:latin typeface="Calibri"/>
              <a:ea typeface="Calibri"/>
              <a:cs typeface="Calibri"/>
              <a:sym typeface="Calibri"/>
            </a:endParaRPr>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46"/>
          <p:cNvSpPr txBox="1">
            <a:spLocks noGrp="1"/>
          </p:cNvSpPr>
          <p:nvPr>
            <p:ph type="title"/>
          </p:nvPr>
        </p:nvSpPr>
        <p:spPr>
          <a:xfrm>
            <a:off x="1204913" y="258238"/>
            <a:ext cx="6483000" cy="360300"/>
          </a:xfrm>
          <a:prstGeom prst="rect">
            <a:avLst/>
          </a:prstGeom>
          <a:noFill/>
          <a:ln>
            <a:noFill/>
          </a:ln>
        </p:spPr>
        <p:txBody>
          <a:bodyPr spcFirstLastPara="1" wrap="square" lIns="68575" tIns="34275" rIns="68575" bIns="34275" anchor="ctr" anchorCtr="0">
            <a:spAutoFit/>
          </a:bodyPr>
          <a:lstStyle/>
          <a:p>
            <a:pPr marL="0" lvl="0" indent="0" algn="l" rtl="0">
              <a:lnSpc>
                <a:spcPct val="90000"/>
              </a:lnSpc>
              <a:spcBef>
                <a:spcPts val="0"/>
              </a:spcBef>
              <a:spcAft>
                <a:spcPts val="0"/>
              </a:spcAft>
              <a:buClr>
                <a:schemeClr val="dk1"/>
              </a:buClr>
              <a:buSzPts val="2100"/>
              <a:buFont typeface="Microsoft Yahei"/>
              <a:buNone/>
            </a:pPr>
            <a:r>
              <a:rPr lang="fr"/>
              <a:t>Proof of convergence</a:t>
            </a:r>
            <a:endParaRPr/>
          </a:p>
        </p:txBody>
      </p:sp>
      <p:pic>
        <p:nvPicPr>
          <p:cNvPr id="340" name="Google Shape;340;p46"/>
          <p:cNvPicPr preferRelativeResize="0"/>
          <p:nvPr/>
        </p:nvPicPr>
        <p:blipFill rotWithShape="1">
          <a:blip r:embed="rId3">
            <a:alphaModFix/>
          </a:blip>
          <a:srcRect/>
          <a:stretch/>
        </p:blipFill>
        <p:spPr>
          <a:xfrm>
            <a:off x="196800" y="1008450"/>
            <a:ext cx="4219402" cy="1730549"/>
          </a:xfrm>
          <a:prstGeom prst="rect">
            <a:avLst/>
          </a:prstGeom>
          <a:noFill/>
          <a:ln>
            <a:noFill/>
          </a:ln>
        </p:spPr>
      </p:pic>
      <p:pic>
        <p:nvPicPr>
          <p:cNvPr id="341" name="Google Shape;341;p46"/>
          <p:cNvPicPr preferRelativeResize="0"/>
          <p:nvPr/>
        </p:nvPicPr>
        <p:blipFill>
          <a:blip r:embed="rId4">
            <a:alphaModFix/>
          </a:blip>
          <a:stretch>
            <a:fillRect/>
          </a:stretch>
        </p:blipFill>
        <p:spPr>
          <a:xfrm>
            <a:off x="196925" y="2952757"/>
            <a:ext cx="4023401" cy="1658090"/>
          </a:xfrm>
          <a:prstGeom prst="rect">
            <a:avLst/>
          </a:prstGeom>
          <a:noFill/>
          <a:ln>
            <a:noFill/>
          </a:ln>
        </p:spPr>
      </p:pic>
      <p:pic>
        <p:nvPicPr>
          <p:cNvPr id="342" name="Google Shape;342;p46"/>
          <p:cNvPicPr preferRelativeResize="0"/>
          <p:nvPr/>
        </p:nvPicPr>
        <p:blipFill>
          <a:blip r:embed="rId5">
            <a:alphaModFix/>
          </a:blip>
          <a:stretch>
            <a:fillRect/>
          </a:stretch>
        </p:blipFill>
        <p:spPr>
          <a:xfrm>
            <a:off x="4678450" y="1008448"/>
            <a:ext cx="4023401" cy="1658100"/>
          </a:xfrm>
          <a:prstGeom prst="rect">
            <a:avLst/>
          </a:prstGeom>
          <a:noFill/>
          <a:ln>
            <a:noFill/>
          </a:ln>
        </p:spPr>
      </p:pic>
      <p:sp>
        <p:nvSpPr>
          <p:cNvPr id="343" name="Google Shape;343;p46"/>
          <p:cNvSpPr txBox="1"/>
          <p:nvPr/>
        </p:nvSpPr>
        <p:spPr>
          <a:xfrm>
            <a:off x="103700" y="550975"/>
            <a:ext cx="3014400" cy="66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sz="2100">
                <a:solidFill>
                  <a:srgbClr val="FF0000"/>
                </a:solidFill>
                <a:latin typeface="Calibri"/>
                <a:ea typeface="Calibri"/>
                <a:cs typeface="Calibri"/>
                <a:sym typeface="Calibri"/>
              </a:rPr>
              <a:t>after 10 iterations</a:t>
            </a:r>
            <a:endParaRPr sz="2100">
              <a:solidFill>
                <a:srgbClr val="FF0000"/>
              </a:solidFill>
              <a:latin typeface="Calibri"/>
              <a:ea typeface="Calibri"/>
              <a:cs typeface="Calibri"/>
              <a:sym typeface="Calibri"/>
            </a:endParaRPr>
          </a:p>
        </p:txBody>
      </p:sp>
      <p:sp>
        <p:nvSpPr>
          <p:cNvPr id="344" name="Google Shape;344;p46"/>
          <p:cNvSpPr txBox="1"/>
          <p:nvPr/>
        </p:nvSpPr>
        <p:spPr>
          <a:xfrm>
            <a:off x="4850350" y="618550"/>
            <a:ext cx="3014400" cy="66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sz="2100">
                <a:solidFill>
                  <a:srgbClr val="FF0000"/>
                </a:solidFill>
                <a:latin typeface="Calibri"/>
                <a:ea typeface="Calibri"/>
                <a:cs typeface="Calibri"/>
                <a:sym typeface="Calibri"/>
              </a:rPr>
              <a:t>after 1000 iterations</a:t>
            </a:r>
            <a:endParaRPr sz="2100">
              <a:solidFill>
                <a:srgbClr val="FF0000"/>
              </a:solidFill>
              <a:latin typeface="Calibri"/>
              <a:ea typeface="Calibri"/>
              <a:cs typeface="Calibri"/>
              <a:sym typeface="Calibri"/>
            </a:endParaRPr>
          </a:p>
        </p:txBody>
      </p:sp>
      <p:sp>
        <p:nvSpPr>
          <p:cNvPr id="345" name="Google Shape;345;p46"/>
          <p:cNvSpPr txBox="1"/>
          <p:nvPr/>
        </p:nvSpPr>
        <p:spPr>
          <a:xfrm>
            <a:off x="196925" y="2571750"/>
            <a:ext cx="3014400" cy="66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sz="2100">
                <a:solidFill>
                  <a:srgbClr val="FF0000"/>
                </a:solidFill>
                <a:latin typeface="Calibri"/>
                <a:ea typeface="Calibri"/>
                <a:cs typeface="Calibri"/>
                <a:sym typeface="Calibri"/>
              </a:rPr>
              <a:t>after 100 iterations</a:t>
            </a:r>
            <a:endParaRPr sz="2100">
              <a:solidFill>
                <a:srgbClr val="FF0000"/>
              </a:solidFill>
              <a:latin typeface="Calibri"/>
              <a:ea typeface="Calibri"/>
              <a:cs typeface="Calibri"/>
              <a:sym typeface="Calibri"/>
            </a:endParaRPr>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47"/>
          <p:cNvSpPr txBox="1">
            <a:spLocks noGrp="1"/>
          </p:cNvSpPr>
          <p:nvPr>
            <p:ph type="title"/>
          </p:nvPr>
        </p:nvSpPr>
        <p:spPr>
          <a:xfrm>
            <a:off x="1204913" y="258238"/>
            <a:ext cx="6483000" cy="360300"/>
          </a:xfrm>
          <a:prstGeom prst="rect">
            <a:avLst/>
          </a:prstGeom>
          <a:noFill/>
          <a:ln>
            <a:noFill/>
          </a:ln>
        </p:spPr>
        <p:txBody>
          <a:bodyPr spcFirstLastPara="1" wrap="square" lIns="68575" tIns="34275" rIns="68575" bIns="34275" anchor="ctr" anchorCtr="0">
            <a:spAutoFit/>
          </a:bodyPr>
          <a:lstStyle/>
          <a:p>
            <a:pPr marL="0" lvl="0" indent="0" algn="l" rtl="0">
              <a:lnSpc>
                <a:spcPct val="90000"/>
              </a:lnSpc>
              <a:spcBef>
                <a:spcPts val="0"/>
              </a:spcBef>
              <a:spcAft>
                <a:spcPts val="0"/>
              </a:spcAft>
              <a:buClr>
                <a:schemeClr val="dk1"/>
              </a:buClr>
              <a:buSzPts val="2100"/>
              <a:buFont typeface="Microsoft Yahei"/>
              <a:buNone/>
            </a:pPr>
            <a:r>
              <a:rPr lang="fr"/>
              <a:t>First example</a:t>
            </a:r>
            <a:endParaRPr/>
          </a:p>
        </p:txBody>
      </p:sp>
      <p:sp>
        <p:nvSpPr>
          <p:cNvPr id="351" name="Google Shape;351;p47"/>
          <p:cNvSpPr txBox="1"/>
          <p:nvPr/>
        </p:nvSpPr>
        <p:spPr>
          <a:xfrm>
            <a:off x="2078700" y="2201250"/>
            <a:ext cx="4986600" cy="741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 sz="4600" b="1">
                <a:solidFill>
                  <a:schemeClr val="dk1"/>
                </a:solidFill>
                <a:latin typeface="Calibri"/>
                <a:ea typeface="Calibri"/>
                <a:cs typeface="Calibri"/>
                <a:sym typeface="Calibri"/>
              </a:rPr>
              <a:t>Other examples</a:t>
            </a:r>
            <a:endParaRPr sz="4600" b="1">
              <a:solidFill>
                <a:schemeClr val="dk1"/>
              </a:solidFill>
              <a:latin typeface="Calibri"/>
              <a:ea typeface="Calibri"/>
              <a:cs typeface="Calibri"/>
              <a:sym typeface="Calibri"/>
            </a:endParaRPr>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48"/>
          <p:cNvSpPr txBox="1">
            <a:spLocks noGrp="1"/>
          </p:cNvSpPr>
          <p:nvPr>
            <p:ph type="title"/>
          </p:nvPr>
        </p:nvSpPr>
        <p:spPr>
          <a:xfrm>
            <a:off x="1204913" y="258238"/>
            <a:ext cx="6483000" cy="360300"/>
          </a:xfrm>
          <a:prstGeom prst="rect">
            <a:avLst/>
          </a:prstGeom>
          <a:noFill/>
          <a:ln>
            <a:noFill/>
          </a:ln>
        </p:spPr>
        <p:txBody>
          <a:bodyPr spcFirstLastPara="1" wrap="square" lIns="68575" tIns="34275" rIns="68575" bIns="34275" anchor="ctr" anchorCtr="0">
            <a:spAutoFit/>
          </a:bodyPr>
          <a:lstStyle/>
          <a:p>
            <a:pPr marL="0" lvl="0" indent="0" algn="l" rtl="0">
              <a:lnSpc>
                <a:spcPct val="90000"/>
              </a:lnSpc>
              <a:spcBef>
                <a:spcPts val="0"/>
              </a:spcBef>
              <a:spcAft>
                <a:spcPts val="0"/>
              </a:spcAft>
              <a:buClr>
                <a:schemeClr val="dk1"/>
              </a:buClr>
              <a:buSzPts val="2100"/>
              <a:buFont typeface="Microsoft Yahei"/>
              <a:buNone/>
            </a:pPr>
            <a:r>
              <a:rPr lang="fr"/>
              <a:t>Other examples of the use of EM </a:t>
            </a:r>
            <a:endParaRPr/>
          </a:p>
        </p:txBody>
      </p:sp>
      <p:sp>
        <p:nvSpPr>
          <p:cNvPr id="357" name="Google Shape;357;p48"/>
          <p:cNvSpPr txBox="1"/>
          <p:nvPr/>
        </p:nvSpPr>
        <p:spPr>
          <a:xfrm>
            <a:off x="251375" y="723025"/>
            <a:ext cx="4672500" cy="3955668"/>
          </a:xfrm>
          <a:prstGeom prst="rect">
            <a:avLst/>
          </a:prstGeom>
          <a:noFill/>
          <a:ln>
            <a:noFill/>
          </a:ln>
        </p:spPr>
        <p:txBody>
          <a:bodyPr spcFirstLastPara="1" wrap="square" lIns="91425" tIns="91425" rIns="91425" bIns="91425" anchor="t" anchorCtr="0">
            <a:spAutoFit/>
          </a:bodyPr>
          <a:lstStyle/>
          <a:p>
            <a:pPr marL="158750" lvl="0" algn="l" rtl="0">
              <a:lnSpc>
                <a:spcPct val="115000"/>
              </a:lnSpc>
              <a:spcBef>
                <a:spcPts val="1200"/>
              </a:spcBef>
              <a:spcAft>
                <a:spcPts val="0"/>
              </a:spcAft>
              <a:buClr>
                <a:schemeClr val="dk1"/>
              </a:buClr>
              <a:buSzPts val="1100"/>
            </a:pPr>
            <a:r>
              <a:rPr lang="fr" sz="1100" b="1" dirty="0">
                <a:solidFill>
                  <a:schemeClr val="dk1"/>
                </a:solidFill>
              </a:rPr>
              <a:t>1. </a:t>
            </a:r>
            <a:r>
              <a:rPr lang="fr" sz="1100" b="1" dirty="0" err="1">
                <a:solidFill>
                  <a:schemeClr val="dk1"/>
                </a:solidFill>
              </a:rPr>
              <a:t>Missing</a:t>
            </a:r>
            <a:r>
              <a:rPr lang="fr" sz="1100" b="1" dirty="0">
                <a:solidFill>
                  <a:schemeClr val="dk1"/>
                </a:solidFill>
              </a:rPr>
              <a:t> Data Imputation</a:t>
            </a:r>
            <a:r>
              <a:rPr lang="fr" sz="1100" dirty="0">
                <a:solidFill>
                  <a:schemeClr val="dk1"/>
                </a:solidFill>
              </a:rPr>
              <a:t>:</a:t>
            </a:r>
            <a:endParaRPr sz="1100" dirty="0">
              <a:solidFill>
                <a:schemeClr val="dk1"/>
              </a:solidFill>
            </a:endParaRPr>
          </a:p>
          <a:p>
            <a:pPr marL="914400" lvl="1" indent="-298450" algn="l" rtl="0">
              <a:lnSpc>
                <a:spcPct val="115000"/>
              </a:lnSpc>
              <a:spcBef>
                <a:spcPts val="0"/>
              </a:spcBef>
              <a:spcAft>
                <a:spcPts val="0"/>
              </a:spcAft>
              <a:buClr>
                <a:schemeClr val="dk1"/>
              </a:buClr>
              <a:buSzPts val="1100"/>
              <a:buChar char="○"/>
            </a:pPr>
            <a:r>
              <a:rPr lang="fr" sz="1100" dirty="0">
                <a:solidFill>
                  <a:schemeClr val="dk1"/>
                </a:solidFill>
              </a:rPr>
              <a:t>EM can </a:t>
            </a:r>
            <a:r>
              <a:rPr lang="fr" sz="1100" dirty="0" err="1">
                <a:solidFill>
                  <a:schemeClr val="dk1"/>
                </a:solidFill>
              </a:rPr>
              <a:t>be</a:t>
            </a:r>
            <a:r>
              <a:rPr lang="fr" sz="1100" dirty="0">
                <a:solidFill>
                  <a:schemeClr val="dk1"/>
                </a:solidFill>
              </a:rPr>
              <a:t> </a:t>
            </a:r>
            <a:r>
              <a:rPr lang="fr" sz="1100" dirty="0" err="1">
                <a:solidFill>
                  <a:schemeClr val="dk1"/>
                </a:solidFill>
              </a:rPr>
              <a:t>used</a:t>
            </a:r>
            <a:r>
              <a:rPr lang="fr" sz="1100" dirty="0">
                <a:solidFill>
                  <a:schemeClr val="dk1"/>
                </a:solidFill>
              </a:rPr>
              <a:t> to </a:t>
            </a:r>
            <a:r>
              <a:rPr lang="fr" sz="1100" dirty="0" err="1">
                <a:solidFill>
                  <a:schemeClr val="dk1"/>
                </a:solidFill>
              </a:rPr>
              <a:t>handle</a:t>
            </a:r>
            <a:r>
              <a:rPr lang="fr" sz="1100" dirty="0">
                <a:solidFill>
                  <a:schemeClr val="dk1"/>
                </a:solidFill>
              </a:rPr>
              <a:t> </a:t>
            </a:r>
            <a:r>
              <a:rPr lang="fr" sz="1100" dirty="0" err="1">
                <a:solidFill>
                  <a:schemeClr val="dk1"/>
                </a:solidFill>
              </a:rPr>
              <a:t>datasets</a:t>
            </a:r>
            <a:r>
              <a:rPr lang="fr" sz="1100" dirty="0">
                <a:solidFill>
                  <a:schemeClr val="dk1"/>
                </a:solidFill>
              </a:rPr>
              <a:t> </a:t>
            </a:r>
            <a:r>
              <a:rPr lang="fr" sz="1100" dirty="0" err="1">
                <a:solidFill>
                  <a:schemeClr val="dk1"/>
                </a:solidFill>
              </a:rPr>
              <a:t>with</a:t>
            </a:r>
            <a:r>
              <a:rPr lang="fr" sz="1100" dirty="0">
                <a:solidFill>
                  <a:schemeClr val="dk1"/>
                </a:solidFill>
              </a:rPr>
              <a:t> </a:t>
            </a:r>
            <a:r>
              <a:rPr lang="fr" sz="1100" dirty="0" err="1">
                <a:solidFill>
                  <a:schemeClr val="dk1"/>
                </a:solidFill>
              </a:rPr>
              <a:t>missing</a:t>
            </a:r>
            <a:r>
              <a:rPr lang="fr" sz="1100" dirty="0">
                <a:solidFill>
                  <a:schemeClr val="dk1"/>
                </a:solidFill>
              </a:rPr>
              <a:t> or </a:t>
            </a:r>
            <a:r>
              <a:rPr lang="fr" sz="1100" dirty="0" err="1">
                <a:solidFill>
                  <a:schemeClr val="dk1"/>
                </a:solidFill>
              </a:rPr>
              <a:t>incomplete</a:t>
            </a:r>
            <a:r>
              <a:rPr lang="fr" sz="1100" dirty="0">
                <a:solidFill>
                  <a:schemeClr val="dk1"/>
                </a:solidFill>
              </a:rPr>
              <a:t> data. In the </a:t>
            </a:r>
            <a:r>
              <a:rPr lang="fr" sz="1100" b="1" dirty="0">
                <a:solidFill>
                  <a:schemeClr val="dk1"/>
                </a:solidFill>
              </a:rPr>
              <a:t>E-</a:t>
            </a:r>
            <a:r>
              <a:rPr lang="fr" sz="1100" b="1" dirty="0" err="1">
                <a:solidFill>
                  <a:schemeClr val="dk1"/>
                </a:solidFill>
              </a:rPr>
              <a:t>step</a:t>
            </a:r>
            <a:r>
              <a:rPr lang="fr" sz="1100" dirty="0">
                <a:solidFill>
                  <a:schemeClr val="dk1"/>
                </a:solidFill>
              </a:rPr>
              <a:t>, the </a:t>
            </a:r>
            <a:r>
              <a:rPr lang="fr" sz="1100" dirty="0" err="1">
                <a:solidFill>
                  <a:schemeClr val="dk1"/>
                </a:solidFill>
              </a:rPr>
              <a:t>missing</a:t>
            </a:r>
            <a:r>
              <a:rPr lang="fr" sz="1100" dirty="0">
                <a:solidFill>
                  <a:schemeClr val="dk1"/>
                </a:solidFill>
              </a:rPr>
              <a:t> data </a:t>
            </a:r>
            <a:r>
              <a:rPr lang="fr" sz="1100" dirty="0" err="1">
                <a:solidFill>
                  <a:schemeClr val="dk1"/>
                </a:solidFill>
              </a:rPr>
              <a:t>is</a:t>
            </a:r>
            <a:r>
              <a:rPr lang="fr" sz="1100" dirty="0">
                <a:solidFill>
                  <a:schemeClr val="dk1"/>
                </a:solidFill>
              </a:rPr>
              <a:t> "</a:t>
            </a:r>
            <a:r>
              <a:rPr lang="fr" sz="1100" dirty="0" err="1">
                <a:solidFill>
                  <a:schemeClr val="dk1"/>
                </a:solidFill>
              </a:rPr>
              <a:t>guessed</a:t>
            </a:r>
            <a:r>
              <a:rPr lang="fr" sz="1100" dirty="0">
                <a:solidFill>
                  <a:schemeClr val="dk1"/>
                </a:solidFill>
              </a:rPr>
              <a:t>" </a:t>
            </a:r>
            <a:r>
              <a:rPr lang="fr" sz="1100" dirty="0" err="1">
                <a:solidFill>
                  <a:schemeClr val="dk1"/>
                </a:solidFill>
              </a:rPr>
              <a:t>based</a:t>
            </a:r>
            <a:r>
              <a:rPr lang="fr" sz="1100" dirty="0">
                <a:solidFill>
                  <a:schemeClr val="dk1"/>
                </a:solidFill>
              </a:rPr>
              <a:t> on the </a:t>
            </a:r>
            <a:r>
              <a:rPr lang="fr" sz="1100" dirty="0" err="1">
                <a:solidFill>
                  <a:schemeClr val="dk1"/>
                </a:solidFill>
              </a:rPr>
              <a:t>observed</a:t>
            </a:r>
            <a:r>
              <a:rPr lang="fr" sz="1100" dirty="0">
                <a:solidFill>
                  <a:schemeClr val="dk1"/>
                </a:solidFill>
              </a:rPr>
              <a:t> data, and in the </a:t>
            </a:r>
            <a:r>
              <a:rPr lang="fr" sz="1100" b="1" dirty="0">
                <a:solidFill>
                  <a:schemeClr val="dk1"/>
                </a:solidFill>
              </a:rPr>
              <a:t>M-</a:t>
            </a:r>
            <a:r>
              <a:rPr lang="fr" sz="1100" b="1" dirty="0" err="1">
                <a:solidFill>
                  <a:schemeClr val="dk1"/>
                </a:solidFill>
              </a:rPr>
              <a:t>step</a:t>
            </a:r>
            <a:r>
              <a:rPr lang="fr" sz="1100" dirty="0">
                <a:solidFill>
                  <a:schemeClr val="dk1"/>
                </a:solidFill>
              </a:rPr>
              <a:t>, the </a:t>
            </a:r>
            <a:r>
              <a:rPr lang="fr" sz="1100" dirty="0" err="1">
                <a:solidFill>
                  <a:schemeClr val="dk1"/>
                </a:solidFill>
              </a:rPr>
              <a:t>parameters</a:t>
            </a:r>
            <a:r>
              <a:rPr lang="fr" sz="1100" dirty="0">
                <a:solidFill>
                  <a:schemeClr val="dk1"/>
                </a:solidFill>
              </a:rPr>
              <a:t> of the model are </a:t>
            </a:r>
            <a:r>
              <a:rPr lang="fr" sz="1100" dirty="0" err="1">
                <a:solidFill>
                  <a:schemeClr val="dk1"/>
                </a:solidFill>
              </a:rPr>
              <a:t>updated</a:t>
            </a:r>
            <a:r>
              <a:rPr lang="fr" sz="1100" dirty="0">
                <a:solidFill>
                  <a:schemeClr val="dk1"/>
                </a:solidFill>
              </a:rPr>
              <a:t> to </a:t>
            </a:r>
            <a:r>
              <a:rPr lang="fr" sz="1100" dirty="0" err="1">
                <a:solidFill>
                  <a:schemeClr val="dk1"/>
                </a:solidFill>
              </a:rPr>
              <a:t>maximize</a:t>
            </a:r>
            <a:r>
              <a:rPr lang="fr" sz="1100" dirty="0">
                <a:solidFill>
                  <a:schemeClr val="dk1"/>
                </a:solidFill>
              </a:rPr>
              <a:t> the </a:t>
            </a:r>
            <a:r>
              <a:rPr lang="fr" sz="1100" dirty="0" err="1">
                <a:solidFill>
                  <a:schemeClr val="dk1"/>
                </a:solidFill>
              </a:rPr>
              <a:t>likelihood</a:t>
            </a:r>
            <a:r>
              <a:rPr lang="fr" sz="1100" dirty="0">
                <a:solidFill>
                  <a:schemeClr val="dk1"/>
                </a:solidFill>
              </a:rPr>
              <a:t> of the </a:t>
            </a:r>
            <a:r>
              <a:rPr lang="fr" sz="1100" dirty="0" err="1">
                <a:solidFill>
                  <a:schemeClr val="dk1"/>
                </a:solidFill>
              </a:rPr>
              <a:t>complete</a:t>
            </a:r>
            <a:r>
              <a:rPr lang="fr" sz="1100" dirty="0">
                <a:solidFill>
                  <a:schemeClr val="dk1"/>
                </a:solidFill>
              </a:rPr>
              <a:t> data (</a:t>
            </a:r>
            <a:r>
              <a:rPr lang="fr" sz="1100" dirty="0" err="1">
                <a:solidFill>
                  <a:schemeClr val="dk1"/>
                </a:solidFill>
              </a:rPr>
              <a:t>both</a:t>
            </a:r>
            <a:r>
              <a:rPr lang="fr" sz="1100" dirty="0">
                <a:solidFill>
                  <a:schemeClr val="dk1"/>
                </a:solidFill>
              </a:rPr>
              <a:t> </a:t>
            </a:r>
            <a:r>
              <a:rPr lang="fr" sz="1100" dirty="0" err="1">
                <a:solidFill>
                  <a:schemeClr val="dk1"/>
                </a:solidFill>
              </a:rPr>
              <a:t>observed</a:t>
            </a:r>
            <a:r>
              <a:rPr lang="fr" sz="1100" dirty="0">
                <a:solidFill>
                  <a:schemeClr val="dk1"/>
                </a:solidFill>
              </a:rPr>
              <a:t> and </a:t>
            </a:r>
            <a:r>
              <a:rPr lang="fr" sz="1100" dirty="0" err="1">
                <a:solidFill>
                  <a:schemeClr val="dk1"/>
                </a:solidFill>
              </a:rPr>
              <a:t>imputed</a:t>
            </a:r>
            <a:r>
              <a:rPr lang="fr" sz="1100" dirty="0">
                <a:solidFill>
                  <a:schemeClr val="dk1"/>
                </a:solidFill>
              </a:rPr>
              <a:t>). The process </a:t>
            </a:r>
            <a:r>
              <a:rPr lang="fr" sz="1100" dirty="0" err="1">
                <a:solidFill>
                  <a:schemeClr val="dk1"/>
                </a:solidFill>
              </a:rPr>
              <a:t>iterates</a:t>
            </a:r>
            <a:r>
              <a:rPr lang="fr" sz="1100" dirty="0">
                <a:solidFill>
                  <a:schemeClr val="dk1"/>
                </a:solidFill>
              </a:rPr>
              <a:t> </a:t>
            </a:r>
            <a:r>
              <a:rPr lang="fr" sz="1100" dirty="0" err="1">
                <a:solidFill>
                  <a:schemeClr val="dk1"/>
                </a:solidFill>
              </a:rPr>
              <a:t>until</a:t>
            </a:r>
            <a:r>
              <a:rPr lang="fr" sz="1100" dirty="0">
                <a:solidFill>
                  <a:schemeClr val="dk1"/>
                </a:solidFill>
              </a:rPr>
              <a:t> the </a:t>
            </a:r>
            <a:r>
              <a:rPr lang="fr" sz="1100" dirty="0" err="1">
                <a:solidFill>
                  <a:schemeClr val="dk1"/>
                </a:solidFill>
              </a:rPr>
              <a:t>likelihood</a:t>
            </a:r>
            <a:r>
              <a:rPr lang="fr" sz="1100" dirty="0">
                <a:solidFill>
                  <a:schemeClr val="dk1"/>
                </a:solidFill>
              </a:rPr>
              <a:t> converges.</a:t>
            </a:r>
            <a:endParaRPr sz="1100" dirty="0">
              <a:solidFill>
                <a:schemeClr val="dk1"/>
              </a:solidFill>
            </a:endParaRPr>
          </a:p>
          <a:p>
            <a:pPr marL="914400" lvl="0" indent="0" algn="l" rtl="0">
              <a:lnSpc>
                <a:spcPct val="115000"/>
              </a:lnSpc>
              <a:spcBef>
                <a:spcPts val="1200"/>
              </a:spcBef>
              <a:spcAft>
                <a:spcPts val="0"/>
              </a:spcAft>
              <a:buNone/>
            </a:pPr>
            <a:endParaRPr sz="1100" dirty="0">
              <a:solidFill>
                <a:schemeClr val="dk1"/>
              </a:solidFill>
            </a:endParaRPr>
          </a:p>
          <a:p>
            <a:pPr marL="158750" lvl="0" algn="l" rtl="0">
              <a:lnSpc>
                <a:spcPct val="115000"/>
              </a:lnSpc>
              <a:spcBef>
                <a:spcPts val="1200"/>
              </a:spcBef>
              <a:spcAft>
                <a:spcPts val="0"/>
              </a:spcAft>
              <a:buClr>
                <a:schemeClr val="dk1"/>
              </a:buClr>
              <a:buSzPts val="1100"/>
            </a:pPr>
            <a:r>
              <a:rPr lang="fr" sz="1100" b="1" dirty="0">
                <a:solidFill>
                  <a:schemeClr val="dk1"/>
                </a:solidFill>
              </a:rPr>
              <a:t>2. Image </a:t>
            </a:r>
            <a:r>
              <a:rPr lang="fr" sz="1100" b="1" dirty="0" err="1">
                <a:solidFill>
                  <a:schemeClr val="dk1"/>
                </a:solidFill>
              </a:rPr>
              <a:t>Denoising</a:t>
            </a:r>
            <a:r>
              <a:rPr lang="fr" sz="1100" b="1" dirty="0">
                <a:solidFill>
                  <a:schemeClr val="dk1"/>
                </a:solidFill>
              </a:rPr>
              <a:t> (Segmentation)</a:t>
            </a:r>
            <a:r>
              <a:rPr lang="fr" sz="1100" dirty="0">
                <a:solidFill>
                  <a:schemeClr val="dk1"/>
                </a:solidFill>
              </a:rPr>
              <a:t>:</a:t>
            </a:r>
            <a:endParaRPr sz="1100" dirty="0">
              <a:solidFill>
                <a:schemeClr val="dk1"/>
              </a:solidFill>
            </a:endParaRPr>
          </a:p>
          <a:p>
            <a:pPr marL="914400" lvl="1" indent="-298450" algn="l" rtl="0">
              <a:lnSpc>
                <a:spcPct val="115000"/>
              </a:lnSpc>
              <a:spcBef>
                <a:spcPts val="0"/>
              </a:spcBef>
              <a:spcAft>
                <a:spcPts val="0"/>
              </a:spcAft>
              <a:buClr>
                <a:schemeClr val="dk1"/>
              </a:buClr>
              <a:buSzPts val="1100"/>
              <a:buChar char="○"/>
            </a:pPr>
            <a:r>
              <a:rPr lang="fr" sz="1100" dirty="0">
                <a:solidFill>
                  <a:schemeClr val="dk1"/>
                </a:solidFill>
              </a:rPr>
              <a:t>In </a:t>
            </a:r>
            <a:r>
              <a:rPr lang="fr" sz="1100" b="1" dirty="0">
                <a:solidFill>
                  <a:schemeClr val="dk1"/>
                </a:solidFill>
              </a:rPr>
              <a:t>image </a:t>
            </a:r>
            <a:r>
              <a:rPr lang="fr" sz="1100" b="1" dirty="0" err="1">
                <a:solidFill>
                  <a:schemeClr val="dk1"/>
                </a:solidFill>
              </a:rPr>
              <a:t>denoising</a:t>
            </a:r>
            <a:r>
              <a:rPr lang="fr" sz="1100" dirty="0">
                <a:solidFill>
                  <a:schemeClr val="dk1"/>
                </a:solidFill>
              </a:rPr>
              <a:t>, EM </a:t>
            </a:r>
            <a:r>
              <a:rPr lang="fr" sz="1100" dirty="0" err="1">
                <a:solidFill>
                  <a:schemeClr val="dk1"/>
                </a:solidFill>
              </a:rPr>
              <a:t>is</a:t>
            </a:r>
            <a:r>
              <a:rPr lang="fr" sz="1100" dirty="0">
                <a:solidFill>
                  <a:schemeClr val="dk1"/>
                </a:solidFill>
              </a:rPr>
              <a:t> </a:t>
            </a:r>
            <a:r>
              <a:rPr lang="fr" sz="1100" dirty="0" err="1">
                <a:solidFill>
                  <a:schemeClr val="dk1"/>
                </a:solidFill>
              </a:rPr>
              <a:t>used</a:t>
            </a:r>
            <a:r>
              <a:rPr lang="fr" sz="1100" dirty="0">
                <a:solidFill>
                  <a:schemeClr val="dk1"/>
                </a:solidFill>
              </a:rPr>
              <a:t> to </a:t>
            </a:r>
            <a:r>
              <a:rPr lang="fr" sz="1100" dirty="0" err="1">
                <a:solidFill>
                  <a:schemeClr val="dk1"/>
                </a:solidFill>
              </a:rPr>
              <a:t>estimate</a:t>
            </a:r>
            <a:r>
              <a:rPr lang="fr" sz="1100" dirty="0">
                <a:solidFill>
                  <a:schemeClr val="dk1"/>
                </a:solidFill>
              </a:rPr>
              <a:t> the </a:t>
            </a:r>
            <a:r>
              <a:rPr lang="fr" sz="1100" dirty="0" err="1">
                <a:solidFill>
                  <a:schemeClr val="dk1"/>
                </a:solidFill>
              </a:rPr>
              <a:t>true</a:t>
            </a:r>
            <a:r>
              <a:rPr lang="fr" sz="1100" dirty="0">
                <a:solidFill>
                  <a:schemeClr val="dk1"/>
                </a:solidFill>
              </a:rPr>
              <a:t> pixel values of an image </a:t>
            </a:r>
            <a:r>
              <a:rPr lang="fr" sz="1100" dirty="0" err="1">
                <a:solidFill>
                  <a:schemeClr val="dk1"/>
                </a:solidFill>
              </a:rPr>
              <a:t>that</a:t>
            </a:r>
            <a:r>
              <a:rPr lang="fr" sz="1100" dirty="0">
                <a:solidFill>
                  <a:schemeClr val="dk1"/>
                </a:solidFill>
              </a:rPr>
              <a:t> has been </a:t>
            </a:r>
            <a:r>
              <a:rPr lang="fr" sz="1100" dirty="0" err="1">
                <a:solidFill>
                  <a:schemeClr val="dk1"/>
                </a:solidFill>
              </a:rPr>
              <a:t>corrupted</a:t>
            </a:r>
            <a:r>
              <a:rPr lang="fr" sz="1100" dirty="0">
                <a:solidFill>
                  <a:schemeClr val="dk1"/>
                </a:solidFill>
              </a:rPr>
              <a:t> by noise. In the </a:t>
            </a:r>
            <a:r>
              <a:rPr lang="fr" sz="1100" b="1" dirty="0">
                <a:solidFill>
                  <a:schemeClr val="dk1"/>
                </a:solidFill>
              </a:rPr>
              <a:t>E-</a:t>
            </a:r>
            <a:r>
              <a:rPr lang="fr" sz="1100" b="1" dirty="0" err="1">
                <a:solidFill>
                  <a:schemeClr val="dk1"/>
                </a:solidFill>
              </a:rPr>
              <a:t>step</a:t>
            </a:r>
            <a:r>
              <a:rPr lang="fr" sz="1100" dirty="0">
                <a:solidFill>
                  <a:schemeClr val="dk1"/>
                </a:solidFill>
              </a:rPr>
              <a:t>, the </a:t>
            </a:r>
            <a:r>
              <a:rPr lang="fr" sz="1100" dirty="0" err="1">
                <a:solidFill>
                  <a:schemeClr val="dk1"/>
                </a:solidFill>
              </a:rPr>
              <a:t>missing</a:t>
            </a:r>
            <a:r>
              <a:rPr lang="fr" sz="1100" dirty="0">
                <a:solidFill>
                  <a:schemeClr val="dk1"/>
                </a:solidFill>
              </a:rPr>
              <a:t> or </a:t>
            </a:r>
            <a:r>
              <a:rPr lang="fr" sz="1100" dirty="0" err="1">
                <a:solidFill>
                  <a:schemeClr val="dk1"/>
                </a:solidFill>
              </a:rPr>
              <a:t>noisy</a:t>
            </a:r>
            <a:r>
              <a:rPr lang="fr" sz="1100" dirty="0">
                <a:solidFill>
                  <a:schemeClr val="dk1"/>
                </a:solidFill>
              </a:rPr>
              <a:t> values are </a:t>
            </a:r>
            <a:r>
              <a:rPr lang="fr" sz="1100" dirty="0" err="1">
                <a:solidFill>
                  <a:schemeClr val="dk1"/>
                </a:solidFill>
              </a:rPr>
              <a:t>inferred</a:t>
            </a:r>
            <a:r>
              <a:rPr lang="fr" sz="1100" dirty="0">
                <a:solidFill>
                  <a:schemeClr val="dk1"/>
                </a:solidFill>
              </a:rPr>
              <a:t> </a:t>
            </a:r>
            <a:r>
              <a:rPr lang="fr" sz="1100" dirty="0" err="1">
                <a:solidFill>
                  <a:schemeClr val="dk1"/>
                </a:solidFill>
              </a:rPr>
              <a:t>based</a:t>
            </a:r>
            <a:r>
              <a:rPr lang="fr" sz="1100" dirty="0">
                <a:solidFill>
                  <a:schemeClr val="dk1"/>
                </a:solidFill>
              </a:rPr>
              <a:t> on the </a:t>
            </a:r>
            <a:r>
              <a:rPr lang="fr" sz="1100" dirty="0" err="1">
                <a:solidFill>
                  <a:schemeClr val="dk1"/>
                </a:solidFill>
              </a:rPr>
              <a:t>current</a:t>
            </a:r>
            <a:r>
              <a:rPr lang="fr" sz="1100" dirty="0">
                <a:solidFill>
                  <a:schemeClr val="dk1"/>
                </a:solidFill>
              </a:rPr>
              <a:t> </a:t>
            </a:r>
            <a:r>
              <a:rPr lang="fr" sz="1100" dirty="0" err="1">
                <a:solidFill>
                  <a:schemeClr val="dk1"/>
                </a:solidFill>
              </a:rPr>
              <a:t>parameters</a:t>
            </a:r>
            <a:r>
              <a:rPr lang="fr" sz="1100" dirty="0">
                <a:solidFill>
                  <a:schemeClr val="dk1"/>
                </a:solidFill>
              </a:rPr>
              <a:t>, and in the </a:t>
            </a:r>
            <a:r>
              <a:rPr lang="fr" sz="1100" b="1" dirty="0">
                <a:solidFill>
                  <a:schemeClr val="dk1"/>
                </a:solidFill>
              </a:rPr>
              <a:t>M-</a:t>
            </a:r>
            <a:r>
              <a:rPr lang="fr" sz="1100" b="1" dirty="0" err="1">
                <a:solidFill>
                  <a:schemeClr val="dk1"/>
                </a:solidFill>
              </a:rPr>
              <a:t>step</a:t>
            </a:r>
            <a:r>
              <a:rPr lang="fr" sz="1100" dirty="0">
                <a:solidFill>
                  <a:schemeClr val="dk1"/>
                </a:solidFill>
              </a:rPr>
              <a:t>, the </a:t>
            </a:r>
            <a:r>
              <a:rPr lang="fr" sz="1100" dirty="0" err="1">
                <a:solidFill>
                  <a:schemeClr val="dk1"/>
                </a:solidFill>
              </a:rPr>
              <a:t>parameters</a:t>
            </a:r>
            <a:r>
              <a:rPr lang="fr" sz="1100" dirty="0">
                <a:solidFill>
                  <a:schemeClr val="dk1"/>
                </a:solidFill>
              </a:rPr>
              <a:t> (like pixel </a:t>
            </a:r>
            <a:r>
              <a:rPr lang="fr" sz="1100" dirty="0" err="1">
                <a:solidFill>
                  <a:schemeClr val="dk1"/>
                </a:solidFill>
              </a:rPr>
              <a:t>intensities</a:t>
            </a:r>
            <a:r>
              <a:rPr lang="fr" sz="1100" dirty="0">
                <a:solidFill>
                  <a:schemeClr val="dk1"/>
                </a:solidFill>
              </a:rPr>
              <a:t> or noise variances) are </a:t>
            </a:r>
            <a:r>
              <a:rPr lang="fr" sz="1100" dirty="0" err="1">
                <a:solidFill>
                  <a:schemeClr val="dk1"/>
                </a:solidFill>
              </a:rPr>
              <a:t>optimized</a:t>
            </a:r>
            <a:r>
              <a:rPr lang="fr" sz="1100" dirty="0">
                <a:solidFill>
                  <a:schemeClr val="dk1"/>
                </a:solidFill>
              </a:rPr>
              <a:t> to fit the </a:t>
            </a:r>
            <a:r>
              <a:rPr lang="fr" sz="1100" dirty="0" err="1">
                <a:solidFill>
                  <a:schemeClr val="dk1"/>
                </a:solidFill>
              </a:rPr>
              <a:t>observed</a:t>
            </a:r>
            <a:r>
              <a:rPr lang="fr" sz="1100" dirty="0">
                <a:solidFill>
                  <a:schemeClr val="dk1"/>
                </a:solidFill>
              </a:rPr>
              <a:t> image data, </a:t>
            </a:r>
            <a:r>
              <a:rPr lang="fr" sz="1100" dirty="0" err="1">
                <a:solidFill>
                  <a:schemeClr val="dk1"/>
                </a:solidFill>
              </a:rPr>
              <a:t>reducing</a:t>
            </a:r>
            <a:r>
              <a:rPr lang="fr" sz="1100" dirty="0">
                <a:solidFill>
                  <a:schemeClr val="dk1"/>
                </a:solidFill>
              </a:rPr>
              <a:t> the noise </a:t>
            </a:r>
            <a:r>
              <a:rPr lang="fr" sz="1100" dirty="0" err="1">
                <a:solidFill>
                  <a:schemeClr val="dk1"/>
                </a:solidFill>
              </a:rPr>
              <a:t>iteratively</a:t>
            </a:r>
            <a:r>
              <a:rPr lang="fr" sz="1100" dirty="0">
                <a:solidFill>
                  <a:schemeClr val="dk1"/>
                </a:solidFill>
              </a:rPr>
              <a:t>.</a:t>
            </a:r>
            <a:endParaRPr sz="1100" dirty="0">
              <a:solidFill>
                <a:schemeClr val="dk1"/>
              </a:solidFill>
            </a:endParaRPr>
          </a:p>
        </p:txBody>
      </p:sp>
      <p:pic>
        <p:nvPicPr>
          <p:cNvPr id="358" name="Google Shape;358;p48"/>
          <p:cNvPicPr preferRelativeResize="0"/>
          <p:nvPr/>
        </p:nvPicPr>
        <p:blipFill>
          <a:blip r:embed="rId3">
            <a:alphaModFix/>
          </a:blip>
          <a:stretch>
            <a:fillRect/>
          </a:stretch>
        </p:blipFill>
        <p:spPr>
          <a:xfrm>
            <a:off x="4923875" y="812650"/>
            <a:ext cx="3709692" cy="1624300"/>
          </a:xfrm>
          <a:prstGeom prst="rect">
            <a:avLst/>
          </a:prstGeom>
          <a:noFill/>
          <a:ln>
            <a:noFill/>
          </a:ln>
        </p:spPr>
      </p:pic>
      <p:pic>
        <p:nvPicPr>
          <p:cNvPr id="359" name="Google Shape;359;p48"/>
          <p:cNvPicPr preferRelativeResize="0"/>
          <p:nvPr/>
        </p:nvPicPr>
        <p:blipFill>
          <a:blip r:embed="rId4">
            <a:alphaModFix/>
          </a:blip>
          <a:stretch>
            <a:fillRect/>
          </a:stretch>
        </p:blipFill>
        <p:spPr>
          <a:xfrm>
            <a:off x="4987675" y="2604075"/>
            <a:ext cx="2270900" cy="1896250"/>
          </a:xfrm>
          <a:prstGeom prst="rect">
            <a:avLst/>
          </a:prstGeom>
          <a:noFill/>
          <a:ln>
            <a:noFill/>
          </a:ln>
        </p:spPr>
      </p:pic>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49"/>
          <p:cNvSpPr txBox="1">
            <a:spLocks noGrp="1"/>
          </p:cNvSpPr>
          <p:nvPr>
            <p:ph type="title"/>
          </p:nvPr>
        </p:nvSpPr>
        <p:spPr>
          <a:xfrm>
            <a:off x="1204913" y="258238"/>
            <a:ext cx="6483000" cy="360300"/>
          </a:xfrm>
          <a:prstGeom prst="rect">
            <a:avLst/>
          </a:prstGeom>
          <a:noFill/>
          <a:ln>
            <a:noFill/>
          </a:ln>
        </p:spPr>
        <p:txBody>
          <a:bodyPr spcFirstLastPara="1" wrap="square" lIns="68575" tIns="34275" rIns="68575" bIns="34275" anchor="ctr" anchorCtr="0">
            <a:spAutoFit/>
          </a:bodyPr>
          <a:lstStyle/>
          <a:p>
            <a:pPr marL="0" lvl="0" indent="0" algn="l" rtl="0">
              <a:lnSpc>
                <a:spcPct val="90000"/>
              </a:lnSpc>
              <a:spcBef>
                <a:spcPts val="0"/>
              </a:spcBef>
              <a:spcAft>
                <a:spcPts val="0"/>
              </a:spcAft>
              <a:buClr>
                <a:schemeClr val="dk1"/>
              </a:buClr>
              <a:buSzPts val="2100"/>
              <a:buFont typeface="Microsoft Yahei"/>
              <a:buNone/>
            </a:pPr>
            <a:r>
              <a:rPr lang="fr"/>
              <a:t>Other examples of the use of EM </a:t>
            </a:r>
            <a:endParaRPr/>
          </a:p>
        </p:txBody>
      </p:sp>
      <p:sp>
        <p:nvSpPr>
          <p:cNvPr id="365" name="Google Shape;365;p49"/>
          <p:cNvSpPr txBox="1"/>
          <p:nvPr/>
        </p:nvSpPr>
        <p:spPr>
          <a:xfrm>
            <a:off x="193226" y="928939"/>
            <a:ext cx="5799600" cy="3524011"/>
          </a:xfrm>
          <a:prstGeom prst="rect">
            <a:avLst/>
          </a:prstGeom>
          <a:noFill/>
          <a:ln>
            <a:noFill/>
          </a:ln>
        </p:spPr>
        <p:txBody>
          <a:bodyPr spcFirstLastPara="1" wrap="square" lIns="91425" tIns="91425" rIns="91425" bIns="91425" anchor="t" anchorCtr="0">
            <a:spAutoFit/>
          </a:bodyPr>
          <a:lstStyle/>
          <a:p>
            <a:pPr marL="457200" lvl="0" indent="-234950" algn="l" rtl="0">
              <a:lnSpc>
                <a:spcPct val="115000"/>
              </a:lnSpc>
              <a:spcBef>
                <a:spcPts val="1200"/>
              </a:spcBef>
              <a:spcAft>
                <a:spcPts val="0"/>
              </a:spcAft>
              <a:buClr>
                <a:schemeClr val="lt1"/>
              </a:buClr>
              <a:buSzPts val="100"/>
              <a:buAutoNum type="arabicPeriod"/>
            </a:pPr>
            <a:r>
              <a:rPr lang="fr" sz="100" b="1" dirty="0" err="1">
                <a:solidFill>
                  <a:schemeClr val="lt1"/>
                </a:solidFill>
              </a:rPr>
              <a:t>Missing</a:t>
            </a:r>
            <a:r>
              <a:rPr lang="fr" sz="100" b="1" dirty="0">
                <a:solidFill>
                  <a:schemeClr val="lt1"/>
                </a:solidFill>
              </a:rPr>
              <a:t> Data Imputation</a:t>
            </a:r>
            <a:r>
              <a:rPr lang="fr" sz="100" dirty="0">
                <a:solidFill>
                  <a:schemeClr val="lt1"/>
                </a:solidFill>
              </a:rPr>
              <a:t>:</a:t>
            </a:r>
            <a:endParaRPr sz="100" dirty="0">
              <a:solidFill>
                <a:schemeClr val="lt1"/>
              </a:solidFill>
            </a:endParaRPr>
          </a:p>
          <a:p>
            <a:pPr marL="914400" lvl="1" indent="-234950" algn="l" rtl="0">
              <a:lnSpc>
                <a:spcPct val="115000"/>
              </a:lnSpc>
              <a:spcBef>
                <a:spcPts val="0"/>
              </a:spcBef>
              <a:spcAft>
                <a:spcPts val="0"/>
              </a:spcAft>
              <a:buClr>
                <a:schemeClr val="lt1"/>
              </a:buClr>
              <a:buSzPts val="100"/>
              <a:buChar char="○"/>
            </a:pPr>
            <a:r>
              <a:rPr lang="fr" sz="100" dirty="0">
                <a:solidFill>
                  <a:schemeClr val="lt1"/>
                </a:solidFill>
              </a:rPr>
              <a:t>EM can </a:t>
            </a:r>
            <a:r>
              <a:rPr lang="fr" sz="100" dirty="0" err="1">
                <a:solidFill>
                  <a:schemeClr val="lt1"/>
                </a:solidFill>
              </a:rPr>
              <a:t>be</a:t>
            </a:r>
            <a:r>
              <a:rPr lang="fr" sz="100" dirty="0">
                <a:solidFill>
                  <a:schemeClr val="lt1"/>
                </a:solidFill>
              </a:rPr>
              <a:t> </a:t>
            </a:r>
            <a:r>
              <a:rPr lang="fr" sz="100" dirty="0" err="1">
                <a:solidFill>
                  <a:schemeClr val="lt1"/>
                </a:solidFill>
              </a:rPr>
              <a:t>used</a:t>
            </a:r>
            <a:r>
              <a:rPr lang="fr" sz="100" dirty="0">
                <a:solidFill>
                  <a:schemeClr val="lt1"/>
                </a:solidFill>
              </a:rPr>
              <a:t> to </a:t>
            </a:r>
            <a:r>
              <a:rPr lang="fr" sz="100" dirty="0" err="1">
                <a:solidFill>
                  <a:schemeClr val="lt1"/>
                </a:solidFill>
              </a:rPr>
              <a:t>handle</a:t>
            </a:r>
            <a:r>
              <a:rPr lang="fr" sz="100" dirty="0">
                <a:solidFill>
                  <a:schemeClr val="lt1"/>
                </a:solidFill>
              </a:rPr>
              <a:t> </a:t>
            </a:r>
            <a:r>
              <a:rPr lang="fr" sz="100" dirty="0" err="1">
                <a:solidFill>
                  <a:schemeClr val="lt1"/>
                </a:solidFill>
              </a:rPr>
              <a:t>datasets</a:t>
            </a:r>
            <a:r>
              <a:rPr lang="fr" sz="100" dirty="0">
                <a:solidFill>
                  <a:schemeClr val="lt1"/>
                </a:solidFill>
              </a:rPr>
              <a:t> </a:t>
            </a:r>
            <a:r>
              <a:rPr lang="fr" sz="100" dirty="0" err="1">
                <a:solidFill>
                  <a:schemeClr val="lt1"/>
                </a:solidFill>
              </a:rPr>
              <a:t>with</a:t>
            </a:r>
            <a:r>
              <a:rPr lang="fr" sz="100" dirty="0">
                <a:solidFill>
                  <a:schemeClr val="lt1"/>
                </a:solidFill>
              </a:rPr>
              <a:t> </a:t>
            </a:r>
            <a:r>
              <a:rPr lang="fr" sz="100" dirty="0" err="1">
                <a:solidFill>
                  <a:schemeClr val="lt1"/>
                </a:solidFill>
              </a:rPr>
              <a:t>missing</a:t>
            </a:r>
            <a:r>
              <a:rPr lang="fr" sz="100" dirty="0">
                <a:solidFill>
                  <a:schemeClr val="lt1"/>
                </a:solidFill>
              </a:rPr>
              <a:t> or </a:t>
            </a:r>
            <a:r>
              <a:rPr lang="fr" sz="100" dirty="0" err="1">
                <a:solidFill>
                  <a:schemeClr val="lt1"/>
                </a:solidFill>
              </a:rPr>
              <a:t>incomplete</a:t>
            </a:r>
            <a:r>
              <a:rPr lang="fr" sz="100" dirty="0">
                <a:solidFill>
                  <a:schemeClr val="lt1"/>
                </a:solidFill>
              </a:rPr>
              <a:t> data. In the </a:t>
            </a:r>
            <a:r>
              <a:rPr lang="fr" sz="100" b="1" dirty="0">
                <a:solidFill>
                  <a:schemeClr val="lt1"/>
                </a:solidFill>
              </a:rPr>
              <a:t>E-</a:t>
            </a:r>
            <a:r>
              <a:rPr lang="fr" sz="100" b="1" dirty="0" err="1">
                <a:solidFill>
                  <a:schemeClr val="lt1"/>
                </a:solidFill>
              </a:rPr>
              <a:t>step</a:t>
            </a:r>
            <a:r>
              <a:rPr lang="fr" sz="100" dirty="0">
                <a:solidFill>
                  <a:schemeClr val="lt1"/>
                </a:solidFill>
              </a:rPr>
              <a:t>, the </a:t>
            </a:r>
            <a:r>
              <a:rPr lang="fr" sz="100" dirty="0" err="1">
                <a:solidFill>
                  <a:schemeClr val="lt1"/>
                </a:solidFill>
              </a:rPr>
              <a:t>missing</a:t>
            </a:r>
            <a:r>
              <a:rPr lang="fr" sz="100" dirty="0">
                <a:solidFill>
                  <a:schemeClr val="lt1"/>
                </a:solidFill>
              </a:rPr>
              <a:t> data </a:t>
            </a:r>
            <a:r>
              <a:rPr lang="fr" sz="100" dirty="0" err="1">
                <a:solidFill>
                  <a:schemeClr val="lt1"/>
                </a:solidFill>
              </a:rPr>
              <a:t>is</a:t>
            </a:r>
            <a:r>
              <a:rPr lang="fr" sz="100" dirty="0">
                <a:solidFill>
                  <a:schemeClr val="lt1"/>
                </a:solidFill>
              </a:rPr>
              <a:t> "</a:t>
            </a:r>
            <a:r>
              <a:rPr lang="fr" sz="100" dirty="0" err="1">
                <a:solidFill>
                  <a:schemeClr val="lt1"/>
                </a:solidFill>
              </a:rPr>
              <a:t>guessed</a:t>
            </a:r>
            <a:r>
              <a:rPr lang="fr" sz="100" dirty="0">
                <a:solidFill>
                  <a:schemeClr val="lt1"/>
                </a:solidFill>
              </a:rPr>
              <a:t>" </a:t>
            </a:r>
            <a:r>
              <a:rPr lang="fr" sz="100" dirty="0" err="1">
                <a:solidFill>
                  <a:schemeClr val="lt1"/>
                </a:solidFill>
              </a:rPr>
              <a:t>based</a:t>
            </a:r>
            <a:r>
              <a:rPr lang="fr" sz="100" dirty="0">
                <a:solidFill>
                  <a:schemeClr val="lt1"/>
                </a:solidFill>
              </a:rPr>
              <a:t> on the </a:t>
            </a:r>
            <a:r>
              <a:rPr lang="fr" sz="100" dirty="0" err="1">
                <a:solidFill>
                  <a:schemeClr val="lt1"/>
                </a:solidFill>
              </a:rPr>
              <a:t>observed</a:t>
            </a:r>
            <a:r>
              <a:rPr lang="fr" sz="100" dirty="0">
                <a:solidFill>
                  <a:schemeClr val="lt1"/>
                </a:solidFill>
              </a:rPr>
              <a:t> data, and in the </a:t>
            </a:r>
            <a:r>
              <a:rPr lang="fr" sz="100" b="1" dirty="0">
                <a:solidFill>
                  <a:schemeClr val="lt1"/>
                </a:solidFill>
              </a:rPr>
              <a:t>M-</a:t>
            </a:r>
            <a:r>
              <a:rPr lang="fr" sz="100" b="1" dirty="0" err="1">
                <a:solidFill>
                  <a:schemeClr val="lt1"/>
                </a:solidFill>
              </a:rPr>
              <a:t>step</a:t>
            </a:r>
            <a:r>
              <a:rPr lang="fr" sz="100" dirty="0">
                <a:solidFill>
                  <a:schemeClr val="lt1"/>
                </a:solidFill>
              </a:rPr>
              <a:t>, the </a:t>
            </a:r>
            <a:r>
              <a:rPr lang="fr" sz="100" dirty="0" err="1">
                <a:solidFill>
                  <a:schemeClr val="lt1"/>
                </a:solidFill>
              </a:rPr>
              <a:t>parameters</a:t>
            </a:r>
            <a:r>
              <a:rPr lang="fr" sz="100" dirty="0">
                <a:solidFill>
                  <a:schemeClr val="lt1"/>
                </a:solidFill>
              </a:rPr>
              <a:t> of the model are </a:t>
            </a:r>
            <a:r>
              <a:rPr lang="fr" sz="100" dirty="0" err="1">
                <a:solidFill>
                  <a:schemeClr val="lt1"/>
                </a:solidFill>
              </a:rPr>
              <a:t>updated</a:t>
            </a:r>
            <a:r>
              <a:rPr lang="fr" sz="100" dirty="0">
                <a:solidFill>
                  <a:schemeClr val="lt1"/>
                </a:solidFill>
              </a:rPr>
              <a:t> to </a:t>
            </a:r>
            <a:r>
              <a:rPr lang="fr" sz="100" dirty="0" err="1">
                <a:solidFill>
                  <a:schemeClr val="lt1"/>
                </a:solidFill>
              </a:rPr>
              <a:t>maximize</a:t>
            </a:r>
            <a:r>
              <a:rPr lang="fr" sz="100" dirty="0">
                <a:solidFill>
                  <a:schemeClr val="lt1"/>
                </a:solidFill>
              </a:rPr>
              <a:t> the </a:t>
            </a:r>
            <a:r>
              <a:rPr lang="fr" sz="100" dirty="0" err="1">
                <a:solidFill>
                  <a:schemeClr val="lt1"/>
                </a:solidFill>
              </a:rPr>
              <a:t>likelihood</a:t>
            </a:r>
            <a:r>
              <a:rPr lang="fr" sz="100" dirty="0">
                <a:solidFill>
                  <a:schemeClr val="lt1"/>
                </a:solidFill>
              </a:rPr>
              <a:t> of the </a:t>
            </a:r>
            <a:r>
              <a:rPr lang="fr" sz="100" dirty="0" err="1">
                <a:solidFill>
                  <a:schemeClr val="lt1"/>
                </a:solidFill>
              </a:rPr>
              <a:t>complete</a:t>
            </a:r>
            <a:r>
              <a:rPr lang="fr" sz="100" dirty="0">
                <a:solidFill>
                  <a:schemeClr val="lt1"/>
                </a:solidFill>
              </a:rPr>
              <a:t> data (</a:t>
            </a:r>
            <a:r>
              <a:rPr lang="fr" sz="100" dirty="0" err="1">
                <a:solidFill>
                  <a:schemeClr val="lt1"/>
                </a:solidFill>
              </a:rPr>
              <a:t>both</a:t>
            </a:r>
            <a:r>
              <a:rPr lang="fr" sz="100" dirty="0">
                <a:solidFill>
                  <a:schemeClr val="lt1"/>
                </a:solidFill>
              </a:rPr>
              <a:t> </a:t>
            </a:r>
            <a:r>
              <a:rPr lang="fr" sz="100" dirty="0" err="1">
                <a:solidFill>
                  <a:schemeClr val="lt1"/>
                </a:solidFill>
              </a:rPr>
              <a:t>observed</a:t>
            </a:r>
            <a:r>
              <a:rPr lang="fr" sz="100" dirty="0">
                <a:solidFill>
                  <a:schemeClr val="lt1"/>
                </a:solidFill>
              </a:rPr>
              <a:t> and </a:t>
            </a:r>
            <a:r>
              <a:rPr lang="fr" sz="100" dirty="0" err="1">
                <a:solidFill>
                  <a:schemeClr val="lt1"/>
                </a:solidFill>
              </a:rPr>
              <a:t>imputed</a:t>
            </a:r>
            <a:r>
              <a:rPr lang="fr" sz="100" dirty="0">
                <a:solidFill>
                  <a:schemeClr val="lt1"/>
                </a:solidFill>
              </a:rPr>
              <a:t>). The process </a:t>
            </a:r>
            <a:r>
              <a:rPr lang="fr" sz="100" dirty="0" err="1">
                <a:solidFill>
                  <a:schemeClr val="lt1"/>
                </a:solidFill>
              </a:rPr>
              <a:t>iterates</a:t>
            </a:r>
            <a:r>
              <a:rPr lang="fr" sz="100" dirty="0">
                <a:solidFill>
                  <a:schemeClr val="lt1"/>
                </a:solidFill>
              </a:rPr>
              <a:t> </a:t>
            </a:r>
            <a:r>
              <a:rPr lang="fr" sz="100" dirty="0" err="1">
                <a:solidFill>
                  <a:schemeClr val="lt1"/>
                </a:solidFill>
              </a:rPr>
              <a:t>until</a:t>
            </a:r>
            <a:r>
              <a:rPr lang="fr" sz="100" dirty="0">
                <a:solidFill>
                  <a:schemeClr val="lt1"/>
                </a:solidFill>
              </a:rPr>
              <a:t> the </a:t>
            </a:r>
            <a:r>
              <a:rPr lang="fr" sz="100" dirty="0" err="1">
                <a:solidFill>
                  <a:schemeClr val="lt1"/>
                </a:solidFill>
              </a:rPr>
              <a:t>likelihood</a:t>
            </a:r>
            <a:r>
              <a:rPr lang="fr" sz="100" dirty="0">
                <a:solidFill>
                  <a:schemeClr val="lt1"/>
                </a:solidFill>
              </a:rPr>
              <a:t> converges.</a:t>
            </a:r>
            <a:endParaRPr sz="100" dirty="0">
              <a:solidFill>
                <a:schemeClr val="lt1"/>
              </a:solidFill>
            </a:endParaRPr>
          </a:p>
          <a:p>
            <a:pPr marL="457200" lvl="0" indent="-234950" algn="l" rtl="0">
              <a:lnSpc>
                <a:spcPct val="115000"/>
              </a:lnSpc>
              <a:spcBef>
                <a:spcPts val="0"/>
              </a:spcBef>
              <a:spcAft>
                <a:spcPts val="0"/>
              </a:spcAft>
              <a:buClr>
                <a:schemeClr val="lt1"/>
              </a:buClr>
              <a:buSzPts val="100"/>
              <a:buAutoNum type="arabicPeriod"/>
            </a:pPr>
            <a:r>
              <a:rPr lang="fr" sz="100" b="1" dirty="0">
                <a:solidFill>
                  <a:schemeClr val="lt1"/>
                </a:solidFill>
              </a:rPr>
              <a:t>Image </a:t>
            </a:r>
            <a:r>
              <a:rPr lang="fr" sz="100" b="1" dirty="0" err="1">
                <a:solidFill>
                  <a:schemeClr val="lt1"/>
                </a:solidFill>
              </a:rPr>
              <a:t>Denoising</a:t>
            </a:r>
            <a:r>
              <a:rPr lang="fr" sz="100" b="1" dirty="0">
                <a:solidFill>
                  <a:schemeClr val="lt1"/>
                </a:solidFill>
              </a:rPr>
              <a:t> (Segmentation)</a:t>
            </a:r>
            <a:r>
              <a:rPr lang="fr" sz="100" dirty="0">
                <a:solidFill>
                  <a:schemeClr val="lt1"/>
                </a:solidFill>
              </a:rPr>
              <a:t>:</a:t>
            </a:r>
            <a:endParaRPr sz="100" dirty="0">
              <a:solidFill>
                <a:schemeClr val="lt1"/>
              </a:solidFill>
            </a:endParaRPr>
          </a:p>
          <a:p>
            <a:pPr marL="914400" lvl="1" indent="-234950" algn="l" rtl="0">
              <a:lnSpc>
                <a:spcPct val="115000"/>
              </a:lnSpc>
              <a:spcBef>
                <a:spcPts val="0"/>
              </a:spcBef>
              <a:spcAft>
                <a:spcPts val="0"/>
              </a:spcAft>
              <a:buClr>
                <a:schemeClr val="lt1"/>
              </a:buClr>
              <a:buSzPts val="100"/>
              <a:buChar char="○"/>
            </a:pPr>
            <a:r>
              <a:rPr lang="fr" sz="100" dirty="0">
                <a:solidFill>
                  <a:schemeClr val="lt1"/>
                </a:solidFill>
              </a:rPr>
              <a:t>In </a:t>
            </a:r>
            <a:r>
              <a:rPr lang="fr" sz="100" b="1" dirty="0">
                <a:solidFill>
                  <a:schemeClr val="lt1"/>
                </a:solidFill>
              </a:rPr>
              <a:t>image </a:t>
            </a:r>
            <a:r>
              <a:rPr lang="fr" sz="100" b="1" dirty="0" err="1">
                <a:solidFill>
                  <a:schemeClr val="lt1"/>
                </a:solidFill>
              </a:rPr>
              <a:t>denoising</a:t>
            </a:r>
            <a:r>
              <a:rPr lang="fr" sz="100" dirty="0">
                <a:solidFill>
                  <a:schemeClr val="lt1"/>
                </a:solidFill>
              </a:rPr>
              <a:t>, EM </a:t>
            </a:r>
            <a:r>
              <a:rPr lang="fr" sz="100" dirty="0" err="1">
                <a:solidFill>
                  <a:schemeClr val="lt1"/>
                </a:solidFill>
              </a:rPr>
              <a:t>is</a:t>
            </a:r>
            <a:r>
              <a:rPr lang="fr" sz="100" dirty="0">
                <a:solidFill>
                  <a:schemeClr val="lt1"/>
                </a:solidFill>
              </a:rPr>
              <a:t> </a:t>
            </a:r>
            <a:r>
              <a:rPr lang="fr" sz="100" dirty="0" err="1">
                <a:solidFill>
                  <a:schemeClr val="lt1"/>
                </a:solidFill>
              </a:rPr>
              <a:t>used</a:t>
            </a:r>
            <a:r>
              <a:rPr lang="fr" sz="100" dirty="0">
                <a:solidFill>
                  <a:schemeClr val="lt1"/>
                </a:solidFill>
              </a:rPr>
              <a:t> to </a:t>
            </a:r>
            <a:r>
              <a:rPr lang="fr" sz="100" dirty="0" err="1">
                <a:solidFill>
                  <a:schemeClr val="lt1"/>
                </a:solidFill>
              </a:rPr>
              <a:t>estimate</a:t>
            </a:r>
            <a:r>
              <a:rPr lang="fr" sz="100" dirty="0">
                <a:solidFill>
                  <a:schemeClr val="lt1"/>
                </a:solidFill>
              </a:rPr>
              <a:t> the </a:t>
            </a:r>
            <a:r>
              <a:rPr lang="fr" sz="100" dirty="0" err="1">
                <a:solidFill>
                  <a:schemeClr val="lt1"/>
                </a:solidFill>
              </a:rPr>
              <a:t>true</a:t>
            </a:r>
            <a:r>
              <a:rPr lang="fr" sz="100" dirty="0">
                <a:solidFill>
                  <a:schemeClr val="lt1"/>
                </a:solidFill>
              </a:rPr>
              <a:t> pixel values of an image </a:t>
            </a:r>
            <a:r>
              <a:rPr lang="fr" sz="100" dirty="0" err="1">
                <a:solidFill>
                  <a:schemeClr val="lt1"/>
                </a:solidFill>
              </a:rPr>
              <a:t>that</a:t>
            </a:r>
            <a:r>
              <a:rPr lang="fr" sz="100" dirty="0">
                <a:solidFill>
                  <a:schemeClr val="lt1"/>
                </a:solidFill>
              </a:rPr>
              <a:t> has been </a:t>
            </a:r>
            <a:r>
              <a:rPr lang="fr" sz="100" dirty="0" err="1">
                <a:solidFill>
                  <a:schemeClr val="lt1"/>
                </a:solidFill>
              </a:rPr>
              <a:t>corrupted</a:t>
            </a:r>
            <a:r>
              <a:rPr lang="fr" sz="100" dirty="0">
                <a:solidFill>
                  <a:schemeClr val="lt1"/>
                </a:solidFill>
              </a:rPr>
              <a:t> by noise. In the </a:t>
            </a:r>
            <a:r>
              <a:rPr lang="fr" sz="100" b="1" dirty="0">
                <a:solidFill>
                  <a:schemeClr val="lt1"/>
                </a:solidFill>
              </a:rPr>
              <a:t>E-</a:t>
            </a:r>
            <a:r>
              <a:rPr lang="fr" sz="100" b="1" dirty="0" err="1">
                <a:solidFill>
                  <a:schemeClr val="lt1"/>
                </a:solidFill>
              </a:rPr>
              <a:t>step</a:t>
            </a:r>
            <a:r>
              <a:rPr lang="fr" sz="100" dirty="0">
                <a:solidFill>
                  <a:schemeClr val="lt1"/>
                </a:solidFill>
              </a:rPr>
              <a:t>, the </a:t>
            </a:r>
            <a:r>
              <a:rPr lang="fr" sz="100" dirty="0" err="1">
                <a:solidFill>
                  <a:schemeClr val="lt1"/>
                </a:solidFill>
              </a:rPr>
              <a:t>missing</a:t>
            </a:r>
            <a:r>
              <a:rPr lang="fr" sz="100" dirty="0">
                <a:solidFill>
                  <a:schemeClr val="lt1"/>
                </a:solidFill>
              </a:rPr>
              <a:t> or </a:t>
            </a:r>
            <a:r>
              <a:rPr lang="fr" sz="100" dirty="0" err="1">
                <a:solidFill>
                  <a:schemeClr val="lt1"/>
                </a:solidFill>
              </a:rPr>
              <a:t>noisy</a:t>
            </a:r>
            <a:r>
              <a:rPr lang="fr" sz="100" dirty="0">
                <a:solidFill>
                  <a:schemeClr val="lt1"/>
                </a:solidFill>
              </a:rPr>
              <a:t> values are </a:t>
            </a:r>
            <a:r>
              <a:rPr lang="fr" sz="100" dirty="0" err="1">
                <a:solidFill>
                  <a:schemeClr val="lt1"/>
                </a:solidFill>
              </a:rPr>
              <a:t>inferred</a:t>
            </a:r>
            <a:r>
              <a:rPr lang="fr" sz="100" dirty="0">
                <a:solidFill>
                  <a:schemeClr val="lt1"/>
                </a:solidFill>
              </a:rPr>
              <a:t> </a:t>
            </a:r>
            <a:r>
              <a:rPr lang="fr" sz="100" dirty="0" err="1">
                <a:solidFill>
                  <a:schemeClr val="lt1"/>
                </a:solidFill>
              </a:rPr>
              <a:t>based</a:t>
            </a:r>
            <a:r>
              <a:rPr lang="fr" sz="100" dirty="0">
                <a:solidFill>
                  <a:schemeClr val="lt1"/>
                </a:solidFill>
              </a:rPr>
              <a:t> on the </a:t>
            </a:r>
            <a:r>
              <a:rPr lang="fr" sz="100" dirty="0" err="1">
                <a:solidFill>
                  <a:schemeClr val="lt1"/>
                </a:solidFill>
              </a:rPr>
              <a:t>current</a:t>
            </a:r>
            <a:r>
              <a:rPr lang="fr" sz="100" dirty="0">
                <a:solidFill>
                  <a:schemeClr val="lt1"/>
                </a:solidFill>
              </a:rPr>
              <a:t> </a:t>
            </a:r>
            <a:r>
              <a:rPr lang="fr" sz="100" dirty="0" err="1">
                <a:solidFill>
                  <a:schemeClr val="lt1"/>
                </a:solidFill>
              </a:rPr>
              <a:t>parameters</a:t>
            </a:r>
            <a:r>
              <a:rPr lang="fr" sz="100" dirty="0">
                <a:solidFill>
                  <a:schemeClr val="lt1"/>
                </a:solidFill>
              </a:rPr>
              <a:t>, and in the </a:t>
            </a:r>
            <a:r>
              <a:rPr lang="fr" sz="100" b="1" dirty="0">
                <a:solidFill>
                  <a:schemeClr val="lt1"/>
                </a:solidFill>
              </a:rPr>
              <a:t>M-</a:t>
            </a:r>
            <a:r>
              <a:rPr lang="fr" sz="100" b="1" dirty="0" err="1">
                <a:solidFill>
                  <a:schemeClr val="lt1"/>
                </a:solidFill>
              </a:rPr>
              <a:t>step</a:t>
            </a:r>
            <a:r>
              <a:rPr lang="fr" sz="100" dirty="0">
                <a:solidFill>
                  <a:schemeClr val="lt1"/>
                </a:solidFill>
              </a:rPr>
              <a:t>, the </a:t>
            </a:r>
            <a:r>
              <a:rPr lang="fr" sz="100" dirty="0" err="1">
                <a:solidFill>
                  <a:schemeClr val="lt1"/>
                </a:solidFill>
              </a:rPr>
              <a:t>parameters</a:t>
            </a:r>
            <a:r>
              <a:rPr lang="fr" sz="100" dirty="0">
                <a:solidFill>
                  <a:schemeClr val="lt1"/>
                </a:solidFill>
              </a:rPr>
              <a:t> (like pixel </a:t>
            </a:r>
            <a:r>
              <a:rPr lang="fr" sz="100" dirty="0" err="1">
                <a:solidFill>
                  <a:schemeClr val="lt1"/>
                </a:solidFill>
              </a:rPr>
              <a:t>intensities</a:t>
            </a:r>
            <a:r>
              <a:rPr lang="fr" sz="100" dirty="0">
                <a:solidFill>
                  <a:schemeClr val="lt1"/>
                </a:solidFill>
              </a:rPr>
              <a:t> or noise variances) are </a:t>
            </a:r>
            <a:r>
              <a:rPr lang="fr" sz="100" dirty="0" err="1">
                <a:solidFill>
                  <a:schemeClr val="lt1"/>
                </a:solidFill>
              </a:rPr>
              <a:t>optimized</a:t>
            </a:r>
            <a:r>
              <a:rPr lang="fr" sz="100" dirty="0">
                <a:solidFill>
                  <a:schemeClr val="lt1"/>
                </a:solidFill>
              </a:rPr>
              <a:t> to fit the </a:t>
            </a:r>
            <a:r>
              <a:rPr lang="fr" sz="100" dirty="0" err="1">
                <a:solidFill>
                  <a:schemeClr val="lt1"/>
                </a:solidFill>
              </a:rPr>
              <a:t>observed</a:t>
            </a:r>
            <a:r>
              <a:rPr lang="fr" sz="100" dirty="0">
                <a:solidFill>
                  <a:schemeClr val="lt1"/>
                </a:solidFill>
              </a:rPr>
              <a:t> image data, </a:t>
            </a:r>
            <a:r>
              <a:rPr lang="fr" sz="100" dirty="0" err="1">
                <a:solidFill>
                  <a:schemeClr val="lt1"/>
                </a:solidFill>
              </a:rPr>
              <a:t>reducing</a:t>
            </a:r>
            <a:r>
              <a:rPr lang="fr" sz="100" dirty="0">
                <a:solidFill>
                  <a:schemeClr val="lt1"/>
                </a:solidFill>
              </a:rPr>
              <a:t> the noise </a:t>
            </a:r>
            <a:r>
              <a:rPr lang="fr" sz="100" dirty="0" err="1">
                <a:solidFill>
                  <a:schemeClr val="lt1"/>
                </a:solidFill>
              </a:rPr>
              <a:t>iteratively</a:t>
            </a:r>
            <a:r>
              <a:rPr lang="fr" sz="100" dirty="0">
                <a:solidFill>
                  <a:schemeClr val="lt1"/>
                </a:solidFill>
              </a:rPr>
              <a:t>.</a:t>
            </a:r>
            <a:endParaRPr sz="100" dirty="0">
              <a:solidFill>
                <a:schemeClr val="lt1"/>
              </a:solidFill>
            </a:endParaRPr>
          </a:p>
          <a:p>
            <a:pPr marL="158750" lvl="0" algn="l" rtl="0">
              <a:lnSpc>
                <a:spcPct val="115000"/>
              </a:lnSpc>
              <a:spcBef>
                <a:spcPts val="0"/>
              </a:spcBef>
              <a:spcAft>
                <a:spcPts val="0"/>
              </a:spcAft>
              <a:buClr>
                <a:schemeClr val="dk1"/>
              </a:buClr>
              <a:buSzPts val="1100"/>
            </a:pPr>
            <a:r>
              <a:rPr lang="fr" sz="1100" b="1" dirty="0">
                <a:solidFill>
                  <a:schemeClr val="dk1"/>
                </a:solidFill>
              </a:rPr>
              <a:t>3. Document Clustering (Latent Dirichlet Allocation - LDA)</a:t>
            </a:r>
            <a:r>
              <a:rPr lang="fr" sz="1100" dirty="0">
                <a:solidFill>
                  <a:schemeClr val="dk1"/>
                </a:solidFill>
              </a:rPr>
              <a:t>:</a:t>
            </a:r>
          </a:p>
          <a:p>
            <a:pPr marL="330200" lvl="4" indent="-171450">
              <a:lnSpc>
                <a:spcPct val="115000"/>
              </a:lnSpc>
              <a:buClr>
                <a:schemeClr val="dk1"/>
              </a:buClr>
              <a:buSzPts val="1100"/>
              <a:buFont typeface="Courier New" panose="02070309020205020404" pitchFamily="49" charset="0"/>
              <a:buChar char="o"/>
            </a:pPr>
            <a:r>
              <a:rPr lang="fr" sz="1100" dirty="0">
                <a:solidFill>
                  <a:schemeClr val="dk1"/>
                </a:solidFill>
              </a:rPr>
              <a:t>EM </a:t>
            </a:r>
            <a:r>
              <a:rPr lang="fr" sz="1100" dirty="0" err="1">
                <a:solidFill>
                  <a:schemeClr val="dk1"/>
                </a:solidFill>
              </a:rPr>
              <a:t>is</a:t>
            </a:r>
            <a:r>
              <a:rPr lang="fr" sz="1100" dirty="0">
                <a:solidFill>
                  <a:schemeClr val="dk1"/>
                </a:solidFill>
              </a:rPr>
              <a:t> </a:t>
            </a:r>
            <a:r>
              <a:rPr lang="fr" sz="1100" dirty="0" err="1">
                <a:solidFill>
                  <a:schemeClr val="dk1"/>
                </a:solidFill>
              </a:rPr>
              <a:t>used</a:t>
            </a:r>
            <a:r>
              <a:rPr lang="fr" sz="1100" dirty="0">
                <a:solidFill>
                  <a:schemeClr val="dk1"/>
                </a:solidFill>
              </a:rPr>
              <a:t> in </a:t>
            </a:r>
            <a:r>
              <a:rPr lang="fr" sz="1100" b="1" dirty="0">
                <a:solidFill>
                  <a:schemeClr val="dk1"/>
                </a:solidFill>
              </a:rPr>
              <a:t>LDA</a:t>
            </a:r>
            <a:r>
              <a:rPr lang="fr" sz="1100" dirty="0">
                <a:solidFill>
                  <a:schemeClr val="dk1"/>
                </a:solidFill>
              </a:rPr>
              <a:t> for topic modeling, </a:t>
            </a:r>
            <a:r>
              <a:rPr lang="fr" sz="1100" dirty="0" err="1">
                <a:solidFill>
                  <a:schemeClr val="dk1"/>
                </a:solidFill>
              </a:rPr>
              <a:t>where</a:t>
            </a:r>
            <a:r>
              <a:rPr lang="fr" sz="1100" dirty="0">
                <a:solidFill>
                  <a:schemeClr val="dk1"/>
                </a:solidFill>
              </a:rPr>
              <a:t> the goal </a:t>
            </a:r>
            <a:r>
              <a:rPr lang="fr" sz="1100" dirty="0" err="1">
                <a:solidFill>
                  <a:schemeClr val="dk1"/>
                </a:solidFill>
              </a:rPr>
              <a:t>is</a:t>
            </a:r>
            <a:r>
              <a:rPr lang="fr" sz="1100" dirty="0">
                <a:solidFill>
                  <a:schemeClr val="dk1"/>
                </a:solidFill>
              </a:rPr>
              <a:t> to </a:t>
            </a:r>
            <a:r>
              <a:rPr lang="fr" sz="1100" dirty="0" err="1">
                <a:solidFill>
                  <a:schemeClr val="dk1"/>
                </a:solidFill>
              </a:rPr>
              <a:t>discover</a:t>
            </a:r>
            <a:r>
              <a:rPr lang="fr" sz="1100" dirty="0">
                <a:solidFill>
                  <a:schemeClr val="dk1"/>
                </a:solidFill>
              </a:rPr>
              <a:t> the </a:t>
            </a:r>
            <a:r>
              <a:rPr lang="fr" sz="1100" dirty="0" err="1">
                <a:solidFill>
                  <a:schemeClr val="dk1"/>
                </a:solidFill>
              </a:rPr>
              <a:t>hidden</a:t>
            </a:r>
            <a:r>
              <a:rPr lang="fr" sz="1100" dirty="0">
                <a:solidFill>
                  <a:schemeClr val="dk1"/>
                </a:solidFill>
              </a:rPr>
              <a:t> topics in a set of documents. In the </a:t>
            </a:r>
            <a:r>
              <a:rPr lang="fr" sz="1100" b="1" dirty="0">
                <a:solidFill>
                  <a:schemeClr val="dk1"/>
                </a:solidFill>
              </a:rPr>
              <a:t>E-</a:t>
            </a:r>
            <a:r>
              <a:rPr lang="fr" sz="1100" b="1" dirty="0" err="1">
                <a:solidFill>
                  <a:schemeClr val="dk1"/>
                </a:solidFill>
              </a:rPr>
              <a:t>step</a:t>
            </a:r>
            <a:r>
              <a:rPr lang="fr" sz="1100" dirty="0">
                <a:solidFill>
                  <a:schemeClr val="dk1"/>
                </a:solidFill>
              </a:rPr>
              <a:t>, the </a:t>
            </a:r>
            <a:r>
              <a:rPr lang="fr" sz="1100" dirty="0" err="1">
                <a:solidFill>
                  <a:schemeClr val="dk1"/>
                </a:solidFill>
              </a:rPr>
              <a:t>algorithm</a:t>
            </a:r>
            <a:r>
              <a:rPr lang="fr" sz="1100" dirty="0">
                <a:solidFill>
                  <a:schemeClr val="dk1"/>
                </a:solidFill>
              </a:rPr>
              <a:t> </a:t>
            </a:r>
            <a:r>
              <a:rPr lang="fr" sz="1100" dirty="0" err="1">
                <a:solidFill>
                  <a:schemeClr val="dk1"/>
                </a:solidFill>
              </a:rPr>
              <a:t>estimates</a:t>
            </a:r>
            <a:r>
              <a:rPr lang="fr" sz="1100" dirty="0">
                <a:solidFill>
                  <a:schemeClr val="dk1"/>
                </a:solidFill>
              </a:rPr>
              <a:t> the </a:t>
            </a:r>
            <a:r>
              <a:rPr lang="fr" sz="1100" dirty="0" err="1">
                <a:solidFill>
                  <a:schemeClr val="dk1"/>
                </a:solidFill>
              </a:rPr>
              <a:t>probabilities</a:t>
            </a:r>
            <a:r>
              <a:rPr lang="fr" sz="1100" dirty="0">
                <a:solidFill>
                  <a:schemeClr val="dk1"/>
                </a:solidFill>
              </a:rPr>
              <a:t> of </a:t>
            </a:r>
            <a:r>
              <a:rPr lang="fr" sz="1100" dirty="0" err="1">
                <a:solidFill>
                  <a:schemeClr val="dk1"/>
                </a:solidFill>
              </a:rPr>
              <a:t>each</a:t>
            </a:r>
            <a:r>
              <a:rPr lang="fr" sz="1100" dirty="0">
                <a:solidFill>
                  <a:schemeClr val="dk1"/>
                </a:solidFill>
              </a:rPr>
              <a:t> document </a:t>
            </a:r>
            <a:r>
              <a:rPr lang="fr" sz="1100" dirty="0" err="1">
                <a:solidFill>
                  <a:schemeClr val="dk1"/>
                </a:solidFill>
              </a:rPr>
              <a:t>belonging</a:t>
            </a:r>
            <a:r>
              <a:rPr lang="fr" sz="1100" dirty="0">
                <a:solidFill>
                  <a:schemeClr val="dk1"/>
                </a:solidFill>
              </a:rPr>
              <a:t> to </a:t>
            </a:r>
            <a:r>
              <a:rPr lang="fr" sz="1100" dirty="0" err="1">
                <a:solidFill>
                  <a:schemeClr val="dk1"/>
                </a:solidFill>
              </a:rPr>
              <a:t>various</a:t>
            </a:r>
            <a:r>
              <a:rPr lang="fr" sz="1100" dirty="0">
                <a:solidFill>
                  <a:schemeClr val="dk1"/>
                </a:solidFill>
              </a:rPr>
              <a:t> topics (latent variables), and in the </a:t>
            </a:r>
            <a:r>
              <a:rPr lang="fr" sz="1100" b="1" dirty="0">
                <a:solidFill>
                  <a:schemeClr val="dk1"/>
                </a:solidFill>
              </a:rPr>
              <a:t>M-</a:t>
            </a:r>
            <a:r>
              <a:rPr lang="fr" sz="1100" b="1" dirty="0" err="1">
                <a:solidFill>
                  <a:schemeClr val="dk1"/>
                </a:solidFill>
              </a:rPr>
              <a:t>step</a:t>
            </a:r>
            <a:r>
              <a:rPr lang="fr" sz="1100" dirty="0">
                <a:solidFill>
                  <a:schemeClr val="dk1"/>
                </a:solidFill>
              </a:rPr>
              <a:t>, the topic distributions are </a:t>
            </a:r>
            <a:r>
              <a:rPr lang="fr" sz="1100" dirty="0" err="1">
                <a:solidFill>
                  <a:schemeClr val="dk1"/>
                </a:solidFill>
              </a:rPr>
              <a:t>updated</a:t>
            </a:r>
            <a:r>
              <a:rPr lang="fr" sz="1100" dirty="0">
                <a:solidFill>
                  <a:schemeClr val="dk1"/>
                </a:solidFill>
              </a:rPr>
              <a:t> to </a:t>
            </a:r>
            <a:r>
              <a:rPr lang="fr" sz="1100" dirty="0" err="1">
                <a:solidFill>
                  <a:schemeClr val="dk1"/>
                </a:solidFill>
              </a:rPr>
              <a:t>maximize</a:t>
            </a:r>
            <a:r>
              <a:rPr lang="fr" sz="1100" dirty="0">
                <a:solidFill>
                  <a:schemeClr val="dk1"/>
                </a:solidFill>
              </a:rPr>
              <a:t> the </a:t>
            </a:r>
            <a:r>
              <a:rPr lang="fr" sz="1100" dirty="0" err="1">
                <a:solidFill>
                  <a:schemeClr val="dk1"/>
                </a:solidFill>
              </a:rPr>
              <a:t>likelihood</a:t>
            </a:r>
            <a:r>
              <a:rPr lang="fr" sz="1100" dirty="0">
                <a:solidFill>
                  <a:schemeClr val="dk1"/>
                </a:solidFill>
              </a:rPr>
              <a:t> of the data </a:t>
            </a:r>
            <a:r>
              <a:rPr lang="fr" sz="1100" dirty="0" err="1">
                <a:solidFill>
                  <a:schemeClr val="dk1"/>
                </a:solidFill>
              </a:rPr>
              <a:t>given</a:t>
            </a:r>
            <a:r>
              <a:rPr lang="fr" sz="1100" dirty="0">
                <a:solidFill>
                  <a:schemeClr val="dk1"/>
                </a:solidFill>
              </a:rPr>
              <a:t> the </a:t>
            </a:r>
            <a:r>
              <a:rPr lang="fr" sz="1100" dirty="0" err="1">
                <a:solidFill>
                  <a:schemeClr val="dk1"/>
                </a:solidFill>
              </a:rPr>
              <a:t>current</a:t>
            </a:r>
            <a:r>
              <a:rPr lang="fr" sz="1100" dirty="0">
                <a:solidFill>
                  <a:schemeClr val="dk1"/>
                </a:solidFill>
              </a:rPr>
              <a:t> topic </a:t>
            </a:r>
            <a:r>
              <a:rPr lang="fr" sz="1100" dirty="0" err="1">
                <a:solidFill>
                  <a:schemeClr val="dk1"/>
                </a:solidFill>
              </a:rPr>
              <a:t>assignment</a:t>
            </a:r>
            <a:r>
              <a:rPr lang="fr" sz="1100" dirty="0">
                <a:solidFill>
                  <a:schemeClr val="dk1"/>
                </a:solidFill>
              </a:rPr>
              <a:t>.</a:t>
            </a:r>
          </a:p>
          <a:p>
            <a:pPr marL="330200" lvl="2" indent="-171450">
              <a:lnSpc>
                <a:spcPct val="115000"/>
              </a:lnSpc>
              <a:buClr>
                <a:schemeClr val="dk1"/>
              </a:buClr>
              <a:buSzPts val="1100"/>
              <a:buFont typeface="Courier New" panose="02070309020205020404" pitchFamily="49" charset="0"/>
              <a:buChar char="o"/>
            </a:pPr>
            <a:endParaRPr lang="fr" sz="1100" dirty="0">
              <a:solidFill>
                <a:schemeClr val="dk1"/>
              </a:solidFill>
            </a:endParaRPr>
          </a:p>
          <a:p>
            <a:pPr marL="158750" lvl="2">
              <a:lnSpc>
                <a:spcPct val="115000"/>
              </a:lnSpc>
              <a:buClr>
                <a:schemeClr val="dk1"/>
              </a:buClr>
              <a:buSzPts val="1100"/>
            </a:pPr>
            <a:r>
              <a:rPr lang="fr" sz="1100" b="1" dirty="0">
                <a:solidFill>
                  <a:schemeClr val="dk1"/>
                </a:solidFill>
              </a:rPr>
              <a:t>4. </a:t>
            </a:r>
            <a:r>
              <a:rPr lang="en-GB" sz="1100" b="1" dirty="0">
                <a:solidFill>
                  <a:schemeClr val="dk1"/>
                </a:solidFill>
              </a:rPr>
              <a:t>Mixture of Experts Model</a:t>
            </a:r>
            <a:r>
              <a:rPr lang="en-GB" sz="1100" dirty="0">
                <a:solidFill>
                  <a:schemeClr val="dk1"/>
                </a:solidFill>
              </a:rPr>
              <a:t>:</a:t>
            </a:r>
          </a:p>
          <a:p>
            <a:pPr marL="330200" lvl="2" indent="-171450">
              <a:lnSpc>
                <a:spcPct val="115000"/>
              </a:lnSpc>
              <a:buClr>
                <a:schemeClr val="dk1"/>
              </a:buClr>
              <a:buSzPts val="1100"/>
              <a:buFont typeface="Courier New" panose="02070309020205020404" pitchFamily="49" charset="0"/>
              <a:buChar char="o"/>
            </a:pPr>
            <a:r>
              <a:rPr lang="en-GB" sz="1100" dirty="0">
                <a:solidFill>
                  <a:schemeClr val="dk1"/>
                </a:solidFill>
              </a:rPr>
              <a:t>EM is applied in </a:t>
            </a:r>
            <a:r>
              <a:rPr lang="en-GB" sz="1100" b="1" dirty="0">
                <a:solidFill>
                  <a:schemeClr val="dk1"/>
                </a:solidFill>
              </a:rPr>
              <a:t>Mixture of Experts</a:t>
            </a:r>
            <a:r>
              <a:rPr lang="en-GB" sz="1100" dirty="0">
                <a:solidFill>
                  <a:schemeClr val="dk1"/>
                </a:solidFill>
              </a:rPr>
              <a:t>, where several models (experts) are combined to make predictions. Each expert is responsible for a portion of the input space, and EM helps determine the probability of each expert being responsible for a particular data point (E-step), and updates the expert models' parameters to maximize predictive accuracy (M-step). This is useful for tasks where different models might be better suited to different regions of the data.</a:t>
            </a:r>
          </a:p>
          <a:p>
            <a:pPr marL="330200" lvl="2" indent="-171450">
              <a:lnSpc>
                <a:spcPct val="115000"/>
              </a:lnSpc>
              <a:buClr>
                <a:schemeClr val="dk1"/>
              </a:buClr>
              <a:buSzPts val="1100"/>
              <a:buFont typeface="Courier New" panose="02070309020205020404" pitchFamily="49" charset="0"/>
              <a:buChar char="o"/>
            </a:pPr>
            <a:endParaRPr lang="fr" sz="1100" dirty="0">
              <a:solidFill>
                <a:schemeClr val="dk1"/>
              </a:solidFill>
            </a:endParaRPr>
          </a:p>
          <a:p>
            <a:pPr marL="615950" lvl="1" algn="l" rtl="0">
              <a:lnSpc>
                <a:spcPct val="115000"/>
              </a:lnSpc>
              <a:spcBef>
                <a:spcPts val="0"/>
              </a:spcBef>
              <a:spcAft>
                <a:spcPts val="0"/>
              </a:spcAft>
              <a:buClr>
                <a:schemeClr val="dk1"/>
              </a:buClr>
              <a:buSzPts val="1100"/>
            </a:pPr>
            <a:endParaRPr lang="fr" sz="1100" b="1" dirty="0">
              <a:solidFill>
                <a:schemeClr val="dk1"/>
              </a:solidFill>
            </a:endParaRPr>
          </a:p>
        </p:txBody>
      </p:sp>
      <p:pic>
        <p:nvPicPr>
          <p:cNvPr id="366" name="Google Shape;366;p49" descr="All about Latent Dirichlet Allocation (LDA) in NLP | by Mohamed Bakrey |  Medium"/>
          <p:cNvPicPr preferRelativeResize="0"/>
          <p:nvPr/>
        </p:nvPicPr>
        <p:blipFill>
          <a:blip r:embed="rId3">
            <a:alphaModFix/>
          </a:blip>
          <a:stretch>
            <a:fillRect/>
          </a:stretch>
        </p:blipFill>
        <p:spPr>
          <a:xfrm>
            <a:off x="6050975" y="1065300"/>
            <a:ext cx="2738249" cy="1201475"/>
          </a:xfrm>
          <a:prstGeom prst="rect">
            <a:avLst/>
          </a:prstGeom>
          <a:noFill/>
          <a:ln>
            <a:noFill/>
          </a:ln>
        </p:spPr>
      </p:pic>
      <p:pic>
        <p:nvPicPr>
          <p:cNvPr id="367" name="Google Shape;367;p49" descr="Mixture of Experts: How an Ensemble of AI Models Act as One | Deepgram"/>
          <p:cNvPicPr preferRelativeResize="0"/>
          <p:nvPr/>
        </p:nvPicPr>
        <p:blipFill>
          <a:blip r:embed="rId4">
            <a:alphaModFix/>
          </a:blip>
          <a:stretch>
            <a:fillRect/>
          </a:stretch>
        </p:blipFill>
        <p:spPr>
          <a:xfrm>
            <a:off x="6572375" y="2586675"/>
            <a:ext cx="2078225" cy="1866275"/>
          </a:xfrm>
          <a:prstGeom prst="rect">
            <a:avLst/>
          </a:prstGeom>
          <a:noFill/>
          <a:ln>
            <a:noFill/>
          </a:ln>
        </p:spPr>
      </p:pic>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50"/>
          <p:cNvSpPr txBox="1">
            <a:spLocks noGrp="1"/>
          </p:cNvSpPr>
          <p:nvPr>
            <p:ph type="title"/>
          </p:nvPr>
        </p:nvSpPr>
        <p:spPr>
          <a:xfrm>
            <a:off x="1204913" y="258238"/>
            <a:ext cx="6483000" cy="360300"/>
          </a:xfrm>
          <a:prstGeom prst="rect">
            <a:avLst/>
          </a:prstGeom>
        </p:spPr>
        <p:txBody>
          <a:bodyPr spcFirstLastPara="1" wrap="square" lIns="68575" tIns="34275" rIns="68575" bIns="34275" anchor="ctr" anchorCtr="0">
            <a:spAutoFit/>
          </a:bodyPr>
          <a:lstStyle/>
          <a:p>
            <a:pPr marL="0" lvl="0" indent="0" algn="l" rtl="0">
              <a:spcBef>
                <a:spcPts val="0"/>
              </a:spcBef>
              <a:spcAft>
                <a:spcPts val="0"/>
              </a:spcAft>
              <a:buNone/>
            </a:pPr>
            <a:r>
              <a:rPr lang="fr"/>
              <a:t>EM Algorithm - Pros And Cons</a:t>
            </a:r>
            <a:endParaRPr/>
          </a:p>
        </p:txBody>
      </p:sp>
      <p:graphicFrame>
        <p:nvGraphicFramePr>
          <p:cNvPr id="373" name="Google Shape;373;p50"/>
          <p:cNvGraphicFramePr/>
          <p:nvPr/>
        </p:nvGraphicFramePr>
        <p:xfrm>
          <a:off x="952500" y="1581250"/>
          <a:ext cx="7239000" cy="1981050"/>
        </p:xfrm>
        <a:graphic>
          <a:graphicData uri="http://schemas.openxmlformats.org/drawingml/2006/table">
            <a:tbl>
              <a:tblPr>
                <a:noFill/>
                <a:tableStyleId>{AFC94B7D-6D7E-4C86-9630-A69211CD34F1}</a:tableStyleId>
              </a:tblPr>
              <a:tblGrid>
                <a:gridCol w="36195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tblGrid>
              <a:tr h="381000">
                <a:tc>
                  <a:txBody>
                    <a:bodyPr/>
                    <a:lstStyle/>
                    <a:p>
                      <a:pPr marL="0" lvl="0" indent="0" algn="ctr" rtl="0">
                        <a:spcBef>
                          <a:spcPts val="0"/>
                        </a:spcBef>
                        <a:spcAft>
                          <a:spcPts val="0"/>
                        </a:spcAft>
                        <a:buNone/>
                      </a:pPr>
                      <a:r>
                        <a:rPr lang="fr"/>
                        <a:t>Pros</a:t>
                      </a:r>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fr"/>
                        <a:t>Cons</a:t>
                      </a:r>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fr"/>
                        <a:t>Missing Datas Handling</a:t>
                      </a: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tcPr>
                </a:tc>
                <a:tc>
                  <a:txBody>
                    <a:bodyPr/>
                    <a:lstStyle/>
                    <a:p>
                      <a:pPr marL="0" lvl="0" indent="0" algn="l" rtl="0">
                        <a:spcBef>
                          <a:spcPts val="0"/>
                        </a:spcBef>
                        <a:spcAft>
                          <a:spcPts val="0"/>
                        </a:spcAft>
                        <a:buNone/>
                      </a:pPr>
                      <a:r>
                        <a:rPr lang="fr"/>
                        <a:t>Stagnation in Local Maxima</a:t>
                      </a: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fr"/>
                        <a:t>Maximum Likelihood Convergence</a:t>
                      </a: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tcPr>
                </a:tc>
                <a:tc>
                  <a:txBody>
                    <a:bodyPr/>
                    <a:lstStyle/>
                    <a:p>
                      <a:pPr marL="0" lvl="0" indent="0" algn="l" rtl="0">
                        <a:spcBef>
                          <a:spcPts val="0"/>
                        </a:spcBef>
                        <a:spcAft>
                          <a:spcPts val="0"/>
                        </a:spcAft>
                        <a:buNone/>
                      </a:pPr>
                      <a:r>
                        <a:rPr lang="fr"/>
                        <a:t>Slow Convergence</a:t>
                      </a: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fr"/>
                        <a:t>Extended Spectrum of Use</a:t>
                      </a: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tcPr>
                </a:tc>
                <a:tc>
                  <a:txBody>
                    <a:bodyPr/>
                    <a:lstStyle/>
                    <a:p>
                      <a:pPr marL="0" lvl="0" indent="0" algn="l" rtl="0">
                        <a:spcBef>
                          <a:spcPts val="0"/>
                        </a:spcBef>
                        <a:spcAft>
                          <a:spcPts val="0"/>
                        </a:spcAft>
                        <a:buNone/>
                      </a:pPr>
                      <a:r>
                        <a:rPr lang="fr"/>
                        <a:t>High Sensibility to Initial Conditions</a:t>
                      </a: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fr"/>
                        <a:t>Easy Implementation</a:t>
                      </a: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fr"/>
                        <a:t>Model Choice Related Problems</a:t>
                      </a: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51"/>
          <p:cNvSpPr txBox="1">
            <a:spLocks noGrp="1"/>
          </p:cNvSpPr>
          <p:nvPr>
            <p:ph type="title"/>
          </p:nvPr>
        </p:nvSpPr>
        <p:spPr>
          <a:xfrm>
            <a:off x="1204913" y="258238"/>
            <a:ext cx="6483000" cy="360300"/>
          </a:xfrm>
          <a:prstGeom prst="rect">
            <a:avLst/>
          </a:prstGeom>
        </p:spPr>
        <p:txBody>
          <a:bodyPr spcFirstLastPara="1" wrap="square" lIns="68575" tIns="34275" rIns="68575" bIns="34275" anchor="ctr" anchorCtr="0">
            <a:spAutoFit/>
          </a:bodyPr>
          <a:lstStyle/>
          <a:p>
            <a:pPr marL="0" lvl="0" indent="0" algn="l" rtl="0">
              <a:spcBef>
                <a:spcPts val="0"/>
              </a:spcBef>
              <a:spcAft>
                <a:spcPts val="0"/>
              </a:spcAft>
              <a:buNone/>
            </a:pPr>
            <a:r>
              <a:rPr lang="fr"/>
              <a:t>EM Algorithm - Variations</a:t>
            </a:r>
            <a:endParaRPr/>
          </a:p>
        </p:txBody>
      </p:sp>
      <p:sp>
        <p:nvSpPr>
          <p:cNvPr id="379" name="Google Shape;379;p51"/>
          <p:cNvSpPr txBox="1"/>
          <p:nvPr/>
        </p:nvSpPr>
        <p:spPr>
          <a:xfrm>
            <a:off x="870875" y="1655850"/>
            <a:ext cx="7151100" cy="1831800"/>
          </a:xfrm>
          <a:prstGeom prst="rect">
            <a:avLst/>
          </a:prstGeom>
          <a:noFill/>
          <a:ln>
            <a:noFill/>
          </a:ln>
        </p:spPr>
        <p:txBody>
          <a:bodyPr spcFirstLastPara="1" wrap="square" lIns="91425" tIns="91425" rIns="91425" bIns="91425" anchor="t" anchorCtr="0">
            <a:noAutofit/>
          </a:bodyPr>
          <a:lstStyle/>
          <a:p>
            <a:pPr marL="457200" lvl="0" indent="-361950" algn="l" rtl="0">
              <a:spcBef>
                <a:spcPts val="0"/>
              </a:spcBef>
              <a:spcAft>
                <a:spcPts val="0"/>
              </a:spcAft>
              <a:buClr>
                <a:schemeClr val="dk1"/>
              </a:buClr>
              <a:buSzPts val="2100"/>
              <a:buFont typeface="Microsoft Yahei"/>
              <a:buAutoNum type="arabicPeriod"/>
            </a:pPr>
            <a:r>
              <a:rPr lang="fr" sz="2100" b="1">
                <a:solidFill>
                  <a:schemeClr val="dk1"/>
                </a:solidFill>
                <a:latin typeface="Microsoft Yahei"/>
                <a:ea typeface="Microsoft Yahei"/>
                <a:cs typeface="Microsoft Yahei"/>
                <a:sym typeface="Microsoft Yahei"/>
              </a:rPr>
              <a:t>Stochastic EM Algorithm</a:t>
            </a:r>
            <a:endParaRPr sz="2100" b="1">
              <a:solidFill>
                <a:schemeClr val="dk1"/>
              </a:solidFill>
              <a:latin typeface="Microsoft Yahei"/>
              <a:ea typeface="Microsoft Yahei"/>
              <a:cs typeface="Microsoft Yahei"/>
              <a:sym typeface="Microsoft Yahei"/>
            </a:endParaRPr>
          </a:p>
          <a:p>
            <a:pPr marL="457200" lvl="0" indent="0" algn="l" rtl="0">
              <a:spcBef>
                <a:spcPts val="0"/>
              </a:spcBef>
              <a:spcAft>
                <a:spcPts val="0"/>
              </a:spcAft>
              <a:buNone/>
            </a:pPr>
            <a:endParaRPr sz="2100" b="1">
              <a:solidFill>
                <a:schemeClr val="dk1"/>
              </a:solidFill>
              <a:latin typeface="Microsoft Yahei"/>
              <a:ea typeface="Microsoft Yahei"/>
              <a:cs typeface="Microsoft Yahei"/>
              <a:sym typeface="Microsoft Yahei"/>
            </a:endParaRPr>
          </a:p>
          <a:p>
            <a:pPr marL="457200" lvl="0" indent="-361950" algn="l" rtl="0">
              <a:spcBef>
                <a:spcPts val="0"/>
              </a:spcBef>
              <a:spcAft>
                <a:spcPts val="0"/>
              </a:spcAft>
              <a:buClr>
                <a:schemeClr val="dk1"/>
              </a:buClr>
              <a:buSzPts val="2100"/>
              <a:buFont typeface="Microsoft Yahei"/>
              <a:buAutoNum type="arabicPeriod"/>
            </a:pPr>
            <a:r>
              <a:rPr lang="fr" sz="2100" b="1">
                <a:solidFill>
                  <a:schemeClr val="dk1"/>
                </a:solidFill>
                <a:latin typeface="Microsoft Yahei"/>
                <a:ea typeface="Microsoft Yahei"/>
                <a:cs typeface="Microsoft Yahei"/>
                <a:sym typeface="Microsoft Yahei"/>
              </a:rPr>
              <a:t>Generalized EM Algorithm</a:t>
            </a:r>
            <a:endParaRPr sz="2100" b="1">
              <a:solidFill>
                <a:schemeClr val="dk1"/>
              </a:solidFill>
              <a:latin typeface="Microsoft Yahei"/>
              <a:ea typeface="Microsoft Yahei"/>
              <a:cs typeface="Microsoft Yahei"/>
              <a:sym typeface="Microsoft Yahei"/>
            </a:endParaRPr>
          </a:p>
          <a:p>
            <a:pPr marL="0" lvl="0" indent="0" algn="l" rtl="0">
              <a:spcBef>
                <a:spcPts val="0"/>
              </a:spcBef>
              <a:spcAft>
                <a:spcPts val="0"/>
              </a:spcAft>
              <a:buNone/>
            </a:pPr>
            <a:endParaRPr sz="2100" b="1">
              <a:solidFill>
                <a:schemeClr val="dk1"/>
              </a:solidFill>
              <a:latin typeface="Microsoft Yahei"/>
              <a:ea typeface="Microsoft Yahei"/>
              <a:cs typeface="Microsoft Yahei"/>
              <a:sym typeface="Microsoft Yahei"/>
            </a:endParaRPr>
          </a:p>
          <a:p>
            <a:pPr marL="457200" lvl="0" indent="-361950" algn="l" rtl="0">
              <a:spcBef>
                <a:spcPts val="0"/>
              </a:spcBef>
              <a:spcAft>
                <a:spcPts val="0"/>
              </a:spcAft>
              <a:buClr>
                <a:schemeClr val="dk1"/>
              </a:buClr>
              <a:buSzPts val="2100"/>
              <a:buFont typeface="Microsoft Yahei"/>
              <a:buAutoNum type="arabicPeriod"/>
            </a:pPr>
            <a:r>
              <a:rPr lang="fr" sz="2100" b="1">
                <a:solidFill>
                  <a:schemeClr val="dk1"/>
                </a:solidFill>
                <a:latin typeface="Microsoft Yahei"/>
                <a:ea typeface="Microsoft Yahei"/>
                <a:cs typeface="Microsoft Yahei"/>
                <a:sym typeface="Microsoft Yahei"/>
              </a:rPr>
              <a:t>Classification EM Algorithm</a:t>
            </a:r>
            <a:endParaRPr sz="2100" b="1">
              <a:solidFill>
                <a:schemeClr val="dk1"/>
              </a:solidFill>
              <a:latin typeface="Microsoft Yahei"/>
              <a:ea typeface="Microsoft Yahei"/>
              <a:cs typeface="Microsoft Yahei"/>
              <a:sym typeface="Microsoft Yahe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52"/>
          <p:cNvSpPr txBox="1">
            <a:spLocks noGrp="1"/>
          </p:cNvSpPr>
          <p:nvPr>
            <p:ph type="title"/>
          </p:nvPr>
        </p:nvSpPr>
        <p:spPr>
          <a:xfrm>
            <a:off x="1204913" y="258238"/>
            <a:ext cx="6483000" cy="360300"/>
          </a:xfrm>
          <a:prstGeom prst="rect">
            <a:avLst/>
          </a:prstGeom>
        </p:spPr>
        <p:txBody>
          <a:bodyPr spcFirstLastPara="1" wrap="square" lIns="68575" tIns="34275" rIns="68575" bIns="34275" anchor="ctr" anchorCtr="0">
            <a:spAutoFit/>
          </a:bodyPr>
          <a:lstStyle/>
          <a:p>
            <a:pPr marL="0" lvl="0" indent="0" algn="l" rtl="0">
              <a:spcBef>
                <a:spcPts val="0"/>
              </a:spcBef>
              <a:spcAft>
                <a:spcPts val="0"/>
              </a:spcAft>
              <a:buNone/>
            </a:pPr>
            <a:r>
              <a:rPr lang="fr"/>
              <a:t>EM Algorithm - Stochastic</a:t>
            </a:r>
            <a:endParaRPr/>
          </a:p>
        </p:txBody>
      </p:sp>
      <p:sp>
        <p:nvSpPr>
          <p:cNvPr id="385" name="Google Shape;385;p52"/>
          <p:cNvSpPr txBox="1"/>
          <p:nvPr/>
        </p:nvSpPr>
        <p:spPr>
          <a:xfrm>
            <a:off x="923150" y="1277075"/>
            <a:ext cx="7244400" cy="2856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sz="2100">
                <a:solidFill>
                  <a:schemeClr val="dk1"/>
                </a:solidFill>
              </a:rPr>
              <a:t>Some clarifications :</a:t>
            </a:r>
            <a:endParaRPr sz="1700">
              <a:solidFill>
                <a:schemeClr val="dk1"/>
              </a:solidFill>
            </a:endParaRPr>
          </a:p>
          <a:p>
            <a:pPr marL="0" lvl="0" indent="0" algn="l" rtl="0">
              <a:spcBef>
                <a:spcPts val="0"/>
              </a:spcBef>
              <a:spcAft>
                <a:spcPts val="0"/>
              </a:spcAft>
              <a:buNone/>
            </a:pPr>
            <a:endParaRPr sz="1700">
              <a:solidFill>
                <a:schemeClr val="dk1"/>
              </a:solidFill>
            </a:endParaRPr>
          </a:p>
          <a:p>
            <a:pPr marL="0" lvl="0" indent="0" algn="l" rtl="0">
              <a:spcBef>
                <a:spcPts val="0"/>
              </a:spcBef>
              <a:spcAft>
                <a:spcPts val="0"/>
              </a:spcAft>
              <a:buNone/>
            </a:pPr>
            <a:r>
              <a:rPr lang="fr" sz="1700">
                <a:solidFill>
                  <a:schemeClr val="dk1"/>
                </a:solidFill>
              </a:rPr>
              <a:t>Use of </a:t>
            </a:r>
            <a:r>
              <a:rPr lang="fr" sz="1700">
                <a:solidFill>
                  <a:srgbClr val="FF0000"/>
                </a:solidFill>
              </a:rPr>
              <a:t>stochastic approximation</a:t>
            </a:r>
            <a:r>
              <a:rPr lang="fr" sz="1700">
                <a:solidFill>
                  <a:schemeClr val="dk1"/>
                </a:solidFill>
              </a:rPr>
              <a:t> of the value fully calculated in the E-step, then distribution is set </a:t>
            </a:r>
            <a:r>
              <a:rPr lang="fr" sz="1700">
                <a:solidFill>
                  <a:schemeClr val="accent5"/>
                </a:solidFill>
              </a:rPr>
              <a:t>randomly</a:t>
            </a:r>
            <a:r>
              <a:rPr lang="fr" sz="1700">
                <a:solidFill>
                  <a:schemeClr val="dk1"/>
                </a:solidFill>
              </a:rPr>
              <a:t> giving a multinomial distribution.</a:t>
            </a:r>
            <a:endParaRPr sz="1700">
              <a:solidFill>
                <a:schemeClr val="dk1"/>
              </a:solidFill>
            </a:endParaRPr>
          </a:p>
          <a:p>
            <a:pPr marL="0" lvl="0" indent="0" algn="l" rtl="0">
              <a:spcBef>
                <a:spcPts val="0"/>
              </a:spcBef>
              <a:spcAft>
                <a:spcPts val="0"/>
              </a:spcAft>
              <a:buNone/>
            </a:pPr>
            <a:endParaRPr sz="2100">
              <a:solidFill>
                <a:schemeClr val="dk1"/>
              </a:solidFill>
            </a:endParaRPr>
          </a:p>
          <a:p>
            <a:pPr marL="0" lvl="0" indent="0" algn="l" rtl="0">
              <a:spcBef>
                <a:spcPts val="0"/>
              </a:spcBef>
              <a:spcAft>
                <a:spcPts val="0"/>
              </a:spcAft>
              <a:buNone/>
            </a:pPr>
            <a:r>
              <a:rPr lang="fr" sz="2100">
                <a:solidFill>
                  <a:schemeClr val="dk1"/>
                </a:solidFill>
              </a:rPr>
              <a:t>What it means :</a:t>
            </a:r>
            <a:endParaRPr sz="1700">
              <a:solidFill>
                <a:schemeClr val="dk1"/>
              </a:solidFill>
            </a:endParaRPr>
          </a:p>
          <a:p>
            <a:pPr marL="0" lvl="0" indent="0" algn="l" rtl="0">
              <a:spcBef>
                <a:spcPts val="0"/>
              </a:spcBef>
              <a:spcAft>
                <a:spcPts val="0"/>
              </a:spcAft>
              <a:buNone/>
            </a:pPr>
            <a:endParaRPr sz="1700">
              <a:solidFill>
                <a:schemeClr val="dk1"/>
              </a:solidFill>
            </a:endParaRPr>
          </a:p>
          <a:p>
            <a:pPr marL="0" lvl="0" indent="0" algn="l" rtl="0">
              <a:spcBef>
                <a:spcPts val="0"/>
              </a:spcBef>
              <a:spcAft>
                <a:spcPts val="0"/>
              </a:spcAft>
              <a:buNone/>
            </a:pPr>
            <a:r>
              <a:rPr lang="fr" sz="1700">
                <a:solidFill>
                  <a:schemeClr val="dk1"/>
                </a:solidFill>
              </a:rPr>
              <a:t>Computational costs greatly reduced, works well with especially large datasets.</a:t>
            </a:r>
            <a:endParaRPr sz="1700">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53"/>
          <p:cNvSpPr txBox="1">
            <a:spLocks noGrp="1"/>
          </p:cNvSpPr>
          <p:nvPr>
            <p:ph type="title"/>
          </p:nvPr>
        </p:nvSpPr>
        <p:spPr>
          <a:xfrm>
            <a:off x="1204913" y="258238"/>
            <a:ext cx="6483000" cy="360300"/>
          </a:xfrm>
          <a:prstGeom prst="rect">
            <a:avLst/>
          </a:prstGeom>
        </p:spPr>
        <p:txBody>
          <a:bodyPr spcFirstLastPara="1" wrap="square" lIns="68575" tIns="34275" rIns="68575" bIns="34275" anchor="ctr" anchorCtr="0">
            <a:spAutoFit/>
          </a:bodyPr>
          <a:lstStyle/>
          <a:p>
            <a:pPr marL="0" lvl="0" indent="0" algn="l" rtl="0">
              <a:spcBef>
                <a:spcPts val="0"/>
              </a:spcBef>
              <a:spcAft>
                <a:spcPts val="0"/>
              </a:spcAft>
              <a:buNone/>
            </a:pPr>
            <a:r>
              <a:rPr lang="fr"/>
              <a:t>EM Algortihm - Generalized</a:t>
            </a:r>
            <a:endParaRPr/>
          </a:p>
        </p:txBody>
      </p:sp>
      <p:sp>
        <p:nvSpPr>
          <p:cNvPr id="391" name="Google Shape;391;p53"/>
          <p:cNvSpPr txBox="1"/>
          <p:nvPr/>
        </p:nvSpPr>
        <p:spPr>
          <a:xfrm>
            <a:off x="612125" y="737850"/>
            <a:ext cx="7917000" cy="366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fr" sz="2100">
                <a:solidFill>
                  <a:schemeClr val="dk1"/>
                </a:solidFill>
              </a:rPr>
              <a:t>Some clarifications :</a:t>
            </a:r>
            <a:endParaRPr sz="2100">
              <a:solidFill>
                <a:schemeClr val="dk1"/>
              </a:solidFill>
            </a:endParaRPr>
          </a:p>
          <a:p>
            <a:pPr marL="0" lvl="0" indent="0" algn="l" rtl="0">
              <a:spcBef>
                <a:spcPts val="0"/>
              </a:spcBef>
              <a:spcAft>
                <a:spcPts val="0"/>
              </a:spcAft>
              <a:buClr>
                <a:schemeClr val="dk1"/>
              </a:buClr>
              <a:buSzPts val="1100"/>
              <a:buFont typeface="Arial"/>
              <a:buNone/>
            </a:pPr>
            <a:endParaRPr sz="1700">
              <a:solidFill>
                <a:schemeClr val="dk1"/>
              </a:solidFill>
            </a:endParaRPr>
          </a:p>
          <a:p>
            <a:pPr marL="0" lvl="0" indent="0" algn="l" rtl="0">
              <a:spcBef>
                <a:spcPts val="0"/>
              </a:spcBef>
              <a:spcAft>
                <a:spcPts val="0"/>
              </a:spcAft>
              <a:buClr>
                <a:schemeClr val="dk1"/>
              </a:buClr>
              <a:buSzPts val="1100"/>
              <a:buFont typeface="Arial"/>
              <a:buNone/>
            </a:pPr>
            <a:r>
              <a:rPr lang="fr" sz="1700">
                <a:solidFill>
                  <a:schemeClr val="dk1"/>
                </a:solidFill>
              </a:rPr>
              <a:t>M-Step :</a:t>
            </a:r>
            <a:endParaRPr sz="1700">
              <a:solidFill>
                <a:schemeClr val="dk1"/>
              </a:solidFill>
            </a:endParaRPr>
          </a:p>
          <a:p>
            <a:pPr marL="0" lvl="0" indent="0" algn="l" rtl="0">
              <a:spcBef>
                <a:spcPts val="0"/>
              </a:spcBef>
              <a:spcAft>
                <a:spcPts val="0"/>
              </a:spcAft>
              <a:buClr>
                <a:schemeClr val="dk1"/>
              </a:buClr>
              <a:buSzPts val="1100"/>
              <a:buFont typeface="Arial"/>
              <a:buNone/>
            </a:pPr>
            <a:r>
              <a:rPr lang="fr" sz="1700">
                <a:solidFill>
                  <a:schemeClr val="dk1"/>
                </a:solidFill>
              </a:rPr>
              <a:t>Random θ initialization</a:t>
            </a:r>
            <a:endParaRPr sz="1700">
              <a:solidFill>
                <a:schemeClr val="dk1"/>
              </a:solidFill>
            </a:endParaRPr>
          </a:p>
          <a:p>
            <a:pPr marL="0" lvl="0" indent="0" algn="l" rtl="0">
              <a:spcBef>
                <a:spcPts val="0"/>
              </a:spcBef>
              <a:spcAft>
                <a:spcPts val="0"/>
              </a:spcAft>
              <a:buNone/>
            </a:pPr>
            <a:r>
              <a:rPr lang="fr" sz="1700">
                <a:solidFill>
                  <a:schemeClr val="dk1"/>
                </a:solidFill>
              </a:rPr>
              <a:t>t = 0</a:t>
            </a:r>
            <a:endParaRPr sz="1700">
              <a:solidFill>
                <a:schemeClr val="dk1"/>
              </a:solidFill>
            </a:endParaRPr>
          </a:p>
          <a:p>
            <a:pPr marL="0" lvl="0" indent="0" algn="l" rtl="0">
              <a:spcBef>
                <a:spcPts val="0"/>
              </a:spcBef>
              <a:spcAft>
                <a:spcPts val="0"/>
              </a:spcAft>
              <a:buNone/>
            </a:pPr>
            <a:r>
              <a:rPr lang="fr" sz="1700">
                <a:solidFill>
                  <a:schemeClr val="dk1"/>
                </a:solidFill>
              </a:rPr>
              <a:t>While the algorithm has not converged, choose θ</a:t>
            </a:r>
            <a:r>
              <a:rPr lang="fr" sz="1700" baseline="30000">
                <a:solidFill>
                  <a:schemeClr val="dk1"/>
                </a:solidFill>
              </a:rPr>
              <a:t>(t+1)</a:t>
            </a:r>
            <a:r>
              <a:rPr lang="fr" sz="1700">
                <a:solidFill>
                  <a:schemeClr val="dk1"/>
                </a:solidFill>
              </a:rPr>
              <a:t> as Q(θ</a:t>
            </a:r>
            <a:r>
              <a:rPr lang="fr" sz="1700" baseline="30000">
                <a:solidFill>
                  <a:schemeClr val="dk1"/>
                </a:solidFill>
              </a:rPr>
              <a:t>(t+1)</a:t>
            </a:r>
            <a:r>
              <a:rPr lang="fr" sz="1700">
                <a:solidFill>
                  <a:schemeClr val="dk1"/>
                </a:solidFill>
              </a:rPr>
              <a:t>, θ</a:t>
            </a:r>
            <a:r>
              <a:rPr lang="fr" sz="1700" baseline="30000">
                <a:solidFill>
                  <a:schemeClr val="dk1"/>
                </a:solidFill>
              </a:rPr>
              <a:t>(t)</a:t>
            </a:r>
            <a:r>
              <a:rPr lang="fr" sz="1700">
                <a:solidFill>
                  <a:schemeClr val="dk1"/>
                </a:solidFill>
              </a:rPr>
              <a:t>) &gt; Q(θ</a:t>
            </a:r>
            <a:r>
              <a:rPr lang="fr" sz="1700" baseline="30000">
                <a:solidFill>
                  <a:schemeClr val="dk1"/>
                </a:solidFill>
              </a:rPr>
              <a:t>(t)</a:t>
            </a:r>
            <a:r>
              <a:rPr lang="fr" sz="1700">
                <a:solidFill>
                  <a:schemeClr val="dk1"/>
                </a:solidFill>
              </a:rPr>
              <a:t>, θ</a:t>
            </a:r>
            <a:r>
              <a:rPr lang="fr" sz="1700" baseline="30000">
                <a:solidFill>
                  <a:schemeClr val="dk1"/>
                </a:solidFill>
              </a:rPr>
              <a:t>(t)</a:t>
            </a:r>
            <a:r>
              <a:rPr lang="fr" sz="1700">
                <a:solidFill>
                  <a:schemeClr val="dk1"/>
                </a:solidFill>
              </a:rPr>
              <a:t>)</a:t>
            </a:r>
            <a:endParaRPr sz="1700">
              <a:solidFill>
                <a:schemeClr val="dk1"/>
              </a:solidFill>
            </a:endParaRPr>
          </a:p>
          <a:p>
            <a:pPr marL="0" lvl="0" indent="0" algn="l" rtl="0">
              <a:spcBef>
                <a:spcPts val="0"/>
              </a:spcBef>
              <a:spcAft>
                <a:spcPts val="0"/>
              </a:spcAft>
              <a:buNone/>
            </a:pPr>
            <a:r>
              <a:rPr lang="fr" sz="1700">
                <a:solidFill>
                  <a:schemeClr val="dk1"/>
                </a:solidFill>
              </a:rPr>
              <a:t>t = t + 1</a:t>
            </a:r>
            <a:endParaRPr sz="1700">
              <a:solidFill>
                <a:schemeClr val="dk1"/>
              </a:solidFill>
            </a:endParaRPr>
          </a:p>
          <a:p>
            <a:pPr marL="0" lvl="0" indent="0" algn="l" rtl="0">
              <a:spcBef>
                <a:spcPts val="0"/>
              </a:spcBef>
              <a:spcAft>
                <a:spcPts val="0"/>
              </a:spcAft>
              <a:buNone/>
            </a:pPr>
            <a:endParaRPr sz="2100">
              <a:solidFill>
                <a:schemeClr val="dk1"/>
              </a:solidFill>
            </a:endParaRPr>
          </a:p>
          <a:p>
            <a:pPr marL="0" lvl="0" indent="0" algn="l" rtl="0">
              <a:spcBef>
                <a:spcPts val="0"/>
              </a:spcBef>
              <a:spcAft>
                <a:spcPts val="0"/>
              </a:spcAft>
              <a:buNone/>
            </a:pPr>
            <a:r>
              <a:rPr lang="fr" sz="2100">
                <a:solidFill>
                  <a:schemeClr val="dk1"/>
                </a:solidFill>
              </a:rPr>
              <a:t>What it means :</a:t>
            </a:r>
            <a:endParaRPr sz="2100">
              <a:solidFill>
                <a:schemeClr val="dk1"/>
              </a:solidFill>
            </a:endParaRPr>
          </a:p>
          <a:p>
            <a:pPr marL="0" lvl="0" indent="0" algn="l" rtl="0">
              <a:spcBef>
                <a:spcPts val="0"/>
              </a:spcBef>
              <a:spcAft>
                <a:spcPts val="0"/>
              </a:spcAft>
              <a:buNone/>
            </a:pPr>
            <a:endParaRPr sz="1700">
              <a:solidFill>
                <a:schemeClr val="dk1"/>
              </a:solidFill>
            </a:endParaRPr>
          </a:p>
          <a:p>
            <a:pPr marL="0" lvl="0" indent="0" algn="l" rtl="0">
              <a:spcBef>
                <a:spcPts val="0"/>
              </a:spcBef>
              <a:spcAft>
                <a:spcPts val="0"/>
              </a:spcAft>
              <a:buNone/>
            </a:pPr>
            <a:r>
              <a:rPr lang="fr" sz="1700">
                <a:solidFill>
                  <a:schemeClr val="dk1"/>
                </a:solidFill>
              </a:rPr>
              <a:t>Q maximisation is not needed, only improved each time the algorithm did not converged</a:t>
            </a:r>
            <a:endParaRPr sz="1700">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54"/>
          <p:cNvSpPr txBox="1">
            <a:spLocks noGrp="1"/>
          </p:cNvSpPr>
          <p:nvPr>
            <p:ph type="title"/>
          </p:nvPr>
        </p:nvSpPr>
        <p:spPr>
          <a:xfrm>
            <a:off x="1204913" y="258238"/>
            <a:ext cx="6483000" cy="360300"/>
          </a:xfrm>
          <a:prstGeom prst="rect">
            <a:avLst/>
          </a:prstGeom>
        </p:spPr>
        <p:txBody>
          <a:bodyPr spcFirstLastPara="1" wrap="square" lIns="68575" tIns="34275" rIns="68575" bIns="34275" anchor="ctr" anchorCtr="0">
            <a:spAutoFit/>
          </a:bodyPr>
          <a:lstStyle/>
          <a:p>
            <a:pPr marL="0" lvl="0" indent="0" algn="l" rtl="0">
              <a:spcBef>
                <a:spcPts val="0"/>
              </a:spcBef>
              <a:spcAft>
                <a:spcPts val="0"/>
              </a:spcAft>
              <a:buNone/>
            </a:pPr>
            <a:r>
              <a:rPr lang="fr"/>
              <a:t>EM Algorithm - Classification</a:t>
            </a:r>
            <a:endParaRPr/>
          </a:p>
        </p:txBody>
      </p:sp>
      <p:sp>
        <p:nvSpPr>
          <p:cNvPr id="397" name="Google Shape;397;p54"/>
          <p:cNvSpPr txBox="1"/>
          <p:nvPr/>
        </p:nvSpPr>
        <p:spPr>
          <a:xfrm>
            <a:off x="550575" y="1028700"/>
            <a:ext cx="8310300" cy="311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sz="2100">
                <a:solidFill>
                  <a:schemeClr val="dk1"/>
                </a:solidFill>
              </a:rPr>
              <a:t>Some clarifications :</a:t>
            </a:r>
            <a:endParaRPr sz="1700">
              <a:solidFill>
                <a:schemeClr val="dk1"/>
              </a:solidFill>
            </a:endParaRPr>
          </a:p>
          <a:p>
            <a:pPr marL="0" lvl="0" indent="0" algn="l" rtl="0">
              <a:spcBef>
                <a:spcPts val="0"/>
              </a:spcBef>
              <a:spcAft>
                <a:spcPts val="0"/>
              </a:spcAft>
              <a:buNone/>
            </a:pPr>
            <a:endParaRPr sz="1700">
              <a:solidFill>
                <a:schemeClr val="dk1"/>
              </a:solidFill>
            </a:endParaRPr>
          </a:p>
          <a:p>
            <a:pPr marL="0" lvl="0" indent="0" algn="l" rtl="0">
              <a:spcBef>
                <a:spcPts val="0"/>
              </a:spcBef>
              <a:spcAft>
                <a:spcPts val="0"/>
              </a:spcAft>
              <a:buNone/>
            </a:pPr>
            <a:r>
              <a:rPr lang="fr" sz="1700">
                <a:solidFill>
                  <a:schemeClr val="dk1"/>
                </a:solidFill>
              </a:rPr>
              <a:t>A new step is placed between the E and M steps. After computing probabilities, CEM makes a hard classification decision by assigning each data point to the class with the highest probability.</a:t>
            </a:r>
            <a:endParaRPr sz="1700">
              <a:solidFill>
                <a:schemeClr val="dk1"/>
              </a:solidFill>
            </a:endParaRPr>
          </a:p>
          <a:p>
            <a:pPr marL="0" lvl="0" indent="0" algn="l" rtl="0">
              <a:spcBef>
                <a:spcPts val="0"/>
              </a:spcBef>
              <a:spcAft>
                <a:spcPts val="0"/>
              </a:spcAft>
              <a:buNone/>
            </a:pPr>
            <a:endParaRPr sz="1700">
              <a:solidFill>
                <a:schemeClr val="dk1"/>
              </a:solidFill>
            </a:endParaRPr>
          </a:p>
          <a:p>
            <a:pPr marL="0" lvl="0" indent="0" algn="l" rtl="0">
              <a:spcBef>
                <a:spcPts val="0"/>
              </a:spcBef>
              <a:spcAft>
                <a:spcPts val="0"/>
              </a:spcAft>
              <a:buNone/>
            </a:pPr>
            <a:r>
              <a:rPr lang="fr" sz="2100">
                <a:solidFill>
                  <a:schemeClr val="dk1"/>
                </a:solidFill>
              </a:rPr>
              <a:t>What it means :</a:t>
            </a:r>
            <a:endParaRPr sz="1700">
              <a:solidFill>
                <a:schemeClr val="dk1"/>
              </a:solidFill>
            </a:endParaRPr>
          </a:p>
          <a:p>
            <a:pPr marL="0" lvl="0" indent="0" algn="l" rtl="0">
              <a:spcBef>
                <a:spcPts val="0"/>
              </a:spcBef>
              <a:spcAft>
                <a:spcPts val="0"/>
              </a:spcAft>
              <a:buNone/>
            </a:pPr>
            <a:endParaRPr sz="1700">
              <a:solidFill>
                <a:schemeClr val="dk1"/>
              </a:solidFill>
            </a:endParaRPr>
          </a:p>
          <a:p>
            <a:pPr marL="0" lvl="0" indent="0" algn="l" rtl="0">
              <a:spcBef>
                <a:spcPts val="0"/>
              </a:spcBef>
              <a:spcAft>
                <a:spcPts val="0"/>
              </a:spcAft>
              <a:buNone/>
            </a:pPr>
            <a:r>
              <a:rPr lang="fr" sz="1700">
                <a:solidFill>
                  <a:schemeClr val="dk1"/>
                </a:solidFill>
              </a:rPr>
              <a:t>Unlike classic EM, we optimize the likelihood given by : </a:t>
            </a:r>
            <a:endParaRPr sz="1700">
              <a:solidFill>
                <a:schemeClr val="dk1"/>
              </a:solidFill>
            </a:endParaRPr>
          </a:p>
        </p:txBody>
      </p:sp>
      <p:pic>
        <p:nvPicPr>
          <p:cNvPr id="398" name="Google Shape;398;p54"/>
          <p:cNvPicPr preferRelativeResize="0"/>
          <p:nvPr/>
        </p:nvPicPr>
        <p:blipFill>
          <a:blip r:embed="rId3">
            <a:alphaModFix/>
          </a:blip>
          <a:stretch>
            <a:fillRect/>
          </a:stretch>
        </p:blipFill>
        <p:spPr>
          <a:xfrm>
            <a:off x="2674250" y="3613250"/>
            <a:ext cx="3544360" cy="6948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55"/>
          <p:cNvSpPr txBox="1">
            <a:spLocks noGrp="1"/>
          </p:cNvSpPr>
          <p:nvPr>
            <p:ph type="title"/>
          </p:nvPr>
        </p:nvSpPr>
        <p:spPr>
          <a:xfrm>
            <a:off x="1204913" y="258238"/>
            <a:ext cx="6483000" cy="360300"/>
          </a:xfrm>
          <a:prstGeom prst="rect">
            <a:avLst/>
          </a:prstGeom>
        </p:spPr>
        <p:txBody>
          <a:bodyPr spcFirstLastPara="1" wrap="square" lIns="68575" tIns="34275" rIns="68575" bIns="34275" anchor="ctr" anchorCtr="0">
            <a:spAutoFit/>
          </a:bodyPr>
          <a:lstStyle/>
          <a:p>
            <a:pPr marL="0" lvl="0" indent="0" algn="l" rtl="0">
              <a:spcBef>
                <a:spcPts val="0"/>
              </a:spcBef>
              <a:spcAft>
                <a:spcPts val="0"/>
              </a:spcAft>
              <a:buNone/>
            </a:pPr>
            <a:r>
              <a:rPr lang="fr"/>
              <a:t>EM Algorithm - Room for Improvement</a:t>
            </a:r>
            <a:endParaRPr/>
          </a:p>
        </p:txBody>
      </p:sp>
      <p:sp>
        <p:nvSpPr>
          <p:cNvPr id="404" name="Google Shape;404;p55"/>
          <p:cNvSpPr txBox="1"/>
          <p:nvPr/>
        </p:nvSpPr>
        <p:spPr>
          <a:xfrm>
            <a:off x="867000" y="884850"/>
            <a:ext cx="7410000" cy="3373800"/>
          </a:xfrm>
          <a:prstGeom prst="rect">
            <a:avLst/>
          </a:prstGeom>
          <a:noFill/>
          <a:ln>
            <a:noFill/>
          </a:ln>
        </p:spPr>
        <p:txBody>
          <a:bodyPr spcFirstLastPara="1" wrap="square" lIns="91425" tIns="91425" rIns="91425" bIns="91425" anchor="t" anchorCtr="0">
            <a:noAutofit/>
          </a:bodyPr>
          <a:lstStyle/>
          <a:p>
            <a:pPr marL="457200" lvl="0" indent="-361950" algn="l" rtl="0">
              <a:spcBef>
                <a:spcPts val="0"/>
              </a:spcBef>
              <a:spcAft>
                <a:spcPts val="0"/>
              </a:spcAft>
              <a:buClr>
                <a:schemeClr val="dk1"/>
              </a:buClr>
              <a:buSzPts val="2100"/>
              <a:buChar char="-"/>
            </a:pPr>
            <a:r>
              <a:rPr lang="fr" sz="2100" b="1">
                <a:solidFill>
                  <a:schemeClr val="dk1"/>
                </a:solidFill>
              </a:rPr>
              <a:t>Speed</a:t>
            </a:r>
            <a:r>
              <a:rPr lang="fr" sz="2100">
                <a:solidFill>
                  <a:schemeClr val="dk1"/>
                </a:solidFill>
              </a:rPr>
              <a:t> : Slow convergence, especially near the optimum.</a:t>
            </a:r>
            <a:endParaRPr sz="2100">
              <a:solidFill>
                <a:schemeClr val="dk1"/>
              </a:solidFill>
            </a:endParaRPr>
          </a:p>
          <a:p>
            <a:pPr marL="457200" lvl="0" indent="0" algn="l" rtl="0">
              <a:spcBef>
                <a:spcPts val="0"/>
              </a:spcBef>
              <a:spcAft>
                <a:spcPts val="0"/>
              </a:spcAft>
              <a:buNone/>
            </a:pPr>
            <a:r>
              <a:rPr lang="fr" sz="1700">
                <a:solidFill>
                  <a:schemeClr val="dk1"/>
                </a:solidFill>
              </a:rPr>
              <a:t>CEM, but more likely to get stuck</a:t>
            </a:r>
            <a:endParaRPr sz="1700">
              <a:solidFill>
                <a:schemeClr val="dk1"/>
              </a:solidFill>
            </a:endParaRPr>
          </a:p>
          <a:p>
            <a:pPr marL="457200" lvl="0" indent="0" algn="l" rtl="0">
              <a:spcBef>
                <a:spcPts val="0"/>
              </a:spcBef>
              <a:spcAft>
                <a:spcPts val="0"/>
              </a:spcAft>
              <a:buNone/>
            </a:pPr>
            <a:endParaRPr sz="2100">
              <a:solidFill>
                <a:schemeClr val="dk1"/>
              </a:solidFill>
            </a:endParaRPr>
          </a:p>
          <a:p>
            <a:pPr marL="457200" lvl="0" indent="-361950" algn="l" rtl="0">
              <a:spcBef>
                <a:spcPts val="0"/>
              </a:spcBef>
              <a:spcAft>
                <a:spcPts val="0"/>
              </a:spcAft>
              <a:buClr>
                <a:schemeClr val="dk1"/>
              </a:buClr>
              <a:buSzPts val="2100"/>
              <a:buChar char="-"/>
            </a:pPr>
            <a:r>
              <a:rPr lang="fr" sz="2100" b="1">
                <a:solidFill>
                  <a:schemeClr val="dk1"/>
                </a:solidFill>
              </a:rPr>
              <a:t>Costability</a:t>
            </a:r>
            <a:r>
              <a:rPr lang="fr" sz="2100">
                <a:solidFill>
                  <a:schemeClr val="dk1"/>
                </a:solidFill>
              </a:rPr>
              <a:t> : High cost, especially for the large data sets</a:t>
            </a:r>
            <a:endParaRPr sz="2100">
              <a:solidFill>
                <a:schemeClr val="dk1"/>
              </a:solidFill>
            </a:endParaRPr>
          </a:p>
          <a:p>
            <a:pPr marL="457200" lvl="0" indent="0" algn="l" rtl="0">
              <a:spcBef>
                <a:spcPts val="0"/>
              </a:spcBef>
              <a:spcAft>
                <a:spcPts val="0"/>
              </a:spcAft>
              <a:buNone/>
            </a:pPr>
            <a:r>
              <a:rPr lang="fr" sz="1700">
                <a:solidFill>
                  <a:schemeClr val="dk1"/>
                </a:solidFill>
              </a:rPr>
              <a:t>GEM or SEM, but slower</a:t>
            </a:r>
            <a:endParaRPr sz="1700">
              <a:solidFill>
                <a:schemeClr val="dk1"/>
              </a:solidFill>
            </a:endParaRPr>
          </a:p>
          <a:p>
            <a:pPr marL="457200" lvl="0" indent="0" algn="l" rtl="0">
              <a:spcBef>
                <a:spcPts val="0"/>
              </a:spcBef>
              <a:spcAft>
                <a:spcPts val="0"/>
              </a:spcAft>
              <a:buNone/>
            </a:pPr>
            <a:endParaRPr sz="2100">
              <a:solidFill>
                <a:schemeClr val="dk1"/>
              </a:solidFill>
            </a:endParaRPr>
          </a:p>
          <a:p>
            <a:pPr marL="457200" lvl="0" indent="-361950" algn="l" rtl="0">
              <a:spcBef>
                <a:spcPts val="0"/>
              </a:spcBef>
              <a:spcAft>
                <a:spcPts val="0"/>
              </a:spcAft>
              <a:buClr>
                <a:schemeClr val="dk1"/>
              </a:buClr>
              <a:buSzPts val="2100"/>
              <a:buChar char="-"/>
            </a:pPr>
            <a:r>
              <a:rPr lang="fr" sz="2100" b="1">
                <a:solidFill>
                  <a:schemeClr val="dk1"/>
                </a:solidFill>
              </a:rPr>
              <a:t>Flexibility</a:t>
            </a:r>
            <a:r>
              <a:rPr lang="fr" sz="2100">
                <a:solidFill>
                  <a:schemeClr val="dk1"/>
                </a:solidFill>
              </a:rPr>
              <a:t> : Assumes that missing data is random.</a:t>
            </a:r>
            <a:endParaRPr sz="2100">
              <a:solidFill>
                <a:schemeClr val="dk1"/>
              </a:solidFill>
            </a:endParaRPr>
          </a:p>
          <a:p>
            <a:pPr marL="457200" lvl="0" indent="0" algn="l" rtl="0">
              <a:spcBef>
                <a:spcPts val="0"/>
              </a:spcBef>
              <a:spcAft>
                <a:spcPts val="0"/>
              </a:spcAft>
              <a:buNone/>
            </a:pPr>
            <a:r>
              <a:rPr lang="fr" sz="1700">
                <a:solidFill>
                  <a:schemeClr val="dk1"/>
                </a:solidFill>
              </a:rPr>
              <a:t>Directly work on data model</a:t>
            </a:r>
            <a:endParaRPr sz="1700">
              <a:solidFill>
                <a:schemeClr val="dk1"/>
              </a:solidFill>
            </a:endParaRPr>
          </a:p>
          <a:p>
            <a:pPr marL="457200" lvl="0" indent="0" algn="l" rtl="0">
              <a:spcBef>
                <a:spcPts val="0"/>
              </a:spcBef>
              <a:spcAft>
                <a:spcPts val="0"/>
              </a:spcAft>
              <a:buNone/>
            </a:pPr>
            <a:endParaRPr sz="2100">
              <a:solidFill>
                <a:schemeClr val="dk1"/>
              </a:solidFill>
            </a:endParaRPr>
          </a:p>
          <a:p>
            <a:pPr marL="457200" lvl="0" indent="-361950" algn="l" rtl="0">
              <a:spcBef>
                <a:spcPts val="0"/>
              </a:spcBef>
              <a:spcAft>
                <a:spcPts val="0"/>
              </a:spcAft>
              <a:buClr>
                <a:schemeClr val="dk1"/>
              </a:buClr>
              <a:buSzPts val="2100"/>
              <a:buChar char="-"/>
            </a:pPr>
            <a:r>
              <a:rPr lang="fr" sz="2100" b="1">
                <a:solidFill>
                  <a:schemeClr val="dk1"/>
                </a:solidFill>
              </a:rPr>
              <a:t>Local optima</a:t>
            </a:r>
            <a:r>
              <a:rPr lang="fr" sz="2100">
                <a:solidFill>
                  <a:schemeClr val="dk1"/>
                </a:solidFill>
              </a:rPr>
              <a:t> : Stick randomly to local optima.</a:t>
            </a:r>
            <a:endParaRPr sz="2100">
              <a:solidFill>
                <a:schemeClr val="dk1"/>
              </a:solidFill>
            </a:endParaRPr>
          </a:p>
          <a:p>
            <a:pPr marL="457200" lvl="0" indent="0" algn="l" rtl="0">
              <a:spcBef>
                <a:spcPts val="0"/>
              </a:spcBef>
              <a:spcAft>
                <a:spcPts val="0"/>
              </a:spcAft>
              <a:buNone/>
            </a:pPr>
            <a:r>
              <a:rPr lang="fr" sz="1700">
                <a:solidFill>
                  <a:schemeClr val="dk1"/>
                </a:solidFill>
              </a:rPr>
              <a:t>Stochastic, but optimized tuning is expected.</a:t>
            </a:r>
            <a:endParaRPr sz="1700">
              <a:solidFill>
                <a:schemeClr val="dk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56"/>
          <p:cNvSpPr txBox="1">
            <a:spLocks noGrp="1"/>
          </p:cNvSpPr>
          <p:nvPr>
            <p:ph type="title"/>
          </p:nvPr>
        </p:nvSpPr>
        <p:spPr>
          <a:xfrm>
            <a:off x="1204913" y="258238"/>
            <a:ext cx="6483000" cy="360300"/>
          </a:xfrm>
          <a:prstGeom prst="rect">
            <a:avLst/>
          </a:prstGeom>
        </p:spPr>
        <p:txBody>
          <a:bodyPr spcFirstLastPara="1" wrap="square" lIns="68575" tIns="34275" rIns="68575" bIns="34275" anchor="ctr" anchorCtr="0">
            <a:spAutoFit/>
          </a:bodyPr>
          <a:lstStyle/>
          <a:p>
            <a:pPr marL="0" lvl="0" indent="0" algn="l" rtl="0">
              <a:spcBef>
                <a:spcPts val="0"/>
              </a:spcBef>
              <a:spcAft>
                <a:spcPts val="0"/>
              </a:spcAft>
              <a:buNone/>
            </a:pPr>
            <a:endParaRPr/>
          </a:p>
        </p:txBody>
      </p:sp>
      <p:sp>
        <p:nvSpPr>
          <p:cNvPr id="410" name="Google Shape;410;p56"/>
          <p:cNvSpPr txBox="1"/>
          <p:nvPr/>
        </p:nvSpPr>
        <p:spPr>
          <a:xfrm>
            <a:off x="867000" y="884850"/>
            <a:ext cx="7410000" cy="337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100">
              <a:solidFill>
                <a:schemeClr val="dk1"/>
              </a:solidFill>
            </a:endParaRPr>
          </a:p>
          <a:p>
            <a:pPr marL="0" lvl="0" indent="0" algn="l" rtl="0">
              <a:spcBef>
                <a:spcPts val="0"/>
              </a:spcBef>
              <a:spcAft>
                <a:spcPts val="0"/>
              </a:spcAft>
              <a:buNone/>
            </a:pPr>
            <a:endParaRPr sz="2100">
              <a:solidFill>
                <a:schemeClr val="dk1"/>
              </a:solidFill>
            </a:endParaRPr>
          </a:p>
          <a:p>
            <a:pPr marL="0" lvl="0" indent="0" algn="l" rtl="0">
              <a:spcBef>
                <a:spcPts val="0"/>
              </a:spcBef>
              <a:spcAft>
                <a:spcPts val="0"/>
              </a:spcAft>
              <a:buNone/>
            </a:pPr>
            <a:endParaRPr sz="2100">
              <a:solidFill>
                <a:schemeClr val="dk1"/>
              </a:solidFill>
            </a:endParaRPr>
          </a:p>
          <a:p>
            <a:pPr marL="0" lvl="0" indent="0" algn="l" rtl="0">
              <a:spcBef>
                <a:spcPts val="0"/>
              </a:spcBef>
              <a:spcAft>
                <a:spcPts val="0"/>
              </a:spcAft>
              <a:buNone/>
            </a:pPr>
            <a:endParaRPr sz="2100">
              <a:solidFill>
                <a:schemeClr val="dk1"/>
              </a:solidFill>
            </a:endParaRPr>
          </a:p>
          <a:p>
            <a:pPr marL="0" lvl="0" indent="0" algn="ctr" rtl="0">
              <a:spcBef>
                <a:spcPts val="0"/>
              </a:spcBef>
              <a:spcAft>
                <a:spcPts val="0"/>
              </a:spcAft>
              <a:buNone/>
            </a:pPr>
            <a:r>
              <a:rPr lang="fr" sz="3200">
                <a:solidFill>
                  <a:schemeClr val="dk1"/>
                </a:solidFill>
              </a:rPr>
              <a:t>Thank you!</a:t>
            </a:r>
            <a:endParaRPr sz="3200">
              <a:solidFill>
                <a:schemeClr val="dk1"/>
              </a:solidFill>
            </a:endParaRPr>
          </a:p>
          <a:p>
            <a:pPr marL="0" lvl="0" indent="0" algn="ctr" rtl="0">
              <a:spcBef>
                <a:spcPts val="0"/>
              </a:spcBef>
              <a:spcAft>
                <a:spcPts val="0"/>
              </a:spcAft>
              <a:buNone/>
            </a:pPr>
            <a:r>
              <a:rPr lang="fr" sz="3200">
                <a:solidFill>
                  <a:schemeClr val="dk1"/>
                </a:solidFill>
              </a:rPr>
              <a:t>谢谢!</a:t>
            </a:r>
            <a:endParaRPr sz="3200">
              <a:solidFill>
                <a:schemeClr val="dk1"/>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TotalTime>
  <Words>1712</Words>
  <Application>Microsoft Macintosh PowerPoint</Application>
  <PresentationFormat>On-screen Show (16:9)</PresentationFormat>
  <Paragraphs>170</Paragraphs>
  <Slides>30</Slides>
  <Notes>30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30</vt:i4>
      </vt:variant>
    </vt:vector>
  </HeadingPairs>
  <TitlesOfParts>
    <vt:vector size="37" baseType="lpstr">
      <vt:lpstr>Century Gothic</vt:lpstr>
      <vt:lpstr>Calibri</vt:lpstr>
      <vt:lpstr>Microsoft Yahei</vt:lpstr>
      <vt:lpstr>Courier New</vt:lpstr>
      <vt:lpstr>Arial</vt:lpstr>
      <vt:lpstr>Simple Light</vt:lpstr>
      <vt:lpstr>Office Theme</vt:lpstr>
      <vt:lpstr>最大期望算法 EM algorithm</vt:lpstr>
      <vt:lpstr>Introduction</vt:lpstr>
      <vt:lpstr>Introduction</vt:lpstr>
      <vt:lpstr>Motivation for the EM Algorithm</vt:lpstr>
      <vt:lpstr>Structure of the EM Algorithm</vt:lpstr>
      <vt:lpstr>Formal Steps of the EM Algorithm</vt:lpstr>
      <vt:lpstr>Schema</vt:lpstr>
      <vt:lpstr>The execution</vt:lpstr>
      <vt:lpstr>First example</vt:lpstr>
      <vt:lpstr>What is GMM?</vt:lpstr>
      <vt:lpstr>The execution - easy example</vt:lpstr>
      <vt:lpstr>Converging to the final classification</vt:lpstr>
      <vt:lpstr>PowerPoint Presentation</vt:lpstr>
      <vt:lpstr>PowerPoint Presentation</vt:lpstr>
      <vt:lpstr>First example</vt:lpstr>
      <vt:lpstr>HMM and Vitebri algorithm explanation</vt:lpstr>
      <vt:lpstr>The execution</vt:lpstr>
      <vt:lpstr>First example</vt:lpstr>
      <vt:lpstr>Proof of convergence</vt:lpstr>
      <vt:lpstr>Proof of convergence</vt:lpstr>
      <vt:lpstr>First example</vt:lpstr>
      <vt:lpstr>Other examples of the use of EM </vt:lpstr>
      <vt:lpstr>Other examples of the use of EM </vt:lpstr>
      <vt:lpstr>EM Algorithm - Pros And Cons</vt:lpstr>
      <vt:lpstr>EM Algorithm - Variations</vt:lpstr>
      <vt:lpstr>EM Algorithm - Stochastic</vt:lpstr>
      <vt:lpstr>EM Algortihm - Generalized</vt:lpstr>
      <vt:lpstr>EM Algorithm - Classification</vt:lpstr>
      <vt:lpstr>EM Algorithm - Room for Improvement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最大期望算法 EM algorithm</dc:title>
  <cp:lastModifiedBy>Tristman Dobos</cp:lastModifiedBy>
  <cp:revision>3</cp:revision>
  <dcterms:modified xsi:type="dcterms:W3CDTF">2024-10-16T06:38:26Z</dcterms:modified>
</cp:coreProperties>
</file>