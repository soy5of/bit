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BM Plex Sans" panose="020B0503050203000203" pitchFamily="34" charset="0"/>
      <p:regular r:id="rId13"/>
      <p:bold r:id="rId14"/>
    </p:embeddedFont>
    <p:embeddedFont>
      <p:font typeface="IBM Plex Sans Bold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181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9.xml"/><Relationship Id="rId3" Type="http://schemas.openxmlformats.org/officeDocument/2006/relationships/slide" Target="slide5.xml"/><Relationship Id="rId7" Type="http://schemas.openxmlformats.org/officeDocument/2006/relationships/image" Target="../media/image7.png"/><Relationship Id="rId12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slide" Target="slide7.xml"/><Relationship Id="rId5" Type="http://schemas.openxmlformats.org/officeDocument/2006/relationships/image" Target="../media/image3.png"/><Relationship Id="rId10" Type="http://schemas.openxmlformats.org/officeDocument/2006/relationships/slide" Target="slide6.xml"/><Relationship Id="rId4" Type="http://schemas.openxmlformats.org/officeDocument/2006/relationships/slide" Target="slide10.xml"/><Relationship Id="rId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0.jpeg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6.png"/><Relationship Id="rId17" Type="http://schemas.openxmlformats.org/officeDocument/2006/relationships/image" Target="../media/image4.svg"/><Relationship Id="rId2" Type="http://schemas.openxmlformats.org/officeDocument/2006/relationships/video" Target="../media/media1.mp4"/><Relationship Id="rId16" Type="http://schemas.openxmlformats.org/officeDocument/2006/relationships/image" Target="../media/image3.png"/><Relationship Id="rId20" Type="http://schemas.openxmlformats.org/officeDocument/2006/relationships/image" Target="../media/image22.jpe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5.svg"/><Relationship Id="rId5" Type="http://schemas.microsoft.com/office/2007/relationships/media" Target="../media/media3.mp4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1.jpeg"/><Relationship Id="rId4" Type="http://schemas.openxmlformats.org/officeDocument/2006/relationships/video" Target="../media/media2.mp4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3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1.sv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egment-anything.com/demo" TargetMode="External"/><Relationship Id="rId11" Type="http://schemas.openxmlformats.org/officeDocument/2006/relationships/image" Target="../media/image4.svg"/><Relationship Id="rId5" Type="http://schemas.openxmlformats.org/officeDocument/2006/relationships/image" Target="../media/image6.sv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5266163" y="7820398"/>
            <a:ext cx="965724" cy="965724"/>
          </a:xfrm>
          <a:custGeom>
            <a:avLst/>
            <a:gdLst/>
            <a:ahLst/>
            <a:cxnLst/>
            <a:rect l="l" t="t" r="r" b="b"/>
            <a:pathLst>
              <a:path w="965724" h="965724">
                <a:moveTo>
                  <a:pt x="0" y="0"/>
                </a:moveTo>
                <a:lnTo>
                  <a:pt x="965725" y="0"/>
                </a:lnTo>
                <a:lnTo>
                  <a:pt x="965725" y="965724"/>
                </a:lnTo>
                <a:lnTo>
                  <a:pt x="0" y="965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3" name="Group 3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12106" y="7291071"/>
            <a:ext cx="12263788" cy="196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</a:t>
            </a:r>
            <a:r>
              <a:rPr lang="en-US" sz="2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enisenko Sofia 1820249051</a:t>
            </a:r>
          </a:p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</a:t>
            </a:r>
            <a:r>
              <a:rPr lang="en-US" sz="2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ntipov Aleksei 1820249061</a:t>
            </a:r>
          </a:p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</a:t>
            </a:r>
            <a:r>
              <a:rPr lang="en-US" sz="2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akarov Pavel 1820249064</a:t>
            </a:r>
          </a:p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</a:t>
            </a:r>
            <a:r>
              <a:rPr lang="en-US" sz="2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ylkova Kristina 1820249049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03265" y="2865913"/>
            <a:ext cx="13281470" cy="357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</a:t>
            </a:r>
            <a:r>
              <a:rPr lang="en-US" sz="9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egment </a:t>
            </a:r>
            <a:r>
              <a:rPr lang="en-US" sz="9999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</a:t>
            </a:r>
            <a:r>
              <a:rPr lang="en-US" sz="9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nything </a:t>
            </a:r>
            <a:r>
              <a:rPr lang="en-US" sz="9999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</a:t>
            </a:r>
            <a:r>
              <a:rPr lang="en-US" sz="9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odel</a:t>
            </a:r>
          </a:p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(SAM)</a:t>
            </a:r>
          </a:p>
        </p:txBody>
      </p:sp>
      <p:sp>
        <p:nvSpPr>
          <p:cNvPr id="8" name="Freeform 8"/>
          <p:cNvSpPr/>
          <p:nvPr/>
        </p:nvSpPr>
        <p:spPr>
          <a:xfrm rot="7286867">
            <a:off x="13787431" y="969111"/>
            <a:ext cx="10565815" cy="8030020"/>
          </a:xfrm>
          <a:custGeom>
            <a:avLst/>
            <a:gdLst/>
            <a:ahLst/>
            <a:cxnLst/>
            <a:rect l="l" t="t" r="r" b="b"/>
            <a:pathLst>
              <a:path w="10565815" h="8030020">
                <a:moveTo>
                  <a:pt x="0" y="0"/>
                </a:moveTo>
                <a:lnTo>
                  <a:pt x="10565815" y="0"/>
                </a:lnTo>
                <a:lnTo>
                  <a:pt x="10565815" y="8030020"/>
                </a:lnTo>
                <a:lnTo>
                  <a:pt x="0" y="8030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 rot="-6422757">
            <a:off x="-3518081" y="6224076"/>
            <a:ext cx="7984799" cy="6068448"/>
          </a:xfrm>
          <a:custGeom>
            <a:avLst/>
            <a:gdLst/>
            <a:ahLst/>
            <a:cxnLst/>
            <a:rect l="l" t="t" r="r" b="b"/>
            <a:pathLst>
              <a:path w="7984799" h="6068448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0104444"/>
            <a:ext cx="18288000" cy="182556"/>
          </a:xfrm>
          <a:prstGeom prst="rect">
            <a:avLst/>
          </a:prstGeom>
          <a:solidFill>
            <a:srgbClr val="9600F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1028700" y="4516567"/>
            <a:ext cx="5446590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" action="ppaction://hlinksldjump"/>
              </a:rPr>
              <a:t>What is SAM?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422712"/>
            <a:ext cx="5446590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Input Prompts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91629" y="5422712"/>
            <a:ext cx="5446590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Demonstration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14924" y="1127332"/>
            <a:ext cx="601622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200"/>
              </a:lnSpc>
              <a:spcBef>
                <a:spcPct val="0"/>
              </a:spcBef>
            </a:pPr>
            <a:r>
              <a:rPr lang="en-US" sz="8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Outline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7162578">
            <a:off x="9851803" y="1871410"/>
            <a:ext cx="16714891" cy="11396517"/>
          </a:xfrm>
          <a:custGeom>
            <a:avLst/>
            <a:gdLst/>
            <a:ahLst/>
            <a:cxnLst/>
            <a:rect l="l" t="t" r="r" b="b"/>
            <a:pathLst>
              <a:path w="16714891" h="11396517">
                <a:moveTo>
                  <a:pt x="0" y="0"/>
                </a:moveTo>
                <a:lnTo>
                  <a:pt x="16714891" y="0"/>
                </a:lnTo>
                <a:lnTo>
                  <a:pt x="16714891" y="11396516"/>
                </a:lnTo>
                <a:lnTo>
                  <a:pt x="0" y="113965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1028700" y="3608410"/>
            <a:ext cx="7571628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9" action="ppaction://hlinksldjump"/>
              </a:rPr>
              <a:t>What is Image Segmentation?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328857"/>
            <a:ext cx="5446590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0" action="ppaction://hlinksldjump"/>
              </a:rPr>
              <a:t>Key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1629" y="3610422"/>
            <a:ext cx="5446590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1" action="ppaction://hlinksldjump"/>
              </a:rPr>
              <a:t>The Architecture of SAM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629" y="6328857"/>
            <a:ext cx="5446590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2" action="ppaction://hlinksldjump"/>
              </a:rPr>
              <a:t>Q&amp;A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91629" y="4516567"/>
            <a:ext cx="5446590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3769"/>
              </a:lnSpc>
              <a:buFont typeface="Arial"/>
              <a:buChar char="•"/>
            </a:pPr>
            <a:r>
              <a:rPr lang="en-US" sz="28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3" action="ppaction://hlinksldjump"/>
              </a:rPr>
              <a:t>Applications of SAM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3493371" y="3711553"/>
            <a:ext cx="11301259" cy="4845415"/>
          </a:xfrm>
          <a:custGeom>
            <a:avLst/>
            <a:gdLst/>
            <a:ahLst/>
            <a:cxnLst/>
            <a:rect l="l" t="t" r="r" b="b"/>
            <a:pathLst>
              <a:path w="11301259" h="4845415">
                <a:moveTo>
                  <a:pt x="0" y="0"/>
                </a:moveTo>
                <a:lnTo>
                  <a:pt x="11301258" y="0"/>
                </a:lnTo>
                <a:lnTo>
                  <a:pt x="11301258" y="4845414"/>
                </a:lnTo>
                <a:lnTo>
                  <a:pt x="0" y="484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TextBox 6"/>
          <p:cNvSpPr txBox="1"/>
          <p:nvPr/>
        </p:nvSpPr>
        <p:spPr>
          <a:xfrm>
            <a:off x="2285937" y="1843111"/>
            <a:ext cx="14973363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00"/>
              </a:lnSpc>
              <a:spcBef>
                <a:spcPct val="0"/>
              </a:spcBef>
            </a:pPr>
            <a:r>
              <a:rPr lang="en-US" sz="85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is </a:t>
            </a:r>
            <a:r>
              <a:rPr lang="en-US" sz="8500" b="1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Image Segmentation?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125158" y="8774301"/>
            <a:ext cx="3134142" cy="483999"/>
            <a:chOff x="0" y="0"/>
            <a:chExt cx="4178856" cy="645332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1683" y="126018"/>
              <a:ext cx="3716088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8274206">
            <a:off x="-9622857" y="6030810"/>
            <a:ext cx="22683057" cy="7681748"/>
          </a:xfrm>
          <a:custGeom>
            <a:avLst/>
            <a:gdLst/>
            <a:ahLst/>
            <a:cxnLst/>
            <a:rect l="l" t="t" r="r" b="b"/>
            <a:pathLst>
              <a:path w="22683057" h="7681748">
                <a:moveTo>
                  <a:pt x="22683056" y="5088157"/>
                </a:moveTo>
                <a:lnTo>
                  <a:pt x="597522" y="7681749"/>
                </a:lnTo>
                <a:lnTo>
                  <a:pt x="0" y="2593592"/>
                </a:lnTo>
                <a:lnTo>
                  <a:pt x="22085534" y="0"/>
                </a:lnTo>
                <a:lnTo>
                  <a:pt x="22683056" y="508815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574" t="-214022" r="-35954" b="-68"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47608" y="3774972"/>
            <a:ext cx="11392785" cy="3702982"/>
            <a:chOff x="0" y="0"/>
            <a:chExt cx="15190380" cy="4937310"/>
          </a:xfrm>
        </p:grpSpPr>
        <p:sp>
          <p:nvSpPr>
            <p:cNvPr id="3" name="TextBox 3"/>
            <p:cNvSpPr txBox="1"/>
            <p:nvPr/>
          </p:nvSpPr>
          <p:spPr>
            <a:xfrm>
              <a:off x="0" y="-11"/>
              <a:ext cx="15190380" cy="172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200"/>
                </a:lnSpc>
                <a:spcBef>
                  <a:spcPct val="0"/>
                </a:spcBef>
              </a:pPr>
              <a:r>
                <a:rPr lang="en-US" sz="8500" u="non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is </a:t>
              </a:r>
              <a:r>
                <a:rPr lang="en-US" sz="8500" b="1" u="non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SAM?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17957"/>
              <a:ext cx="15190380" cy="2619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 is a promptable segmentation system with zero-shot generalization to unfamiliar objects and images, without the need for additional training. </a:t>
              </a:r>
            </a:p>
            <a:p>
              <a:pPr algn="ctr">
                <a:lnSpc>
                  <a:spcPts val="3900"/>
                </a:lnSpc>
              </a:pPr>
              <a:endPara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25158" y="8774301"/>
            <a:ext cx="3134142" cy="483999"/>
            <a:chOff x="0" y="0"/>
            <a:chExt cx="4178856" cy="645332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91683" y="126018"/>
              <a:ext cx="3716088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57953" y="-3715579"/>
            <a:ext cx="11277931" cy="8222637"/>
          </a:xfrm>
          <a:custGeom>
            <a:avLst/>
            <a:gdLst/>
            <a:ahLst/>
            <a:cxnLst/>
            <a:rect l="l" t="t" r="r" b="b"/>
            <a:pathLst>
              <a:path w="11277931" h="8222637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133185"/>
            <a:ext cx="5029200" cy="4881017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 rot="2424083">
            <a:off x="-3396491" y="7879785"/>
            <a:ext cx="7875446" cy="5741916"/>
          </a:xfrm>
          <a:custGeom>
            <a:avLst/>
            <a:gdLst/>
            <a:ahLst/>
            <a:cxnLst/>
            <a:rect l="l" t="t" r="r" b="b"/>
            <a:pathLst>
              <a:path w="7875446" h="5741916">
                <a:moveTo>
                  <a:pt x="0" y="0"/>
                </a:moveTo>
                <a:lnTo>
                  <a:pt x="7875446" y="0"/>
                </a:lnTo>
                <a:lnTo>
                  <a:pt x="7875446" y="5741917"/>
                </a:lnTo>
                <a:lnTo>
                  <a:pt x="0" y="5741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AutoShape 4"/>
          <p:cNvSpPr/>
          <p:nvPr/>
        </p:nvSpPr>
        <p:spPr>
          <a:xfrm>
            <a:off x="6629400" y="3133185"/>
            <a:ext cx="5029200" cy="4881017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Group 5"/>
          <p:cNvGrpSpPr/>
          <p:nvPr/>
        </p:nvGrpSpPr>
        <p:grpSpPr>
          <a:xfrm>
            <a:off x="7289074" y="1222877"/>
            <a:ext cx="1082132" cy="1082132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Freeform 7"/>
          <p:cNvSpPr/>
          <p:nvPr/>
        </p:nvSpPr>
        <p:spPr>
          <a:xfrm>
            <a:off x="7572375" y="1524783"/>
            <a:ext cx="515530" cy="446167"/>
          </a:xfrm>
          <a:custGeom>
            <a:avLst/>
            <a:gdLst/>
            <a:ahLst/>
            <a:cxnLst/>
            <a:rect l="l" t="t" r="r" b="b"/>
            <a:pathLst>
              <a:path w="515530" h="446167">
                <a:moveTo>
                  <a:pt x="0" y="0"/>
                </a:moveTo>
                <a:lnTo>
                  <a:pt x="515530" y="0"/>
                </a:lnTo>
                <a:lnTo>
                  <a:pt x="515530" y="446167"/>
                </a:lnTo>
                <a:lnTo>
                  <a:pt x="0" y="4461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8" name="Group 8"/>
          <p:cNvGrpSpPr/>
          <p:nvPr/>
        </p:nvGrpSpPr>
        <p:grpSpPr>
          <a:xfrm>
            <a:off x="8549849" y="1222877"/>
            <a:ext cx="1082132" cy="1082132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0" name="Freeform 10"/>
          <p:cNvSpPr/>
          <p:nvPr/>
        </p:nvSpPr>
        <p:spPr>
          <a:xfrm>
            <a:off x="8784764" y="1534756"/>
            <a:ext cx="589451" cy="436194"/>
          </a:xfrm>
          <a:custGeom>
            <a:avLst/>
            <a:gdLst/>
            <a:ahLst/>
            <a:cxnLst/>
            <a:rect l="l" t="t" r="r" b="b"/>
            <a:pathLst>
              <a:path w="589451" h="436194">
                <a:moveTo>
                  <a:pt x="0" y="0"/>
                </a:moveTo>
                <a:lnTo>
                  <a:pt x="589452" y="0"/>
                </a:lnTo>
                <a:lnTo>
                  <a:pt x="589452" y="436194"/>
                </a:lnTo>
                <a:lnTo>
                  <a:pt x="0" y="4361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AutoShape 11"/>
          <p:cNvSpPr/>
          <p:nvPr/>
        </p:nvSpPr>
        <p:spPr>
          <a:xfrm>
            <a:off x="12230100" y="3133185"/>
            <a:ext cx="5029200" cy="4881017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12" name="Group 12"/>
          <p:cNvGrpSpPr/>
          <p:nvPr/>
        </p:nvGrpSpPr>
        <p:grpSpPr>
          <a:xfrm>
            <a:off x="6006646" y="1222877"/>
            <a:ext cx="1082132" cy="1082132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" name="Freeform 14"/>
          <p:cNvSpPr/>
          <p:nvPr/>
        </p:nvSpPr>
        <p:spPr>
          <a:xfrm>
            <a:off x="6318205" y="1534756"/>
            <a:ext cx="459015" cy="488313"/>
          </a:xfrm>
          <a:custGeom>
            <a:avLst/>
            <a:gdLst/>
            <a:ahLst/>
            <a:cxnLst/>
            <a:rect l="l" t="t" r="r" b="b"/>
            <a:pathLst>
              <a:path w="459015" h="488313">
                <a:moveTo>
                  <a:pt x="0" y="0"/>
                </a:moveTo>
                <a:lnTo>
                  <a:pt x="459014" y="0"/>
                </a:lnTo>
                <a:lnTo>
                  <a:pt x="459014" y="488314"/>
                </a:lnTo>
                <a:lnTo>
                  <a:pt x="0" y="4883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5" name="Group 15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pic>
        <p:nvPicPr>
          <p:cNvPr id="18" name="Picture 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rcRect/>
          <a:stretch>
            <a:fillRect/>
          </a:stretch>
        </p:blipFill>
        <p:spPr>
          <a:xfrm>
            <a:off x="1255005" y="3295665"/>
            <a:ext cx="4583516" cy="3208461"/>
          </a:xfrm>
          <a:prstGeom prst="rect">
            <a:avLst/>
          </a:prstGeom>
        </p:spPr>
      </p:pic>
      <p:pic>
        <p:nvPicPr>
          <p:cNvPr id="19" name="Picture 19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rcRect/>
          <a:stretch>
            <a:fillRect/>
          </a:stretch>
        </p:blipFill>
        <p:spPr>
          <a:xfrm>
            <a:off x="6846987" y="3295665"/>
            <a:ext cx="4594026" cy="3215819"/>
          </a:xfrm>
          <a:prstGeom prst="rect">
            <a:avLst/>
          </a:prstGeom>
        </p:spPr>
      </p:pic>
      <p:pic>
        <p:nvPicPr>
          <p:cNvPr id="20" name="Picture 20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rcRect/>
          <a:stretch>
            <a:fillRect/>
          </a:stretch>
        </p:blipFill>
        <p:spPr>
          <a:xfrm>
            <a:off x="12507792" y="3295665"/>
            <a:ext cx="4637208" cy="3246046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255309" y="6649588"/>
            <a:ext cx="4583516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1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Interactive points and boxes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31981" y="1009609"/>
            <a:ext cx="7627319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200"/>
              </a:lnSpc>
              <a:spcBef>
                <a:spcPct val="0"/>
              </a:spcBef>
            </a:pPr>
            <a:r>
              <a:rPr lang="en-US" sz="85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Input </a:t>
            </a:r>
            <a:r>
              <a:rPr lang="en-US" sz="8500" b="1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Prompts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46987" y="6649588"/>
            <a:ext cx="4150926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1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Automatically segment everything in an image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49175" y="6649588"/>
            <a:ext cx="4419493" cy="136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1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Generate multiple valid masks for ambiguous prompts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125158" y="8774301"/>
            <a:ext cx="3134142" cy="483999"/>
            <a:chOff x="0" y="0"/>
            <a:chExt cx="4178856" cy="645332"/>
          </a:xfrm>
        </p:grpSpPr>
        <p:sp>
          <p:nvSpPr>
            <p:cNvPr id="26" name="AutoShape 26"/>
            <p:cNvSpPr/>
            <p:nvPr/>
          </p:nvSpPr>
          <p:spPr>
            <a:xfrm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1683" y="126018"/>
              <a:ext cx="3716088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100000">
                <p:cTn id="8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 vol="10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144000" y="2356848"/>
            <a:ext cx="2318395" cy="2318386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06" r="-24906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144000" y="5926120"/>
            <a:ext cx="2318395" cy="2318386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55170" r="-55170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ru-RU"/>
          </a:p>
        </p:txBody>
      </p:sp>
      <p:sp>
        <p:nvSpPr>
          <p:cNvPr id="7" name="TextBox 7"/>
          <p:cNvSpPr txBox="1"/>
          <p:nvPr/>
        </p:nvSpPr>
        <p:spPr>
          <a:xfrm>
            <a:off x="944691" y="4182743"/>
            <a:ext cx="6073518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Features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199158" y="2135747"/>
            <a:ext cx="5060142" cy="2760589"/>
            <a:chOff x="0" y="0"/>
            <a:chExt cx="6746856" cy="3680785"/>
          </a:xfrm>
        </p:grpSpPr>
        <p:sp>
          <p:nvSpPr>
            <p:cNvPr id="9" name="TextBox 9"/>
            <p:cNvSpPr txBox="1"/>
            <p:nvPr/>
          </p:nvSpPr>
          <p:spPr>
            <a:xfrm>
              <a:off x="0" y="944593"/>
              <a:ext cx="6746856" cy="2736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Output masks can b</a:t>
              </a:r>
              <a:r>
                <a:rPr lang="en-US" sz="2100" u="non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 used as inputs to other AI systems. For example, object masks can be tracked in videos, enable imaging editing applications, be </a:t>
              </a:r>
              <a:r>
                <a:rPr lang="en-US" sz="21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lifted to 3D</a:t>
              </a:r>
              <a:r>
                <a:rPr lang="en-US" sz="2100" u="non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, or used for creative tasks like collaging.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66"/>
              <a:ext cx="6746856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32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Extensible outputs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99158" y="5862164"/>
            <a:ext cx="5060142" cy="2446297"/>
            <a:chOff x="0" y="0"/>
            <a:chExt cx="6746856" cy="326173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82715"/>
              <a:ext cx="6746856" cy="2279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 has learned a general notion of what objects are. This understanding enables zero-shot generalization to unfamiliar objects and images without requiring additional training.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66"/>
              <a:ext cx="6746856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0"/>
                </a:lnSpc>
              </a:pPr>
              <a:r>
                <a:rPr lang="en-US" sz="32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Zero-shot generalization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8774301"/>
            <a:ext cx="3134142" cy="483999"/>
            <a:chOff x="0" y="0"/>
            <a:chExt cx="4178856" cy="645332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1683" y="126018"/>
              <a:ext cx="3716088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35391" y="-1482478"/>
            <a:ext cx="13770229" cy="10740778"/>
          </a:xfrm>
          <a:custGeom>
            <a:avLst/>
            <a:gdLst/>
            <a:ahLst/>
            <a:cxnLst/>
            <a:rect l="l" t="t" r="r" b="b"/>
            <a:pathLst>
              <a:path w="13770229" h="10740778">
                <a:moveTo>
                  <a:pt x="0" y="0"/>
                </a:moveTo>
                <a:lnTo>
                  <a:pt x="13770229" y="0"/>
                </a:lnTo>
                <a:lnTo>
                  <a:pt x="13770229" y="10740778"/>
                </a:lnTo>
                <a:lnTo>
                  <a:pt x="0" y="10740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727189" y="2547905"/>
          <a:ext cx="9532110" cy="6710394"/>
        </p:xfrm>
        <a:graphic>
          <a:graphicData uri="http://schemas.openxmlformats.org/drawingml/2006/table">
            <a:tbl>
              <a:tblPr/>
              <a:tblGrid>
                <a:gridCol w="4766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6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679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212529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Image Encoder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Extracts features from the input image.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9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Prompt Encoder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Encodes user input, such as clicks or text prompts.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9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Mask Decoder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Generates a segmentation mask based on the image and prompt features.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5372100"/>
            <a:ext cx="6417711" cy="388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lang="en-US" sz="8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Architecture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SAM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25158" y="1028700"/>
            <a:ext cx="3134142" cy="483999"/>
            <a:chOff x="0" y="0"/>
            <a:chExt cx="4178856" cy="645332"/>
          </a:xfrm>
        </p:grpSpPr>
        <p:sp>
          <p:nvSpPr>
            <p:cNvPr id="9" name="AutoShape 9"/>
            <p:cNvSpPr/>
            <p:nvPr/>
          </p:nvSpPr>
          <p:spPr>
            <a:xfrm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1683" y="126018"/>
              <a:ext cx="3716088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35391" y="-1482478"/>
            <a:ext cx="13770229" cy="10740778"/>
          </a:xfrm>
          <a:custGeom>
            <a:avLst/>
            <a:gdLst/>
            <a:ahLst/>
            <a:cxnLst/>
            <a:rect l="l" t="t" r="r" b="b"/>
            <a:pathLst>
              <a:path w="13770229" h="10740778">
                <a:moveTo>
                  <a:pt x="0" y="0"/>
                </a:moveTo>
                <a:lnTo>
                  <a:pt x="13770229" y="0"/>
                </a:lnTo>
                <a:lnTo>
                  <a:pt x="13770229" y="10740778"/>
                </a:lnTo>
                <a:lnTo>
                  <a:pt x="0" y="10740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3" name="Group 3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25158" y="1028700"/>
            <a:ext cx="3134142" cy="483999"/>
            <a:chOff x="0" y="0"/>
            <a:chExt cx="4178856" cy="645332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1683" y="126018"/>
              <a:ext cx="3716088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CONTINUE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8331935" y="2412094"/>
            <a:ext cx="8600199" cy="6494942"/>
          </a:xfrm>
          <a:custGeom>
            <a:avLst/>
            <a:gdLst/>
            <a:ahLst/>
            <a:cxnLst/>
            <a:rect l="l" t="t" r="r" b="b"/>
            <a:pathLst>
              <a:path w="8600199" h="6494942">
                <a:moveTo>
                  <a:pt x="0" y="0"/>
                </a:moveTo>
                <a:lnTo>
                  <a:pt x="8600199" y="0"/>
                </a:lnTo>
                <a:lnTo>
                  <a:pt x="8600199" y="6494942"/>
                </a:lnTo>
                <a:lnTo>
                  <a:pt x="0" y="64949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TextBox 10"/>
          <p:cNvSpPr txBox="1"/>
          <p:nvPr/>
        </p:nvSpPr>
        <p:spPr>
          <a:xfrm>
            <a:off x="1028700" y="5372100"/>
            <a:ext cx="6417711" cy="388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lang="en-US" sz="8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Architecture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SAM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85382" y="984597"/>
            <a:ext cx="1067391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200"/>
              </a:lnSpc>
              <a:spcBef>
                <a:spcPct val="0"/>
              </a:spcBef>
            </a:pPr>
            <a:r>
              <a:rPr lang="en-US" sz="8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Applications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SAM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74616" y="8774301"/>
            <a:ext cx="3134142" cy="483999"/>
            <a:chOff x="0" y="0"/>
            <a:chExt cx="4178856" cy="645332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1683" y="126018"/>
              <a:ext cx="3716088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CONTINUE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4545576" y="6203150"/>
            <a:ext cx="1137137" cy="1182978"/>
          </a:xfrm>
          <a:custGeom>
            <a:avLst/>
            <a:gdLst/>
            <a:ahLst/>
            <a:cxnLst/>
            <a:rect l="l" t="t" r="r" b="b"/>
            <a:pathLst>
              <a:path w="1137137" h="1182978">
                <a:moveTo>
                  <a:pt x="0" y="0"/>
                </a:moveTo>
                <a:lnTo>
                  <a:pt x="1137137" y="0"/>
                </a:lnTo>
                <a:lnTo>
                  <a:pt x="1137137" y="1182978"/>
                </a:lnTo>
                <a:lnTo>
                  <a:pt x="0" y="118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TextBox 10"/>
          <p:cNvSpPr txBox="1"/>
          <p:nvPr/>
        </p:nvSpPr>
        <p:spPr>
          <a:xfrm>
            <a:off x="2347060" y="4441508"/>
            <a:ext cx="2986055" cy="56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8"/>
              </a:lnSpc>
              <a:spcBef>
                <a:spcPct val="0"/>
              </a:spcBef>
            </a:pPr>
            <a:r>
              <a:rPr lang="en-US" sz="377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Image Editing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94142" y="6768010"/>
            <a:ext cx="4075764" cy="56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8"/>
              </a:lnSpc>
              <a:spcBef>
                <a:spcPct val="0"/>
              </a:spcBef>
            </a:pPr>
            <a:r>
              <a:rPr lang="en-US" sz="377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 Recognition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8411339" y="3960522"/>
            <a:ext cx="1137137" cy="1182978"/>
          </a:xfrm>
          <a:custGeom>
            <a:avLst/>
            <a:gdLst/>
            <a:ahLst/>
            <a:cxnLst/>
            <a:rect l="l" t="t" r="r" b="b"/>
            <a:pathLst>
              <a:path w="1137137" h="1182978">
                <a:moveTo>
                  <a:pt x="0" y="0"/>
                </a:moveTo>
                <a:lnTo>
                  <a:pt x="1137137" y="0"/>
                </a:lnTo>
                <a:lnTo>
                  <a:pt x="1137137" y="1182978"/>
                </a:lnTo>
                <a:lnTo>
                  <a:pt x="0" y="118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9986626" y="4441508"/>
            <a:ext cx="3560543" cy="56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8"/>
              </a:lnSpc>
              <a:spcBef>
                <a:spcPct val="0"/>
              </a:spcBef>
            </a:pPr>
            <a:r>
              <a:rPr lang="en-US" sz="377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Computer Vision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410032" y="6203150"/>
            <a:ext cx="1137137" cy="1182978"/>
          </a:xfrm>
          <a:custGeom>
            <a:avLst/>
            <a:gdLst/>
            <a:ahLst/>
            <a:cxnLst/>
            <a:rect l="l" t="t" r="r" b="b"/>
            <a:pathLst>
              <a:path w="1137137" h="1182978">
                <a:moveTo>
                  <a:pt x="0" y="0"/>
                </a:moveTo>
                <a:lnTo>
                  <a:pt x="1137137" y="0"/>
                </a:lnTo>
                <a:lnTo>
                  <a:pt x="1137137" y="1182978"/>
                </a:lnTo>
                <a:lnTo>
                  <a:pt x="0" y="118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13861494" y="6768010"/>
            <a:ext cx="3554980" cy="56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8"/>
              </a:lnSpc>
              <a:spcBef>
                <a:spcPct val="0"/>
              </a:spcBef>
            </a:pPr>
            <a:r>
              <a:rPr lang="en-US" sz="377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Medical Imaging</a:t>
            </a:r>
          </a:p>
        </p:txBody>
      </p:sp>
      <p:sp>
        <p:nvSpPr>
          <p:cNvPr id="16" name="Freeform 16"/>
          <p:cNvSpPr/>
          <p:nvPr/>
        </p:nvSpPr>
        <p:spPr>
          <a:xfrm>
            <a:off x="771772" y="3960522"/>
            <a:ext cx="1137137" cy="1182978"/>
          </a:xfrm>
          <a:custGeom>
            <a:avLst/>
            <a:gdLst/>
            <a:ahLst/>
            <a:cxnLst/>
            <a:rect l="l" t="t" r="r" b="b"/>
            <a:pathLst>
              <a:path w="1137137" h="1182978">
                <a:moveTo>
                  <a:pt x="0" y="0"/>
                </a:moveTo>
                <a:lnTo>
                  <a:pt x="1137138" y="0"/>
                </a:lnTo>
                <a:lnTo>
                  <a:pt x="1137138" y="1182978"/>
                </a:lnTo>
                <a:lnTo>
                  <a:pt x="0" y="118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7" name="Freeform 17"/>
          <p:cNvSpPr/>
          <p:nvPr/>
        </p:nvSpPr>
        <p:spPr>
          <a:xfrm rot="2345101">
            <a:off x="-3447682" y="6985392"/>
            <a:ext cx="10713183" cy="6603216"/>
          </a:xfrm>
          <a:custGeom>
            <a:avLst/>
            <a:gdLst/>
            <a:ahLst/>
            <a:cxnLst/>
            <a:rect l="l" t="t" r="r" b="b"/>
            <a:pathLst>
              <a:path w="10713183" h="6603216">
                <a:moveTo>
                  <a:pt x="0" y="0"/>
                </a:moveTo>
                <a:lnTo>
                  <a:pt x="10713183" y="0"/>
                </a:lnTo>
                <a:lnTo>
                  <a:pt x="10713183" y="6603216"/>
                </a:lnTo>
                <a:lnTo>
                  <a:pt x="0" y="660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8" name="Freeform 18"/>
          <p:cNvSpPr/>
          <p:nvPr/>
        </p:nvSpPr>
        <p:spPr>
          <a:xfrm>
            <a:off x="17416474" y="599024"/>
            <a:ext cx="15334674" cy="11208253"/>
          </a:xfrm>
          <a:custGeom>
            <a:avLst/>
            <a:gdLst/>
            <a:ahLst/>
            <a:cxnLst/>
            <a:rect l="l" t="t" r="r" b="b"/>
            <a:pathLst>
              <a:path w="15334674" h="11208253">
                <a:moveTo>
                  <a:pt x="0" y="0"/>
                </a:moveTo>
                <a:lnTo>
                  <a:pt x="15334674" y="0"/>
                </a:lnTo>
                <a:lnTo>
                  <a:pt x="15334674" y="11208253"/>
                </a:lnTo>
                <a:lnTo>
                  <a:pt x="0" y="112082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1492">
            <a:off x="7014836" y="7192293"/>
            <a:ext cx="12989428" cy="8006211"/>
          </a:xfrm>
          <a:custGeom>
            <a:avLst/>
            <a:gdLst/>
            <a:ahLst/>
            <a:cxnLst/>
            <a:rect l="l" t="t" r="r" b="b"/>
            <a:pathLst>
              <a:path w="12989428" h="8006211">
                <a:moveTo>
                  <a:pt x="0" y="0"/>
                </a:moveTo>
                <a:lnTo>
                  <a:pt x="12989428" y="0"/>
                </a:lnTo>
                <a:lnTo>
                  <a:pt x="12989428" y="8006211"/>
                </a:lnTo>
                <a:lnTo>
                  <a:pt x="0" y="800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6802040" y="-3040001"/>
            <a:ext cx="8000002" cy="6080002"/>
          </a:xfrm>
          <a:custGeom>
            <a:avLst/>
            <a:gdLst/>
            <a:ahLst/>
            <a:cxnLst/>
            <a:rect l="l" t="t" r="r" b="b"/>
            <a:pathLst>
              <a:path w="8000002" h="6080002">
                <a:moveTo>
                  <a:pt x="0" y="0"/>
                </a:moveTo>
                <a:lnTo>
                  <a:pt x="8000003" y="0"/>
                </a:lnTo>
                <a:lnTo>
                  <a:pt x="8000003" y="6080002"/>
                </a:lnTo>
                <a:lnTo>
                  <a:pt x="0" y="6080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8252368" cy="10287000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0486286" y="4169286"/>
            <a:ext cx="5451492" cy="144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35"/>
              </a:lnSpc>
            </a:pPr>
            <a:r>
              <a:rPr lang="en-US" sz="895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6" tooltip="https://segment-anything.com/demo"/>
              </a:rPr>
              <a:t>Click here!</a:t>
            </a:r>
          </a:p>
        </p:txBody>
      </p:sp>
      <p:sp>
        <p:nvSpPr>
          <p:cNvPr id="6" name="Freeform 6"/>
          <p:cNvSpPr/>
          <p:nvPr/>
        </p:nvSpPr>
        <p:spPr>
          <a:xfrm rot="2936797">
            <a:off x="14981643" y="-562652"/>
            <a:ext cx="10102510" cy="8835104"/>
          </a:xfrm>
          <a:custGeom>
            <a:avLst/>
            <a:gdLst/>
            <a:ahLst/>
            <a:cxnLst/>
            <a:rect l="l" t="t" r="r" b="b"/>
            <a:pathLst>
              <a:path w="10102510" h="8835104">
                <a:moveTo>
                  <a:pt x="0" y="0"/>
                </a:moveTo>
                <a:lnTo>
                  <a:pt x="10102509" y="0"/>
                </a:lnTo>
                <a:lnTo>
                  <a:pt x="10102509" y="8835104"/>
                </a:lnTo>
                <a:lnTo>
                  <a:pt x="0" y="88351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1028700" y="4552155"/>
            <a:ext cx="6303034" cy="4208867"/>
          </a:xfrm>
          <a:custGeom>
            <a:avLst/>
            <a:gdLst/>
            <a:ahLst/>
            <a:cxnLst/>
            <a:rect l="l" t="t" r="r" b="b"/>
            <a:pathLst>
              <a:path w="6303034" h="4208867">
                <a:moveTo>
                  <a:pt x="0" y="0"/>
                </a:moveTo>
                <a:lnTo>
                  <a:pt x="6303034" y="0"/>
                </a:lnTo>
                <a:lnTo>
                  <a:pt x="6303034" y="4208866"/>
                </a:lnTo>
                <a:lnTo>
                  <a:pt x="0" y="42088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1028700" y="2273965"/>
            <a:ext cx="649605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60"/>
              </a:lnSpc>
              <a:spcBef>
                <a:spcPct val="0"/>
              </a:spcBef>
            </a:pPr>
            <a:r>
              <a:rPr lang="en-US" sz="7300" b="1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Demonstration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1179242"/>
            <a:ext cx="3516876" cy="431386"/>
            <a:chOff x="0" y="0"/>
            <a:chExt cx="4689168" cy="5751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513368">
            <a:off x="-3401841" y="4114140"/>
            <a:ext cx="7436427" cy="8610600"/>
          </a:xfrm>
          <a:custGeom>
            <a:avLst/>
            <a:gdLst/>
            <a:ahLst/>
            <a:cxnLst/>
            <a:rect l="l" t="t" r="r" b="b"/>
            <a:pathLst>
              <a:path w="7436427" h="8610600">
                <a:moveTo>
                  <a:pt x="0" y="0"/>
                </a:moveTo>
                <a:lnTo>
                  <a:pt x="7436427" y="0"/>
                </a:lnTo>
                <a:lnTo>
                  <a:pt x="7436427" y="8610600"/>
                </a:lnTo>
                <a:lnTo>
                  <a:pt x="0" y="8610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1028700" y="6667500"/>
            <a:ext cx="7156595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</a:t>
            </a:r>
            <a:r>
              <a:rPr lang="en-US" sz="85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 your attention!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67060" y="4930181"/>
            <a:ext cx="5638263" cy="163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soffiyka</a:t>
            </a:r>
          </a:p>
          <a:p>
            <a:pPr algn="l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kr1st1nab</a:t>
            </a:r>
          </a:p>
          <a:p>
            <a:pPr algn="l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wxid_g3zdo77zmw5n22</a:t>
            </a:r>
          </a:p>
          <a:p>
            <a:pPr algn="l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Enc0reMan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67060" y="4085516"/>
            <a:ext cx="5638263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1">
                <a:solidFill>
                  <a:srgbClr val="9600F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Our WEChats: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67060" y="7561184"/>
            <a:ext cx="5638263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911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67060" y="6955831"/>
            <a:ext cx="5638263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1">
                <a:solidFill>
                  <a:srgbClr val="9600F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Call us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127332"/>
            <a:ext cx="3516876" cy="431386"/>
            <a:chOff x="0" y="0"/>
            <a:chExt cx="4689168" cy="5751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4724" cy="575182"/>
            </a:xfrm>
            <a:custGeom>
              <a:avLst/>
              <a:gdLst/>
              <a:ahLst/>
              <a:cxnLst/>
              <a:rect l="l" t="t" r="r" b="b"/>
              <a:pathLst>
                <a:path w="564724" h="575182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2795" y="68516"/>
              <a:ext cx="3586372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SamANTa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24389" y="2161929"/>
            <a:ext cx="5694244" cy="4505571"/>
          </a:xfrm>
          <a:custGeom>
            <a:avLst/>
            <a:gdLst/>
            <a:ahLst/>
            <a:cxnLst/>
            <a:rect l="l" t="t" r="r" b="b"/>
            <a:pathLst>
              <a:path w="5694244" h="4505571">
                <a:moveTo>
                  <a:pt x="0" y="0"/>
                </a:moveTo>
                <a:lnTo>
                  <a:pt x="5694245" y="0"/>
                </a:lnTo>
                <a:lnTo>
                  <a:pt x="5694245" y="4505571"/>
                </a:lnTo>
                <a:lnTo>
                  <a:pt x="0" y="4505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9144000" y="866529"/>
            <a:ext cx="9144000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Feel free to</a:t>
            </a:r>
            <a:r>
              <a:rPr lang="en-US" sz="8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ask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267</Words>
  <Application>Microsoft Office PowerPoint</Application>
  <PresentationFormat>Произвольный</PresentationFormat>
  <Paragraphs>69</Paragraphs>
  <Slides>11</Slides>
  <Notes>0</Notes>
  <HiddenSlides>0</HiddenSlides>
  <MMClips>3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IBM Plex Sans</vt:lpstr>
      <vt:lpstr>Calibri</vt:lpstr>
      <vt:lpstr>Arial</vt:lpstr>
      <vt:lpstr>IBM Plex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</dc:title>
  <dc:creator>София Денисенко</dc:creator>
  <cp:lastModifiedBy>София Денисенко</cp:lastModifiedBy>
  <cp:revision>3</cp:revision>
  <dcterms:created xsi:type="dcterms:W3CDTF">2006-08-16T00:00:00Z</dcterms:created>
  <dcterms:modified xsi:type="dcterms:W3CDTF">2024-11-06T14:55:45Z</dcterms:modified>
  <dc:identifier>DAGUNK-pqi4</dc:identifier>
</cp:coreProperties>
</file>